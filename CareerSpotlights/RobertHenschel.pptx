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90" r:id="rId3"/>
    <p:sldId id="291" r:id="rId4"/>
    <p:sldId id="266" r:id="rId5"/>
    <p:sldId id="296" r:id="rId6"/>
    <p:sldId id="293" r:id="rId7"/>
    <p:sldId id="260" r:id="rId8"/>
    <p:sldId id="292" r:id="rId9"/>
    <p:sldId id="295" r:id="rId10"/>
    <p:sldId id="29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8"/>
    <p:restoredTop sz="94095"/>
  </p:normalViewPr>
  <p:slideViewPr>
    <p:cSldViewPr snapToGrid="0">
      <p:cViewPr varScale="1">
        <p:scale>
          <a:sx n="122" d="100"/>
          <a:sy n="122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5E172-612A-A14A-BBDA-41B2CCDDE8F2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7E6BE-52A2-7F4D-9C1A-77BE2120A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1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E7E6BE-52A2-7F4D-9C1A-77BE2120A1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56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886A-B9B3-ADF2-DF6D-D7DCAE36E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4EB02-A0AA-4965-501C-12546BD5E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B306B-5112-54CC-5D3D-3AD6CE349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0C5-836E-9878-CA39-CC168026B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E7E6BE-52A2-7F4D-9C1A-77BE2120A1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95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E7E6BE-52A2-7F4D-9C1A-77BE2120A1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50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4FE57-02A1-2BB8-AEA2-F3B292D22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F296C-8391-18C8-7538-0712B0DDA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4F01B-2640-3F16-BF76-86DE17E60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138EB-3D4C-7563-C25B-570F10CF81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E7E6BE-52A2-7F4D-9C1A-77BE2120A1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00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0E8E8-34F5-9ACB-0C1A-F5DCA9C6B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84A20E-682F-DA55-85DC-779DA5DF5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BF900-4987-EDE9-8142-F428478F8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A87C6-4DD2-1775-4A42-DCFACA83F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E7E6BE-52A2-7F4D-9C1A-77BE2120A1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28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5D221-810A-7603-4717-FFEA9452A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FC4D0-7D98-7DC9-9047-00005EEEC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AF493-E952-2D13-6451-B0F217D69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C7DC0-3D09-6387-FAFE-D51A389DCE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E7E6BE-52A2-7F4D-9C1A-77BE2120A1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17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36C0B-B385-A3C6-3A35-C2C9CBB4D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78041-2498-30FA-5326-5DA89FF8D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361D44-5981-5F77-51A6-A21C652CF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610AA-06F2-9874-335F-7C9650001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E7E6BE-52A2-7F4D-9C1A-77BE2120A1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83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E7225-A7E0-1E07-4009-98A9D032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AC2FA-2DA6-CBEA-B547-DAFDB0807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26347-6C45-768A-D4B9-5A462F018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C2077-C16A-D82B-F199-364AA9512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E7E6BE-52A2-7F4D-9C1A-77BE2120A1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8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50B7-A31E-B285-472F-E37B7F88A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75540-7413-E8E8-80E5-06F4E9D44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D03DB-6430-032B-C7F4-DEDE4CD19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67020-A0C9-019C-A572-A2141610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5E077-8BE2-6123-89A0-6B225F4A9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36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2FFA-0C01-40EE-09C7-721BAC541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1AE68-64C9-612D-E9AA-5A799E46F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F2C39-DCAA-990C-BF24-07120D777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F09D2-3D35-A3FF-3827-359FB157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EDDD4-CB3E-5CA4-78DB-71ABEED3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-56445" y="6224506"/>
            <a:ext cx="12304889" cy="705284"/>
            <a:chOff x="-30788" y="4661517"/>
            <a:chExt cx="9228667" cy="528963"/>
          </a:xfrm>
        </p:grpSpPr>
        <p:sp>
          <p:nvSpPr>
            <p:cNvPr id="8" name="Rectangle 7"/>
            <p:cNvSpPr/>
            <p:nvPr userDrawn="1"/>
          </p:nvSpPr>
          <p:spPr>
            <a:xfrm>
              <a:off x="-30788" y="4734807"/>
              <a:ext cx="9228667" cy="455673"/>
            </a:xfrm>
            <a:prstGeom prst="rect">
              <a:avLst/>
            </a:prstGeom>
            <a:solidFill>
              <a:srgbClr val="69030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35303" y="4661517"/>
              <a:ext cx="387197" cy="528963"/>
            </a:xfrm>
            <a:prstGeom prst="rect">
              <a:avLst/>
            </a:prstGeom>
            <a:solidFill>
              <a:srgbClr val="99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tab-rgb.eps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9798" y="4726863"/>
              <a:ext cx="258207" cy="327725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 userDrawn="1"/>
          </p:nvSpPr>
          <p:spPr>
            <a:xfrm>
              <a:off x="1030972" y="4831697"/>
              <a:ext cx="3613600" cy="25391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600" dirty="0">
                  <a:solidFill>
                    <a:srgbClr val="FFFFFF"/>
                  </a:solidFill>
                </a:rPr>
                <a:t>INDIANA UNIVERSITY BLOOMINGTON</a:t>
              </a:r>
            </a:p>
          </p:txBody>
        </p:sp>
      </p:grpSp>
      <p:sp>
        <p:nvSpPr>
          <p:cNvPr id="12" name="Rectangle 11"/>
          <p:cNvSpPr/>
          <p:nvPr userDrawn="1"/>
        </p:nvSpPr>
        <p:spPr>
          <a:xfrm>
            <a:off x="0" y="597170"/>
            <a:ext cx="110219" cy="516263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56B6023-8DC2-5388-D5A5-6FF955FFE3CB}"/>
              </a:ext>
            </a:extLst>
          </p:cNvPr>
          <p:cNvSpPr txBox="1">
            <a:spLocks/>
          </p:cNvSpPr>
          <p:nvPr userDrawn="1"/>
        </p:nvSpPr>
        <p:spPr>
          <a:xfrm>
            <a:off x="9309265" y="644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860303-CE2A-864D-86BE-DCC7277F7961}" type="slidenum">
              <a:rPr lang="en-US" sz="1600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74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8F6F-6A2F-BD4B-61E7-C66087D30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8C86F-9CF3-3770-05D3-806DB1D7A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5CD8F-00FE-601C-C257-E62C8054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28DF7-8786-F4EE-4854-527C88F2A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4F940-0E00-B904-7EB7-39E44ED2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92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E8124-3759-1A5D-58D4-77FD008BE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53A42-8E45-E05A-900B-B5792D8F8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E9807-9CAC-A907-E272-3B5A23E8E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6D046-77DE-18EC-6084-45751C9B1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474DB-B878-35B8-263E-2E43F3B7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9AA9B-18F3-B591-E7C9-B6E2B6B1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890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A14DE-176F-4C0E-76CC-D050C729E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F539C-5D83-928D-3BB4-154B943A3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F0CD4-31E7-4670-7EDC-4FFD60E60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9386C7-535F-D93B-0ABD-6E5D89B85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23B48-9128-9B3E-253B-01260E20A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201191-881E-55C2-6626-75B64BDC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23F0D6-BAAA-E257-2E35-0CB6A3FFF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68E91-965B-E3B5-89AB-A6B5EF5D2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91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B8CB4-BDA9-53FF-2CB5-8B40D313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751F0-79B0-4D5A-A610-30C3EB9B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09263-BEEA-0358-0319-548A74516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5A37A-5B6F-62FD-2B37-865C74A3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57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C2E9F-D03F-CF48-8C76-87DACCF9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34F958-2862-A2F2-14F0-3958343B1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5AAFD-CCF5-D262-552C-EE4D25A7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9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6FEC8-AE59-7A8A-64A4-E659C4C30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AC926-454B-8AE2-A087-645C1AEFD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6A21B-1CC4-7E3D-EB11-F6714B477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7B1AA-1305-696B-140A-A7739061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E6BBF-EFF2-2A1C-D757-6B7D45B56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05D69-6EC2-D254-CE46-503F277C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7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1D1A-D382-7A9C-BF32-74B3AFDF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A62FFA-ED60-E3C2-E4D1-CC44D0FB8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DBF83-760F-3C0C-250B-45DD87A2F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B61EE-4EDB-7747-C514-BFD8DE3B4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4CA28-4883-3E8D-0E46-84090A071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4AB42-0E9F-4BC1-EE29-346BE9E70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68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4B008-AC1C-A62B-F852-11B713D21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7FA85-29BE-F3DB-A9B0-3B68CFD6B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A973A-81C0-BDE2-379F-E004E81D9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9CD6D-C142-FC53-829F-0662049AA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62C0-92DE-CB16-2738-ACD04D98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94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BF0C2A-EA09-6A06-C59A-2C37110C6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49C86-1D36-D853-7781-424B8CDC5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27A23-15A6-EC92-EEDB-47B50349C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CB338-9C59-9738-1063-BC5E80D6D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AA73B-4B99-B472-D6D9-5A314E9F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BB7232-1AE3-D7C9-B2FD-A42C9950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CC921-4742-54D7-756C-1F7D19547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18B7D-F2FD-BD47-C7E9-887D8858E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E5E78-1F6F-C14E-893C-D8A0249D8C9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4E569-44B7-A089-6A10-5C49016C8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97D1A-2142-F421-3BBD-831FCB3FA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84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enschel@iu.edu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mailto:robert.henschel@Cendio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53" r="1144"/>
          <a:stretch/>
        </p:blipFill>
        <p:spPr>
          <a:xfrm>
            <a:off x="5432214" y="1921232"/>
            <a:ext cx="6546426" cy="47228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D33652-AC45-BA1C-A0D6-F43321E9B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266" y="487680"/>
            <a:ext cx="9322712" cy="1053343"/>
          </a:xfrm>
        </p:spPr>
        <p:txBody>
          <a:bodyPr/>
          <a:lstStyle/>
          <a:p>
            <a:pPr algn="l"/>
            <a:r>
              <a:rPr lang="en-US" dirty="0"/>
              <a:t>Career Spotlight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AECDA-3BBA-59BF-3EA7-8CB08CEFD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226" y="2261770"/>
            <a:ext cx="4703820" cy="294013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Robert Henschel</a:t>
            </a:r>
            <a:br>
              <a:rPr lang="en-US" sz="2800" dirty="0"/>
            </a:br>
            <a:endParaRPr lang="en-US" sz="2800" dirty="0"/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Engagement Architect, Indiana University</a:t>
            </a:r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HPC Lead, Cendio AB</a:t>
            </a:r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henschel@iu.edu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robert.henschel@cendio.com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/>
            <a:endParaRPr lang="en-US" sz="2800" dirty="0"/>
          </a:p>
        </p:txBody>
      </p:sp>
      <p:pic>
        <p:nvPicPr>
          <p:cNvPr id="5" name="Picture 6" descr="File:Bluesky Logo.svg - Wikipedia">
            <a:extLst>
              <a:ext uri="{FF2B5EF4-FFF2-40B4-BE49-F238E27FC236}">
                <a16:creationId xmlns:a16="http://schemas.microsoft.com/office/drawing/2014/main" id="{1B8D9272-72AF-E77F-D225-6EBFB7015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396" y="4848674"/>
            <a:ext cx="416894" cy="36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LinkedIn vector logo (.EPS + .SVG + .CDR) download for free">
            <a:extLst>
              <a:ext uri="{FF2B5EF4-FFF2-40B4-BE49-F238E27FC236}">
                <a16:creationId xmlns:a16="http://schemas.microsoft.com/office/drawing/2014/main" id="{F803A532-2758-F38A-5E9B-E0A1069FA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50" y="4697029"/>
            <a:ext cx="645170" cy="64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D5C8E7-54D5-B9C9-E64B-B7C0C4C735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1420" y="4848674"/>
            <a:ext cx="398509" cy="36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05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D2993-06B4-A8CF-7A4A-7387C2BD9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EF747-3444-C847-2B27-AF8FEE79A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662" y="1872076"/>
            <a:ext cx="8785251" cy="3251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Give you an idea of what a career in HPC or Research Computing can look like.</a:t>
            </a:r>
          </a:p>
          <a:p>
            <a:pPr marL="0" indent="0" algn="ctr">
              <a:buNone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Allow for plenty of questions.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4BBF1B0-7851-F7FC-C107-B6D92F66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62" y="267785"/>
            <a:ext cx="11686776" cy="1579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kern="1200" dirty="0">
                <a:latin typeface="Arial" panose="020B0604020202020204" pitchFamily="34" charset="0"/>
                <a:cs typeface="Arial" panose="020B0604020202020204" pitchFamily="34" charset="0"/>
              </a:rPr>
              <a:t>My Goal For This Talk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670295-EDD4-6A39-9A56-B9868B592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994" y="2800485"/>
            <a:ext cx="32512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7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0F3DEF-BD7D-68C7-E4B5-D44AFAF22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C7068-C7A4-FD49-31C8-35A0E2C7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62" y="267785"/>
            <a:ext cx="11686776" cy="1579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kern="1200" dirty="0"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AE306-2B6C-9AF7-7BEF-605A37C59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872" y="1543883"/>
            <a:ext cx="10842964" cy="486793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Master of Computer Science from Dresden University, Germany</a:t>
            </a:r>
          </a:p>
          <a:p>
            <a:pPr lvl="1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Major: High Performance Computing</a:t>
            </a:r>
          </a:p>
          <a:p>
            <a:pPr lvl="1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 lot of jobs in parallel, first at the university, then at companies.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1 year of PhD program at Max Planck – MPI-CBG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2 years of PhD program at IU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5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D2993-06B4-A8CF-7A4A-7387C2BD9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EF747-3444-C847-2B27-AF8FEE79A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872" y="1543883"/>
            <a:ext cx="11240128" cy="48679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Germany (2002 to 2008)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Analyst/Programmer for two small IT companies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Deep technical work, some leadership opportunities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Not a lot of pay, but lots of experience and connections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Research Software Engineer (RSE) at a university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Deep technical work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Responsibility for new initiatives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Appreciation for research workflows</a:t>
            </a:r>
          </a:p>
          <a:p>
            <a:pPr lvl="1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4BBF1B0-7851-F7FC-C107-B6D92F66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62" y="267785"/>
            <a:ext cx="11686776" cy="1579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kern="1200" dirty="0">
                <a:latin typeface="Arial" panose="020B0604020202020204" pitchFamily="34" charset="0"/>
                <a:cs typeface="Arial" panose="020B0604020202020204" pitchFamily="34" charset="0"/>
              </a:rPr>
              <a:t>Positions</a:t>
            </a:r>
          </a:p>
        </p:txBody>
      </p:sp>
    </p:spTree>
    <p:extLst>
      <p:ext uri="{BB962C8B-B14F-4D97-AF65-F5344CB8AC3E}">
        <p14:creationId xmlns:p14="http://schemas.microsoft.com/office/powerpoint/2010/main" val="2030201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7C105-5F0E-3293-E8BE-A291784E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4098B-386C-AAC2-A5DF-42463D44A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872" y="1543883"/>
            <a:ext cx="11240128" cy="48679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USA (2008 to today)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Manager and director in research computing at IU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Co-Founder of a semantic web company (Switzerland)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Engagement architect for research computing at IU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HPC Lead at a small software company (Sweden)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FC8618A-1D8E-76A2-2267-9601FFBD4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62" y="267785"/>
            <a:ext cx="11686776" cy="1579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kern="1200" dirty="0">
                <a:latin typeface="Arial" panose="020B0604020202020204" pitchFamily="34" charset="0"/>
                <a:cs typeface="Arial" panose="020B0604020202020204" pitchFamily="34" charset="0"/>
              </a:rPr>
              <a:t>Positions</a:t>
            </a:r>
          </a:p>
        </p:txBody>
      </p:sp>
    </p:spTree>
    <p:extLst>
      <p:ext uri="{BB962C8B-B14F-4D97-AF65-F5344CB8AC3E}">
        <p14:creationId xmlns:p14="http://schemas.microsoft.com/office/powerpoint/2010/main" val="181075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572AD-23FF-DB07-5391-9DF4E206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521A-6587-EBB9-019C-23C37C4AC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872" y="1554769"/>
            <a:ext cx="10842964" cy="4867934"/>
          </a:xfrm>
        </p:spPr>
        <p:txBody>
          <a:bodyPr>
            <a:no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Engagement architect for research computing at IU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HPC Lead at a small software company (Sweden)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passionate about enabling broad science with HPC.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passionate about information visualization and management and user interfaces.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9F917BB-05A1-E3BD-D279-7E765222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62" y="267785"/>
            <a:ext cx="11686776" cy="1579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kern="1200" dirty="0">
                <a:latin typeface="Arial" panose="020B0604020202020204" pitchFamily="34" charset="0"/>
                <a:cs typeface="Arial" panose="020B0604020202020204" pitchFamily="34" charset="0"/>
              </a:rPr>
              <a:t>My current position</a:t>
            </a:r>
          </a:p>
        </p:txBody>
      </p:sp>
    </p:spTree>
    <p:extLst>
      <p:ext uri="{BB962C8B-B14F-4D97-AF65-F5344CB8AC3E}">
        <p14:creationId xmlns:p14="http://schemas.microsoft.com/office/powerpoint/2010/main" val="3978942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1FBB91-B84E-FCAB-0B3A-6F17609EF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social media post  AI-generated content may be incorrect.">
            <a:extLst>
              <a:ext uri="{FF2B5EF4-FFF2-40B4-BE49-F238E27FC236}">
                <a16:creationId xmlns:a16="http://schemas.microsoft.com/office/drawing/2014/main" id="{BA186FF2-E5E8-5509-AFDB-EB054C120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399" y="1361675"/>
            <a:ext cx="10665555" cy="464467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4BBF1B0-7851-F7FC-C107-B6D92F66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12" y="172535"/>
            <a:ext cx="11686776" cy="1579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My View of HPC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4BBF1B0-7851-F7FC-C107-B6D92F66ACCB}"/>
              </a:ext>
            </a:extLst>
          </p:cNvPr>
          <p:cNvSpPr txBox="1">
            <a:spLocks/>
          </p:cNvSpPr>
          <p:nvPr/>
        </p:nvSpPr>
        <p:spPr>
          <a:xfrm>
            <a:off x="271662" y="267785"/>
            <a:ext cx="11686776" cy="15791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My View of HPC</a:t>
            </a:r>
          </a:p>
        </p:txBody>
      </p:sp>
    </p:spTree>
    <p:extLst>
      <p:ext uri="{BB962C8B-B14F-4D97-AF65-F5344CB8AC3E}">
        <p14:creationId xmlns:p14="http://schemas.microsoft.com/office/powerpoint/2010/main" val="2368070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8F6428-E265-A1F8-BBB9-B73286FFA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DA18F-5E26-04E0-47B4-C884B1F4F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872" y="1543883"/>
            <a:ext cx="10842964" cy="4867934"/>
          </a:xfrm>
        </p:spPr>
        <p:txBody>
          <a:bodyPr>
            <a:no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work in the field I was trained in.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enjoy continuous learning.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love working in or close to academia.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have a broad interest in science, and this is required.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got lucky, a lot. (career, immigration, health, networking)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DD9B2A8-3A24-26C9-CF62-2638EEBF6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62" y="267785"/>
            <a:ext cx="11686776" cy="1579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kern="1200" dirty="0">
                <a:latin typeface="Arial" panose="020B0604020202020204" pitchFamily="34" charset="0"/>
                <a:cs typeface="Arial" panose="020B0604020202020204" pitchFamily="34" charset="0"/>
              </a:rPr>
              <a:t>What has worked well</a:t>
            </a:r>
          </a:p>
        </p:txBody>
      </p:sp>
    </p:spTree>
    <p:extLst>
      <p:ext uri="{BB962C8B-B14F-4D97-AF65-F5344CB8AC3E}">
        <p14:creationId xmlns:p14="http://schemas.microsoft.com/office/powerpoint/2010/main" val="3177790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80583-B17F-60EF-99CC-296C8448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68BB5-38F8-1B70-F687-A9A5CCAE1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872" y="1543883"/>
            <a:ext cx="10842964" cy="4867934"/>
          </a:xfrm>
        </p:spPr>
        <p:txBody>
          <a:bodyPr>
            <a:no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enjoy technical work much more than management.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Large companies have dual career tracks, not so sure about universities.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Income in academia is limited.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Working in academia offers lots of opportunities, focusing on the important once is a challenge. (both for mental health and for career)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58C11D-762A-AC96-58EA-A7BF0B1BB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62" y="267785"/>
            <a:ext cx="11686776" cy="1579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kern="1200" dirty="0">
                <a:latin typeface="Arial" panose="020B0604020202020204" pitchFamily="34" charset="0"/>
                <a:cs typeface="Arial" panose="020B0604020202020204" pitchFamily="34" charset="0"/>
              </a:rPr>
              <a:t>What has been a challenge</a:t>
            </a:r>
          </a:p>
        </p:txBody>
      </p:sp>
    </p:spTree>
    <p:extLst>
      <p:ext uri="{BB962C8B-B14F-4D97-AF65-F5344CB8AC3E}">
        <p14:creationId xmlns:p14="http://schemas.microsoft.com/office/powerpoint/2010/main" val="1860155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06D692-E95D-EC97-ABD8-16D2EAA0C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2FBE9011-F69E-671D-B9E5-D5AF4EE25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62" y="267785"/>
            <a:ext cx="11686776" cy="1579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kern="1200" dirty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43654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876</TotalTime>
  <Words>375</Words>
  <Application>Microsoft Macintosh PowerPoint</Application>
  <PresentationFormat>Widescreen</PresentationFormat>
  <Paragraphs>64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Career Spotlight</vt:lpstr>
      <vt:lpstr>My Goal For This Talk</vt:lpstr>
      <vt:lpstr>Education</vt:lpstr>
      <vt:lpstr>Positions</vt:lpstr>
      <vt:lpstr>Positions</vt:lpstr>
      <vt:lpstr>My current position</vt:lpstr>
      <vt:lpstr>My View of HPC</vt:lpstr>
      <vt:lpstr>What has worked well</vt:lpstr>
      <vt:lpstr>What has been a challenge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Henschel, Robert</dc:creator>
  <cp:lastModifiedBy>Henschel, Robert</cp:lastModifiedBy>
  <cp:revision>314</cp:revision>
  <dcterms:created xsi:type="dcterms:W3CDTF">2025-01-22T11:25:51Z</dcterms:created>
  <dcterms:modified xsi:type="dcterms:W3CDTF">2026-05-27T01:00:33Z</dcterms:modified>
</cp:coreProperties>
</file>