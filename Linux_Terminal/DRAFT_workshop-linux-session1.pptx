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notesMasterIdLst>
    <p:notesMasterId r:id="rId1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notesMaster" Target="notesMasters/notesMaster1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heme" Target="theme/theme1.xml"/><Relationship Id="rId1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Linux, the Shell, and Filesystems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doing this session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is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whole workshop.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by the end: you can sit down at a Linux machine and </a:t>
            </a:r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Open a terminal, find your way around, edit a file, run a program, read help.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aiming for expertise. We're aiming for fluency at the level of someone who can follow along in the rest of the workshop.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this interactive.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each have your own Ubuntu VM with a remote desktop.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the GUI for some things; we will spend most of our time in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hands-on. When I demo something, you should follow along in your VM.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 with questions. If you get lost, raise your hand.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session at a glance — keep this in mind as we go.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22376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Navigating the filesystem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with files and directories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help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Glue: redirection and pipes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 and processes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root, and sudo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variables, PATH, LD_LIBRARY_PATH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virtual environments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 outline — Orientation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actually is, and why every server we'll touch is Linux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and what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the terminal even though the GUI exists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mental models we'll come back to all day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2 outline — First contact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terminal; read the prompt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commands: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new best friend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 (↑ / ↓, Ctrl-R)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3 outline — Navigating the filesystem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as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tree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its flags),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vs. relative paths;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commands are just files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4 outline — Working with files and directories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making things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reading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copy, move, rename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Trash, no undo"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talk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file workout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5 outline — Getting help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mindset: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don't memorize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usually all you need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full manual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apropos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finding commands by keyword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6 outline — Editing 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need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GUI editor and a terminal editor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(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&lt;file&gt;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(Ctrl-O save, Ctrl-X exit)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escape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you land in it accidentally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7 outline — Glue: redirection and pipes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as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"little factory"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input and output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sending output to a file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piping output into another command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glue partners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8 outline — Permissions and processes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permission string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make a script runnable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what's running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Ctrl-C — stopping things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9 outline — Users, root, and sudo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everything belongs to someone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users vs.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(UID 0)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can't install packages as a regular user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it is, how it behaves, what it strips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10 outline — Environment variables, PATH, LD_LIBRARY_PATH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environment variables are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the shell finds commands (and why venvs work)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foot-gun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avoid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shared libraries, with a security angle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11 outline — Python virtual environments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venvs exist (and why Ubuntu makes them practically mandatory)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install: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python3-venv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python3-pip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activate, install, deactivate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you'll use forever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12 outline — Wrap 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workshop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cheat sheet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Linux?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runs most of the servers, cloud VMs, supercomputers, and embedded devices on the planet.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is Linux underneath. Most websites you visit run on Linux. Your VM is Linux.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workshop: every server you'll touch later is a Linux machine.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Linux now buys you everything else.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Linux comes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/Users/henschel/Dropbox/Documents/Publications/2026/2026_05_Step1Teaching/LinuxCurriculum/images/unix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0" y="960120"/>
            <a:ext cx="68275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"Unix history (simplified)" — Wikimedia Commons, CC BY-SA 3.0 / GFDL.  Linux is on the left; macOS sits in the BSD/Darwin branch.  Windows, DOS, OS/2 are not in this family.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distributions, one Linux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/Users/henschel/Dropbox/Documents/Publications/2026/2026_05_Step1Teaching/LinuxCurriculum/images/linux-distro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019861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2821" y="1051560"/>
            <a:ext cx="693541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"Linux" is technically just the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core of the OS.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("distro") bundles the kernel with a package manager, default tools, and an installer.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distros exist. Most descend from a few ancestors: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Ubuntu, Mint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Fedora, CentOS, Rocky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Slackware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others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VM runs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(Debian family). What you learn today works on basically every distro.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"2023 Linux Distributions Timeline" — GioComitini via GNUclad, building on Lundqvist &amp; Rodic.  Wikimedia Commons, CC BY-SA 4.0.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shell?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program that reads what you type, runs it, and shows you the result.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we're using is called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There are others (zsh, fish) — same idea, slight differences.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window the shell runs in.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say "terminal" and "shell" loosely; they're not the same thing, but you'll be fine treating them as the same for now.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using the terminal at all? We have a GUI.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is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same files and programs. Everything you can do in the GUI, you can do in the terminal — and a lot more.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servers don't </a:t>
            </a:r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GUI. When you SSH into a cloud machine, all you get is a shell.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is how professionals actually drive these systems: faster, scriptable, reproducible.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skill jump in this workshop.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to hold in your head all 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is a tree.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Everything lives under one root,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is a conversation.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say a command, it responds. One turn at a time.</a:t>
            </a:r>
            <a:endParaRPr lang="en-US" sz="16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is: `verb [flags] [nouns]`.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Verb = the command, flags = how, nouns = what to act 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/home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verb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flag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noun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We'll come back to this all day.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VM desktop, open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right-click the desktop → "Open Terminal".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on your VM. Make it bigger so you can read it.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looking at — the prompt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exouser@vm-42:~$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exouser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vm-42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(this machine's name)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directory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(shorthand for your home)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shell is ready for a command.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telling you who you are, where you are, and that it's listening.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hostname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 world"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username. Useful on a server when you forget who you logged in as.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name of this machine.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current date and time.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prints whatever you give it. Boring on its own. We'll see why it matters later.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completion — your new best friend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will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words for you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Type a few letters, press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unique → it completes. If not → press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twice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see options.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constantly.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Prevents typos. Makes you faster.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32304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323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 is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different.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you typed. You don't have to retype.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/ ↓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walk through previous commands.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 your history. Start typing a few letters of an old command.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print everything you've typed in this session.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35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198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↑ a few times. Find the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ran a minute ago and re-run it.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filesystem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filesystem is a tree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18379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          ← the "root" — everything lives under this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exouser    ← your home directory (this is what ~ means)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etc            ← system configuration 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tmp            ← scratch space, wiped on reboot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usr            ← installed programs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            ← logs and variable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bin            ← essential commands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3522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tree. One root.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 letters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describes where it sits in the tree.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am I right now?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/home/exouser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</a:t>
            </a:r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somewhere in the filesystem.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usually act on your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location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you tell them otherwise.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here?  —  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         # files &amp; dirs here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      # long format: sizes, dates, permissions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-a       # all files, including hidden (.foo)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     # long AND 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/ flags / nouns pattern: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(verb),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-a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(flags), no noun → defaults to "here".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around: 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          # go to the root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/etc       # go into /etc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          # go home  (~ means your home dir)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           # no args → also goes home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-          # go back to the previous directory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vs relative paths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starts with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Full address from the root. Always works.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/home/exouser/Documents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start with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Relative to where you currently are.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from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/home/exouser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/home/exouser/Documents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"here" (the current directory)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"one level up" (the parent directory)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moving around — both kinds of paths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23682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practice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practice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practice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../..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9624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what happened at each step. Did each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 what you expected?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programs live?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python3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bash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you where a command's program file actually lives on disk.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are just files.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real file at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/usr/bin/ls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type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shell looks it up and runs it.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files and directories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892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workshop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workshop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notes scripts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hello.txt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notes/day1.md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7413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directory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can make several at once.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an empty file (or updates its timestamp if it exists).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file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/etc/os-release      # dump file to screen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less /etc/services       # pager — q to quit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head /etc/services       # first 10 lines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/etc/services       # last 10 lines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head -n 3 /etc/services  # first 3 lines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looks like it took over your terminal. It did.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`q` to get out.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next page,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back,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/word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search.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Copy, move, rename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941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hello.txt hello-copy.txt          # cp source dest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hello-copy.txt notes/             # move into notes/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notes/hello-copy.txt notes/greeting.txt   # rename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There's no separate rename command.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 —  read this before you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deletes files.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Permanently.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 is no Trash. There is no undo.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deletes a directory and everything in it.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deletes recursively and forcefully (no prompts).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infamous typo in computing: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tries to delete the entire system.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~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wipes your home directory.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at what you typed before pressing Enter. Especially with `rm`.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 —  carefully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hello.txt          # gone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junk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junk/a junk/b junk/c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-r junk            # gone with everything inside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60904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unsure, run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to see what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affect.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asks before each delete.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Wildcards: matching many files at once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matching filenames: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matches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sequence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characters (including nothing)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matches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character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these </a:t>
            </a:r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command sees them — the command just gets the list of matching filenames.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07208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07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8046720" cy="1435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64408"/>
            <a:ext cx="77724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~/workshop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a.txt b.txt c.log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*.txt        # a.txt  b.txt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?.txt        # a.txt  b.txt   (one char + .txt)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*            # everything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*.txt      # see what the shell expands * into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18304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 most filename-taking commands.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`rm *.tmp`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powerful — recall the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warning. Run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&lt;pattern&gt;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if unsure.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a small file workout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home directory.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directory called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make three directories: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morning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afternoon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evening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morning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create a file called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breakfast.txt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breakfast.txt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afternoon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renaming it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lunch.txt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lunch.txt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afternoon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evening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renaming it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dinner.txt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recursively: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-R lab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whole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help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not remember all of this. Nobody does.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Linux is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memorizing commands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knowing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look things up fast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in order of usefulness for beginners: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apropos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--help  —  the quickest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--help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--help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commands accept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print a short usage summary.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this is all you need.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  —  the full manual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4663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man 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full manual page. Uses the same pager as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next page   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/word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   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88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pages are dense and written for people who mostly understand the command already.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reach for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need the full detail.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apropos  —  "what command does X?"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apropos "list directory"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apropos compress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man page descriptions for keywords.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the command's name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/etc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Verb: ____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____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Nouns: 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26664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(Wait for the room: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 Every command today follows this shape.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files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edit, and why you need both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GUI editor on your VM: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It's lovely. Use it when you can.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need to know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terminal editor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SSH into a server later in this workshop, there is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VSCode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Only a terminal.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it's the friendliest.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(Vim and Emacs exist; the "how do I exit Vim?" jokes are why we use nano.)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edit with VSCode (GUI)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~/workshop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code notes/day1.md       # opens VSCode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 Save with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Close.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terminal: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notes/day1.md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you'll see what you typed.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file. Two surfaces.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Now: edit the same file with nano (terminal)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4663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nano notes/day1.md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 is in the middle. The bottom shows shortcuts.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Ctrl-X.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write Out (save). Press Enter to confirm filename.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eXit.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edit a file two 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~/workshop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create a file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aboutme.txt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 three lines: your name, your major, one thing you hope to learn.</a:t>
            </a:r>
            <a:endParaRPr lang="en-US" sz="16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 a fourth line: your favorite food.</a:t>
            </a:r>
            <a:endParaRPr lang="en-US" sz="16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aboutme.txt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confirm all four lines are there.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write a real shell 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just a text file with shell commands in it.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 is a convention — Linux doesn't </a:t>
            </a:r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it, but humans use it to know what the file 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95144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95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8046720" cy="16367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52344"/>
            <a:ext cx="77724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~/workshop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nano hello.sh         # type the two lines below, save, exit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#!/bin/bash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"Hello, World!"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hello.sh          # confirm it's saved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</a:t>
            </a:r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 —  the shebang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"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shuh-bang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(or "hash-bang").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be the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two characters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line 1.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kernel: "hand this file to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/bin/bash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someone runs it."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shebang, the system has to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interpreter — and may refuse to run the script.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shebangs you'll see in the wild: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#!/bin/sh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minimal POSIX shell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python3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Python (the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trick finds python3 in PATH)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#!/usr/bin/perl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31336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1538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comment, even though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bash comment character. The kernel reads the first two bytes of the file specially.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executable, then run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264261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./hello.sh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bash: ./hello.sh: Permission denied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hello.sh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-rw-r--r-- 1 exouser exouser 32 ... hello.sh     ← no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hello.sh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hello.sh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-rwxr-xr-x 1 exouser exouser 32 ... hello.sh     ← x added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./hello.sh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23944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the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bit. (Block 8 goes deeper into permissions.)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./hello.sh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The current directory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security.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"the file right here." (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Block 10.)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your own 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~/workshop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create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greet.sh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this content: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8046720" cy="6309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7772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from $USER on $(hostname) — today is $(date)"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15184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run it: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./greet.sh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should fail with "Permission denied."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greet.sh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again. You should see your username, hostname, and the current date.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(Bonus) Remove the shebang line and re-run. What changes?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mention: vim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mentioned everywhere. Powerful. Beloved by some. Infuriating to most beginners.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accidentally end up in vim: press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type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`:q!`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hit Enter to escape without saving.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 you need to know about vim today.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Glue: redirection and pipes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block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each command has been standalone.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power of the shell is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ideas: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(output → file) and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(output → another command).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get these, you can solve problems by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tools.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Redirection: send output to a 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"first line" &gt; log.txt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log.txt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"second line" &gt;&gt; log.txt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"third line" &gt;&gt; log.txt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log.txt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send output INTO this file. If it exists,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overwritten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file instead of overwriting.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47872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47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silently overwrites. If you meant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typed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your file is gone.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press Enter.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Pipes: send output to another command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941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             # lots of output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| less       # pipe into a pager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| wc -l      # count lines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(pipe) takes the output of the left command and feeds it to the right command.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counts lines → answers "how many things in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?"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example: searching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root /etc/passwd            # find lines mentioning root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/etc/passwd | grep root      # same idea, via pipe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/etc/passwd | wc -l          # how many users?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/usr/bin | grep python        # every python program in /usr/bin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searches for a pattern in text.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mental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is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factory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input and an output.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belt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factories.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file.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as many as you like. This is how short shell commands solve big problems.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compose a one-liner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lines are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/etc/services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(hint: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/etc/services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lines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/etc/services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mention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(hint: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http /etc/services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lines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/etc/services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mention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(combine grep and wc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lines into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~/http-lines.txt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(combine grep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 and processes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block is short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going to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vocabulary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master it. The cybersecurity session will go deeper.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 can read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roughly know what's going on, and you know how to see what's running.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ls -l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/etc/hostname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-rw-r--r-- 1 root root 8 May 10 09:00 /etc/hostname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in order:  permissions, links, owner, group, size, modified, name.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the permission string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7772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 rw-     r--     r--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owner   group   others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regular file,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three: what the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do.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three: what the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do.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three: what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do.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is three slots: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rite, e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regular file, owner can read+write, everyone else can only read.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Trying it  —  chmod +x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6550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script.sh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script.sh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...                     # not executable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script.sh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script.sh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-rwxr-xr-x ...                     # executable 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36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 the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bit. This is how you make a script runnable.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running?  —  processes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running program. Every command you run starts one.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browser tab, every background service — all processes.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96312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                   # processes in this terminal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| head -n 20   # all processes, first 20 lines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a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(process ID), owner, CPU/memory, command.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live: top  /  htop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      # live, updating view  (q to quit)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htop     # nicer version with colors, if installed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Activity Monitor / Task Manager, but in the terminal.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CPU usage by default.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a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1234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politely ask process 1234 to stop.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1234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force it to stop. Use sparingly.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Ctrl-C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stop the currently running command. One of the most useful keys to know.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34056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340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91256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sleep 60          # shell hangs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                  # press Ctrl-C — you're back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Users, root, and sudo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is a multi-user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Linux machine has the concept of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has a username, a numeric ID, and a home directory.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this already: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printed your username, and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file owners.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processes always belong to *some* user.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Permissions decide who else can touch them.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(like you) — can read/write/run their own files plus anything permissions allow. Cannot change the system itself.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`root` user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administrator. Unique. Numeric ID 0. Bypasses almost all permission checks: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 any file.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modify any file.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kill any process.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install or remove software for the whole machine.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wreck the system in one command.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447288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exactly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root account per Linux machine. That's a feature, not a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split exists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time you should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able to break the system — even by accident.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"the user doing work" from "the user with system-wide power" means a typo, a buggy program, or malware running as you can damage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stuff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not the OS.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protects other users on shared systems — your mistakes don't affect them.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reasons Linux servers stay up for years.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can't install packages as a normal user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6367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-ld /usr/bin /usr/lib /etc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... root root ...   /usr/bin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... root root ...   /usr/lib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... root root ...   /etc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apt install cowsay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 Could not open lock file ... Permission denied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18104"/>
            <a:ext cx="804672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being unfriendly — it's the filesystem doing its job. To install system-wide, you need to act as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sudo 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ubstitute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— run a single command as another user, defaulting to root.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authenticate with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password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root's password.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 usually don't even know root's password, and you don't need to.)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</a:t>
            </a:r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sudo is configured by a sysadmin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workshop VM: your account has sudo. On a random server: maybe, maybe not.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sudo behaves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892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exouser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whoami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[sudo] password for exouser: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cowsay      # now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74136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shell is still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the one command was elevated.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sudo asks for your password.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up as you type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that's intentional.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caches your authentication for ~15 minutes.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 root shell: sudo -i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6550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-i              # drop into an interactive root shell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whoami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pwd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exit                 # back to your normal shell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36392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typically changes: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admin commands.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longer you stay root, the more damage a typo can do.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habitually `sudo` everything.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as yourself; sudo only when you need to.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rm -rf /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really does try to wipe the system.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press Enter when sudo is on the line.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security,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strips most environment variables — including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reset to a safe default. (Next block.)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!!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re-runs your last command with sudo — useful when you forgot it the first time.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 your username.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whoami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 the output.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id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Compare. The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uid=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gid=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update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sudo) — fails.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works.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variables, PATH, LD_LIBRARY_PATH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environment variables?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shell carries a bag of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settings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called environment variables.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how programs discover things about their environment: who you are, your home, your language, where to look for things.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you launch inherits a copy of this bag.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51176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08376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env | head -n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$HOME       # /home/exouser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$USER       # exouser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$SHELL      # /bin/bash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 —  how the shell finds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type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how does the shell know that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program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in the directories listed in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`PATH`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runs the first match.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51176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51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80467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08376"/>
            <a:ext cx="77724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/home/exouser/.local/bin:/usr/local/bin:/usr/bin:/bin:/usr/games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ls           # which PATH entry won?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61104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Colon-separated list. The shell tries each left to right.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wins.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PATH matters in this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activating a venv works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prepends the venv's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 into the venv.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write your own script in some random directory, the shell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find it by name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you'd call it by full path.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directory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how you make your own programs callable by name.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204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PATH=$HOME/scripts:$PATH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lasts only for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shell session.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PATH foot-gun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typo PATH — e.g.,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PATH=$HOME/scripts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(forgetting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:$PATH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end) — you can suddenly lose access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almost everything.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programs still exist on disk. The shell just can't find them.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a new terminal (the bad change doesn't persist), or restore manually: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8046720" cy="4663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PATH=/usr/bin:/bin:$PATH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LD_LIBRARY_PATH  —  how programs find shared libraries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programs don't carry all their code with them.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depend on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libraries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files ending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loaded at run time.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has standard places it looks (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/usr/lib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...).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you add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places to look.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07208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07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8046720" cy="8321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644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ldd $(which 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libc.so.6 =&gt; /lib/x86_64-linux-gnu/libc.so.6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you'll touch LD_LIBRARY_PATH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a program whose libraries live in 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place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custom-built software, scientific tools, bundled commercial software.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4663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96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LD_LIBRARY_PATH=/opt/mytool/lib ./mytool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804672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variable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this one command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Symptom you'll hit: 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while loading shared libraries: libfoo.so.3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reach for this.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security flavor for later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a sibling,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change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code gets loaded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program, they're a classic vector for both legitimate library overrides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library-injection attacks.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safety, Linux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run a program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any setuid binary.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cybersecurity session will revisit why.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4728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set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globally (e.g., in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.bashrc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Set it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just for the command that needs it.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changes stick: .bashrc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terminal is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gone when the terminal closes.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it permanent, add the line 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~/.bashrc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file runs every time you open a new bash shell.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95144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95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8046720" cy="16550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52344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nano ~/.bashrc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at the bottom, add: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export PATH=$HOME/scripts:$PATH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Ctrl-O save, Ctrl-X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source ~/.bashrc       # apply to the current terminal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PATH in practice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your current PATH: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lives: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python3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shared libraries python3 needs: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ldd $(which python3) | head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tiny script: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~/scripts &amp;&amp; echo 'echo "hi from my script"' &gt; ~/scripts/greet &amp;&amp; chmod +x ~/scripts/greet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running it by name: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fails, not in PATH.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by full path: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~/scripts/greet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works.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~/scripts to PATH: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PATH=$HOME/scripts:$PATH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 by name.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virtual environments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block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Python you'll write needs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installed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install libraries system-wide, two projects with different version needs collide.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Worse: on Ubuntu,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Python is used by the OS itself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Random installs can break system tools.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 ("venv")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isolated Python setup that lives in a folder, per project.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way Python is used on Linux.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You'll use venvs constantly.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install: get the venv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python3-venv python3-pip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do this as the administrator. Needed for installing system packages.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prompted for your password.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up as you type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that's normal.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update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refreshes the package list;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installs.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venv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~/workshop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python3 -m venv myenv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myenv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   include   lib   pyvenv.cfg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the Python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tool, make a venv in a new directory called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normal directory holding an isolated Python plus a place for installed libraries.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delete the venv, delete the folder.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system cleanup needed.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the venv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source myenv/bin/activate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$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now starts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That's the venv telling you it's active.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the activation script in your current shell. It changes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 inside the venv.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install now goes into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myenv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 package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941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$ pip install requests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$ python3 -c "import requests; print(requests.__version__)"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2.31.0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popular library for making HTTP requests.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installed — but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inside this venv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what's in the venv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892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$ pip list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     Version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  -------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    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charset-...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     2.31.0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urllib3      ...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Leaving the venv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46720" cy="1179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(myenv) $ deactivate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python3 -c "import requests"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'requests'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point — the venv kept it contained.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you'll use forever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 for the project.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venv inside: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env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env/bin/activate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whatever libraries the project needs.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the project.</a:t>
            </a:r>
            <a:endParaRPr lang="en-US" sz="14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done.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later → just re-activate. You don't need to recreate the venv.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venv on Ubuntu often fails with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externally-managed-environment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That's Ubuntu protecting you. Fix: make and activate a venv first.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clone someone else's Python project, they'll usually have a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After making your own venv: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put the venv folder in git.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It's a local thing per machine.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a venv from scratch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~/python-lab &amp;&amp; cd ~/python-lab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venv called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env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it. Confirm your prompt shows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(env)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fun package: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cowsay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cowsay -t "hello from my venv"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cowsay -t hi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again. It says "command not found" — because cowsay only lived in the venv.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now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read the prompt.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filesystem with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paths.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copy, move, delete files and directories.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in both VSCode and nano.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help with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output to files (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chain commands with pipes (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roughly understand permissions; see what's running; stop it.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regular user from root, and use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individual commands.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LD_LIBRARY_PATH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environment variables.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use Python virtual environments.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foundation for every later session. </a:t>
            </a:r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done.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in the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sessions assume you can navigate a terminal and edit files.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sessions will get you SSHing between machines — same shell, just on another machine.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sessions revisit permissions, processes, and users in real depth.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Navigation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pwd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working directory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 /  ls -l  /  ls -la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files (long, all)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&lt;path&gt;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directory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~   /   cd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home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..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one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-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 previous directory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Files &amp; directories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mkdir &lt;name&gt;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touch &lt;name&gt;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an empty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Dump a file to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less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through a file (q to quit)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head / tail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/ last 10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cp &lt;src&gt; &lt;dst&gt;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mv &lt;src&gt; &lt;dst&gt;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/ rename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(no undo!)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-r &lt;dir&gt;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directory and 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Help, Editing, Glue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&lt;cmd&gt; --help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usage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 &lt;cmd&gt;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manual (q to quit)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which &lt;cmd&gt;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program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apropos &lt;word&gt;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commands by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 VSCode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nano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 nano (Ctrl-O save, Ctrl-X exit)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   /   &gt;&gt;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/ append output to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output to next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&lt;pat&gt; &lt;file&gt;  /  wc -l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/ count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Permissions &amp; processes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permissions, owner,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chmod +x &lt;file&gt;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file executable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aux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processes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  /  htop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process view (q to quit)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&lt;PID&gt;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 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Ctrl-C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current 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↑   /   Ctrl-R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command  /  search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Users &amp; root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whoami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username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numeric IDs and group memberships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&lt;cmd&gt;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one command as root (your own password)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-i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an interactive root shell (exit to leave)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!!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the previous command with sudo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apt update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package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apt install &lt;pkg&gt;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 package system-wide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Environment &amp; paths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environment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echo $VAR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one variable's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echo $PATH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command search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which &lt;cmd&gt;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PATH entry wins for a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export VAR=value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variable for this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export PATH=$HOME/scripts:$PATH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Prepend a directory to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ldd &lt;program&gt;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shared libraries a program 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LD_LIBRARY_PATH=/path ./prog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library dir, just for this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 ~/.bashrc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Re-read shell config in current 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 — Python virtual environments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apt install python3-venv python3-pip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install per 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python3 -m venv &lt;name&gt;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venv in directory &lt;name&gt;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 &lt;name&gt;/bin/activate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install &lt;pkg&gt;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into the active venv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list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what's installed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install -r requirements.txt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from a requirements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deactivate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the venv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to keep going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Carpentry — The Unix Shell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swcarpentry.github.io/shell-novice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The Missing Semester of Your CS Education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missing.csail.mit.edu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command-line tutorial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ubuntu.com/tutorials/command-line-for-beginners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explainshell.com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paste any command, see it annotated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floor.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quiet: "What's one thing that confused you? Even if you think you got it — what was the muddy part?"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120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Linux, the Shell, and Filesystems</dc:title>
  <dc:subject>PptxGenJS Presentation</dc:subject>
  <dc:creator>Henschel</dc:creator>
  <cp:lastModifiedBy>Henschel</cp:lastModifiedBy>
  <cp:revision>1</cp:revision>
  <dcterms:created xsi:type="dcterms:W3CDTF">2026-05-20T10:23:15Z</dcterms:created>
  <dcterms:modified xsi:type="dcterms:W3CDTF">2026-05-20T10:23:15Z</dcterms:modified>
</cp:coreProperties>
</file>