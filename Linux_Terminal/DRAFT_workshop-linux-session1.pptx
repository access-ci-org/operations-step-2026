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50" r:id="rId2"/>
  </p:sldMasterIdLst>
  <p:notesMasterIdLst>
    <p:notesMasterId r:id="rId123"/>
  </p:notesMasterIdLst>
  <p:sldIdLst>
    <p:sldId id="375" r:id="rId3"/>
    <p:sldId id="376"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76" r:id="rId23"/>
    <p:sldId id="277" r:id="rId24"/>
    <p:sldId id="278" r:id="rId25"/>
    <p:sldId id="279" r:id="rId26"/>
    <p:sldId id="280" r:id="rId27"/>
    <p:sldId id="281" r:id="rId28"/>
    <p:sldId id="282" r:id="rId29"/>
    <p:sldId id="283" r:id="rId30"/>
    <p:sldId id="284" r:id="rId31"/>
    <p:sldId id="285" r:id="rId32"/>
    <p:sldId id="286" r:id="rId33"/>
    <p:sldId id="287" r:id="rId34"/>
    <p:sldId id="288" r:id="rId35"/>
    <p:sldId id="289" r:id="rId36"/>
    <p:sldId id="290" r:id="rId37"/>
    <p:sldId id="291" r:id="rId38"/>
    <p:sldId id="292" r:id="rId39"/>
    <p:sldId id="293" r:id="rId40"/>
    <p:sldId id="294" r:id="rId41"/>
    <p:sldId id="295" r:id="rId42"/>
    <p:sldId id="296" r:id="rId43"/>
    <p:sldId id="297" r:id="rId44"/>
    <p:sldId id="298" r:id="rId45"/>
    <p:sldId id="299" r:id="rId46"/>
    <p:sldId id="300" r:id="rId47"/>
    <p:sldId id="301" r:id="rId48"/>
    <p:sldId id="302" r:id="rId49"/>
    <p:sldId id="303" r:id="rId50"/>
    <p:sldId id="304" r:id="rId51"/>
    <p:sldId id="305" r:id="rId52"/>
    <p:sldId id="306" r:id="rId53"/>
    <p:sldId id="307" r:id="rId54"/>
    <p:sldId id="308" r:id="rId55"/>
    <p:sldId id="309" r:id="rId56"/>
    <p:sldId id="310" r:id="rId57"/>
    <p:sldId id="311" r:id="rId58"/>
    <p:sldId id="312" r:id="rId59"/>
    <p:sldId id="313" r:id="rId60"/>
    <p:sldId id="314" r:id="rId61"/>
    <p:sldId id="315" r:id="rId62"/>
    <p:sldId id="316" r:id="rId63"/>
    <p:sldId id="317" r:id="rId64"/>
    <p:sldId id="318" r:id="rId65"/>
    <p:sldId id="319" r:id="rId66"/>
    <p:sldId id="320" r:id="rId67"/>
    <p:sldId id="321" r:id="rId68"/>
    <p:sldId id="322" r:id="rId69"/>
    <p:sldId id="323" r:id="rId70"/>
    <p:sldId id="324" r:id="rId71"/>
    <p:sldId id="325" r:id="rId72"/>
    <p:sldId id="326" r:id="rId73"/>
    <p:sldId id="327" r:id="rId74"/>
    <p:sldId id="328" r:id="rId75"/>
    <p:sldId id="329" r:id="rId76"/>
    <p:sldId id="330" r:id="rId77"/>
    <p:sldId id="331" r:id="rId78"/>
    <p:sldId id="332" r:id="rId79"/>
    <p:sldId id="333" r:id="rId80"/>
    <p:sldId id="334" r:id="rId81"/>
    <p:sldId id="335" r:id="rId82"/>
    <p:sldId id="336" r:id="rId83"/>
    <p:sldId id="337" r:id="rId84"/>
    <p:sldId id="338" r:id="rId85"/>
    <p:sldId id="339" r:id="rId86"/>
    <p:sldId id="340" r:id="rId87"/>
    <p:sldId id="341" r:id="rId88"/>
    <p:sldId id="342" r:id="rId89"/>
    <p:sldId id="343" r:id="rId90"/>
    <p:sldId id="344" r:id="rId91"/>
    <p:sldId id="345" r:id="rId92"/>
    <p:sldId id="346" r:id="rId93"/>
    <p:sldId id="347" r:id="rId94"/>
    <p:sldId id="348" r:id="rId95"/>
    <p:sldId id="349" r:id="rId96"/>
    <p:sldId id="350" r:id="rId97"/>
    <p:sldId id="351" r:id="rId98"/>
    <p:sldId id="352" r:id="rId99"/>
    <p:sldId id="353" r:id="rId100"/>
    <p:sldId id="354" r:id="rId101"/>
    <p:sldId id="355" r:id="rId102"/>
    <p:sldId id="356" r:id="rId103"/>
    <p:sldId id="357" r:id="rId104"/>
    <p:sldId id="358" r:id="rId105"/>
    <p:sldId id="359" r:id="rId106"/>
    <p:sldId id="360" r:id="rId107"/>
    <p:sldId id="361" r:id="rId108"/>
    <p:sldId id="362" r:id="rId109"/>
    <p:sldId id="363" r:id="rId110"/>
    <p:sldId id="364" r:id="rId111"/>
    <p:sldId id="365" r:id="rId112"/>
    <p:sldId id="366" r:id="rId113"/>
    <p:sldId id="367" r:id="rId114"/>
    <p:sldId id="368" r:id="rId115"/>
    <p:sldId id="369" r:id="rId116"/>
    <p:sldId id="370" r:id="rId117"/>
    <p:sldId id="371" r:id="rId118"/>
    <p:sldId id="372" r:id="rId119"/>
    <p:sldId id="373" r:id="rId120"/>
    <p:sldId id="377" r:id="rId121"/>
    <p:sldId id="374" r:id="rId122"/>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64" d="100"/>
          <a:sy n="164" d="100"/>
        </p:scale>
        <p:origin x="216" y="1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slide" Target="slides/slide23.xml"/><Relationship Id="rId26" Type="http://schemas.openxmlformats.org/officeDocument/2006/relationships/slide" Target="slides/slide24.xml"/><Relationship Id="rId27" Type="http://schemas.openxmlformats.org/officeDocument/2006/relationships/slide" Target="slides/slide25.xml"/><Relationship Id="rId28" Type="http://schemas.openxmlformats.org/officeDocument/2006/relationships/slide" Target="slides/slide26.xml"/><Relationship Id="rId29" Type="http://schemas.openxmlformats.org/officeDocument/2006/relationships/slide" Target="slides/slide27.xml"/><Relationship Id="rId30" Type="http://schemas.openxmlformats.org/officeDocument/2006/relationships/slide" Target="slides/slide28.xml"/><Relationship Id="rId31" Type="http://schemas.openxmlformats.org/officeDocument/2006/relationships/slide" Target="slides/slide29.xml"/><Relationship Id="rId32" Type="http://schemas.openxmlformats.org/officeDocument/2006/relationships/slide" Target="slides/slide30.xml"/><Relationship Id="rId33" Type="http://schemas.openxmlformats.org/officeDocument/2006/relationships/slide" Target="slides/slide31.xml"/><Relationship Id="rId34" Type="http://schemas.openxmlformats.org/officeDocument/2006/relationships/slide" Target="slides/slide32.xml"/><Relationship Id="rId35" Type="http://schemas.openxmlformats.org/officeDocument/2006/relationships/slide" Target="slides/slide33.xml"/><Relationship Id="rId36" Type="http://schemas.openxmlformats.org/officeDocument/2006/relationships/slide" Target="slides/slide34.xml"/><Relationship Id="rId37" Type="http://schemas.openxmlformats.org/officeDocument/2006/relationships/slide" Target="slides/slide35.xml"/><Relationship Id="rId38" Type="http://schemas.openxmlformats.org/officeDocument/2006/relationships/slide" Target="slides/slide36.xml"/><Relationship Id="rId39" Type="http://schemas.openxmlformats.org/officeDocument/2006/relationships/slide" Target="slides/slide37.xml"/><Relationship Id="rId40" Type="http://schemas.openxmlformats.org/officeDocument/2006/relationships/slide" Target="slides/slide38.xml"/><Relationship Id="rId41" Type="http://schemas.openxmlformats.org/officeDocument/2006/relationships/slide" Target="slides/slide39.xml"/><Relationship Id="rId42" Type="http://schemas.openxmlformats.org/officeDocument/2006/relationships/slide" Target="slides/slide40.xml"/><Relationship Id="rId43" Type="http://schemas.openxmlformats.org/officeDocument/2006/relationships/slide" Target="slides/slide41.xml"/><Relationship Id="rId44" Type="http://schemas.openxmlformats.org/officeDocument/2006/relationships/slide" Target="slides/slide42.xml"/><Relationship Id="rId45" Type="http://schemas.openxmlformats.org/officeDocument/2006/relationships/slide" Target="slides/slide43.xml"/><Relationship Id="rId46" Type="http://schemas.openxmlformats.org/officeDocument/2006/relationships/slide" Target="slides/slide44.xml"/><Relationship Id="rId47" Type="http://schemas.openxmlformats.org/officeDocument/2006/relationships/slide" Target="slides/slide45.xml"/><Relationship Id="rId48" Type="http://schemas.openxmlformats.org/officeDocument/2006/relationships/slide" Target="slides/slide46.xml"/><Relationship Id="rId49" Type="http://schemas.openxmlformats.org/officeDocument/2006/relationships/slide" Target="slides/slide47.xml"/><Relationship Id="rId50" Type="http://schemas.openxmlformats.org/officeDocument/2006/relationships/slide" Target="slides/slide48.xml"/><Relationship Id="rId51" Type="http://schemas.openxmlformats.org/officeDocument/2006/relationships/slide" Target="slides/slide49.xml"/><Relationship Id="rId52" Type="http://schemas.openxmlformats.org/officeDocument/2006/relationships/slide" Target="slides/slide50.xml"/><Relationship Id="rId53" Type="http://schemas.openxmlformats.org/officeDocument/2006/relationships/slide" Target="slides/slide51.xml"/><Relationship Id="rId54" Type="http://schemas.openxmlformats.org/officeDocument/2006/relationships/slide" Target="slides/slide52.xml"/><Relationship Id="rId55" Type="http://schemas.openxmlformats.org/officeDocument/2006/relationships/slide" Target="slides/slide53.xml"/><Relationship Id="rId56" Type="http://schemas.openxmlformats.org/officeDocument/2006/relationships/slide" Target="slides/slide54.xml"/><Relationship Id="rId57" Type="http://schemas.openxmlformats.org/officeDocument/2006/relationships/slide" Target="slides/slide55.xml"/><Relationship Id="rId58" Type="http://schemas.openxmlformats.org/officeDocument/2006/relationships/slide" Target="slides/slide56.xml"/><Relationship Id="rId59" Type="http://schemas.openxmlformats.org/officeDocument/2006/relationships/slide" Target="slides/slide57.xml"/><Relationship Id="rId60" Type="http://schemas.openxmlformats.org/officeDocument/2006/relationships/slide" Target="slides/slide58.xml"/><Relationship Id="rId61" Type="http://schemas.openxmlformats.org/officeDocument/2006/relationships/slide" Target="slides/slide59.xml"/><Relationship Id="rId62" Type="http://schemas.openxmlformats.org/officeDocument/2006/relationships/slide" Target="slides/slide60.xml"/><Relationship Id="rId63" Type="http://schemas.openxmlformats.org/officeDocument/2006/relationships/slide" Target="slides/slide61.xml"/><Relationship Id="rId64" Type="http://schemas.openxmlformats.org/officeDocument/2006/relationships/slide" Target="slides/slide62.xml"/><Relationship Id="rId65" Type="http://schemas.openxmlformats.org/officeDocument/2006/relationships/slide" Target="slides/slide63.xml"/><Relationship Id="rId66" Type="http://schemas.openxmlformats.org/officeDocument/2006/relationships/slide" Target="slides/slide64.xml"/><Relationship Id="rId67" Type="http://schemas.openxmlformats.org/officeDocument/2006/relationships/slide" Target="slides/slide65.xml"/><Relationship Id="rId68" Type="http://schemas.openxmlformats.org/officeDocument/2006/relationships/slide" Target="slides/slide66.xml"/><Relationship Id="rId69" Type="http://schemas.openxmlformats.org/officeDocument/2006/relationships/slide" Target="slides/slide67.xml"/><Relationship Id="rId70" Type="http://schemas.openxmlformats.org/officeDocument/2006/relationships/slide" Target="slides/slide68.xml"/><Relationship Id="rId71" Type="http://schemas.openxmlformats.org/officeDocument/2006/relationships/slide" Target="slides/slide69.xml"/><Relationship Id="rId72" Type="http://schemas.openxmlformats.org/officeDocument/2006/relationships/slide" Target="slides/slide70.xml"/><Relationship Id="rId73" Type="http://schemas.openxmlformats.org/officeDocument/2006/relationships/slide" Target="slides/slide71.xml"/><Relationship Id="rId74" Type="http://schemas.openxmlformats.org/officeDocument/2006/relationships/slide" Target="slides/slide72.xml"/><Relationship Id="rId75" Type="http://schemas.openxmlformats.org/officeDocument/2006/relationships/slide" Target="slides/slide73.xml"/><Relationship Id="rId76" Type="http://schemas.openxmlformats.org/officeDocument/2006/relationships/slide" Target="slides/slide74.xml"/><Relationship Id="rId77" Type="http://schemas.openxmlformats.org/officeDocument/2006/relationships/slide" Target="slides/slide75.xml"/><Relationship Id="rId78" Type="http://schemas.openxmlformats.org/officeDocument/2006/relationships/slide" Target="slides/slide76.xml"/><Relationship Id="rId79" Type="http://schemas.openxmlformats.org/officeDocument/2006/relationships/slide" Target="slides/slide77.xml"/><Relationship Id="rId80" Type="http://schemas.openxmlformats.org/officeDocument/2006/relationships/slide" Target="slides/slide78.xml"/><Relationship Id="rId81" Type="http://schemas.openxmlformats.org/officeDocument/2006/relationships/slide" Target="slides/slide79.xml"/><Relationship Id="rId82" Type="http://schemas.openxmlformats.org/officeDocument/2006/relationships/slide" Target="slides/slide80.xml"/><Relationship Id="rId83" Type="http://schemas.openxmlformats.org/officeDocument/2006/relationships/slide" Target="slides/slide81.xml"/><Relationship Id="rId84" Type="http://schemas.openxmlformats.org/officeDocument/2006/relationships/slide" Target="slides/slide82.xml"/><Relationship Id="rId85" Type="http://schemas.openxmlformats.org/officeDocument/2006/relationships/slide" Target="slides/slide83.xml"/><Relationship Id="rId86" Type="http://schemas.openxmlformats.org/officeDocument/2006/relationships/slide" Target="slides/slide84.xml"/><Relationship Id="rId87" Type="http://schemas.openxmlformats.org/officeDocument/2006/relationships/slide" Target="slides/slide85.xml"/><Relationship Id="rId88" Type="http://schemas.openxmlformats.org/officeDocument/2006/relationships/slide" Target="slides/slide86.xml"/><Relationship Id="rId89" Type="http://schemas.openxmlformats.org/officeDocument/2006/relationships/slide" Target="slides/slide87.xml"/><Relationship Id="rId90" Type="http://schemas.openxmlformats.org/officeDocument/2006/relationships/slide" Target="slides/slide88.xml"/><Relationship Id="rId91" Type="http://schemas.openxmlformats.org/officeDocument/2006/relationships/slide" Target="slides/slide89.xml"/><Relationship Id="rId92" Type="http://schemas.openxmlformats.org/officeDocument/2006/relationships/slide" Target="slides/slide90.xml"/><Relationship Id="rId93" Type="http://schemas.openxmlformats.org/officeDocument/2006/relationships/slide" Target="slides/slide91.xml"/><Relationship Id="rId94" Type="http://schemas.openxmlformats.org/officeDocument/2006/relationships/slide" Target="slides/slide92.xml"/><Relationship Id="rId95" Type="http://schemas.openxmlformats.org/officeDocument/2006/relationships/slide" Target="slides/slide93.xml"/><Relationship Id="rId96" Type="http://schemas.openxmlformats.org/officeDocument/2006/relationships/slide" Target="slides/slide94.xml"/><Relationship Id="rId97" Type="http://schemas.openxmlformats.org/officeDocument/2006/relationships/slide" Target="slides/slide95.xml"/><Relationship Id="rId98" Type="http://schemas.openxmlformats.org/officeDocument/2006/relationships/slide" Target="slides/slide96.xml"/><Relationship Id="rId99" Type="http://schemas.openxmlformats.org/officeDocument/2006/relationships/slide" Target="slides/slide97.xml"/><Relationship Id="rId100" Type="http://schemas.openxmlformats.org/officeDocument/2006/relationships/slide" Target="slides/slide98.xml"/><Relationship Id="rId101" Type="http://schemas.openxmlformats.org/officeDocument/2006/relationships/slide" Target="slides/slide99.xml"/><Relationship Id="rId102" Type="http://schemas.openxmlformats.org/officeDocument/2006/relationships/slide" Target="slides/slide100.xml"/><Relationship Id="rId103" Type="http://schemas.openxmlformats.org/officeDocument/2006/relationships/slide" Target="slides/slide101.xml"/><Relationship Id="rId104" Type="http://schemas.openxmlformats.org/officeDocument/2006/relationships/slide" Target="slides/slide102.xml"/><Relationship Id="rId105" Type="http://schemas.openxmlformats.org/officeDocument/2006/relationships/slide" Target="slides/slide103.xml"/><Relationship Id="rId106" Type="http://schemas.openxmlformats.org/officeDocument/2006/relationships/slide" Target="slides/slide104.xml"/><Relationship Id="rId107" Type="http://schemas.openxmlformats.org/officeDocument/2006/relationships/slide" Target="slides/slide105.xml"/><Relationship Id="rId108" Type="http://schemas.openxmlformats.org/officeDocument/2006/relationships/slide" Target="slides/slide106.xml"/><Relationship Id="rId109" Type="http://schemas.openxmlformats.org/officeDocument/2006/relationships/slide" Target="slides/slide107.xml"/><Relationship Id="rId110" Type="http://schemas.openxmlformats.org/officeDocument/2006/relationships/slide" Target="slides/slide108.xml"/><Relationship Id="rId111" Type="http://schemas.openxmlformats.org/officeDocument/2006/relationships/slide" Target="slides/slide109.xml"/><Relationship Id="rId112" Type="http://schemas.openxmlformats.org/officeDocument/2006/relationships/slide" Target="slides/slide110.xml"/><Relationship Id="rId113" Type="http://schemas.openxmlformats.org/officeDocument/2006/relationships/slide" Target="slides/slide111.xml"/><Relationship Id="rId114" Type="http://schemas.openxmlformats.org/officeDocument/2006/relationships/slide" Target="slides/slide112.xml"/><Relationship Id="rId115" Type="http://schemas.openxmlformats.org/officeDocument/2006/relationships/slide" Target="slides/slide113.xml"/><Relationship Id="rId116" Type="http://schemas.openxmlformats.org/officeDocument/2006/relationships/slide" Target="slides/slide114.xml"/><Relationship Id="rId117" Type="http://schemas.openxmlformats.org/officeDocument/2006/relationships/slide" Target="slides/slide115.xml"/><Relationship Id="rId118" Type="http://schemas.openxmlformats.org/officeDocument/2006/relationships/slide" Target="slides/slide116.xml"/><Relationship Id="rId119" Type="http://schemas.openxmlformats.org/officeDocument/2006/relationships/slide" Target="slides/slide117.xml"/><Relationship Id="rId120" Type="http://schemas.openxmlformats.org/officeDocument/2006/relationships/slide" Target="slides/slide118.xml"/><Relationship Id="rId121" Type="http://schemas.openxmlformats.org/officeDocument/2006/relationships/slide" Target="slides/slide119.xml"/><Relationship Id="rId122" Type="http://schemas.openxmlformats.org/officeDocument/2006/relationships/slide" Target="slides/slide120.xml"/><Relationship Id="rId123" Type="http://schemas.openxmlformats.org/officeDocument/2006/relationships/notesMaster" Target="notesMasters/notesMaster1.xml"/><Relationship Id="rId124" Type="http://schemas.openxmlformats.org/officeDocument/2006/relationships/presProps" Target="presProps.xml"/><Relationship Id="rId125" Type="http://schemas.openxmlformats.org/officeDocument/2006/relationships/viewProps" Target="viewProps.xml"/><Relationship Id="rId126" Type="http://schemas.openxmlformats.org/officeDocument/2006/relationships/theme" Target="theme/theme1.xml"/><Relationship Id="rId1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13195067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jp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Main Section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A7B280-A6CC-F13F-679A-0BD5AA04BBD5}"/>
              </a:ext>
            </a:extLst>
          </p:cNvPr>
          <p:cNvSpPr>
            <a:spLocks noGrp="1"/>
          </p:cNvSpPr>
          <p:nvPr>
            <p:ph type="title" hasCustomPrompt="1"/>
          </p:nvPr>
        </p:nvSpPr>
        <p:spPr>
          <a:xfrm>
            <a:off x="1025525" y="1849306"/>
            <a:ext cx="7092950" cy="1444889"/>
          </a:xfrm>
        </p:spPr>
        <p:txBody>
          <a:bodyPr/>
          <a:lstStyle>
            <a:lvl1pPr algn="ctr">
              <a:defRPr/>
            </a:lvl1pPr>
          </a:lstStyle>
          <a:p>
            <a:r>
              <a:rPr lang="en-US" dirty="0"/>
              <a:t>New Section Slide</a:t>
            </a:r>
          </a:p>
        </p:txBody>
      </p:sp>
    </p:spTree>
    <p:extLst>
      <p:ext uri="{BB962C8B-B14F-4D97-AF65-F5344CB8AC3E}">
        <p14:creationId xmlns:p14="http://schemas.microsoft.com/office/powerpoint/2010/main" val="321552969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Main 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A7B280-A6CC-F13F-679A-0BD5AA04BBD5}"/>
              </a:ext>
            </a:extLst>
          </p:cNvPr>
          <p:cNvSpPr>
            <a:spLocks noGrp="1"/>
          </p:cNvSpPr>
          <p:nvPr>
            <p:ph type="title"/>
          </p:nvPr>
        </p:nvSpPr>
        <p:spPr/>
        <p:txBody>
          <a:bodyPr/>
          <a:lstStyle/>
          <a:p>
            <a:r>
              <a:rPr lang="en-US"/>
              <a:t>Click to edit Master title style</a:t>
            </a:r>
          </a:p>
        </p:txBody>
      </p:sp>
      <p:sp>
        <p:nvSpPr>
          <p:cNvPr id="9" name="Text Placeholder 8">
            <a:extLst>
              <a:ext uri="{FF2B5EF4-FFF2-40B4-BE49-F238E27FC236}">
                <a16:creationId xmlns:a16="http://schemas.microsoft.com/office/drawing/2014/main" id="{613424F8-083B-CC47-13F3-E3DD67126CD1}"/>
              </a:ext>
            </a:extLst>
          </p:cNvPr>
          <p:cNvSpPr>
            <a:spLocks noGrp="1"/>
          </p:cNvSpPr>
          <p:nvPr>
            <p:ph type="body" sz="quarter" idx="11" hasCustomPrompt="1"/>
          </p:nvPr>
        </p:nvSpPr>
        <p:spPr>
          <a:xfrm>
            <a:off x="3604023" y="2729754"/>
            <a:ext cx="5030390" cy="1761564"/>
          </a:xfrm>
        </p:spPr>
        <p:txBody>
          <a:bodyPr/>
          <a:lstStyle/>
          <a:p>
            <a:pPr lvl="0"/>
            <a:r>
              <a:rPr lang="en-US" dirty="0"/>
              <a:t>Presenter Name, Institution</a:t>
            </a:r>
          </a:p>
          <a:p>
            <a:pPr marL="0" marR="0" lvl="0" indent="0" algn="r" defTabSz="685800" rtl="0" eaLnBrk="1" fontAlgn="auto" latinLnBrk="0" hangingPunct="1">
              <a:lnSpc>
                <a:spcPct val="90000"/>
              </a:lnSpc>
              <a:spcBef>
                <a:spcPts val="750"/>
              </a:spcBef>
              <a:spcAft>
                <a:spcPts val="0"/>
              </a:spcAft>
              <a:buClrTx/>
              <a:buSzTx/>
              <a:buFont typeface="Arial" panose="020B0604020202020204" pitchFamily="34" charset="0"/>
              <a:buNone/>
              <a:tabLst/>
              <a:defRPr/>
            </a:pPr>
            <a:r>
              <a:rPr lang="en-US" dirty="0"/>
              <a:t>Presenter Name, Institution</a:t>
            </a:r>
          </a:p>
          <a:p>
            <a:pPr marL="0" marR="0" lvl="0" indent="0" algn="r" defTabSz="685800" rtl="0" eaLnBrk="1" fontAlgn="auto" latinLnBrk="0" hangingPunct="1">
              <a:lnSpc>
                <a:spcPct val="90000"/>
              </a:lnSpc>
              <a:spcBef>
                <a:spcPts val="750"/>
              </a:spcBef>
              <a:spcAft>
                <a:spcPts val="0"/>
              </a:spcAft>
              <a:buClrTx/>
              <a:buSzTx/>
              <a:buFont typeface="Arial" panose="020B0604020202020204" pitchFamily="34" charset="0"/>
              <a:buNone/>
              <a:tabLst/>
              <a:defRPr/>
            </a:pPr>
            <a:r>
              <a:rPr lang="en-US" dirty="0"/>
              <a:t>Presenter Name, Institution</a:t>
            </a:r>
          </a:p>
        </p:txBody>
      </p:sp>
      <p:sp>
        <p:nvSpPr>
          <p:cNvPr id="11" name="Text Placeholder 10">
            <a:extLst>
              <a:ext uri="{FF2B5EF4-FFF2-40B4-BE49-F238E27FC236}">
                <a16:creationId xmlns:a16="http://schemas.microsoft.com/office/drawing/2014/main" id="{9F58DF9C-9144-C6EA-869E-D35AA785E1A9}"/>
              </a:ext>
            </a:extLst>
          </p:cNvPr>
          <p:cNvSpPr>
            <a:spLocks noGrp="1"/>
          </p:cNvSpPr>
          <p:nvPr>
            <p:ph type="body" sz="quarter" idx="12" hasCustomPrompt="1"/>
          </p:nvPr>
        </p:nvSpPr>
        <p:spPr>
          <a:xfrm>
            <a:off x="6176433" y="4657725"/>
            <a:ext cx="2457450" cy="314325"/>
          </a:xfrm>
        </p:spPr>
        <p:txBody>
          <a:bodyPr anchor="ctr" anchorCtr="0">
            <a:noAutofit/>
          </a:bodyPr>
          <a:lstStyle>
            <a:lvl1pPr marL="85725" rtl="0">
              <a:spcBef>
                <a:spcPts val="0"/>
              </a:spcBef>
              <a:spcAft>
                <a:spcPts val="0"/>
              </a:spcAft>
              <a:defRPr sz="825" b="0" i="0">
                <a:solidFill>
                  <a:schemeClr val="bg2">
                    <a:lumMod val="75000"/>
                  </a:schemeClr>
                </a:solidFill>
                <a:latin typeface="Helvetica" pitchFamily="2" charset="0"/>
              </a:defRPr>
            </a:lvl1pPr>
          </a:lstStyle>
          <a:p>
            <a:pPr marL="114300" rtl="0">
              <a:spcBef>
                <a:spcPts val="0"/>
              </a:spcBef>
              <a:spcAft>
                <a:spcPts val="0"/>
              </a:spcAft>
            </a:pPr>
            <a:r>
              <a:rPr lang="en-US" dirty="0" err="1"/>
              <a:t>OpenCI</a:t>
            </a:r>
            <a:r>
              <a:rPr lang="en-US" dirty="0"/>
              <a:t> Award: OCI 21-38296</a:t>
            </a:r>
          </a:p>
        </p:txBody>
      </p:sp>
    </p:spTree>
    <p:extLst>
      <p:ext uri="{BB962C8B-B14F-4D97-AF65-F5344CB8AC3E}">
        <p14:creationId xmlns:p14="http://schemas.microsoft.com/office/powerpoint/2010/main" val="104065670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Main Section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A7B280-A6CC-F13F-679A-0BD5AA04BBD5}"/>
              </a:ext>
            </a:extLst>
          </p:cNvPr>
          <p:cNvSpPr>
            <a:spLocks noGrp="1"/>
          </p:cNvSpPr>
          <p:nvPr>
            <p:ph type="title" hasCustomPrompt="1"/>
          </p:nvPr>
        </p:nvSpPr>
        <p:spPr>
          <a:xfrm>
            <a:off x="1025525" y="1849306"/>
            <a:ext cx="7092950" cy="1444889"/>
          </a:xfrm>
        </p:spPr>
        <p:txBody>
          <a:bodyPr/>
          <a:lstStyle>
            <a:lvl1pPr algn="ctr">
              <a:defRPr/>
            </a:lvl1pPr>
          </a:lstStyle>
          <a:p>
            <a:r>
              <a:rPr lang="en-US" dirty="0"/>
              <a:t>New Section Slide</a:t>
            </a:r>
          </a:p>
        </p:txBody>
      </p:sp>
    </p:spTree>
    <p:extLst>
      <p:ext uri="{BB962C8B-B14F-4D97-AF65-F5344CB8AC3E}">
        <p14:creationId xmlns:p14="http://schemas.microsoft.com/office/powerpoint/2010/main" val="401852841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slideLayout" Target="../slideLayouts/slideLayout4.xml"/><Relationship Id="rId3" Type="http://schemas.openxmlformats.org/officeDocument/2006/relationships/theme" Target="../theme/theme2.xml"/><Relationship Id="rId4" Type="http://schemas.openxmlformats.org/officeDocument/2006/relationships/image" Target="../media/image2.jp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3"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blipFill dpi="0" rotWithShape="1">
          <a:blip r:embed="rId4">
            <a:lum/>
          </a:blip>
          <a:srcRect/>
          <a:stretch>
            <a:fillRect/>
          </a:stretch>
        </a:blip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3B2A6B8-5CE2-0C56-56BD-A1DD772FD1D3}"/>
              </a:ext>
            </a:extLst>
          </p:cNvPr>
          <p:cNvSpPr>
            <a:spLocks noGrp="1"/>
          </p:cNvSpPr>
          <p:nvPr>
            <p:ph type="title"/>
          </p:nvPr>
        </p:nvSpPr>
        <p:spPr>
          <a:xfrm>
            <a:off x="1540933" y="1128978"/>
            <a:ext cx="7092950" cy="1444889"/>
          </a:xfrm>
          <a:prstGeom prst="rect">
            <a:avLst/>
          </a:prstGeom>
        </p:spPr>
        <p:txBody>
          <a:bodyPr vert="horz" lIns="91440" tIns="45720" rIns="91440" bIns="45720" rtlCol="0" anchor="ctr">
            <a:normAutofit/>
          </a:bodyPr>
          <a:lstStyle/>
          <a:p>
            <a:r>
              <a:rPr lang="en-US" dirty="0"/>
              <a:t>Click to edit Master title style</a:t>
            </a:r>
          </a:p>
        </p:txBody>
      </p:sp>
      <p:sp>
        <p:nvSpPr>
          <p:cNvPr id="10" name="Text Placeholder 9">
            <a:extLst>
              <a:ext uri="{FF2B5EF4-FFF2-40B4-BE49-F238E27FC236}">
                <a16:creationId xmlns:a16="http://schemas.microsoft.com/office/drawing/2014/main" id="{7C23AA7F-C761-C3F4-FE55-68439A112D2C}"/>
              </a:ext>
            </a:extLst>
          </p:cNvPr>
          <p:cNvSpPr>
            <a:spLocks noGrp="1"/>
          </p:cNvSpPr>
          <p:nvPr>
            <p:ph type="body" idx="1"/>
          </p:nvPr>
        </p:nvSpPr>
        <p:spPr>
          <a:xfrm>
            <a:off x="3617259" y="2743200"/>
            <a:ext cx="5016624" cy="1775012"/>
          </a:xfrm>
          <a:prstGeom prst="rect">
            <a:avLst/>
          </a:prstGeom>
        </p:spPr>
        <p:txBody>
          <a:bodyPr vert="horz" lIns="91440" tIns="45720" rIns="91440" bIns="45720" rtlCol="0">
            <a:normAutofit/>
          </a:bodyPr>
          <a:lstStyle/>
          <a:p>
            <a:pPr lvl="0"/>
            <a:r>
              <a:rPr lang="en-US" dirty="0"/>
              <a:t>Presenter Name, Institution</a:t>
            </a:r>
          </a:p>
          <a:p>
            <a:pPr marL="0" marR="0" lvl="0" indent="0" algn="r" defTabSz="685800" rtl="0" eaLnBrk="1" fontAlgn="auto" latinLnBrk="0" hangingPunct="1">
              <a:lnSpc>
                <a:spcPct val="90000"/>
              </a:lnSpc>
              <a:spcBef>
                <a:spcPts val="750"/>
              </a:spcBef>
              <a:spcAft>
                <a:spcPts val="0"/>
              </a:spcAft>
              <a:buClrTx/>
              <a:buSzTx/>
              <a:buFont typeface="Arial" panose="020B0604020202020204" pitchFamily="34" charset="0"/>
              <a:buNone/>
              <a:tabLst/>
              <a:defRPr/>
            </a:pPr>
            <a:r>
              <a:rPr lang="en-US" dirty="0"/>
              <a:t>Presenter Name, Institution</a:t>
            </a:r>
          </a:p>
          <a:p>
            <a:pPr marL="0" marR="0" lvl="0" indent="0" algn="r" defTabSz="685800" rtl="0" eaLnBrk="1" fontAlgn="auto" latinLnBrk="0" hangingPunct="1">
              <a:lnSpc>
                <a:spcPct val="90000"/>
              </a:lnSpc>
              <a:spcBef>
                <a:spcPts val="750"/>
              </a:spcBef>
              <a:spcAft>
                <a:spcPts val="0"/>
              </a:spcAft>
              <a:buClrTx/>
              <a:buSzTx/>
              <a:buFont typeface="Arial" panose="020B0604020202020204" pitchFamily="34" charset="0"/>
              <a:buNone/>
              <a:tabLst/>
              <a:defRPr/>
            </a:pPr>
            <a:r>
              <a:rPr lang="en-US" dirty="0"/>
              <a:t>Presenter Name, Institution</a:t>
            </a:r>
          </a:p>
        </p:txBody>
      </p:sp>
      <p:sp>
        <p:nvSpPr>
          <p:cNvPr id="14" name="Footer Placeholder 13">
            <a:extLst>
              <a:ext uri="{FF2B5EF4-FFF2-40B4-BE49-F238E27FC236}">
                <a16:creationId xmlns:a16="http://schemas.microsoft.com/office/drawing/2014/main" id="{4863D546-C40B-B57D-0E67-5AB2CC39AFE1}"/>
              </a:ext>
            </a:extLst>
          </p:cNvPr>
          <p:cNvSpPr>
            <a:spLocks noGrp="1"/>
          </p:cNvSpPr>
          <p:nvPr>
            <p:ph type="ftr" sz="quarter" idx="3"/>
          </p:nvPr>
        </p:nvSpPr>
        <p:spPr>
          <a:xfrm>
            <a:off x="5547783" y="4687545"/>
            <a:ext cx="3086100" cy="273844"/>
          </a:xfrm>
          <a:prstGeom prst="rect">
            <a:avLst/>
          </a:prstGeom>
        </p:spPr>
        <p:txBody>
          <a:bodyPr vert="horz" lIns="91440" tIns="45720" rIns="91440" bIns="45720" rtlCol="0" anchor="ctr"/>
          <a:lstStyle>
            <a:lvl1pPr algn="r">
              <a:defRPr sz="825">
                <a:solidFill>
                  <a:schemeClr val="bg2">
                    <a:lumMod val="75000"/>
                  </a:schemeClr>
                </a:solidFill>
                <a:latin typeface="Helvetica" pitchFamily="2" charset="0"/>
              </a:defRPr>
            </a:lvl1pPr>
          </a:lstStyle>
          <a:p>
            <a:r>
              <a:rPr lang="en-US" dirty="0" err="1"/>
              <a:t>OpenCI</a:t>
            </a:r>
            <a:r>
              <a:rPr lang="en-US" dirty="0"/>
              <a:t> Award: OCI 21-38296</a:t>
            </a:r>
          </a:p>
        </p:txBody>
      </p:sp>
    </p:spTree>
    <p:extLst>
      <p:ext uri="{BB962C8B-B14F-4D97-AF65-F5344CB8AC3E}">
        <p14:creationId xmlns:p14="http://schemas.microsoft.com/office/powerpoint/2010/main" val="2653518212"/>
      </p:ext>
    </p:extLst>
  </p:cSld>
  <p:clrMap bg1="lt1" tx1="dk1" bg2="lt2" tx2="dk2" accent1="accent1" accent2="accent2" accent3="accent3" accent4="accent4" accent5="accent5" accent6="accent6" hlink="hlink" folHlink="folHlink"/>
  <p:sldLayoutIdLst>
    <p:sldLayoutId id="2147483651" r:id="rId1"/>
    <p:sldLayoutId id="2147483652" r:id="rId2"/>
  </p:sldLayoutIdLst>
  <p:txStyles>
    <p:titleStyle>
      <a:lvl1pPr algn="r" defTabSz="685800" rtl="0" eaLnBrk="1" latinLnBrk="0" hangingPunct="1">
        <a:lnSpc>
          <a:spcPct val="90000"/>
        </a:lnSpc>
        <a:spcBef>
          <a:spcPct val="0"/>
        </a:spcBef>
        <a:buNone/>
        <a:defRPr sz="3600" b="1" kern="1200">
          <a:solidFill>
            <a:srgbClr val="1A5B6E"/>
          </a:solidFill>
          <a:latin typeface="Helvetica" pitchFamily="2" charset="0"/>
          <a:ea typeface="+mj-ea"/>
          <a:cs typeface="+mj-cs"/>
        </a:defRPr>
      </a:lvl1pPr>
    </p:titleStyle>
    <p:bodyStyle>
      <a:lvl1pPr marL="0" indent="0" algn="r" defTabSz="685800" rtl="0" eaLnBrk="1" latinLnBrk="0" hangingPunct="1">
        <a:lnSpc>
          <a:spcPct val="90000"/>
        </a:lnSpc>
        <a:spcBef>
          <a:spcPts val="750"/>
        </a:spcBef>
        <a:buFont typeface="Arial" panose="020B0604020202020204" pitchFamily="34" charset="0"/>
        <a:buNone/>
        <a:defRPr sz="1200" b="0" i="1" kern="1200">
          <a:solidFill>
            <a:schemeClr val="tx1">
              <a:lumMod val="65000"/>
              <a:lumOff val="35000"/>
            </a:schemeClr>
          </a:solidFill>
          <a:latin typeface="Helvetica" pitchFamily="2" charset="0"/>
          <a:ea typeface="+mn-ea"/>
          <a:cs typeface="+mn-cs"/>
        </a:defRPr>
      </a:lvl1pPr>
      <a:lvl2pPr marL="514350" indent="-171450" algn="r" defTabSz="685800" rtl="0" eaLnBrk="1" latinLnBrk="0" hangingPunct="1">
        <a:lnSpc>
          <a:spcPct val="90000"/>
        </a:lnSpc>
        <a:spcBef>
          <a:spcPts val="375"/>
        </a:spcBef>
        <a:buFont typeface="Arial" panose="020B0604020202020204" pitchFamily="34" charset="0"/>
        <a:buChar char="•"/>
        <a:defRPr sz="1800" b="0" i="0" kern="1200">
          <a:solidFill>
            <a:schemeClr val="tx1">
              <a:lumMod val="65000"/>
              <a:lumOff val="35000"/>
            </a:schemeClr>
          </a:solidFill>
          <a:latin typeface="Helvetica" pitchFamily="2" charset="0"/>
          <a:ea typeface="+mn-ea"/>
          <a:cs typeface="+mn-cs"/>
        </a:defRPr>
      </a:lvl2pPr>
      <a:lvl3pPr marL="857250" indent="-171450" algn="r" defTabSz="685800" rtl="0" eaLnBrk="1" latinLnBrk="0" hangingPunct="1">
        <a:lnSpc>
          <a:spcPct val="90000"/>
        </a:lnSpc>
        <a:spcBef>
          <a:spcPts val="375"/>
        </a:spcBef>
        <a:buFont typeface="Arial" panose="020B0604020202020204" pitchFamily="34" charset="0"/>
        <a:buChar char="•"/>
        <a:defRPr sz="1500" b="0" i="0" kern="1200">
          <a:solidFill>
            <a:schemeClr val="tx1">
              <a:lumMod val="65000"/>
              <a:lumOff val="35000"/>
            </a:schemeClr>
          </a:solidFill>
          <a:latin typeface="Helvetica" pitchFamily="2" charset="0"/>
          <a:ea typeface="+mn-ea"/>
          <a:cs typeface="+mn-cs"/>
        </a:defRPr>
      </a:lvl3pPr>
      <a:lvl4pPr marL="1200150" indent="-171450" algn="r" defTabSz="685800" rtl="0" eaLnBrk="1" latinLnBrk="0" hangingPunct="1">
        <a:lnSpc>
          <a:spcPct val="90000"/>
        </a:lnSpc>
        <a:spcBef>
          <a:spcPts val="375"/>
        </a:spcBef>
        <a:buFont typeface="Arial" panose="020B0604020202020204" pitchFamily="34" charset="0"/>
        <a:buChar char="•"/>
        <a:defRPr sz="1350" b="0" i="0" kern="1200">
          <a:solidFill>
            <a:schemeClr val="tx1">
              <a:lumMod val="65000"/>
              <a:lumOff val="35000"/>
            </a:schemeClr>
          </a:solidFill>
          <a:latin typeface="Helvetica" pitchFamily="2" charset="0"/>
          <a:ea typeface="+mn-ea"/>
          <a:cs typeface="+mn-cs"/>
        </a:defRPr>
      </a:lvl4pPr>
      <a:lvl5pPr marL="1543050" indent="-171450" algn="r" defTabSz="685800" rtl="0" eaLnBrk="1" latinLnBrk="0" hangingPunct="1">
        <a:lnSpc>
          <a:spcPct val="90000"/>
        </a:lnSpc>
        <a:spcBef>
          <a:spcPts val="375"/>
        </a:spcBef>
        <a:buFont typeface="Arial" panose="020B0604020202020204" pitchFamily="34" charset="0"/>
        <a:buChar char="•"/>
        <a:defRPr sz="1350" b="0" i="0" kern="1200">
          <a:solidFill>
            <a:schemeClr val="tx1">
              <a:lumMod val="65000"/>
              <a:lumOff val="35000"/>
            </a:schemeClr>
          </a:solidFill>
          <a:latin typeface="Helvetica" pitchFamily="2" charset="0"/>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3.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3.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3.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3.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3.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3.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3.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3.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3.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3.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3.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3.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3.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3.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3.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3.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3.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3.jpg"/><Relationship Id="rId4" Type="http://schemas.openxmlformats.org/officeDocument/2006/relationships/image" Target="../media/image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3.jpg"/><Relationship Id="rId4" Type="http://schemas.openxmlformats.org/officeDocument/2006/relationships/image" Target="../media/image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3.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3.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3.jp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3.jp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3.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3.jp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3.jp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3.jp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3.jp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3.jp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3.jp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3.jp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3.jp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3.jp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 Id="rId3" Type="http://schemas.openxmlformats.org/officeDocument/2006/relationships/image" Target="../media/image3.jp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 Id="rId3" Type="http://schemas.openxmlformats.org/officeDocument/2006/relationships/image" Target="../media/image3.jp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 Id="rId3" Type="http://schemas.openxmlformats.org/officeDocument/2006/relationships/image" Target="../media/image3.jp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 Id="rId3" Type="http://schemas.openxmlformats.org/officeDocument/2006/relationships/image" Target="../media/image3.jp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 Id="rId3" Type="http://schemas.openxmlformats.org/officeDocument/2006/relationships/image" Target="../media/image3.jp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 Id="rId3" Type="http://schemas.openxmlformats.org/officeDocument/2006/relationships/image" Target="../media/image3.jp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 Id="rId3" Type="http://schemas.openxmlformats.org/officeDocument/2006/relationships/image" Target="../media/image3.jp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 Id="rId3" Type="http://schemas.openxmlformats.org/officeDocument/2006/relationships/image" Target="../media/image3.jp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6.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 Id="rId3" Type="http://schemas.openxmlformats.org/officeDocument/2006/relationships/image" Target="../media/image3.jp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 Id="rId3" Type="http://schemas.openxmlformats.org/officeDocument/2006/relationships/image" Target="../media/image3.jp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 Id="rId3" Type="http://schemas.openxmlformats.org/officeDocument/2006/relationships/image" Target="../media/image3.jp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 Id="rId3" Type="http://schemas.openxmlformats.org/officeDocument/2006/relationships/image" Target="../media/image3.jp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 Id="rId3" Type="http://schemas.openxmlformats.org/officeDocument/2006/relationships/image" Target="../media/image3.jp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 Id="rId3" Type="http://schemas.openxmlformats.org/officeDocument/2006/relationships/image" Target="../media/image3.jp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 Id="rId3" Type="http://schemas.openxmlformats.org/officeDocument/2006/relationships/image" Target="../media/image3.jp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 Id="rId3" Type="http://schemas.openxmlformats.org/officeDocument/2006/relationships/image" Target="../media/image3.jp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 Id="rId3" Type="http://schemas.openxmlformats.org/officeDocument/2006/relationships/image" Target="../media/image3.jp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 Id="rId3" Type="http://schemas.openxmlformats.org/officeDocument/2006/relationships/image" Target="../media/image3.jp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 Id="rId3" Type="http://schemas.openxmlformats.org/officeDocument/2006/relationships/image" Target="../media/image3.jp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 Id="rId3" Type="http://schemas.openxmlformats.org/officeDocument/2006/relationships/image" Target="../media/image3.jp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 Id="rId3" Type="http://schemas.openxmlformats.org/officeDocument/2006/relationships/image" Target="../media/image3.jp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 Id="rId3" Type="http://schemas.openxmlformats.org/officeDocument/2006/relationships/image" Target="../media/image3.jp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 Id="rId3" Type="http://schemas.openxmlformats.org/officeDocument/2006/relationships/image" Target="../media/image3.jp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 Id="rId3" Type="http://schemas.openxmlformats.org/officeDocument/2006/relationships/image" Target="../media/image3.jp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 Id="rId3" Type="http://schemas.openxmlformats.org/officeDocument/2006/relationships/image" Target="../media/image3.jp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 Id="rId3" Type="http://schemas.openxmlformats.org/officeDocument/2006/relationships/image" Target="../media/image3.jp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 Id="rId3" Type="http://schemas.openxmlformats.org/officeDocument/2006/relationships/image" Target="../media/image3.jp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8.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 Id="rId3" Type="http://schemas.openxmlformats.org/officeDocument/2006/relationships/image" Target="../media/image3.jp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 Id="rId3" Type="http://schemas.openxmlformats.org/officeDocument/2006/relationships/image" Target="../media/image3.jp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 Id="rId3" Type="http://schemas.openxmlformats.org/officeDocument/2006/relationships/image" Target="../media/image3.jp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 Id="rId3" Type="http://schemas.openxmlformats.org/officeDocument/2006/relationships/image" Target="../media/image3.jp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 Id="rId3" Type="http://schemas.openxmlformats.org/officeDocument/2006/relationships/image" Target="../media/image3.jp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 Id="rId3" Type="http://schemas.openxmlformats.org/officeDocument/2006/relationships/image" Target="../media/image3.jp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 Id="rId3" Type="http://schemas.openxmlformats.org/officeDocument/2006/relationships/image" Target="../media/image3.jp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6.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 Id="rId3" Type="http://schemas.openxmlformats.org/officeDocument/2006/relationships/image" Target="../media/image3.jp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 Id="rId3" Type="http://schemas.openxmlformats.org/officeDocument/2006/relationships/image" Target="../media/image3.jp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 Id="rId3" Type="http://schemas.openxmlformats.org/officeDocument/2006/relationships/image" Target="../media/image3.jp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 Id="rId3" Type="http://schemas.openxmlformats.org/officeDocument/2006/relationships/image" Target="../media/image3.jp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 Id="rId3" Type="http://schemas.openxmlformats.org/officeDocument/2006/relationships/image" Target="../media/image3.jp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 Id="rId3" Type="http://schemas.openxmlformats.org/officeDocument/2006/relationships/image" Target="../media/image3.jp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 Id="rId3" Type="http://schemas.openxmlformats.org/officeDocument/2006/relationships/image" Target="../media/image3.jp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 Id="rId3" Type="http://schemas.openxmlformats.org/officeDocument/2006/relationships/image" Target="../media/image3.jp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 Id="rId3" Type="http://schemas.openxmlformats.org/officeDocument/2006/relationships/image" Target="../media/image3.jp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6.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 Id="rId3" Type="http://schemas.openxmlformats.org/officeDocument/2006/relationships/image" Target="../media/image3.jp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 Id="rId3" Type="http://schemas.openxmlformats.org/officeDocument/2006/relationships/image" Target="../media/image3.jp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 Id="rId3" Type="http://schemas.openxmlformats.org/officeDocument/2006/relationships/image" Target="../media/image3.jp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 Id="rId3" Type="http://schemas.openxmlformats.org/officeDocument/2006/relationships/image" Target="../media/image3.jp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 Id="rId3" Type="http://schemas.openxmlformats.org/officeDocument/2006/relationships/image" Target="../media/image3.jp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 Id="rId3" Type="http://schemas.openxmlformats.org/officeDocument/2006/relationships/image" Target="../media/image3.jp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 Id="rId3" Type="http://schemas.openxmlformats.org/officeDocument/2006/relationships/image" Target="../media/image3.jp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 Id="rId3" Type="http://schemas.openxmlformats.org/officeDocument/2006/relationships/image" Target="../media/image3.jp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 Id="rId3" Type="http://schemas.openxmlformats.org/officeDocument/2006/relationships/image" Target="../media/image3.jp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6.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 Id="rId3" Type="http://schemas.openxmlformats.org/officeDocument/2006/relationships/image" Target="../media/image3.jp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 Id="rId3" Type="http://schemas.openxmlformats.org/officeDocument/2006/relationships/image" Target="../media/image3.jp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 Id="rId3" Type="http://schemas.openxmlformats.org/officeDocument/2006/relationships/image" Target="../media/image3.jp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 Id="rId3" Type="http://schemas.openxmlformats.org/officeDocument/2006/relationships/image" Target="../media/image3.jp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 Id="rId3" Type="http://schemas.openxmlformats.org/officeDocument/2006/relationships/image" Target="../media/image3.jp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 Id="rId3" Type="http://schemas.openxmlformats.org/officeDocument/2006/relationships/image" Target="../media/image3.jp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 Id="rId3" Type="http://schemas.openxmlformats.org/officeDocument/2006/relationships/image" Target="../media/image3.jp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 Id="rId3" Type="http://schemas.openxmlformats.org/officeDocument/2006/relationships/image" Target="../media/image3.jp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 Id="rId3" Type="http://schemas.openxmlformats.org/officeDocument/2006/relationships/image" Target="../media/image3.jp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 Id="rId3" Type="http://schemas.openxmlformats.org/officeDocument/2006/relationships/image" Target="../media/image3.jp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 Id="rId3" Type="http://schemas.openxmlformats.org/officeDocument/2006/relationships/image" Target="../media/image3.jp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 Id="rId3" Type="http://schemas.openxmlformats.org/officeDocument/2006/relationships/image" Target="../media/image3.jp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 Id="rId3" Type="http://schemas.openxmlformats.org/officeDocument/2006/relationships/image" Target="../media/image3.jp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 Id="rId3" Type="http://schemas.openxmlformats.org/officeDocument/2006/relationships/image" Target="../media/image3.jp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 Id="rId3" Type="http://schemas.openxmlformats.org/officeDocument/2006/relationships/image" Target="../media/image3.jp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 Id="rId3" Type="http://schemas.openxmlformats.org/officeDocument/2006/relationships/image" Target="../media/image3.jp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 Id="rId3" Type="http://schemas.openxmlformats.org/officeDocument/2006/relationships/image" Target="../media/image3.jp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 Id="rId3" Type="http://schemas.openxmlformats.org/officeDocument/2006/relationships/image" Target="../media/image3.jp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 Id="rId3" Type="http://schemas.openxmlformats.org/officeDocument/2006/relationships/image" Target="../media/image3.jp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 Id="rId3" Type="http://schemas.openxmlformats.org/officeDocument/2006/relationships/image" Target="../media/image3.jp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BA8A40-1617-45E6-811A-179E0145C26B}"/>
              </a:ext>
            </a:extLst>
          </p:cNvPr>
          <p:cNvSpPr>
            <a:spLocks noGrp="1"/>
          </p:cNvSpPr>
          <p:nvPr>
            <p:ph type="title"/>
          </p:nvPr>
        </p:nvSpPr>
        <p:spPr/>
        <p:txBody>
          <a:bodyPr/>
          <a:lstStyle/>
          <a:p>
            <a:pPr algn="ctr"/>
            <a:r>
              <a:rPr lang="en-US" dirty="0">
                <a:solidFill>
                  <a:schemeClr val="tx1"/>
                </a:solidFill>
                <a:latin typeface="Cambria" pitchFamily="34" charset="0"/>
                <a:ea typeface="Cambria" pitchFamily="34" charset="-122"/>
                <a:cs typeface="Cambria" pitchFamily="34" charset="-120"/>
              </a:rPr>
              <a:t>Linux, the Shell, and Filesystems</a:t>
            </a:r>
            <a:endParaRPr lang="en-US" dirty="0">
              <a:solidFill>
                <a:schemeClr val="tx1"/>
              </a:solidFill>
            </a:endParaRPr>
          </a:p>
        </p:txBody>
      </p:sp>
      <p:sp>
        <p:nvSpPr>
          <p:cNvPr id="3" name="Text Placeholder 2">
            <a:extLst>
              <a:ext uri="{FF2B5EF4-FFF2-40B4-BE49-F238E27FC236}">
                <a16:creationId xmlns:a16="http://schemas.microsoft.com/office/drawing/2014/main" id="{516260EC-B79F-E22A-2463-82A71D4FA80A}"/>
              </a:ext>
            </a:extLst>
          </p:cNvPr>
          <p:cNvSpPr>
            <a:spLocks noGrp="1"/>
          </p:cNvSpPr>
          <p:nvPr>
            <p:ph type="body" sz="quarter" idx="11"/>
          </p:nvPr>
        </p:nvSpPr>
        <p:spPr/>
        <p:txBody>
          <a:bodyPr/>
          <a:lstStyle/>
          <a:p>
            <a:r>
              <a:rPr lang="en-US" dirty="0"/>
              <a:t>Robert Henschel, Indiana University</a:t>
            </a:r>
          </a:p>
          <a:p>
            <a:r>
              <a:rPr lang="en-US" dirty="0"/>
              <a:t>May 27, 2026</a:t>
            </a:r>
          </a:p>
          <a:p>
            <a:endParaRPr lang="en-US" dirty="0"/>
          </a:p>
        </p:txBody>
      </p:sp>
      <p:sp>
        <p:nvSpPr>
          <p:cNvPr id="4" name="Text Placeholder 3">
            <a:extLst>
              <a:ext uri="{FF2B5EF4-FFF2-40B4-BE49-F238E27FC236}">
                <a16:creationId xmlns:a16="http://schemas.microsoft.com/office/drawing/2014/main" id="{ED1A1206-D89D-ACF1-DBF6-C7648CD6C36F}"/>
              </a:ext>
            </a:extLst>
          </p:cNvPr>
          <p:cNvSpPr>
            <a:spLocks noGrp="1"/>
          </p:cNvSpPr>
          <p:nvPr>
            <p:ph type="body" sz="quarter" idx="12"/>
          </p:nvPr>
        </p:nvSpPr>
        <p:spPr/>
        <p:txBody>
          <a:bodyPr/>
          <a:lstStyle/>
          <a:p>
            <a:r>
              <a:rPr lang="en-US" dirty="0"/>
              <a:t>ACCESS Operations: NSF #2138307</a:t>
            </a:r>
          </a:p>
        </p:txBody>
      </p:sp>
    </p:spTree>
    <p:extLst>
      <p:ext uri="{BB962C8B-B14F-4D97-AF65-F5344CB8AC3E}">
        <p14:creationId xmlns:p14="http://schemas.microsoft.com/office/powerpoint/2010/main" val="249096328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0">
            <a:extLst>
              <a:ext uri="{FF2B5EF4-FFF2-40B4-BE49-F238E27FC236}">
                <a16:creationId xmlns:a16="http://schemas.microsoft.com/office/drawing/2014/main" id="{C4F308D0-E16C-4CC5-260F-E28847C8B2B2}"/>
              </a:ext>
            </a:extLst>
          </p:cNvPr>
          <p:cNvSpPr/>
          <p:nvPr/>
        </p:nvSpPr>
        <p:spPr>
          <a:xfrm>
            <a:off x="548640" y="1280160"/>
            <a:ext cx="8046720" cy="457200"/>
          </a:xfrm>
          <a:prstGeom prst="rect">
            <a:avLst/>
          </a:prstGeom>
          <a:noFill/>
          <a:ln/>
        </p:spPr>
        <p:txBody>
          <a:bodyPr wrap="square" lIns="0" tIns="0" rIns="0" bIns="0" rtlCol="0" anchor="ctr"/>
          <a:lstStyle/>
          <a:p>
            <a:pPr marL="0" indent="0">
              <a:buNone/>
            </a:pPr>
            <a:r>
              <a:rPr lang="en-US" sz="1600" b="1" kern="0" spc="800" dirty="0">
                <a:latin typeface="Calibri" pitchFamily="34" charset="0"/>
                <a:ea typeface="Calibri" pitchFamily="34" charset="-122"/>
                <a:cs typeface="Calibri" pitchFamily="34" charset="-120"/>
              </a:rPr>
              <a:t>BLOCK 0</a:t>
            </a:r>
            <a:endParaRPr lang="en-US" sz="1600" dirty="0"/>
          </a:p>
        </p:txBody>
      </p:sp>
      <p:sp>
        <p:nvSpPr>
          <p:cNvPr id="4" name="Text 1">
            <a:extLst>
              <a:ext uri="{FF2B5EF4-FFF2-40B4-BE49-F238E27FC236}">
                <a16:creationId xmlns:a16="http://schemas.microsoft.com/office/drawing/2014/main" id="{39AB9CA9-4368-8FE5-AD42-55EA850B62AF}"/>
              </a:ext>
            </a:extLst>
          </p:cNvPr>
          <p:cNvSpPr/>
          <p:nvPr/>
        </p:nvSpPr>
        <p:spPr>
          <a:xfrm>
            <a:off x="548640" y="1783080"/>
            <a:ext cx="8046720" cy="1463040"/>
          </a:xfrm>
          <a:prstGeom prst="rect">
            <a:avLst/>
          </a:prstGeom>
          <a:noFill/>
          <a:ln/>
        </p:spPr>
        <p:txBody>
          <a:bodyPr wrap="square" lIns="0" tIns="0" rIns="0" bIns="0" rtlCol="0" anchor="t"/>
          <a:lstStyle/>
          <a:p>
            <a:pPr marL="0" indent="0">
              <a:buNone/>
            </a:pPr>
            <a:r>
              <a:rPr lang="en-US" sz="4000" b="1" dirty="0">
                <a:latin typeface="Cambria" pitchFamily="34" charset="0"/>
                <a:ea typeface="Cambria" pitchFamily="34" charset="-122"/>
                <a:cs typeface="Cambria" pitchFamily="34" charset="-120"/>
              </a:rPr>
              <a:t>Welcome</a:t>
            </a:r>
            <a:endParaRPr lang="en-US" sz="4000" dirty="0"/>
          </a:p>
        </p:txBody>
      </p:sp>
    </p:spTree>
    <p:extLst>
      <p:ext uri="{BB962C8B-B14F-4D97-AF65-F5344CB8AC3E}">
        <p14:creationId xmlns:p14="http://schemas.microsoft.com/office/powerpoint/2010/main" val="295695170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pic>
        <p:nvPicPr>
          <p:cNvPr id="5" name="Picture 4" descr="access-footer.jpg"/>
          <p:cNvPicPr>
            <a:picLocks noChangeAspect="1"/>
          </p:cNvPicPr>
          <p:nvPr/>
        </p:nvPicPr>
        <p:blipFill>
          <a:blip r:embed="rId3"/>
          <a:stretch>
            <a:fillRect/>
          </a:stretch>
        </p:blipFill>
        <p:spPr>
          <a:xfrm>
            <a:off x="0" y="0"/>
            <a:ext cx="9144000" cy="5143500"/>
          </a:xfrm>
          <a:prstGeom prst="rect">
            <a:avLst/>
          </a:prstGeom>
        </p:spPr>
      </p:pic>
      <p:sp>
        <p:nvSpPr>
          <p:cNvPr id="2" name="Text 0"/>
          <p:cNvSpPr/>
          <p:nvPr/>
        </p:nvSpPr>
        <p:spPr>
          <a:xfrm>
            <a:off x="457200" y="274320"/>
            <a:ext cx="8229600" cy="594360"/>
          </a:xfrm>
          <a:prstGeom prst="rect">
            <a:avLst/>
          </a:prstGeom>
          <a:solidFill>
            <a:srgbClr val="FFFFFF"/>
          </a:solidFill>
          <a:ln/>
        </p:spPr>
        <p:txBody>
          <a:bodyPr wrap="square" lIns="0" tIns="0" rIns="0" bIns="0" rtlCol="0" anchor="ctr"/>
          <a:lstStyle/>
          <a:p>
            <a:pPr marL="0" indent="0">
              <a:buNone/>
            </a:pPr>
            <a:r>
              <a:rPr lang="en-US" sz="2800" b="1" dirty="0">
                <a:solidFill>
                  <a:srgbClr val="1E2761"/>
                </a:solidFill>
                <a:latin typeface="Cambria" pitchFamily="34" charset="0"/>
                <a:ea typeface="Cambria" pitchFamily="34" charset="-122"/>
                <a:cs typeface="Cambria" pitchFamily="34" charset="-120"/>
              </a:rPr>
              <a:t>What we're doing this session</a:t>
            </a:r>
            <a:endParaRPr lang="en-US" sz="2800" dirty="0"/>
          </a:p>
        </p:txBody>
      </p:sp>
      <p:sp>
        <p:nvSpPr>
          <p:cNvPr id="3" name="Shape 1"/>
          <p:cNvSpPr/>
          <p:nvPr/>
        </p:nvSpPr>
        <p:spPr>
          <a:xfrm>
            <a:off x="457200" y="868680"/>
            <a:ext cx="548640" cy="36576"/>
          </a:xfrm>
          <a:prstGeom prst="rect">
            <a:avLst/>
          </a:prstGeom>
          <a:solidFill>
            <a:srgbClr val="1E2761"/>
          </a:solidFill>
          <a:ln w="12700">
            <a:solidFill>
              <a:srgbClr val="1E2761"/>
            </a:solidFill>
            <a:prstDash val="solid"/>
          </a:ln>
        </p:spPr>
        <p:txBody>
          <a:bodyPr/>
          <a:lstStyle/>
          <a:p>
            <a:endParaRPr lang="en-US"/>
          </a:p>
        </p:txBody>
      </p:sp>
      <p:sp>
        <p:nvSpPr>
          <p:cNvPr id="4" name="Text 2"/>
          <p:cNvSpPr/>
          <p:nvPr/>
        </p:nvSpPr>
        <p:spPr>
          <a:xfrm>
            <a:off x="548640" y="1005840"/>
            <a:ext cx="8046720" cy="2341880"/>
          </a:xfrm>
          <a:prstGeom prst="rect">
            <a:avLst/>
          </a:prstGeom>
          <a:solidFill>
            <a:srgbClr val="FFFFFF"/>
          </a:solidFill>
          <a:ln/>
        </p:spPr>
        <p:txBody>
          <a:bodyPr wrap="square" lIns="0" tIns="0" rIns="0" bIns="0" rtlCol="0" anchor="t"/>
          <a:lstStyle/>
          <a:p>
            <a:pPr marL="228600" indent="-228600">
              <a:spcAft>
                <a:spcPts val="600"/>
              </a:spcAft>
              <a:buSzPct val="100000"/>
              <a:buChar char="■"/>
            </a:pPr>
            <a:r>
              <a:rPr lang="en-US" sz="1600" dirty="0">
                <a:solidFill>
                  <a:srgbClr val="1F2937"/>
                </a:solidFill>
                <a:latin typeface="Calibri" pitchFamily="34" charset="0"/>
                <a:ea typeface="Calibri" pitchFamily="34" charset="-122"/>
                <a:cs typeface="Calibri" pitchFamily="34" charset="-120"/>
              </a:rPr>
              <a:t>This session is a </a:t>
            </a:r>
            <a:r>
              <a:rPr lang="en-US" sz="1600" b="1" dirty="0">
                <a:solidFill>
                  <a:srgbClr val="1F2937"/>
                </a:solidFill>
                <a:latin typeface="Calibri" pitchFamily="34" charset="0"/>
                <a:ea typeface="Calibri" pitchFamily="34" charset="-122"/>
                <a:cs typeface="Calibri" pitchFamily="34" charset="-120"/>
              </a:rPr>
              <a:t>foundation</a:t>
            </a:r>
            <a:r>
              <a:rPr lang="en-US" sz="1600" dirty="0">
                <a:solidFill>
                  <a:srgbClr val="1F2937"/>
                </a:solidFill>
                <a:latin typeface="Calibri" pitchFamily="34" charset="0"/>
                <a:ea typeface="Calibri" pitchFamily="34" charset="-122"/>
                <a:cs typeface="Calibri" pitchFamily="34" charset="-120"/>
              </a:rPr>
              <a:t> for the whole workshop.</a:t>
            </a:r>
            <a:endParaRPr lang="en-US" sz="1600" dirty="0"/>
          </a:p>
          <a:p>
            <a:pPr marL="228600" indent="-228600">
              <a:spcAft>
                <a:spcPts val="600"/>
              </a:spcAft>
              <a:buSzPct val="100000"/>
              <a:buChar char="■"/>
            </a:pPr>
            <a:r>
              <a:rPr lang="en-US" sz="1600" dirty="0">
                <a:solidFill>
                  <a:srgbClr val="1F2937"/>
                </a:solidFill>
                <a:latin typeface="Calibri" pitchFamily="34" charset="0"/>
                <a:ea typeface="Calibri" pitchFamily="34" charset="-122"/>
                <a:cs typeface="Calibri" pitchFamily="34" charset="-120"/>
              </a:rPr>
              <a:t>Goal by the end: you can sit down at a Linux machine and </a:t>
            </a:r>
            <a:r>
              <a:rPr lang="en-US" sz="1600" i="1" dirty="0">
                <a:solidFill>
                  <a:srgbClr val="1F2937"/>
                </a:solidFill>
                <a:latin typeface="Calibri" pitchFamily="34" charset="0"/>
                <a:ea typeface="Calibri" pitchFamily="34" charset="-122"/>
                <a:cs typeface="Calibri" pitchFamily="34" charset="-120"/>
              </a:rPr>
              <a:t>use it</a:t>
            </a:r>
            <a:r>
              <a:rPr lang="en-US" sz="1600" dirty="0">
                <a:solidFill>
                  <a:srgbClr val="1F2937"/>
                </a:solidFill>
                <a:latin typeface="Calibri" pitchFamily="34" charset="0"/>
                <a:ea typeface="Calibri" pitchFamily="34" charset="-122"/>
                <a:cs typeface="Calibri" pitchFamily="34" charset="-120"/>
              </a:rPr>
              <a:t>. Open a terminal, find your way around, edit a file, run a program, read help.</a:t>
            </a:r>
            <a:endParaRPr lang="en-US" sz="1600" dirty="0"/>
          </a:p>
          <a:p>
            <a:pPr marL="228600" indent="-228600">
              <a:spcAft>
                <a:spcPts val="600"/>
              </a:spcAft>
              <a:buSzPct val="100000"/>
              <a:buChar char="■"/>
            </a:pPr>
            <a:r>
              <a:rPr lang="en-US" sz="1600" dirty="0">
                <a:solidFill>
                  <a:srgbClr val="1F2937"/>
                </a:solidFill>
                <a:latin typeface="Calibri" pitchFamily="34" charset="0"/>
                <a:ea typeface="Calibri" pitchFamily="34" charset="-122"/>
                <a:cs typeface="Calibri" pitchFamily="34" charset="-120"/>
              </a:rPr>
              <a:t>We're not aiming for expertise. We're aiming for fluency at the level of someone who can follow along in the rest of the workshop.</a:t>
            </a:r>
            <a:endParaRPr lang="en-US" sz="1600" dirty="0"/>
          </a:p>
          <a:p>
            <a:pPr marL="228600" indent="-228600">
              <a:spcAft>
                <a:spcPts val="600"/>
              </a:spcAft>
              <a:buSzPct val="100000"/>
              <a:buChar char="■"/>
            </a:pPr>
            <a:r>
              <a:rPr lang="en-US" sz="1600" dirty="0">
                <a:solidFill>
                  <a:srgbClr val="1F2937"/>
                </a:solidFill>
                <a:latin typeface="Calibri" pitchFamily="34" charset="0"/>
                <a:ea typeface="Calibri" pitchFamily="34" charset="-122"/>
                <a:cs typeface="Calibri" pitchFamily="34" charset="-120"/>
              </a:rPr>
              <a:t>Let's make this interactive.</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pic>
        <p:nvPicPr>
          <p:cNvPr id="8" name="Picture 7" descr="access-footer.jpg"/>
          <p:cNvPicPr>
            <a:picLocks noChangeAspect="1"/>
          </p:cNvPicPr>
          <p:nvPr/>
        </p:nvPicPr>
        <p:blipFill>
          <a:blip r:embed="rId3"/>
          <a:stretch>
            <a:fillRect/>
          </a:stretch>
        </p:blipFill>
        <p:spPr>
          <a:xfrm>
            <a:off x="0" y="0"/>
            <a:ext cx="9144000" cy="5143500"/>
          </a:xfrm>
          <a:prstGeom prst="rect">
            <a:avLst/>
          </a:prstGeom>
        </p:spPr>
      </p:pic>
      <p:sp>
        <p:nvSpPr>
          <p:cNvPr id="2" name="Text 0"/>
          <p:cNvSpPr/>
          <p:nvPr/>
        </p:nvSpPr>
        <p:spPr>
          <a:xfrm>
            <a:off x="457200" y="274320"/>
            <a:ext cx="8229600" cy="594360"/>
          </a:xfrm>
          <a:prstGeom prst="rect">
            <a:avLst/>
          </a:prstGeom>
          <a:solidFill>
            <a:srgbClr val="FFFFFF"/>
          </a:solidFill>
          <a:ln/>
        </p:spPr>
        <p:txBody>
          <a:bodyPr wrap="square" lIns="0" tIns="0" rIns="0" bIns="0" rtlCol="0" anchor="ctr"/>
          <a:lstStyle/>
          <a:p>
            <a:pPr marL="0" indent="0">
              <a:buNone/>
            </a:pPr>
            <a:r>
              <a:rPr lang="en-US" sz="2800" b="1" dirty="0">
                <a:solidFill>
                  <a:srgbClr val="1E2761"/>
                </a:solidFill>
                <a:latin typeface="Cambria" pitchFamily="34" charset="0"/>
                <a:ea typeface="Cambria" pitchFamily="34" charset="-122"/>
                <a:cs typeface="Cambria" pitchFamily="34" charset="-120"/>
              </a:rPr>
              <a:t>A few questions for the room</a:t>
            </a:r>
            <a:endParaRPr lang="en-US" sz="2800" dirty="0"/>
          </a:p>
        </p:txBody>
      </p:sp>
      <p:sp>
        <p:nvSpPr>
          <p:cNvPr id="3" name="Shape 1"/>
          <p:cNvSpPr/>
          <p:nvPr/>
        </p:nvSpPr>
        <p:spPr>
          <a:xfrm>
            <a:off x="457200" y="868680"/>
            <a:ext cx="548640" cy="36576"/>
          </a:xfrm>
          <a:prstGeom prst="rect">
            <a:avLst/>
          </a:prstGeom>
          <a:solidFill>
            <a:srgbClr val="1E2761"/>
          </a:solidFill>
          <a:ln w="12700">
            <a:solidFill>
              <a:srgbClr val="1E2761"/>
            </a:solidFill>
            <a:prstDash val="solid"/>
          </a:ln>
        </p:spPr>
        <p:txBody>
          <a:bodyPr/>
          <a:lstStyle/>
          <a:p>
            <a:endParaRPr lang="en-US"/>
          </a:p>
        </p:txBody>
      </p:sp>
      <p:sp>
        <p:nvSpPr>
          <p:cNvPr id="4" name="Shape 2"/>
          <p:cNvSpPr/>
          <p:nvPr/>
        </p:nvSpPr>
        <p:spPr>
          <a:xfrm>
            <a:off x="457200" y="1005840"/>
            <a:ext cx="1005840" cy="292608"/>
          </a:xfrm>
          <a:prstGeom prst="rect">
            <a:avLst/>
          </a:prstGeom>
          <a:solidFill>
            <a:srgbClr val="6D28D9"/>
          </a:solidFill>
          <a:ln w="12700">
            <a:solidFill>
              <a:srgbClr val="6D28D9"/>
            </a:solidFill>
            <a:prstDash val="solid"/>
          </a:ln>
        </p:spPr>
        <p:txBody>
          <a:bodyPr/>
          <a:lstStyle/>
          <a:p>
            <a:endParaRPr lang="en-US"/>
          </a:p>
        </p:txBody>
      </p:sp>
      <p:sp>
        <p:nvSpPr>
          <p:cNvPr id="5" name="Text 3"/>
          <p:cNvSpPr/>
          <p:nvPr/>
        </p:nvSpPr>
        <p:spPr>
          <a:xfrm>
            <a:off x="457200" y="1005840"/>
            <a:ext cx="1005840" cy="292608"/>
          </a:xfrm>
          <a:prstGeom prst="rect">
            <a:avLst/>
          </a:prstGeom>
          <a:noFill/>
          <a:ln/>
        </p:spPr>
        <p:txBody>
          <a:bodyPr wrap="square" lIns="0" tIns="0" rIns="0" bIns="0" rtlCol="0" anchor="ctr"/>
          <a:lstStyle/>
          <a:p>
            <a:pPr marL="0" indent="0" algn="ctr">
              <a:buNone/>
            </a:pPr>
            <a:r>
              <a:rPr lang="en-US" sz="1100" b="1" kern="0" spc="200" dirty="0">
                <a:solidFill>
                  <a:srgbClr val="FFFFFF"/>
                </a:solidFill>
                <a:latin typeface="Calibri" pitchFamily="34" charset="0"/>
                <a:ea typeface="Calibri" pitchFamily="34" charset="-122"/>
                <a:cs typeface="Calibri" pitchFamily="34" charset="-120"/>
              </a:rPr>
              <a:t>DISCUSS</a:t>
            </a:r>
            <a:endParaRPr lang="en-US" sz="1100" dirty="0"/>
          </a:p>
        </p:txBody>
      </p:sp>
      <p:sp>
        <p:nvSpPr>
          <p:cNvPr id="6" name="Text 4"/>
          <p:cNvSpPr/>
          <p:nvPr/>
        </p:nvSpPr>
        <p:spPr>
          <a:xfrm>
            <a:off x="548640" y="1435608"/>
            <a:ext cx="8046720" cy="357632"/>
          </a:xfrm>
          <a:prstGeom prst="rect">
            <a:avLst/>
          </a:prstGeom>
          <a:solidFill>
            <a:srgbClr val="FFFFFF"/>
          </a:solidFill>
          <a:ln/>
        </p:spPr>
        <p:txBody>
          <a:bodyPr wrap="square" rtlCol="0" anchor="t"/>
          <a:lstStyle/>
          <a:p>
            <a:pPr marL="0" indent="0">
              <a:buNone/>
            </a:pPr>
            <a:r>
              <a:rPr lang="en-US" sz="1600" dirty="0">
                <a:solidFill>
                  <a:srgbClr val="1F2937"/>
                </a:solidFill>
                <a:latin typeface="Calibri" pitchFamily="34" charset="0"/>
                <a:ea typeface="Calibri" pitchFamily="34" charset="-122"/>
                <a:cs typeface="Calibri" pitchFamily="34" charset="-120"/>
              </a:rPr>
              <a:t>Before we dive in, I want to hear from you.</a:t>
            </a:r>
            <a:endParaRPr lang="en-US" sz="1600" dirty="0"/>
          </a:p>
        </p:txBody>
      </p:sp>
      <p:sp>
        <p:nvSpPr>
          <p:cNvPr id="7" name="Text 5"/>
          <p:cNvSpPr/>
          <p:nvPr/>
        </p:nvSpPr>
        <p:spPr>
          <a:xfrm>
            <a:off x="548640" y="1976120"/>
            <a:ext cx="8046720" cy="1772920"/>
          </a:xfrm>
          <a:prstGeom prst="rect">
            <a:avLst/>
          </a:prstGeom>
          <a:solidFill>
            <a:srgbClr val="FFFFFF"/>
          </a:solidFill>
          <a:ln/>
        </p:spPr>
        <p:txBody>
          <a:bodyPr wrap="square" lIns="0" tIns="0" rIns="0" bIns="0" rtlCol="0" anchor="t"/>
          <a:lstStyle/>
          <a:p>
            <a:pPr marL="228600" indent="-228600">
              <a:spcAft>
                <a:spcPts val="600"/>
              </a:spcAft>
              <a:buSzPct val="100000"/>
              <a:buChar char="■"/>
            </a:pPr>
            <a:r>
              <a:rPr lang="en-US" sz="1600" dirty="0">
                <a:solidFill>
                  <a:srgbClr val="1F2937"/>
                </a:solidFill>
                <a:latin typeface="Calibri" pitchFamily="34" charset="0"/>
                <a:ea typeface="Calibri" pitchFamily="34" charset="-122"/>
                <a:cs typeface="Calibri" pitchFamily="34" charset="-120"/>
              </a:rPr>
              <a:t>What is your </a:t>
            </a:r>
            <a:r>
              <a:rPr lang="en-US" sz="1600" b="1" dirty="0">
                <a:solidFill>
                  <a:srgbClr val="1F2937"/>
                </a:solidFill>
                <a:latin typeface="Calibri" pitchFamily="34" charset="0"/>
                <a:ea typeface="Calibri" pitchFamily="34" charset="-122"/>
                <a:cs typeface="Calibri" pitchFamily="34" charset="-120"/>
              </a:rPr>
              <a:t>experience with Linux</a:t>
            </a:r>
            <a:r>
              <a:rPr lang="en-US" sz="1600" dirty="0">
                <a:solidFill>
                  <a:srgbClr val="1F2937"/>
                </a:solidFill>
                <a:latin typeface="Calibri" pitchFamily="34" charset="0"/>
                <a:ea typeface="Calibri" pitchFamily="34" charset="-122"/>
                <a:cs typeface="Calibri" pitchFamily="34" charset="-120"/>
              </a:rPr>
              <a:t> so far?</a:t>
            </a:r>
            <a:endParaRPr lang="en-US" sz="1600" dirty="0"/>
          </a:p>
          <a:p>
            <a:pPr marL="228600" indent="-228600">
              <a:spcAft>
                <a:spcPts val="600"/>
              </a:spcAft>
              <a:buSzPct val="100000"/>
              <a:buChar char="■"/>
            </a:pPr>
            <a:r>
              <a:rPr lang="en-US" sz="1600" dirty="0">
                <a:solidFill>
                  <a:srgbClr val="1F2937"/>
                </a:solidFill>
                <a:latin typeface="Calibri" pitchFamily="34" charset="0"/>
                <a:ea typeface="Calibri" pitchFamily="34" charset="-122"/>
                <a:cs typeface="Calibri" pitchFamily="34" charset="-120"/>
              </a:rPr>
              <a:t>Have you ever used a </a:t>
            </a:r>
            <a:r>
              <a:rPr lang="en-US" sz="1600" b="1" dirty="0">
                <a:solidFill>
                  <a:srgbClr val="1F2937"/>
                </a:solidFill>
                <a:latin typeface="Calibri" pitchFamily="34" charset="0"/>
                <a:ea typeface="Calibri" pitchFamily="34" charset="-122"/>
                <a:cs typeface="Calibri" pitchFamily="34" charset="-120"/>
              </a:rPr>
              <a:t>terminal</a:t>
            </a:r>
            <a:r>
              <a:rPr lang="en-US" sz="1600" dirty="0">
                <a:solidFill>
                  <a:srgbClr val="1F2937"/>
                </a:solidFill>
                <a:latin typeface="Calibri" pitchFamily="34" charset="0"/>
                <a:ea typeface="Calibri" pitchFamily="34" charset="-122"/>
                <a:cs typeface="Calibri" pitchFamily="34" charset="-120"/>
              </a:rPr>
              <a:t> or command line on any OS (Linux, macOS, Windows)?</a:t>
            </a:r>
            <a:endParaRPr lang="en-US" sz="1600" dirty="0"/>
          </a:p>
          <a:p>
            <a:pPr marL="228600" indent="-228600">
              <a:spcAft>
                <a:spcPts val="600"/>
              </a:spcAft>
              <a:buSzPct val="100000"/>
              <a:buChar char="■"/>
            </a:pPr>
            <a:r>
              <a:rPr lang="en-US" sz="1600" dirty="0">
                <a:solidFill>
                  <a:srgbClr val="1F2937"/>
                </a:solidFill>
                <a:latin typeface="Calibri" pitchFamily="34" charset="0"/>
                <a:ea typeface="Calibri" pitchFamily="34" charset="-122"/>
                <a:cs typeface="Calibri" pitchFamily="34" charset="-120"/>
              </a:rPr>
              <a:t>What's your </a:t>
            </a:r>
            <a:r>
              <a:rPr lang="en-US" sz="1600" b="1" dirty="0">
                <a:solidFill>
                  <a:srgbClr val="1F2937"/>
                </a:solidFill>
                <a:latin typeface="Calibri" pitchFamily="34" charset="0"/>
                <a:ea typeface="Calibri" pitchFamily="34" charset="-122"/>
                <a:cs typeface="Calibri" pitchFamily="34" charset="-120"/>
              </a:rPr>
              <a:t>major</a:t>
            </a:r>
            <a:r>
              <a:rPr lang="en-US" sz="1600" dirty="0">
                <a:solidFill>
                  <a:srgbClr val="1F2937"/>
                </a:solidFill>
                <a:latin typeface="Calibri" pitchFamily="34" charset="0"/>
                <a:ea typeface="Calibri" pitchFamily="34" charset="-122"/>
                <a:cs typeface="Calibri" pitchFamily="34" charset="-120"/>
              </a:rPr>
              <a:t> or area of interest?</a:t>
            </a:r>
            <a:endParaRPr lang="en-US" sz="1600" dirty="0"/>
          </a:p>
          <a:p>
            <a:pPr marL="228600" indent="-228600">
              <a:spcAft>
                <a:spcPts val="600"/>
              </a:spcAft>
              <a:buSzPct val="100000"/>
              <a:buChar char="■"/>
            </a:pPr>
            <a:r>
              <a:rPr lang="en-US" sz="1600" dirty="0">
                <a:solidFill>
                  <a:srgbClr val="1F2937"/>
                </a:solidFill>
                <a:latin typeface="Calibri" pitchFamily="34" charset="0"/>
                <a:ea typeface="Calibri" pitchFamily="34" charset="-122"/>
                <a:cs typeface="Calibri" pitchFamily="34" charset="-120"/>
              </a:rPr>
              <a:t>What do you </a:t>
            </a:r>
            <a:r>
              <a:rPr lang="en-US" sz="1600" b="1" dirty="0">
                <a:solidFill>
                  <a:srgbClr val="1F2937"/>
                </a:solidFill>
                <a:latin typeface="Calibri" pitchFamily="34" charset="0"/>
                <a:ea typeface="Calibri" pitchFamily="34" charset="-122"/>
                <a:cs typeface="Calibri" pitchFamily="34" charset="-120"/>
              </a:rPr>
              <a:t>hope to learn</a:t>
            </a:r>
            <a:r>
              <a:rPr lang="en-US" sz="1600" dirty="0">
                <a:solidFill>
                  <a:srgbClr val="1F2937"/>
                </a:solidFill>
                <a:latin typeface="Calibri" pitchFamily="34" charset="0"/>
                <a:ea typeface="Calibri" pitchFamily="34" charset="-122"/>
                <a:cs typeface="Calibri" pitchFamily="34" charset="-120"/>
              </a:rPr>
              <a:t> in this session?</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pic>
        <p:nvPicPr>
          <p:cNvPr id="5" name="Picture 4" descr="access-footer.jpg"/>
          <p:cNvPicPr>
            <a:picLocks noChangeAspect="1"/>
          </p:cNvPicPr>
          <p:nvPr/>
        </p:nvPicPr>
        <p:blipFill>
          <a:blip r:embed="rId3"/>
          <a:stretch>
            <a:fillRect/>
          </a:stretch>
        </p:blipFill>
        <p:spPr>
          <a:xfrm>
            <a:off x="0" y="0"/>
            <a:ext cx="9144000" cy="5143500"/>
          </a:xfrm>
          <a:prstGeom prst="rect">
            <a:avLst/>
          </a:prstGeom>
        </p:spPr>
      </p:pic>
      <p:sp>
        <p:nvSpPr>
          <p:cNvPr id="2" name="Text 0"/>
          <p:cNvSpPr/>
          <p:nvPr/>
        </p:nvSpPr>
        <p:spPr>
          <a:xfrm>
            <a:off x="457200" y="274320"/>
            <a:ext cx="8229600" cy="594360"/>
          </a:xfrm>
          <a:prstGeom prst="rect">
            <a:avLst/>
          </a:prstGeom>
          <a:solidFill>
            <a:srgbClr val="FFFFFF"/>
          </a:solidFill>
          <a:ln/>
        </p:spPr>
        <p:txBody>
          <a:bodyPr wrap="square" lIns="0" tIns="0" rIns="0" bIns="0" rtlCol="0" anchor="ctr"/>
          <a:lstStyle/>
          <a:p>
            <a:pPr marL="0" indent="0">
              <a:buNone/>
            </a:pPr>
            <a:r>
              <a:rPr lang="en-US" sz="2800" b="1" dirty="0">
                <a:solidFill>
                  <a:srgbClr val="1E2761"/>
                </a:solidFill>
                <a:latin typeface="Cambria" pitchFamily="34" charset="0"/>
                <a:ea typeface="Cambria" pitchFamily="34" charset="-122"/>
                <a:cs typeface="Cambria" pitchFamily="34" charset="-120"/>
              </a:rPr>
              <a:t>Logistics</a:t>
            </a:r>
            <a:endParaRPr lang="en-US" sz="2800" dirty="0"/>
          </a:p>
        </p:txBody>
      </p:sp>
      <p:sp>
        <p:nvSpPr>
          <p:cNvPr id="3" name="Shape 1"/>
          <p:cNvSpPr/>
          <p:nvPr/>
        </p:nvSpPr>
        <p:spPr>
          <a:xfrm>
            <a:off x="457200" y="868680"/>
            <a:ext cx="548640" cy="36576"/>
          </a:xfrm>
          <a:prstGeom prst="rect">
            <a:avLst/>
          </a:prstGeom>
          <a:solidFill>
            <a:srgbClr val="1E2761"/>
          </a:solidFill>
          <a:ln w="12700">
            <a:solidFill>
              <a:srgbClr val="1E2761"/>
            </a:solidFill>
            <a:prstDash val="solid"/>
          </a:ln>
        </p:spPr>
        <p:txBody>
          <a:bodyPr/>
          <a:lstStyle/>
          <a:p>
            <a:endParaRPr lang="en-US"/>
          </a:p>
        </p:txBody>
      </p:sp>
      <p:sp>
        <p:nvSpPr>
          <p:cNvPr id="4" name="Text 2"/>
          <p:cNvSpPr/>
          <p:nvPr/>
        </p:nvSpPr>
        <p:spPr>
          <a:xfrm>
            <a:off x="548640" y="1005840"/>
            <a:ext cx="8046720" cy="2057400"/>
          </a:xfrm>
          <a:prstGeom prst="rect">
            <a:avLst/>
          </a:prstGeom>
          <a:solidFill>
            <a:srgbClr val="FFFFFF"/>
          </a:solidFill>
          <a:ln/>
        </p:spPr>
        <p:txBody>
          <a:bodyPr wrap="square" lIns="0" tIns="0" rIns="0" bIns="0" rtlCol="0" anchor="t"/>
          <a:lstStyle/>
          <a:p>
            <a:pPr marL="228600" indent="-228600">
              <a:spcAft>
                <a:spcPts val="600"/>
              </a:spcAft>
              <a:buSzPct val="100000"/>
              <a:buChar char="■"/>
            </a:pPr>
            <a:r>
              <a:rPr lang="en-US" sz="1600" dirty="0">
                <a:solidFill>
                  <a:srgbClr val="1F2937"/>
                </a:solidFill>
                <a:latin typeface="Calibri" pitchFamily="34" charset="0"/>
                <a:ea typeface="Calibri" pitchFamily="34" charset="-122"/>
                <a:cs typeface="Calibri" pitchFamily="34" charset="-120"/>
              </a:rPr>
              <a:t>You each have your own Ubuntu VM with a remote desktop.</a:t>
            </a:r>
            <a:endParaRPr lang="en-US" sz="1600" dirty="0"/>
          </a:p>
          <a:p>
            <a:pPr marL="228600" indent="-228600">
              <a:spcAft>
                <a:spcPts val="600"/>
              </a:spcAft>
              <a:buSzPct val="100000"/>
              <a:buChar char="■"/>
            </a:pPr>
            <a:r>
              <a:rPr lang="en-US" sz="1600" dirty="0">
                <a:solidFill>
                  <a:srgbClr val="1F2937"/>
                </a:solidFill>
                <a:latin typeface="Calibri" pitchFamily="34" charset="0"/>
                <a:ea typeface="Calibri" pitchFamily="34" charset="-122"/>
                <a:cs typeface="Calibri" pitchFamily="34" charset="-120"/>
              </a:rPr>
              <a:t>You can use the GUI for some things; we will spend most of our time in the </a:t>
            </a:r>
            <a:r>
              <a:rPr lang="en-US" sz="1600" b="1" dirty="0">
                <a:solidFill>
                  <a:srgbClr val="1F2937"/>
                </a:solidFill>
                <a:latin typeface="Calibri" pitchFamily="34" charset="0"/>
                <a:ea typeface="Calibri" pitchFamily="34" charset="-122"/>
                <a:cs typeface="Calibri" pitchFamily="34" charset="-120"/>
              </a:rPr>
              <a:t>terminal</a:t>
            </a:r>
            <a:r>
              <a:rPr lang="en-US" sz="1600" dirty="0">
                <a:solidFill>
                  <a:srgbClr val="1F2937"/>
                </a:solidFill>
                <a:latin typeface="Calibri" pitchFamily="34" charset="0"/>
                <a:ea typeface="Calibri" pitchFamily="34" charset="-122"/>
                <a:cs typeface="Calibri" pitchFamily="34" charset="-120"/>
              </a:rPr>
              <a:t>.</a:t>
            </a:r>
            <a:endParaRPr lang="en-US" sz="1600" dirty="0"/>
          </a:p>
          <a:p>
            <a:pPr marL="228600" indent="-228600">
              <a:spcAft>
                <a:spcPts val="600"/>
              </a:spcAft>
              <a:buSzPct val="100000"/>
              <a:buChar char="■"/>
            </a:pPr>
            <a:r>
              <a:rPr lang="en-US" sz="1600" dirty="0">
                <a:solidFill>
                  <a:srgbClr val="1F2937"/>
                </a:solidFill>
                <a:latin typeface="Calibri" pitchFamily="34" charset="0"/>
                <a:ea typeface="Calibri" pitchFamily="34" charset="-122"/>
                <a:cs typeface="Calibri" pitchFamily="34" charset="-120"/>
              </a:rPr>
              <a:t>This is hands-on. When I demo something, you should follow along in your VM.</a:t>
            </a:r>
            <a:endParaRPr lang="en-US" sz="1600" dirty="0"/>
          </a:p>
          <a:p>
            <a:pPr marL="228600" indent="-228600">
              <a:spcAft>
                <a:spcPts val="600"/>
              </a:spcAft>
              <a:buSzPct val="100000"/>
              <a:buChar char="■"/>
            </a:pPr>
            <a:r>
              <a:rPr lang="en-US" sz="1600" dirty="0">
                <a:solidFill>
                  <a:srgbClr val="1F2937"/>
                </a:solidFill>
                <a:latin typeface="Calibri" pitchFamily="34" charset="0"/>
                <a:ea typeface="Calibri" pitchFamily="34" charset="-122"/>
                <a:cs typeface="Calibri" pitchFamily="34" charset="-120"/>
              </a:rPr>
              <a:t>Stop me with questions. If you get lost, raise your hand.</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8" name="Picture 7" descr="access-footer.jpg"/>
          <p:cNvPicPr>
            <a:picLocks noChangeAspect="1"/>
          </p:cNvPicPr>
          <p:nvPr/>
        </p:nvPicPr>
        <p:blipFill>
          <a:blip r:embed="rId3"/>
          <a:stretch>
            <a:fillRect/>
          </a:stretch>
        </p:blipFill>
        <p:spPr>
          <a:xfrm>
            <a:off x="0" y="0"/>
            <a:ext cx="9144000" cy="5143500"/>
          </a:xfrm>
          <a:prstGeom prst="rect">
            <a:avLst/>
          </a:prstGeom>
        </p:spPr>
      </p:pic>
      <p:sp>
        <p:nvSpPr>
          <p:cNvPr id="2" name="Text 0"/>
          <p:cNvSpPr/>
          <p:nvPr/>
        </p:nvSpPr>
        <p:spPr>
          <a:xfrm>
            <a:off x="457200" y="274320"/>
            <a:ext cx="8229600" cy="594360"/>
          </a:xfrm>
          <a:prstGeom prst="rect">
            <a:avLst/>
          </a:prstGeom>
          <a:solidFill>
            <a:srgbClr val="FFFFFF"/>
          </a:solidFill>
          <a:ln/>
        </p:spPr>
        <p:txBody>
          <a:bodyPr wrap="square" lIns="0" tIns="0" rIns="0" bIns="0" rtlCol="0" anchor="ctr"/>
          <a:lstStyle/>
          <a:p>
            <a:pPr marL="0" indent="0">
              <a:buNone/>
            </a:pPr>
            <a:r>
              <a:rPr lang="en-US" sz="2800" b="1" dirty="0">
                <a:solidFill>
                  <a:srgbClr val="1E2761"/>
                </a:solidFill>
                <a:latin typeface="Cambria" pitchFamily="34" charset="0"/>
                <a:ea typeface="Cambria" pitchFamily="34" charset="-122"/>
                <a:cs typeface="Cambria" pitchFamily="34" charset="-120"/>
              </a:rPr>
              <a:t>What we'll cover today</a:t>
            </a:r>
            <a:endParaRPr lang="en-US" sz="2800" dirty="0"/>
          </a:p>
        </p:txBody>
      </p:sp>
      <p:sp>
        <p:nvSpPr>
          <p:cNvPr id="3" name="Shape 1"/>
          <p:cNvSpPr/>
          <p:nvPr/>
        </p:nvSpPr>
        <p:spPr>
          <a:xfrm>
            <a:off x="457200" y="868680"/>
            <a:ext cx="548640" cy="36576"/>
          </a:xfrm>
          <a:prstGeom prst="rect">
            <a:avLst/>
          </a:prstGeom>
          <a:solidFill>
            <a:srgbClr val="1E2761"/>
          </a:solidFill>
          <a:ln w="12700">
            <a:solidFill>
              <a:srgbClr val="1E2761"/>
            </a:solidFill>
            <a:prstDash val="solid"/>
          </a:ln>
        </p:spPr>
        <p:txBody>
          <a:bodyPr/>
          <a:lstStyle/>
          <a:p>
            <a:endParaRPr lang="en-US"/>
          </a:p>
        </p:txBody>
      </p:sp>
      <p:sp>
        <p:nvSpPr>
          <p:cNvPr id="4" name="Text 2"/>
          <p:cNvSpPr/>
          <p:nvPr/>
        </p:nvSpPr>
        <p:spPr>
          <a:xfrm>
            <a:off x="640080" y="960120"/>
            <a:ext cx="7863840" cy="274320"/>
          </a:xfrm>
          <a:prstGeom prst="rect">
            <a:avLst/>
          </a:prstGeom>
          <a:solidFill>
            <a:srgbClr val="FFFFFF"/>
          </a:solidFill>
          <a:ln/>
        </p:spPr>
        <p:txBody>
          <a:bodyPr wrap="square" lIns="0" tIns="0" rIns="0" bIns="0" rtlCol="0" anchor="ctr"/>
          <a:lstStyle/>
          <a:p>
            <a:pPr marL="0" indent="0">
              <a:buNone/>
            </a:pPr>
            <a:r>
              <a:rPr lang="en-US" sz="1200" i="1" dirty="0">
                <a:solidFill>
                  <a:srgbClr val="475569"/>
                </a:solidFill>
                <a:latin typeface="Calibri" pitchFamily="34" charset="0"/>
                <a:ea typeface="Calibri" pitchFamily="34" charset="-122"/>
                <a:cs typeface="Calibri" pitchFamily="34" charset="-120"/>
              </a:rPr>
              <a:t>The whole session at a glance — keep this in mind as we go.</a:t>
            </a:r>
            <a:endParaRPr lang="en-US" sz="1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40080" y="1188720"/>
          <a:ext cx="7863840" cy="914400"/>
        </p:xfrm>
        <a:graphic>
          <a:graphicData uri="http://schemas.openxmlformats.org/drawingml/2006/table">
            <a:tbl>
              <a:tblPr/>
              <a:tblGrid>
                <a:gridCol w="640080">
                  <a:extLst>
                    <a:ext uri="{9D8B030D-6E8A-4147-A177-3AD203B41FA5}">
                      <a16:colId xmlns:a16="http://schemas.microsoft.com/office/drawing/2014/main" val="20000"/>
                    </a:ext>
                  </a:extLst>
                </a:gridCol>
                <a:gridCol w="7223760">
                  <a:extLst>
                    <a:ext uri="{9D8B030D-6E8A-4147-A177-3AD203B41FA5}">
                      <a16:colId xmlns:a16="http://schemas.microsoft.com/office/drawing/2014/main" val="20001"/>
                    </a:ext>
                  </a:extLst>
                </a:gridCol>
              </a:tblGrid>
              <a:tr h="246888">
                <a:tc>
                  <a:txBody>
                    <a:bodyPr/>
                    <a:lstStyle/>
                    <a:p>
                      <a:pPr marL="0" indent="0" algn="ctr">
                        <a:buNone/>
                      </a:pPr>
                      <a:r>
                        <a:rPr lang="en-US" sz="1300" b="1" dirty="0">
                          <a:solidFill>
                            <a:srgbClr val="1E2761"/>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300" dirty="0">
                          <a:solidFill>
                            <a:srgbClr val="1F2937"/>
                          </a:solidFill>
                          <a:latin typeface="Calibri" pitchFamily="34" charset="0"/>
                          <a:ea typeface="Calibri" pitchFamily="34" charset="-122"/>
                          <a:cs typeface="Calibri" pitchFamily="34" charset="-120"/>
                        </a:rPr>
                        <a:t>Welcome</a:t>
                      </a:r>
                      <a:endParaRPr lang="en-US" sz="130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246888">
                <a:tc>
                  <a:txBody>
                    <a:bodyPr/>
                    <a:lstStyle/>
                    <a:p>
                      <a:pPr marL="0" indent="0" algn="ctr">
                        <a:buNone/>
                      </a:pPr>
                      <a:r>
                        <a:rPr lang="en-US" sz="1300" b="1" dirty="0">
                          <a:solidFill>
                            <a:srgbClr val="1E2761"/>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300" dirty="0">
                          <a:solidFill>
                            <a:srgbClr val="1F2937"/>
                          </a:solidFill>
                          <a:latin typeface="Calibri" pitchFamily="34" charset="0"/>
                          <a:ea typeface="Calibri" pitchFamily="34" charset="-122"/>
                          <a:cs typeface="Calibri" pitchFamily="34" charset="-120"/>
                        </a:rPr>
                        <a:t>Orientation</a:t>
                      </a:r>
                      <a:endParaRPr lang="en-US" sz="130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46888">
                <a:tc>
                  <a:txBody>
                    <a:bodyPr/>
                    <a:lstStyle/>
                    <a:p>
                      <a:pPr marL="0" indent="0" algn="ctr">
                        <a:buNone/>
                      </a:pPr>
                      <a:r>
                        <a:rPr lang="en-US" sz="1300" b="1" dirty="0">
                          <a:solidFill>
                            <a:srgbClr val="1E2761"/>
                          </a:solidFill>
                          <a:latin typeface="Calibri" pitchFamily="34" charset="0"/>
                          <a:ea typeface="Calibri" pitchFamily="34" charset="-122"/>
                          <a:cs typeface="Calibri" pitchFamily="34" charset="-120"/>
                        </a:rPr>
                        <a:t>2</a:t>
                      </a:r>
                      <a:endParaRPr lang="en-US" sz="130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300" dirty="0">
                          <a:solidFill>
                            <a:srgbClr val="1F2937"/>
                          </a:solidFill>
                          <a:latin typeface="Calibri" pitchFamily="34" charset="0"/>
                          <a:ea typeface="Calibri" pitchFamily="34" charset="-122"/>
                          <a:cs typeface="Calibri" pitchFamily="34" charset="-120"/>
                        </a:rPr>
                        <a:t>First contact</a:t>
                      </a:r>
                      <a:endParaRPr lang="en-US" sz="130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46888">
                <a:tc>
                  <a:txBody>
                    <a:bodyPr/>
                    <a:lstStyle/>
                    <a:p>
                      <a:pPr marL="0" indent="0" algn="ctr">
                        <a:buNone/>
                      </a:pPr>
                      <a:r>
                        <a:rPr lang="en-US" sz="1300" b="1" dirty="0">
                          <a:solidFill>
                            <a:srgbClr val="1E2761"/>
                          </a:solidFill>
                          <a:latin typeface="Calibri" pitchFamily="34" charset="0"/>
                          <a:ea typeface="Calibri" pitchFamily="34" charset="-122"/>
                          <a:cs typeface="Calibri" pitchFamily="34" charset="-120"/>
                        </a:rPr>
                        <a:t>3</a:t>
                      </a:r>
                      <a:endParaRPr lang="en-US" sz="130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300" dirty="0">
                          <a:solidFill>
                            <a:srgbClr val="1F2937"/>
                          </a:solidFill>
                          <a:latin typeface="Calibri" pitchFamily="34" charset="0"/>
                          <a:ea typeface="Calibri" pitchFamily="34" charset="-122"/>
                          <a:cs typeface="Calibri" pitchFamily="34" charset="-120"/>
                        </a:rPr>
                        <a:t>Navigating the filesystem</a:t>
                      </a:r>
                      <a:endParaRPr lang="en-US" sz="130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46888">
                <a:tc>
                  <a:txBody>
                    <a:bodyPr/>
                    <a:lstStyle/>
                    <a:p>
                      <a:pPr marL="0" indent="0" algn="ctr">
                        <a:buNone/>
                      </a:pPr>
                      <a:r>
                        <a:rPr lang="en-US" sz="1300" b="1" dirty="0">
                          <a:solidFill>
                            <a:srgbClr val="1E2761"/>
                          </a:solidFill>
                          <a:latin typeface="Calibri" pitchFamily="34" charset="0"/>
                          <a:ea typeface="Calibri" pitchFamily="34" charset="-122"/>
                          <a:cs typeface="Calibri" pitchFamily="34" charset="-120"/>
                        </a:rPr>
                        <a:t>4</a:t>
                      </a:r>
                      <a:endParaRPr lang="en-US" sz="130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300" dirty="0">
                          <a:solidFill>
                            <a:srgbClr val="1F2937"/>
                          </a:solidFill>
                          <a:latin typeface="Calibri" pitchFamily="34" charset="0"/>
                          <a:ea typeface="Calibri" pitchFamily="34" charset="-122"/>
                          <a:cs typeface="Calibri" pitchFamily="34" charset="-120"/>
                        </a:rPr>
                        <a:t>Working with files and directories</a:t>
                      </a:r>
                      <a:endParaRPr lang="en-US" sz="130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46888">
                <a:tc>
                  <a:txBody>
                    <a:bodyPr/>
                    <a:lstStyle/>
                    <a:p>
                      <a:pPr marL="0" indent="0" algn="ctr">
                        <a:buNone/>
                      </a:pPr>
                      <a:r>
                        <a:rPr lang="en-US" sz="1300" b="1" dirty="0">
                          <a:solidFill>
                            <a:srgbClr val="1E2761"/>
                          </a:solidFill>
                          <a:latin typeface="Calibri" pitchFamily="34" charset="0"/>
                          <a:ea typeface="Calibri" pitchFamily="34" charset="-122"/>
                          <a:cs typeface="Calibri" pitchFamily="34" charset="-120"/>
                        </a:rPr>
                        <a:t>5</a:t>
                      </a:r>
                      <a:endParaRPr lang="en-US" sz="130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300" dirty="0">
                          <a:solidFill>
                            <a:srgbClr val="1F2937"/>
                          </a:solidFill>
                          <a:latin typeface="Calibri" pitchFamily="34" charset="0"/>
                          <a:ea typeface="Calibri" pitchFamily="34" charset="-122"/>
                          <a:cs typeface="Calibri" pitchFamily="34" charset="-120"/>
                        </a:rPr>
                        <a:t>Getting help</a:t>
                      </a:r>
                      <a:endParaRPr lang="en-US" sz="130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46888">
                <a:tc>
                  <a:txBody>
                    <a:bodyPr/>
                    <a:lstStyle/>
                    <a:p>
                      <a:pPr marL="0" indent="0" algn="ctr">
                        <a:buNone/>
                      </a:pPr>
                      <a:r>
                        <a:rPr lang="en-US" sz="1300" b="1" dirty="0">
                          <a:solidFill>
                            <a:srgbClr val="1E2761"/>
                          </a:solidFill>
                          <a:latin typeface="Calibri" pitchFamily="34" charset="0"/>
                          <a:ea typeface="Calibri" pitchFamily="34" charset="-122"/>
                          <a:cs typeface="Calibri" pitchFamily="34" charset="-120"/>
                        </a:rPr>
                        <a:t>6</a:t>
                      </a:r>
                      <a:endParaRPr lang="en-US" sz="130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300" dirty="0">
                          <a:solidFill>
                            <a:srgbClr val="1F2937"/>
                          </a:solidFill>
                          <a:latin typeface="Calibri" pitchFamily="34" charset="0"/>
                          <a:ea typeface="Calibri" pitchFamily="34" charset="-122"/>
                          <a:cs typeface="Calibri" pitchFamily="34" charset="-120"/>
                        </a:rPr>
                        <a:t>Editing files</a:t>
                      </a:r>
                      <a:endParaRPr lang="en-US" sz="130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246888">
                <a:tc>
                  <a:txBody>
                    <a:bodyPr/>
                    <a:lstStyle/>
                    <a:p>
                      <a:pPr marL="0" indent="0" algn="ctr">
                        <a:buNone/>
                      </a:pPr>
                      <a:r>
                        <a:rPr lang="en-US" sz="1300" b="1" dirty="0">
                          <a:solidFill>
                            <a:srgbClr val="1E2761"/>
                          </a:solidFill>
                          <a:latin typeface="Calibri" pitchFamily="34" charset="0"/>
                          <a:ea typeface="Calibri" pitchFamily="34" charset="-122"/>
                          <a:cs typeface="Calibri" pitchFamily="34" charset="-120"/>
                        </a:rPr>
                        <a:t>7</a:t>
                      </a:r>
                      <a:endParaRPr lang="en-US" sz="130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300" dirty="0">
                          <a:solidFill>
                            <a:srgbClr val="1F2937"/>
                          </a:solidFill>
                          <a:latin typeface="Calibri" pitchFamily="34" charset="0"/>
                          <a:ea typeface="Calibri" pitchFamily="34" charset="-122"/>
                          <a:cs typeface="Calibri" pitchFamily="34" charset="-120"/>
                        </a:rPr>
                        <a:t>Glue: redirection and pipes</a:t>
                      </a:r>
                      <a:endParaRPr lang="en-US" sz="130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46888">
                <a:tc>
                  <a:txBody>
                    <a:bodyPr/>
                    <a:lstStyle/>
                    <a:p>
                      <a:pPr marL="0" indent="0" algn="ctr">
                        <a:buNone/>
                      </a:pPr>
                      <a:r>
                        <a:rPr lang="en-US" sz="1300" b="1" dirty="0">
                          <a:solidFill>
                            <a:srgbClr val="1E2761"/>
                          </a:solidFill>
                          <a:latin typeface="Calibri" pitchFamily="34" charset="0"/>
                          <a:ea typeface="Calibri" pitchFamily="34" charset="-122"/>
                          <a:cs typeface="Calibri" pitchFamily="34" charset="-120"/>
                        </a:rPr>
                        <a:t>8</a:t>
                      </a:r>
                      <a:endParaRPr lang="en-US" sz="130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300" dirty="0">
                          <a:solidFill>
                            <a:srgbClr val="1F2937"/>
                          </a:solidFill>
                          <a:latin typeface="Calibri" pitchFamily="34" charset="0"/>
                          <a:ea typeface="Calibri" pitchFamily="34" charset="-122"/>
                          <a:cs typeface="Calibri" pitchFamily="34" charset="-120"/>
                        </a:rPr>
                        <a:t>Permissions and processes</a:t>
                      </a:r>
                      <a:endParaRPr lang="en-US" sz="130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246888">
                <a:tc>
                  <a:txBody>
                    <a:bodyPr/>
                    <a:lstStyle/>
                    <a:p>
                      <a:pPr marL="0" indent="0" algn="ctr">
                        <a:buNone/>
                      </a:pPr>
                      <a:r>
                        <a:rPr lang="en-US" sz="1300" b="1" dirty="0">
                          <a:solidFill>
                            <a:srgbClr val="1E2761"/>
                          </a:solidFill>
                          <a:latin typeface="Calibri" pitchFamily="34" charset="0"/>
                          <a:ea typeface="Calibri" pitchFamily="34" charset="-122"/>
                          <a:cs typeface="Calibri" pitchFamily="34" charset="-120"/>
                        </a:rPr>
                        <a:t>9</a:t>
                      </a:r>
                      <a:endParaRPr lang="en-US" sz="130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300" dirty="0">
                          <a:solidFill>
                            <a:srgbClr val="1F2937"/>
                          </a:solidFill>
                          <a:latin typeface="Calibri" pitchFamily="34" charset="0"/>
                          <a:ea typeface="Calibri" pitchFamily="34" charset="-122"/>
                          <a:cs typeface="Calibri" pitchFamily="34" charset="-120"/>
                        </a:rPr>
                        <a:t>Users, root, and sudo</a:t>
                      </a:r>
                      <a:endParaRPr lang="en-US" sz="130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246888">
                <a:tc>
                  <a:txBody>
                    <a:bodyPr/>
                    <a:lstStyle/>
                    <a:p>
                      <a:pPr marL="0" indent="0" algn="ctr">
                        <a:buNone/>
                      </a:pPr>
                      <a:r>
                        <a:rPr lang="en-US" sz="1300" b="1" dirty="0">
                          <a:solidFill>
                            <a:srgbClr val="1E2761"/>
                          </a:solidFill>
                          <a:latin typeface="Calibri" pitchFamily="34" charset="0"/>
                          <a:ea typeface="Calibri" pitchFamily="34" charset="-122"/>
                          <a:cs typeface="Calibri" pitchFamily="34" charset="-120"/>
                        </a:rPr>
                        <a:t>10</a:t>
                      </a:r>
                      <a:endParaRPr lang="en-US" sz="130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300" dirty="0">
                          <a:solidFill>
                            <a:srgbClr val="1F2937"/>
                          </a:solidFill>
                          <a:latin typeface="Calibri" pitchFamily="34" charset="0"/>
                          <a:ea typeface="Calibri" pitchFamily="34" charset="-122"/>
                          <a:cs typeface="Calibri" pitchFamily="34" charset="-120"/>
                        </a:rPr>
                        <a:t>Environment variables, PATH, LD_LIBRARY_PATH</a:t>
                      </a:r>
                      <a:endParaRPr lang="en-US" sz="130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10"/>
                  </a:ext>
                </a:extLst>
              </a:tr>
              <a:tr h="246888">
                <a:tc>
                  <a:txBody>
                    <a:bodyPr/>
                    <a:lstStyle/>
                    <a:p>
                      <a:pPr marL="0" indent="0" algn="ctr">
                        <a:buNone/>
                      </a:pPr>
                      <a:r>
                        <a:rPr lang="en-US" sz="1300" b="1" dirty="0">
                          <a:solidFill>
                            <a:srgbClr val="1E2761"/>
                          </a:solidFill>
                          <a:latin typeface="Calibri" pitchFamily="34" charset="0"/>
                          <a:ea typeface="Calibri" pitchFamily="34" charset="-122"/>
                          <a:cs typeface="Calibri" pitchFamily="34" charset="-120"/>
                        </a:rPr>
                        <a:t>11</a:t>
                      </a:r>
                      <a:endParaRPr lang="en-US" sz="130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300" dirty="0">
                          <a:solidFill>
                            <a:srgbClr val="1F2937"/>
                          </a:solidFill>
                          <a:latin typeface="Calibri" pitchFamily="34" charset="0"/>
                          <a:ea typeface="Calibri" pitchFamily="34" charset="-122"/>
                          <a:cs typeface="Calibri" pitchFamily="34" charset="-120"/>
                        </a:rPr>
                        <a:t>Python virtual environments</a:t>
                      </a:r>
                      <a:endParaRPr lang="en-US" sz="130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246888">
                <a:tc>
                  <a:txBody>
                    <a:bodyPr/>
                    <a:lstStyle/>
                    <a:p>
                      <a:pPr marL="0" indent="0" algn="ctr">
                        <a:buNone/>
                      </a:pPr>
                      <a:r>
                        <a:rPr lang="en-US" sz="1300" b="1" dirty="0">
                          <a:solidFill>
                            <a:srgbClr val="1E2761"/>
                          </a:solidFill>
                          <a:latin typeface="Calibri" pitchFamily="34" charset="0"/>
                          <a:ea typeface="Calibri" pitchFamily="34" charset="-122"/>
                          <a:cs typeface="Calibri" pitchFamily="34" charset="-120"/>
                        </a:rPr>
                        <a:t>12</a:t>
                      </a:r>
                      <a:endParaRPr lang="en-US" sz="130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300" dirty="0">
                          <a:solidFill>
                            <a:srgbClr val="1F2937"/>
                          </a:solidFill>
                          <a:latin typeface="Calibri" pitchFamily="34" charset="0"/>
                          <a:ea typeface="Calibri" pitchFamily="34" charset="-122"/>
                          <a:cs typeface="Calibri" pitchFamily="34" charset="-120"/>
                        </a:rPr>
                        <a:t>Wrap up</a:t>
                      </a:r>
                      <a:endParaRPr lang="en-US" sz="130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12"/>
                  </a:ext>
                </a:extLst>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pic>
        <p:nvPicPr>
          <p:cNvPr id="5" name="Picture 4" descr="access-footer.jpg"/>
          <p:cNvPicPr>
            <a:picLocks noChangeAspect="1"/>
          </p:cNvPicPr>
          <p:nvPr/>
        </p:nvPicPr>
        <p:blipFill>
          <a:blip r:embed="rId3"/>
          <a:stretch>
            <a:fillRect/>
          </a:stretch>
        </p:blipFill>
        <p:spPr>
          <a:xfrm>
            <a:off x="0" y="0"/>
            <a:ext cx="9144000" cy="5143500"/>
          </a:xfrm>
          <a:prstGeom prst="rect">
            <a:avLst/>
          </a:prstGeom>
        </p:spPr>
      </p:pic>
      <p:sp>
        <p:nvSpPr>
          <p:cNvPr id="2" name="Text 0"/>
          <p:cNvSpPr/>
          <p:nvPr/>
        </p:nvSpPr>
        <p:spPr>
          <a:xfrm>
            <a:off x="457200" y="274320"/>
            <a:ext cx="8229600" cy="594360"/>
          </a:xfrm>
          <a:prstGeom prst="rect">
            <a:avLst/>
          </a:prstGeom>
          <a:solidFill>
            <a:srgbClr val="FFFFFF"/>
          </a:solidFill>
          <a:ln/>
        </p:spPr>
        <p:txBody>
          <a:bodyPr wrap="square" lIns="0" tIns="0" rIns="0" bIns="0" rtlCol="0" anchor="ctr"/>
          <a:lstStyle/>
          <a:p>
            <a:pPr marL="0" indent="0">
              <a:buNone/>
            </a:pPr>
            <a:r>
              <a:rPr lang="en-US" sz="2800" b="1" dirty="0">
                <a:solidFill>
                  <a:srgbClr val="1E2761"/>
                </a:solidFill>
                <a:latin typeface="Cambria" pitchFamily="34" charset="0"/>
                <a:ea typeface="Cambria" pitchFamily="34" charset="-122"/>
                <a:cs typeface="Cambria" pitchFamily="34" charset="-120"/>
              </a:rPr>
              <a:t>Block 1 outline — Orientation</a:t>
            </a:r>
            <a:endParaRPr lang="en-US" sz="2800" dirty="0"/>
          </a:p>
        </p:txBody>
      </p:sp>
      <p:sp>
        <p:nvSpPr>
          <p:cNvPr id="3" name="Shape 1"/>
          <p:cNvSpPr/>
          <p:nvPr/>
        </p:nvSpPr>
        <p:spPr>
          <a:xfrm>
            <a:off x="457200" y="868680"/>
            <a:ext cx="548640" cy="36576"/>
          </a:xfrm>
          <a:prstGeom prst="rect">
            <a:avLst/>
          </a:prstGeom>
          <a:solidFill>
            <a:srgbClr val="1E2761"/>
          </a:solidFill>
          <a:ln w="12700">
            <a:solidFill>
              <a:srgbClr val="1E2761"/>
            </a:solidFill>
            <a:prstDash val="solid"/>
          </a:ln>
        </p:spPr>
        <p:txBody>
          <a:bodyPr/>
          <a:lstStyle/>
          <a:p>
            <a:endParaRPr lang="en-US"/>
          </a:p>
        </p:txBody>
      </p:sp>
      <p:sp>
        <p:nvSpPr>
          <p:cNvPr id="4" name="Text 2"/>
          <p:cNvSpPr/>
          <p:nvPr/>
        </p:nvSpPr>
        <p:spPr>
          <a:xfrm>
            <a:off x="548640" y="1005840"/>
            <a:ext cx="8046720" cy="1488440"/>
          </a:xfrm>
          <a:prstGeom prst="rect">
            <a:avLst/>
          </a:prstGeom>
          <a:solidFill>
            <a:srgbClr val="FFFFFF"/>
          </a:solidFill>
          <a:ln/>
        </p:spPr>
        <p:txBody>
          <a:bodyPr wrap="square" lIns="0" tIns="0" rIns="0" bIns="0" rtlCol="0" anchor="t"/>
          <a:lstStyle/>
          <a:p>
            <a:pPr marL="228600" indent="-228600">
              <a:spcAft>
                <a:spcPts val="600"/>
              </a:spcAft>
              <a:buSzPct val="100000"/>
              <a:buChar char="■"/>
            </a:pPr>
            <a:r>
              <a:rPr lang="en-US" sz="1600" dirty="0">
                <a:solidFill>
                  <a:srgbClr val="1F2937"/>
                </a:solidFill>
                <a:latin typeface="Calibri" pitchFamily="34" charset="0"/>
                <a:ea typeface="Calibri" pitchFamily="34" charset="-122"/>
                <a:cs typeface="Calibri" pitchFamily="34" charset="-120"/>
              </a:rPr>
              <a:t>What </a:t>
            </a:r>
            <a:r>
              <a:rPr lang="en-US" sz="1600" b="1" dirty="0">
                <a:solidFill>
                  <a:srgbClr val="1F2937"/>
                </a:solidFill>
                <a:latin typeface="Calibri" pitchFamily="34" charset="0"/>
                <a:ea typeface="Calibri" pitchFamily="34" charset="-122"/>
                <a:cs typeface="Calibri" pitchFamily="34" charset="-120"/>
              </a:rPr>
              <a:t>Linux</a:t>
            </a:r>
            <a:r>
              <a:rPr lang="en-US" sz="1600" dirty="0">
                <a:solidFill>
                  <a:srgbClr val="1F2937"/>
                </a:solidFill>
                <a:latin typeface="Calibri" pitchFamily="34" charset="0"/>
                <a:ea typeface="Calibri" pitchFamily="34" charset="-122"/>
                <a:cs typeface="Calibri" pitchFamily="34" charset="-120"/>
              </a:rPr>
              <a:t> actually is, and why every server we'll touch is Linux</a:t>
            </a:r>
            <a:endParaRPr lang="en-US" sz="1600" dirty="0"/>
          </a:p>
          <a:p>
            <a:pPr marL="228600" indent="-228600">
              <a:spcAft>
                <a:spcPts val="600"/>
              </a:spcAft>
              <a:buSzPct val="100000"/>
              <a:buChar char="■"/>
            </a:pPr>
            <a:r>
              <a:rPr lang="en-US" sz="1600" dirty="0">
                <a:solidFill>
                  <a:srgbClr val="1F2937"/>
                </a:solidFill>
                <a:latin typeface="Calibri" pitchFamily="34" charset="0"/>
                <a:ea typeface="Calibri" pitchFamily="34" charset="-122"/>
                <a:cs typeface="Calibri" pitchFamily="34" charset="-120"/>
              </a:rPr>
              <a:t>What a </a:t>
            </a:r>
            <a:r>
              <a:rPr lang="en-US" sz="1600" b="1" dirty="0">
                <a:solidFill>
                  <a:srgbClr val="1F2937"/>
                </a:solidFill>
                <a:latin typeface="Calibri" pitchFamily="34" charset="0"/>
                <a:ea typeface="Calibri" pitchFamily="34" charset="-122"/>
                <a:cs typeface="Calibri" pitchFamily="34" charset="-120"/>
              </a:rPr>
              <a:t>shell</a:t>
            </a:r>
            <a:r>
              <a:rPr lang="en-US" sz="1600" dirty="0">
                <a:solidFill>
                  <a:srgbClr val="1F2937"/>
                </a:solidFill>
                <a:latin typeface="Calibri" pitchFamily="34" charset="0"/>
                <a:ea typeface="Calibri" pitchFamily="34" charset="-122"/>
                <a:cs typeface="Calibri" pitchFamily="34" charset="-120"/>
              </a:rPr>
              <a:t> is and what a </a:t>
            </a:r>
            <a:r>
              <a:rPr lang="en-US" sz="1600" b="1" dirty="0">
                <a:solidFill>
                  <a:srgbClr val="1F2937"/>
                </a:solidFill>
                <a:latin typeface="Calibri" pitchFamily="34" charset="0"/>
                <a:ea typeface="Calibri" pitchFamily="34" charset="-122"/>
                <a:cs typeface="Calibri" pitchFamily="34" charset="-120"/>
              </a:rPr>
              <a:t>terminal</a:t>
            </a:r>
            <a:r>
              <a:rPr lang="en-US" sz="1600" dirty="0">
                <a:solidFill>
                  <a:srgbClr val="1F2937"/>
                </a:solidFill>
                <a:latin typeface="Calibri" pitchFamily="34" charset="0"/>
                <a:ea typeface="Calibri" pitchFamily="34" charset="-122"/>
                <a:cs typeface="Calibri" pitchFamily="34" charset="-120"/>
              </a:rPr>
              <a:t> is</a:t>
            </a:r>
            <a:endParaRPr lang="en-US" sz="1600" dirty="0"/>
          </a:p>
          <a:p>
            <a:pPr marL="228600" indent="-228600">
              <a:spcAft>
                <a:spcPts val="600"/>
              </a:spcAft>
              <a:buSzPct val="100000"/>
              <a:buChar char="■"/>
            </a:pPr>
            <a:r>
              <a:rPr lang="en-US" sz="1600" dirty="0">
                <a:solidFill>
                  <a:srgbClr val="1F2937"/>
                </a:solidFill>
                <a:latin typeface="Calibri" pitchFamily="34" charset="0"/>
                <a:ea typeface="Calibri" pitchFamily="34" charset="-122"/>
                <a:cs typeface="Calibri" pitchFamily="34" charset="-120"/>
              </a:rPr>
              <a:t>Why we use the terminal even though the GUI exists</a:t>
            </a:r>
            <a:endParaRPr lang="en-US" sz="1600" dirty="0"/>
          </a:p>
          <a:p>
            <a:pPr marL="228600" indent="-228600">
              <a:spcAft>
                <a:spcPts val="600"/>
              </a:spcAft>
              <a:buSzPct val="100000"/>
              <a:buChar char="■"/>
            </a:pPr>
            <a:r>
              <a:rPr lang="en-US" sz="1600" dirty="0">
                <a:solidFill>
                  <a:srgbClr val="1F2937"/>
                </a:solidFill>
                <a:latin typeface="Calibri" pitchFamily="34" charset="0"/>
                <a:ea typeface="Calibri" pitchFamily="34" charset="-122"/>
                <a:cs typeface="Calibri" pitchFamily="34" charset="-120"/>
              </a:rPr>
              <a:t>The three mental models we'll come back to all day</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pic>
        <p:nvPicPr>
          <p:cNvPr id="5" name="Picture 4" descr="access-footer.jpg"/>
          <p:cNvPicPr>
            <a:picLocks noChangeAspect="1"/>
          </p:cNvPicPr>
          <p:nvPr/>
        </p:nvPicPr>
        <p:blipFill>
          <a:blip r:embed="rId3"/>
          <a:stretch>
            <a:fillRect/>
          </a:stretch>
        </p:blipFill>
        <p:spPr>
          <a:xfrm>
            <a:off x="0" y="0"/>
            <a:ext cx="9144000" cy="5143500"/>
          </a:xfrm>
          <a:prstGeom prst="rect">
            <a:avLst/>
          </a:prstGeom>
        </p:spPr>
      </p:pic>
      <p:sp>
        <p:nvSpPr>
          <p:cNvPr id="2" name="Text 0"/>
          <p:cNvSpPr/>
          <p:nvPr/>
        </p:nvSpPr>
        <p:spPr>
          <a:xfrm>
            <a:off x="457200" y="274320"/>
            <a:ext cx="8229600" cy="594360"/>
          </a:xfrm>
          <a:prstGeom prst="rect">
            <a:avLst/>
          </a:prstGeom>
          <a:solidFill>
            <a:srgbClr val="FFFFFF"/>
          </a:solidFill>
          <a:ln/>
        </p:spPr>
        <p:txBody>
          <a:bodyPr wrap="square" lIns="0" tIns="0" rIns="0" bIns="0" rtlCol="0" anchor="ctr"/>
          <a:lstStyle/>
          <a:p>
            <a:pPr marL="0" indent="0">
              <a:buNone/>
            </a:pPr>
            <a:r>
              <a:rPr lang="en-US" sz="2800" b="1" dirty="0">
                <a:solidFill>
                  <a:srgbClr val="1E2761"/>
                </a:solidFill>
                <a:latin typeface="Cambria" pitchFamily="34" charset="0"/>
                <a:ea typeface="Cambria" pitchFamily="34" charset="-122"/>
                <a:cs typeface="Cambria" pitchFamily="34" charset="-120"/>
              </a:rPr>
              <a:t>Block 2 outline — First contact</a:t>
            </a:r>
            <a:endParaRPr lang="en-US" sz="2800" dirty="0"/>
          </a:p>
        </p:txBody>
      </p:sp>
      <p:sp>
        <p:nvSpPr>
          <p:cNvPr id="3" name="Shape 1"/>
          <p:cNvSpPr/>
          <p:nvPr/>
        </p:nvSpPr>
        <p:spPr>
          <a:xfrm>
            <a:off x="457200" y="868680"/>
            <a:ext cx="548640" cy="36576"/>
          </a:xfrm>
          <a:prstGeom prst="rect">
            <a:avLst/>
          </a:prstGeom>
          <a:solidFill>
            <a:srgbClr val="1E2761"/>
          </a:solidFill>
          <a:ln w="12700">
            <a:solidFill>
              <a:srgbClr val="1E2761"/>
            </a:solidFill>
            <a:prstDash val="solid"/>
          </a:ln>
        </p:spPr>
        <p:txBody>
          <a:bodyPr/>
          <a:lstStyle/>
          <a:p>
            <a:endParaRPr lang="en-US"/>
          </a:p>
        </p:txBody>
      </p:sp>
      <p:sp>
        <p:nvSpPr>
          <p:cNvPr id="4" name="Text 2"/>
          <p:cNvSpPr/>
          <p:nvPr/>
        </p:nvSpPr>
        <p:spPr>
          <a:xfrm>
            <a:off x="548640" y="1005840"/>
            <a:ext cx="8046720" cy="1488440"/>
          </a:xfrm>
          <a:prstGeom prst="rect">
            <a:avLst/>
          </a:prstGeom>
          <a:solidFill>
            <a:srgbClr val="FFFFFF"/>
          </a:solidFill>
          <a:ln/>
        </p:spPr>
        <p:txBody>
          <a:bodyPr wrap="square" lIns="0" tIns="0" rIns="0" bIns="0" rtlCol="0" anchor="t"/>
          <a:lstStyle/>
          <a:p>
            <a:pPr marL="228600" indent="-228600">
              <a:spcAft>
                <a:spcPts val="600"/>
              </a:spcAft>
              <a:buSzPct val="100000"/>
              <a:buChar char="■"/>
            </a:pPr>
            <a:r>
              <a:rPr lang="en-US" sz="1600" dirty="0">
                <a:solidFill>
                  <a:srgbClr val="1F2937"/>
                </a:solidFill>
                <a:latin typeface="Calibri" pitchFamily="34" charset="0"/>
                <a:ea typeface="Calibri" pitchFamily="34" charset="-122"/>
                <a:cs typeface="Calibri" pitchFamily="34" charset="-120"/>
              </a:rPr>
              <a:t>Open a terminal; read the prompt</a:t>
            </a:r>
            <a:endParaRPr lang="en-US" sz="1600" dirty="0"/>
          </a:p>
          <a:p>
            <a:pPr marL="228600" indent="-228600">
              <a:spcAft>
                <a:spcPts val="600"/>
              </a:spcAft>
              <a:buSzPct val="100000"/>
              <a:buChar char="■"/>
            </a:pPr>
            <a:r>
              <a:rPr lang="en-US" sz="1600" dirty="0">
                <a:solidFill>
                  <a:srgbClr val="1F2937"/>
                </a:solidFill>
                <a:latin typeface="Calibri" pitchFamily="34" charset="0"/>
                <a:ea typeface="Calibri" pitchFamily="34" charset="-122"/>
                <a:cs typeface="Calibri" pitchFamily="34" charset="-120"/>
              </a:rPr>
              <a:t>Your first commands: </a:t>
            </a:r>
            <a:r>
              <a:rPr lang="en-US" sz="1600" dirty="0">
                <a:solidFill>
                  <a:srgbClr val="1E2761"/>
                </a:solidFill>
                <a:latin typeface="Consolas" pitchFamily="34" charset="0"/>
                <a:ea typeface="Consolas" pitchFamily="34" charset="-122"/>
                <a:cs typeface="Consolas" pitchFamily="34" charset="-120"/>
              </a:rPr>
              <a:t>whoami</a:t>
            </a:r>
            <a:r>
              <a:rPr lang="en-US" sz="1600" dirty="0">
                <a:solidFill>
                  <a:srgbClr val="1F2937"/>
                </a:solidFill>
                <a:latin typeface="Calibri" pitchFamily="34" charset="0"/>
                <a:ea typeface="Calibri" pitchFamily="34" charset="-122"/>
                <a:cs typeface="Calibri" pitchFamily="34" charset="-120"/>
              </a:rPr>
              <a:t>, </a:t>
            </a:r>
            <a:r>
              <a:rPr lang="en-US" sz="1600" dirty="0">
                <a:solidFill>
                  <a:srgbClr val="1E2761"/>
                </a:solidFill>
                <a:latin typeface="Consolas" pitchFamily="34" charset="0"/>
                <a:ea typeface="Consolas" pitchFamily="34" charset="-122"/>
                <a:cs typeface="Consolas" pitchFamily="34" charset="-120"/>
              </a:rPr>
              <a:t>hostname</a:t>
            </a:r>
            <a:r>
              <a:rPr lang="en-US" sz="1600" dirty="0">
                <a:solidFill>
                  <a:srgbClr val="1F2937"/>
                </a:solidFill>
                <a:latin typeface="Calibri" pitchFamily="34" charset="0"/>
                <a:ea typeface="Calibri" pitchFamily="34" charset="-122"/>
                <a:cs typeface="Calibri" pitchFamily="34" charset="-120"/>
              </a:rPr>
              <a:t>, </a:t>
            </a:r>
            <a:r>
              <a:rPr lang="en-US" sz="1600" dirty="0">
                <a:solidFill>
                  <a:srgbClr val="1E2761"/>
                </a:solidFill>
                <a:latin typeface="Consolas" pitchFamily="34" charset="0"/>
                <a:ea typeface="Consolas" pitchFamily="34" charset="-122"/>
                <a:cs typeface="Consolas" pitchFamily="34" charset="-120"/>
              </a:rPr>
              <a:t>date</a:t>
            </a:r>
            <a:r>
              <a:rPr lang="en-US" sz="1600" dirty="0">
                <a:solidFill>
                  <a:srgbClr val="1F2937"/>
                </a:solidFill>
                <a:latin typeface="Calibri" pitchFamily="34" charset="0"/>
                <a:ea typeface="Calibri" pitchFamily="34" charset="-122"/>
                <a:cs typeface="Calibri" pitchFamily="34" charset="-120"/>
              </a:rPr>
              <a:t>, </a:t>
            </a:r>
            <a:r>
              <a:rPr lang="en-US" sz="1600" dirty="0">
                <a:solidFill>
                  <a:srgbClr val="1E2761"/>
                </a:solidFill>
                <a:latin typeface="Consolas" pitchFamily="34" charset="0"/>
                <a:ea typeface="Consolas" pitchFamily="34" charset="-122"/>
                <a:cs typeface="Consolas" pitchFamily="34" charset="-120"/>
              </a:rPr>
              <a:t>echo</a:t>
            </a:r>
            <a:endParaRPr lang="en-US" sz="1600" dirty="0"/>
          </a:p>
          <a:p>
            <a:pPr marL="228600" indent="-228600">
              <a:spcAft>
                <a:spcPts val="600"/>
              </a:spcAft>
              <a:buSzPct val="100000"/>
              <a:buChar char="■"/>
            </a:pPr>
            <a:r>
              <a:rPr lang="en-US" sz="1600" b="1" dirty="0">
                <a:solidFill>
                  <a:srgbClr val="1F2937"/>
                </a:solidFill>
                <a:latin typeface="Calibri" pitchFamily="34" charset="0"/>
                <a:ea typeface="Calibri" pitchFamily="34" charset="-122"/>
                <a:cs typeface="Calibri" pitchFamily="34" charset="-120"/>
              </a:rPr>
              <a:t>Tab completion</a:t>
            </a:r>
            <a:r>
              <a:rPr lang="en-US" sz="1600" dirty="0">
                <a:solidFill>
                  <a:srgbClr val="1F2937"/>
                </a:solidFill>
                <a:latin typeface="Calibri" pitchFamily="34" charset="0"/>
                <a:ea typeface="Calibri" pitchFamily="34" charset="-122"/>
                <a:cs typeface="Calibri" pitchFamily="34" charset="-120"/>
              </a:rPr>
              <a:t> — your new best friend</a:t>
            </a:r>
            <a:endParaRPr lang="en-US" sz="1600" dirty="0"/>
          </a:p>
          <a:p>
            <a:pPr marL="228600" indent="-228600">
              <a:spcAft>
                <a:spcPts val="600"/>
              </a:spcAft>
              <a:buSzPct val="100000"/>
              <a:buChar char="■"/>
            </a:pPr>
            <a:r>
              <a:rPr lang="en-US" sz="1600" dirty="0">
                <a:solidFill>
                  <a:srgbClr val="1F2937"/>
                </a:solidFill>
                <a:latin typeface="Calibri" pitchFamily="34" charset="0"/>
                <a:ea typeface="Calibri" pitchFamily="34" charset="-122"/>
                <a:cs typeface="Calibri" pitchFamily="34" charset="-120"/>
              </a:rPr>
              <a:t>Command history (↑ / ↓, Ctrl-R)</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pic>
        <p:nvPicPr>
          <p:cNvPr id="5" name="Picture 4" descr="access-footer.jpg"/>
          <p:cNvPicPr>
            <a:picLocks noChangeAspect="1"/>
          </p:cNvPicPr>
          <p:nvPr/>
        </p:nvPicPr>
        <p:blipFill>
          <a:blip r:embed="rId3"/>
          <a:stretch>
            <a:fillRect/>
          </a:stretch>
        </p:blipFill>
        <p:spPr>
          <a:xfrm>
            <a:off x="0" y="0"/>
            <a:ext cx="9144000" cy="5143500"/>
          </a:xfrm>
          <a:prstGeom prst="rect">
            <a:avLst/>
          </a:prstGeom>
        </p:spPr>
      </p:pic>
      <p:sp>
        <p:nvSpPr>
          <p:cNvPr id="2" name="Text 0"/>
          <p:cNvSpPr/>
          <p:nvPr/>
        </p:nvSpPr>
        <p:spPr>
          <a:xfrm>
            <a:off x="457200" y="274320"/>
            <a:ext cx="8229600" cy="594360"/>
          </a:xfrm>
          <a:prstGeom prst="rect">
            <a:avLst/>
          </a:prstGeom>
          <a:solidFill>
            <a:srgbClr val="FFFFFF"/>
          </a:solidFill>
          <a:ln/>
        </p:spPr>
        <p:txBody>
          <a:bodyPr wrap="square" lIns="0" tIns="0" rIns="0" bIns="0" rtlCol="0" anchor="ctr"/>
          <a:lstStyle/>
          <a:p>
            <a:pPr marL="0" indent="0">
              <a:buNone/>
            </a:pPr>
            <a:r>
              <a:rPr lang="en-US" sz="2800" b="1" dirty="0">
                <a:solidFill>
                  <a:srgbClr val="1E2761"/>
                </a:solidFill>
                <a:latin typeface="Cambria" pitchFamily="34" charset="0"/>
                <a:ea typeface="Cambria" pitchFamily="34" charset="-122"/>
                <a:cs typeface="Cambria" pitchFamily="34" charset="-120"/>
              </a:rPr>
              <a:t>Block 3 outline — Navigating the filesystem</a:t>
            </a:r>
            <a:endParaRPr lang="en-US" sz="2800" dirty="0"/>
          </a:p>
        </p:txBody>
      </p:sp>
      <p:sp>
        <p:nvSpPr>
          <p:cNvPr id="3" name="Shape 1"/>
          <p:cNvSpPr/>
          <p:nvPr/>
        </p:nvSpPr>
        <p:spPr>
          <a:xfrm>
            <a:off x="457200" y="868680"/>
            <a:ext cx="548640" cy="36576"/>
          </a:xfrm>
          <a:prstGeom prst="rect">
            <a:avLst/>
          </a:prstGeom>
          <a:solidFill>
            <a:srgbClr val="1E2761"/>
          </a:solidFill>
          <a:ln w="12700">
            <a:solidFill>
              <a:srgbClr val="1E2761"/>
            </a:solidFill>
            <a:prstDash val="solid"/>
          </a:ln>
        </p:spPr>
        <p:txBody>
          <a:bodyPr/>
          <a:lstStyle/>
          <a:p>
            <a:endParaRPr lang="en-US"/>
          </a:p>
        </p:txBody>
      </p:sp>
      <p:sp>
        <p:nvSpPr>
          <p:cNvPr id="4" name="Text 2"/>
          <p:cNvSpPr/>
          <p:nvPr/>
        </p:nvSpPr>
        <p:spPr>
          <a:xfrm>
            <a:off x="548640" y="1005840"/>
            <a:ext cx="8046720" cy="1488440"/>
          </a:xfrm>
          <a:prstGeom prst="rect">
            <a:avLst/>
          </a:prstGeom>
          <a:solidFill>
            <a:srgbClr val="FFFFFF"/>
          </a:solidFill>
          <a:ln/>
        </p:spPr>
        <p:txBody>
          <a:bodyPr wrap="square" lIns="0" tIns="0" rIns="0" bIns="0" rtlCol="0" anchor="t"/>
          <a:lstStyle/>
          <a:p>
            <a:pPr marL="228600" indent="-228600">
              <a:spcAft>
                <a:spcPts val="600"/>
              </a:spcAft>
              <a:buSzPct val="100000"/>
              <a:buChar char="■"/>
            </a:pPr>
            <a:r>
              <a:rPr lang="en-US" sz="1600" dirty="0">
                <a:solidFill>
                  <a:srgbClr val="1F2937"/>
                </a:solidFill>
                <a:latin typeface="Calibri" pitchFamily="34" charset="0"/>
                <a:ea typeface="Calibri" pitchFamily="34" charset="-122"/>
                <a:cs typeface="Calibri" pitchFamily="34" charset="-120"/>
              </a:rPr>
              <a:t>The filesystem as </a:t>
            </a:r>
            <a:r>
              <a:rPr lang="en-US" sz="1600" b="1" dirty="0">
                <a:solidFill>
                  <a:srgbClr val="1F2937"/>
                </a:solidFill>
                <a:latin typeface="Calibri" pitchFamily="34" charset="0"/>
                <a:ea typeface="Calibri" pitchFamily="34" charset="-122"/>
                <a:cs typeface="Calibri" pitchFamily="34" charset="-120"/>
              </a:rPr>
              <a:t>one big tree</a:t>
            </a:r>
            <a:r>
              <a:rPr lang="en-US" sz="1600" dirty="0">
                <a:solidFill>
                  <a:srgbClr val="1F2937"/>
                </a:solidFill>
                <a:latin typeface="Calibri" pitchFamily="34" charset="0"/>
                <a:ea typeface="Calibri" pitchFamily="34" charset="-122"/>
                <a:cs typeface="Calibri" pitchFamily="34" charset="-120"/>
              </a:rPr>
              <a:t> under </a:t>
            </a:r>
            <a:r>
              <a:rPr lang="en-US" sz="1600" dirty="0">
                <a:solidFill>
                  <a:srgbClr val="1E2761"/>
                </a:solidFill>
                <a:latin typeface="Consolas" pitchFamily="34" charset="0"/>
                <a:ea typeface="Consolas" pitchFamily="34" charset="-122"/>
                <a:cs typeface="Consolas" pitchFamily="34" charset="-120"/>
              </a:rPr>
              <a:t>/</a:t>
            </a:r>
            <a:endParaRPr lang="en-US" sz="1600" dirty="0"/>
          </a:p>
          <a:p>
            <a:pPr marL="228600" indent="-228600">
              <a:spcAft>
                <a:spcPts val="600"/>
              </a:spcAft>
              <a:buSzPct val="100000"/>
              <a:buChar char="■"/>
            </a:pPr>
            <a:r>
              <a:rPr lang="en-US" sz="1600" dirty="0">
                <a:solidFill>
                  <a:srgbClr val="1E2761"/>
                </a:solidFill>
                <a:latin typeface="Consolas" pitchFamily="34" charset="0"/>
                <a:ea typeface="Consolas" pitchFamily="34" charset="-122"/>
                <a:cs typeface="Consolas" pitchFamily="34" charset="-120"/>
              </a:rPr>
              <a:t>pwd</a:t>
            </a:r>
            <a:r>
              <a:rPr lang="en-US" sz="1600" dirty="0">
                <a:solidFill>
                  <a:srgbClr val="1F2937"/>
                </a:solidFill>
                <a:latin typeface="Calibri" pitchFamily="34" charset="0"/>
                <a:ea typeface="Calibri" pitchFamily="34" charset="-122"/>
                <a:cs typeface="Calibri" pitchFamily="34" charset="-120"/>
              </a:rPr>
              <a:t>, </a:t>
            </a:r>
            <a:r>
              <a:rPr lang="en-US" sz="1600" dirty="0">
                <a:solidFill>
                  <a:srgbClr val="1E2761"/>
                </a:solidFill>
                <a:latin typeface="Consolas" pitchFamily="34" charset="0"/>
                <a:ea typeface="Consolas" pitchFamily="34" charset="-122"/>
                <a:cs typeface="Consolas" pitchFamily="34" charset="-120"/>
              </a:rPr>
              <a:t>ls</a:t>
            </a:r>
            <a:r>
              <a:rPr lang="en-US" sz="1600" dirty="0">
                <a:solidFill>
                  <a:srgbClr val="1F2937"/>
                </a:solidFill>
                <a:latin typeface="Calibri" pitchFamily="34" charset="0"/>
                <a:ea typeface="Calibri" pitchFamily="34" charset="-122"/>
                <a:cs typeface="Calibri" pitchFamily="34" charset="-120"/>
              </a:rPr>
              <a:t> (and its flags), </a:t>
            </a:r>
            <a:r>
              <a:rPr lang="en-US" sz="1600" dirty="0">
                <a:solidFill>
                  <a:srgbClr val="1E2761"/>
                </a:solidFill>
                <a:latin typeface="Consolas" pitchFamily="34" charset="0"/>
                <a:ea typeface="Consolas" pitchFamily="34" charset="-122"/>
                <a:cs typeface="Consolas" pitchFamily="34" charset="-120"/>
              </a:rPr>
              <a:t>cd</a:t>
            </a:r>
            <a:endParaRPr lang="en-US" sz="1600" dirty="0"/>
          </a:p>
          <a:p>
            <a:pPr marL="228600" indent="-228600">
              <a:spcAft>
                <a:spcPts val="600"/>
              </a:spcAft>
              <a:buSzPct val="100000"/>
              <a:buChar char="■"/>
            </a:pPr>
            <a:r>
              <a:rPr lang="en-US" sz="1600" dirty="0">
                <a:solidFill>
                  <a:srgbClr val="1F2937"/>
                </a:solidFill>
                <a:latin typeface="Calibri" pitchFamily="34" charset="0"/>
                <a:ea typeface="Calibri" pitchFamily="34" charset="-122"/>
                <a:cs typeface="Calibri" pitchFamily="34" charset="-120"/>
              </a:rPr>
              <a:t>Absolute vs. relative paths; </a:t>
            </a:r>
            <a:r>
              <a:rPr lang="en-US" sz="1600" dirty="0">
                <a:solidFill>
                  <a:srgbClr val="1E2761"/>
                </a:solidFill>
                <a:latin typeface="Consolas" pitchFamily="34" charset="0"/>
                <a:ea typeface="Consolas" pitchFamily="34" charset="-122"/>
                <a:cs typeface="Consolas" pitchFamily="34" charset="-120"/>
              </a:rPr>
              <a:t>.</a:t>
            </a:r>
            <a:r>
              <a:rPr lang="en-US" sz="1600" dirty="0">
                <a:solidFill>
                  <a:srgbClr val="1F2937"/>
                </a:solidFill>
                <a:latin typeface="Calibri" pitchFamily="34" charset="0"/>
                <a:ea typeface="Calibri" pitchFamily="34" charset="-122"/>
                <a:cs typeface="Calibri" pitchFamily="34" charset="-120"/>
              </a:rPr>
              <a:t>, </a:t>
            </a:r>
            <a:r>
              <a:rPr lang="en-US" sz="1600" dirty="0">
                <a:solidFill>
                  <a:srgbClr val="1E2761"/>
                </a:solidFill>
                <a:latin typeface="Consolas" pitchFamily="34" charset="0"/>
                <a:ea typeface="Consolas" pitchFamily="34" charset="-122"/>
                <a:cs typeface="Consolas" pitchFamily="34" charset="-120"/>
              </a:rPr>
              <a:t>..</a:t>
            </a:r>
            <a:r>
              <a:rPr lang="en-US" sz="1600" dirty="0">
                <a:solidFill>
                  <a:srgbClr val="1F2937"/>
                </a:solidFill>
                <a:latin typeface="Calibri" pitchFamily="34" charset="0"/>
                <a:ea typeface="Calibri" pitchFamily="34" charset="-122"/>
                <a:cs typeface="Calibri" pitchFamily="34" charset="-120"/>
              </a:rPr>
              <a:t>, </a:t>
            </a:r>
            <a:r>
              <a:rPr lang="en-US" sz="1600" dirty="0">
                <a:solidFill>
                  <a:srgbClr val="1E2761"/>
                </a:solidFill>
                <a:latin typeface="Consolas" pitchFamily="34" charset="0"/>
                <a:ea typeface="Consolas" pitchFamily="34" charset="-122"/>
                <a:cs typeface="Consolas" pitchFamily="34" charset="-120"/>
              </a:rPr>
              <a:t>~</a:t>
            </a:r>
            <a:endParaRPr lang="en-US" sz="1600" dirty="0"/>
          </a:p>
          <a:p>
            <a:pPr marL="228600" indent="-228600">
              <a:spcAft>
                <a:spcPts val="600"/>
              </a:spcAft>
              <a:buSzPct val="100000"/>
              <a:buChar char="■"/>
            </a:pPr>
            <a:r>
              <a:rPr lang="en-US" sz="1600" dirty="0">
                <a:solidFill>
                  <a:srgbClr val="1E2761"/>
                </a:solidFill>
                <a:latin typeface="Consolas" pitchFamily="34" charset="0"/>
                <a:ea typeface="Consolas" pitchFamily="34" charset="-122"/>
                <a:cs typeface="Consolas" pitchFamily="34" charset="-120"/>
              </a:rPr>
              <a:t>which</a:t>
            </a:r>
            <a:r>
              <a:rPr lang="en-US" sz="1600" dirty="0">
                <a:solidFill>
                  <a:srgbClr val="1F2937"/>
                </a:solidFill>
                <a:latin typeface="Calibri" pitchFamily="34" charset="0"/>
                <a:ea typeface="Calibri" pitchFamily="34" charset="-122"/>
                <a:cs typeface="Calibri" pitchFamily="34" charset="-120"/>
              </a:rPr>
              <a:t>: commands are just files</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pic>
        <p:nvPicPr>
          <p:cNvPr id="5" name="Picture 4" descr="access-footer.jpg"/>
          <p:cNvPicPr>
            <a:picLocks noChangeAspect="1"/>
          </p:cNvPicPr>
          <p:nvPr/>
        </p:nvPicPr>
        <p:blipFill>
          <a:blip r:embed="rId3"/>
          <a:stretch>
            <a:fillRect/>
          </a:stretch>
        </p:blipFill>
        <p:spPr>
          <a:xfrm>
            <a:off x="0" y="0"/>
            <a:ext cx="9144000" cy="5143500"/>
          </a:xfrm>
          <a:prstGeom prst="rect">
            <a:avLst/>
          </a:prstGeom>
        </p:spPr>
      </p:pic>
      <p:sp>
        <p:nvSpPr>
          <p:cNvPr id="2" name="Text 0"/>
          <p:cNvSpPr/>
          <p:nvPr/>
        </p:nvSpPr>
        <p:spPr>
          <a:xfrm>
            <a:off x="457200" y="274320"/>
            <a:ext cx="8229600" cy="594360"/>
          </a:xfrm>
          <a:prstGeom prst="rect">
            <a:avLst/>
          </a:prstGeom>
          <a:solidFill>
            <a:srgbClr val="FFFFFF"/>
          </a:solidFill>
          <a:ln/>
        </p:spPr>
        <p:txBody>
          <a:bodyPr wrap="square" lIns="0" tIns="0" rIns="0" bIns="0" rtlCol="0" anchor="ctr"/>
          <a:lstStyle/>
          <a:p>
            <a:pPr marL="0" indent="0">
              <a:buNone/>
            </a:pPr>
            <a:r>
              <a:rPr lang="en-US" sz="2800" b="1" dirty="0">
                <a:solidFill>
                  <a:srgbClr val="1E2761"/>
                </a:solidFill>
                <a:latin typeface="Cambria" pitchFamily="34" charset="0"/>
                <a:ea typeface="Cambria" pitchFamily="34" charset="-122"/>
                <a:cs typeface="Cambria" pitchFamily="34" charset="-120"/>
              </a:rPr>
              <a:t>Block 4 outline — Working with files and directories</a:t>
            </a:r>
            <a:endParaRPr lang="en-US" sz="2800" dirty="0"/>
          </a:p>
        </p:txBody>
      </p:sp>
      <p:sp>
        <p:nvSpPr>
          <p:cNvPr id="3" name="Shape 1"/>
          <p:cNvSpPr/>
          <p:nvPr/>
        </p:nvSpPr>
        <p:spPr>
          <a:xfrm>
            <a:off x="457200" y="868680"/>
            <a:ext cx="548640" cy="36576"/>
          </a:xfrm>
          <a:prstGeom prst="rect">
            <a:avLst/>
          </a:prstGeom>
          <a:solidFill>
            <a:srgbClr val="1E2761"/>
          </a:solidFill>
          <a:ln w="12700">
            <a:solidFill>
              <a:srgbClr val="1E2761"/>
            </a:solidFill>
            <a:prstDash val="solid"/>
          </a:ln>
        </p:spPr>
        <p:txBody>
          <a:bodyPr/>
          <a:lstStyle/>
          <a:p>
            <a:endParaRPr lang="en-US"/>
          </a:p>
        </p:txBody>
      </p:sp>
      <p:sp>
        <p:nvSpPr>
          <p:cNvPr id="4" name="Text 2"/>
          <p:cNvSpPr/>
          <p:nvPr/>
        </p:nvSpPr>
        <p:spPr>
          <a:xfrm>
            <a:off x="548640" y="1005840"/>
            <a:ext cx="8046720" cy="1849120"/>
          </a:xfrm>
          <a:prstGeom prst="rect">
            <a:avLst/>
          </a:prstGeom>
          <a:solidFill>
            <a:srgbClr val="FFFFFF"/>
          </a:solidFill>
          <a:ln/>
        </p:spPr>
        <p:txBody>
          <a:bodyPr wrap="square" lIns="0" tIns="0" rIns="0" bIns="0" rtlCol="0" anchor="t"/>
          <a:lstStyle/>
          <a:p>
            <a:pPr marL="228600" indent="-228600">
              <a:spcAft>
                <a:spcPts val="600"/>
              </a:spcAft>
              <a:buSzPct val="100000"/>
              <a:buChar char="■"/>
            </a:pPr>
            <a:r>
              <a:rPr lang="en-US" sz="1600" dirty="0">
                <a:solidFill>
                  <a:srgbClr val="1E2761"/>
                </a:solidFill>
                <a:latin typeface="Consolas" pitchFamily="34" charset="0"/>
                <a:ea typeface="Consolas" pitchFamily="34" charset="-122"/>
                <a:cs typeface="Consolas" pitchFamily="34" charset="-120"/>
              </a:rPr>
              <a:t>mkdir</a:t>
            </a:r>
            <a:r>
              <a:rPr lang="en-US" sz="1600" dirty="0">
                <a:solidFill>
                  <a:srgbClr val="1F2937"/>
                </a:solidFill>
                <a:latin typeface="Calibri" pitchFamily="34" charset="0"/>
                <a:ea typeface="Calibri" pitchFamily="34" charset="-122"/>
                <a:cs typeface="Calibri" pitchFamily="34" charset="-120"/>
              </a:rPr>
              <a:t>, </a:t>
            </a:r>
            <a:r>
              <a:rPr lang="en-US" sz="1600" dirty="0">
                <a:solidFill>
                  <a:srgbClr val="1E2761"/>
                </a:solidFill>
                <a:latin typeface="Consolas" pitchFamily="34" charset="0"/>
                <a:ea typeface="Consolas" pitchFamily="34" charset="-122"/>
                <a:cs typeface="Consolas" pitchFamily="34" charset="-120"/>
              </a:rPr>
              <a:t>touch</a:t>
            </a:r>
            <a:r>
              <a:rPr lang="en-US" sz="1600" dirty="0">
                <a:solidFill>
                  <a:srgbClr val="1F2937"/>
                </a:solidFill>
                <a:latin typeface="Calibri" pitchFamily="34" charset="0"/>
                <a:ea typeface="Calibri" pitchFamily="34" charset="-122"/>
                <a:cs typeface="Calibri" pitchFamily="34" charset="-120"/>
              </a:rPr>
              <a:t> — making things</a:t>
            </a:r>
            <a:endParaRPr lang="en-US" sz="1600" dirty="0"/>
          </a:p>
          <a:p>
            <a:pPr marL="228600" indent="-228600">
              <a:spcAft>
                <a:spcPts val="600"/>
              </a:spcAft>
              <a:buSzPct val="100000"/>
              <a:buChar char="■"/>
            </a:pPr>
            <a:r>
              <a:rPr lang="en-US" sz="1600" dirty="0">
                <a:solidFill>
                  <a:srgbClr val="1E2761"/>
                </a:solidFill>
                <a:latin typeface="Consolas" pitchFamily="34" charset="0"/>
                <a:ea typeface="Consolas" pitchFamily="34" charset="-122"/>
                <a:cs typeface="Consolas" pitchFamily="34" charset="-120"/>
              </a:rPr>
              <a:t>cat</a:t>
            </a:r>
            <a:r>
              <a:rPr lang="en-US" sz="1600" dirty="0">
                <a:solidFill>
                  <a:srgbClr val="1F2937"/>
                </a:solidFill>
                <a:latin typeface="Calibri" pitchFamily="34" charset="0"/>
                <a:ea typeface="Calibri" pitchFamily="34" charset="-122"/>
                <a:cs typeface="Calibri" pitchFamily="34" charset="-120"/>
              </a:rPr>
              <a:t>, </a:t>
            </a:r>
            <a:r>
              <a:rPr lang="en-US" sz="1600" dirty="0">
                <a:solidFill>
                  <a:srgbClr val="1E2761"/>
                </a:solidFill>
                <a:latin typeface="Consolas" pitchFamily="34" charset="0"/>
                <a:ea typeface="Consolas" pitchFamily="34" charset="-122"/>
                <a:cs typeface="Consolas" pitchFamily="34" charset="-120"/>
              </a:rPr>
              <a:t>less</a:t>
            </a:r>
            <a:r>
              <a:rPr lang="en-US" sz="1600" dirty="0">
                <a:solidFill>
                  <a:srgbClr val="1F2937"/>
                </a:solidFill>
                <a:latin typeface="Calibri" pitchFamily="34" charset="0"/>
                <a:ea typeface="Calibri" pitchFamily="34" charset="-122"/>
                <a:cs typeface="Calibri" pitchFamily="34" charset="-120"/>
              </a:rPr>
              <a:t>, </a:t>
            </a:r>
            <a:r>
              <a:rPr lang="en-US" sz="1600" dirty="0">
                <a:solidFill>
                  <a:srgbClr val="1E2761"/>
                </a:solidFill>
                <a:latin typeface="Consolas" pitchFamily="34" charset="0"/>
                <a:ea typeface="Consolas" pitchFamily="34" charset="-122"/>
                <a:cs typeface="Consolas" pitchFamily="34" charset="-120"/>
              </a:rPr>
              <a:t>head</a:t>
            </a:r>
            <a:r>
              <a:rPr lang="en-US" sz="1600" dirty="0">
                <a:solidFill>
                  <a:srgbClr val="1F2937"/>
                </a:solidFill>
                <a:latin typeface="Calibri" pitchFamily="34" charset="0"/>
                <a:ea typeface="Calibri" pitchFamily="34" charset="-122"/>
                <a:cs typeface="Calibri" pitchFamily="34" charset="-120"/>
              </a:rPr>
              <a:t>, </a:t>
            </a:r>
            <a:r>
              <a:rPr lang="en-US" sz="1600" dirty="0">
                <a:solidFill>
                  <a:srgbClr val="1E2761"/>
                </a:solidFill>
                <a:latin typeface="Consolas" pitchFamily="34" charset="0"/>
                <a:ea typeface="Consolas" pitchFamily="34" charset="-122"/>
                <a:cs typeface="Consolas" pitchFamily="34" charset="-120"/>
              </a:rPr>
              <a:t>tail</a:t>
            </a:r>
            <a:r>
              <a:rPr lang="en-US" sz="1600" dirty="0">
                <a:solidFill>
                  <a:srgbClr val="1F2937"/>
                </a:solidFill>
                <a:latin typeface="Calibri" pitchFamily="34" charset="0"/>
                <a:ea typeface="Calibri" pitchFamily="34" charset="-122"/>
                <a:cs typeface="Calibri" pitchFamily="34" charset="-120"/>
              </a:rPr>
              <a:t> — reading</a:t>
            </a:r>
            <a:endParaRPr lang="en-US" sz="1600" dirty="0"/>
          </a:p>
          <a:p>
            <a:pPr marL="228600" indent="-228600">
              <a:spcAft>
                <a:spcPts val="600"/>
              </a:spcAft>
              <a:buSzPct val="100000"/>
              <a:buChar char="■"/>
            </a:pPr>
            <a:r>
              <a:rPr lang="en-US" sz="1600" dirty="0">
                <a:solidFill>
                  <a:srgbClr val="1E2761"/>
                </a:solidFill>
                <a:latin typeface="Consolas" pitchFamily="34" charset="0"/>
                <a:ea typeface="Consolas" pitchFamily="34" charset="-122"/>
                <a:cs typeface="Consolas" pitchFamily="34" charset="-120"/>
              </a:rPr>
              <a:t>cp</a:t>
            </a:r>
            <a:r>
              <a:rPr lang="en-US" sz="1600" dirty="0">
                <a:solidFill>
                  <a:srgbClr val="1F2937"/>
                </a:solidFill>
                <a:latin typeface="Calibri" pitchFamily="34" charset="0"/>
                <a:ea typeface="Calibri" pitchFamily="34" charset="-122"/>
                <a:cs typeface="Calibri" pitchFamily="34" charset="-120"/>
              </a:rPr>
              <a:t>, </a:t>
            </a:r>
            <a:r>
              <a:rPr lang="en-US" sz="1600" dirty="0">
                <a:solidFill>
                  <a:srgbClr val="1E2761"/>
                </a:solidFill>
                <a:latin typeface="Consolas" pitchFamily="34" charset="0"/>
                <a:ea typeface="Consolas" pitchFamily="34" charset="-122"/>
                <a:cs typeface="Consolas" pitchFamily="34" charset="-120"/>
              </a:rPr>
              <a:t>mv</a:t>
            </a:r>
            <a:r>
              <a:rPr lang="en-US" sz="1600" dirty="0">
                <a:solidFill>
                  <a:srgbClr val="1F2937"/>
                </a:solidFill>
                <a:latin typeface="Calibri" pitchFamily="34" charset="0"/>
                <a:ea typeface="Calibri" pitchFamily="34" charset="-122"/>
                <a:cs typeface="Calibri" pitchFamily="34" charset="-120"/>
              </a:rPr>
              <a:t> — copy, move, rename</a:t>
            </a:r>
            <a:endParaRPr lang="en-US" sz="1600" dirty="0"/>
          </a:p>
          <a:p>
            <a:pPr marL="228600" indent="-228600">
              <a:spcAft>
                <a:spcPts val="600"/>
              </a:spcAft>
              <a:buSzPct val="100000"/>
              <a:buChar char="■"/>
            </a:pPr>
            <a:r>
              <a:rPr lang="en-US" sz="1600" dirty="0">
                <a:solidFill>
                  <a:srgbClr val="1E2761"/>
                </a:solidFill>
                <a:latin typeface="Consolas" pitchFamily="34" charset="0"/>
                <a:ea typeface="Consolas" pitchFamily="34" charset="-122"/>
                <a:cs typeface="Consolas" pitchFamily="34" charset="-120"/>
              </a:rPr>
              <a:t>rm</a:t>
            </a:r>
            <a:r>
              <a:rPr lang="en-US" sz="1600" dirty="0">
                <a:solidFill>
                  <a:srgbClr val="1F2937"/>
                </a:solidFill>
                <a:latin typeface="Calibri" pitchFamily="34" charset="0"/>
                <a:ea typeface="Calibri" pitchFamily="34" charset="-122"/>
                <a:cs typeface="Calibri" pitchFamily="34" charset="-120"/>
              </a:rPr>
              <a:t> — the </a:t>
            </a:r>
            <a:r>
              <a:rPr lang="en-US" sz="1600" b="1" dirty="0">
                <a:solidFill>
                  <a:srgbClr val="1F2937"/>
                </a:solidFill>
                <a:latin typeface="Calibri" pitchFamily="34" charset="0"/>
                <a:ea typeface="Calibri" pitchFamily="34" charset="-122"/>
                <a:cs typeface="Calibri" pitchFamily="34" charset="-120"/>
              </a:rPr>
              <a:t>"no Trash, no undo"</a:t>
            </a:r>
            <a:r>
              <a:rPr lang="en-US" sz="1600" dirty="0">
                <a:solidFill>
                  <a:srgbClr val="1F2937"/>
                </a:solidFill>
                <a:latin typeface="Calibri" pitchFamily="34" charset="0"/>
                <a:ea typeface="Calibri" pitchFamily="34" charset="-122"/>
                <a:cs typeface="Calibri" pitchFamily="34" charset="-120"/>
              </a:rPr>
              <a:t> talk</a:t>
            </a:r>
            <a:endParaRPr lang="en-US" sz="1600" dirty="0"/>
          </a:p>
          <a:p>
            <a:pPr marL="228600" indent="-228600">
              <a:spcAft>
                <a:spcPts val="600"/>
              </a:spcAft>
              <a:buSzPct val="100000"/>
              <a:buChar char="■"/>
            </a:pPr>
            <a:r>
              <a:rPr lang="en-US" sz="1600" dirty="0">
                <a:solidFill>
                  <a:srgbClr val="1F2937"/>
                </a:solidFill>
                <a:latin typeface="Calibri" pitchFamily="34" charset="0"/>
                <a:ea typeface="Calibri" pitchFamily="34" charset="-122"/>
                <a:cs typeface="Calibri" pitchFamily="34" charset="-120"/>
              </a:rPr>
              <a:t>Hands-on file workout</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pic>
        <p:nvPicPr>
          <p:cNvPr id="5" name="Picture 4" descr="access-footer.jpg"/>
          <p:cNvPicPr>
            <a:picLocks noChangeAspect="1"/>
          </p:cNvPicPr>
          <p:nvPr/>
        </p:nvPicPr>
        <p:blipFill>
          <a:blip r:embed="rId3"/>
          <a:stretch>
            <a:fillRect/>
          </a:stretch>
        </p:blipFill>
        <p:spPr>
          <a:xfrm>
            <a:off x="0" y="0"/>
            <a:ext cx="9144000" cy="5143500"/>
          </a:xfrm>
          <a:prstGeom prst="rect">
            <a:avLst/>
          </a:prstGeom>
        </p:spPr>
      </p:pic>
      <p:sp>
        <p:nvSpPr>
          <p:cNvPr id="2" name="Text 0"/>
          <p:cNvSpPr/>
          <p:nvPr/>
        </p:nvSpPr>
        <p:spPr>
          <a:xfrm>
            <a:off x="457200" y="274320"/>
            <a:ext cx="8229600" cy="594360"/>
          </a:xfrm>
          <a:prstGeom prst="rect">
            <a:avLst/>
          </a:prstGeom>
          <a:solidFill>
            <a:srgbClr val="FFFFFF"/>
          </a:solidFill>
          <a:ln/>
        </p:spPr>
        <p:txBody>
          <a:bodyPr wrap="square" lIns="0" tIns="0" rIns="0" bIns="0" rtlCol="0" anchor="ctr"/>
          <a:lstStyle/>
          <a:p>
            <a:pPr marL="0" indent="0">
              <a:buNone/>
            </a:pPr>
            <a:r>
              <a:rPr lang="en-US" sz="2800" b="1" dirty="0">
                <a:solidFill>
                  <a:srgbClr val="1E2761"/>
                </a:solidFill>
                <a:latin typeface="Cambria" pitchFamily="34" charset="0"/>
                <a:ea typeface="Cambria" pitchFamily="34" charset="-122"/>
                <a:cs typeface="Cambria" pitchFamily="34" charset="-120"/>
              </a:rPr>
              <a:t>Block 5 outline — Getting help</a:t>
            </a:r>
            <a:endParaRPr lang="en-US" sz="2800" dirty="0"/>
          </a:p>
        </p:txBody>
      </p:sp>
      <p:sp>
        <p:nvSpPr>
          <p:cNvPr id="3" name="Shape 1"/>
          <p:cNvSpPr/>
          <p:nvPr/>
        </p:nvSpPr>
        <p:spPr>
          <a:xfrm>
            <a:off x="457200" y="868680"/>
            <a:ext cx="548640" cy="36576"/>
          </a:xfrm>
          <a:prstGeom prst="rect">
            <a:avLst/>
          </a:prstGeom>
          <a:solidFill>
            <a:srgbClr val="1E2761"/>
          </a:solidFill>
          <a:ln w="12700">
            <a:solidFill>
              <a:srgbClr val="1E2761"/>
            </a:solidFill>
            <a:prstDash val="solid"/>
          </a:ln>
        </p:spPr>
        <p:txBody>
          <a:bodyPr/>
          <a:lstStyle/>
          <a:p>
            <a:endParaRPr lang="en-US"/>
          </a:p>
        </p:txBody>
      </p:sp>
      <p:sp>
        <p:nvSpPr>
          <p:cNvPr id="4" name="Text 2"/>
          <p:cNvSpPr/>
          <p:nvPr/>
        </p:nvSpPr>
        <p:spPr>
          <a:xfrm>
            <a:off x="548640" y="1005840"/>
            <a:ext cx="8046720" cy="1127760"/>
          </a:xfrm>
          <a:prstGeom prst="rect">
            <a:avLst/>
          </a:prstGeom>
          <a:solidFill>
            <a:srgbClr val="FFFFFF"/>
          </a:solidFill>
          <a:ln/>
        </p:spPr>
        <p:txBody>
          <a:bodyPr wrap="square" lIns="0" tIns="0" rIns="0" bIns="0" rtlCol="0" anchor="t"/>
          <a:lstStyle/>
          <a:p>
            <a:pPr marL="228600" indent="-228600">
              <a:spcAft>
                <a:spcPts val="600"/>
              </a:spcAft>
              <a:buSzPct val="100000"/>
              <a:buChar char="■"/>
            </a:pPr>
            <a:r>
              <a:rPr lang="en-US" sz="1600" dirty="0">
                <a:solidFill>
                  <a:srgbClr val="1F2937"/>
                </a:solidFill>
                <a:latin typeface="Calibri" pitchFamily="34" charset="0"/>
                <a:ea typeface="Calibri" pitchFamily="34" charset="-122"/>
                <a:cs typeface="Calibri" pitchFamily="34" charset="-120"/>
              </a:rPr>
              <a:t>The mindset: </a:t>
            </a:r>
            <a:r>
              <a:rPr lang="en-US" sz="1600" b="1" dirty="0">
                <a:solidFill>
                  <a:srgbClr val="1F2937"/>
                </a:solidFill>
                <a:latin typeface="Calibri" pitchFamily="34" charset="0"/>
                <a:ea typeface="Calibri" pitchFamily="34" charset="-122"/>
                <a:cs typeface="Calibri" pitchFamily="34" charset="-120"/>
              </a:rPr>
              <a:t>look it up</a:t>
            </a:r>
            <a:r>
              <a:rPr lang="en-US" sz="1600" dirty="0">
                <a:solidFill>
                  <a:srgbClr val="1F2937"/>
                </a:solidFill>
                <a:latin typeface="Calibri" pitchFamily="34" charset="0"/>
                <a:ea typeface="Calibri" pitchFamily="34" charset="-122"/>
                <a:cs typeface="Calibri" pitchFamily="34" charset="-120"/>
              </a:rPr>
              <a:t>, don't memorize</a:t>
            </a:r>
            <a:endParaRPr lang="en-US" sz="1600" dirty="0"/>
          </a:p>
          <a:p>
            <a:pPr marL="228600" indent="-228600">
              <a:spcAft>
                <a:spcPts val="600"/>
              </a:spcAft>
              <a:buSzPct val="100000"/>
              <a:buChar char="■"/>
            </a:pPr>
            <a:r>
              <a:rPr lang="en-US" sz="1600" dirty="0">
                <a:solidFill>
                  <a:srgbClr val="1E2761"/>
                </a:solidFill>
                <a:latin typeface="Consolas" pitchFamily="34" charset="0"/>
                <a:ea typeface="Consolas" pitchFamily="34" charset="-122"/>
                <a:cs typeface="Consolas" pitchFamily="34" charset="-120"/>
              </a:rPr>
              <a:t>--help</a:t>
            </a:r>
            <a:r>
              <a:rPr lang="en-US" sz="1600" dirty="0">
                <a:solidFill>
                  <a:srgbClr val="1F2937"/>
                </a:solidFill>
                <a:latin typeface="Calibri" pitchFamily="34" charset="0"/>
                <a:ea typeface="Calibri" pitchFamily="34" charset="-122"/>
                <a:cs typeface="Calibri" pitchFamily="34" charset="-120"/>
              </a:rPr>
              <a:t> — usually all you need</a:t>
            </a:r>
            <a:endParaRPr lang="en-US" sz="1600" dirty="0"/>
          </a:p>
          <a:p>
            <a:pPr marL="228600" indent="-228600">
              <a:spcAft>
                <a:spcPts val="600"/>
              </a:spcAft>
              <a:buSzPct val="100000"/>
              <a:buChar char="■"/>
            </a:pPr>
            <a:r>
              <a:rPr lang="en-US" sz="1600" dirty="0">
                <a:solidFill>
                  <a:srgbClr val="1E2761"/>
                </a:solidFill>
                <a:latin typeface="Consolas" pitchFamily="34" charset="0"/>
                <a:ea typeface="Consolas" pitchFamily="34" charset="-122"/>
                <a:cs typeface="Consolas" pitchFamily="34" charset="-120"/>
              </a:rPr>
              <a:t>man</a:t>
            </a:r>
            <a:r>
              <a:rPr lang="en-US" sz="1600" dirty="0">
                <a:solidFill>
                  <a:srgbClr val="1F2937"/>
                </a:solidFill>
                <a:latin typeface="Calibri" pitchFamily="34" charset="0"/>
                <a:ea typeface="Calibri" pitchFamily="34" charset="-122"/>
                <a:cs typeface="Calibri" pitchFamily="34" charset="-120"/>
              </a:rPr>
              <a:t> — the full manual</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pic>
        <p:nvPicPr>
          <p:cNvPr id="5" name="Picture 4" descr="access-footer.jpg"/>
          <p:cNvPicPr>
            <a:picLocks noChangeAspect="1"/>
          </p:cNvPicPr>
          <p:nvPr/>
        </p:nvPicPr>
        <p:blipFill>
          <a:blip r:embed="rId3"/>
          <a:stretch>
            <a:fillRect/>
          </a:stretch>
        </p:blipFill>
        <p:spPr>
          <a:xfrm>
            <a:off x="0" y="0"/>
            <a:ext cx="9144000" cy="5143500"/>
          </a:xfrm>
          <a:prstGeom prst="rect">
            <a:avLst/>
          </a:prstGeom>
        </p:spPr>
      </p:pic>
      <p:sp>
        <p:nvSpPr>
          <p:cNvPr id="2" name="Text 0"/>
          <p:cNvSpPr/>
          <p:nvPr/>
        </p:nvSpPr>
        <p:spPr>
          <a:xfrm>
            <a:off x="457200" y="274320"/>
            <a:ext cx="8229600" cy="594360"/>
          </a:xfrm>
          <a:prstGeom prst="rect">
            <a:avLst/>
          </a:prstGeom>
          <a:solidFill>
            <a:srgbClr val="FFFFFF"/>
          </a:solidFill>
          <a:ln/>
        </p:spPr>
        <p:txBody>
          <a:bodyPr wrap="square" lIns="0" tIns="0" rIns="0" bIns="0" rtlCol="0" anchor="ctr"/>
          <a:lstStyle/>
          <a:p>
            <a:pPr marL="0" indent="0">
              <a:buNone/>
            </a:pPr>
            <a:r>
              <a:rPr lang="en-US" sz="2800" b="1" dirty="0">
                <a:solidFill>
                  <a:srgbClr val="1E2761"/>
                </a:solidFill>
                <a:latin typeface="Cambria" pitchFamily="34" charset="0"/>
                <a:ea typeface="Cambria" pitchFamily="34" charset="-122"/>
                <a:cs typeface="Cambria" pitchFamily="34" charset="-120"/>
              </a:rPr>
              <a:t>Block 6 outline — Editing files</a:t>
            </a:r>
            <a:endParaRPr lang="en-US" sz="2800" dirty="0"/>
          </a:p>
        </p:txBody>
      </p:sp>
      <p:sp>
        <p:nvSpPr>
          <p:cNvPr id="3" name="Shape 1"/>
          <p:cNvSpPr/>
          <p:nvPr/>
        </p:nvSpPr>
        <p:spPr>
          <a:xfrm>
            <a:off x="457200" y="868680"/>
            <a:ext cx="548640" cy="36576"/>
          </a:xfrm>
          <a:prstGeom prst="rect">
            <a:avLst/>
          </a:prstGeom>
          <a:solidFill>
            <a:srgbClr val="1E2761"/>
          </a:solidFill>
          <a:ln w="12700">
            <a:solidFill>
              <a:srgbClr val="1E2761"/>
            </a:solidFill>
            <a:prstDash val="solid"/>
          </a:ln>
        </p:spPr>
        <p:txBody>
          <a:bodyPr/>
          <a:lstStyle/>
          <a:p>
            <a:endParaRPr lang="en-US"/>
          </a:p>
        </p:txBody>
      </p:sp>
      <p:sp>
        <p:nvSpPr>
          <p:cNvPr id="4" name="Text 2"/>
          <p:cNvSpPr/>
          <p:nvPr/>
        </p:nvSpPr>
        <p:spPr>
          <a:xfrm>
            <a:off x="548640" y="1005840"/>
            <a:ext cx="8046720" cy="1488440"/>
          </a:xfrm>
          <a:prstGeom prst="rect">
            <a:avLst/>
          </a:prstGeom>
          <a:solidFill>
            <a:srgbClr val="FFFFFF"/>
          </a:solidFill>
          <a:ln/>
        </p:spPr>
        <p:txBody>
          <a:bodyPr wrap="square" lIns="0" tIns="0" rIns="0" bIns="0" rtlCol="0" anchor="t"/>
          <a:lstStyle/>
          <a:p>
            <a:pPr marL="228600" indent="-228600">
              <a:spcAft>
                <a:spcPts val="600"/>
              </a:spcAft>
              <a:buSzPct val="100000"/>
              <a:buChar char="■"/>
            </a:pPr>
            <a:r>
              <a:rPr lang="en-US" sz="1600" dirty="0">
                <a:solidFill>
                  <a:srgbClr val="1F2937"/>
                </a:solidFill>
                <a:latin typeface="Calibri" pitchFamily="34" charset="0"/>
                <a:ea typeface="Calibri" pitchFamily="34" charset="-122"/>
                <a:cs typeface="Calibri" pitchFamily="34" charset="-120"/>
              </a:rPr>
              <a:t>Why you need </a:t>
            </a:r>
            <a:r>
              <a:rPr lang="en-US" sz="1600" b="1" dirty="0">
                <a:solidFill>
                  <a:srgbClr val="1F2937"/>
                </a:solidFill>
                <a:latin typeface="Calibri" pitchFamily="34" charset="0"/>
                <a:ea typeface="Calibri" pitchFamily="34" charset="-122"/>
                <a:cs typeface="Calibri" pitchFamily="34" charset="-120"/>
              </a:rPr>
              <a:t>both</a:t>
            </a:r>
            <a:r>
              <a:rPr lang="en-US" sz="1600" dirty="0">
                <a:solidFill>
                  <a:srgbClr val="1F2937"/>
                </a:solidFill>
                <a:latin typeface="Calibri" pitchFamily="34" charset="0"/>
                <a:ea typeface="Calibri" pitchFamily="34" charset="-122"/>
                <a:cs typeface="Calibri" pitchFamily="34" charset="-120"/>
              </a:rPr>
              <a:t> a GUI editor and a terminal editor</a:t>
            </a:r>
            <a:endParaRPr lang="en-US" sz="1600" dirty="0"/>
          </a:p>
          <a:p>
            <a:pPr marL="228600" indent="-228600">
              <a:spcAft>
                <a:spcPts val="600"/>
              </a:spcAft>
              <a:buSzPct val="100000"/>
              <a:buChar char="■"/>
            </a:pPr>
            <a:r>
              <a:rPr lang="en-US" sz="1600" dirty="0">
                <a:solidFill>
                  <a:srgbClr val="1F2937"/>
                </a:solidFill>
                <a:latin typeface="Calibri" pitchFamily="34" charset="0"/>
                <a:ea typeface="Calibri" pitchFamily="34" charset="-122"/>
                <a:cs typeface="Calibri" pitchFamily="34" charset="-120"/>
              </a:rPr>
              <a:t>VSCode (</a:t>
            </a:r>
            <a:r>
              <a:rPr lang="en-US" sz="1600" dirty="0">
                <a:solidFill>
                  <a:srgbClr val="1E2761"/>
                </a:solidFill>
                <a:latin typeface="Consolas" pitchFamily="34" charset="0"/>
                <a:ea typeface="Consolas" pitchFamily="34" charset="-122"/>
                <a:cs typeface="Consolas" pitchFamily="34" charset="-120"/>
              </a:rPr>
              <a:t>code &lt;file&gt;</a:t>
            </a:r>
            <a:r>
              <a:rPr lang="en-US" sz="1600" dirty="0">
                <a:solidFill>
                  <a:srgbClr val="1F2937"/>
                </a:solidFill>
                <a:latin typeface="Calibri" pitchFamily="34" charset="0"/>
                <a:ea typeface="Calibri" pitchFamily="34" charset="-122"/>
                <a:cs typeface="Calibri" pitchFamily="34" charset="-120"/>
              </a:rPr>
              <a:t>)</a:t>
            </a:r>
            <a:endParaRPr lang="en-US" sz="1600" dirty="0"/>
          </a:p>
          <a:p>
            <a:pPr marL="228600" indent="-228600">
              <a:spcAft>
                <a:spcPts val="600"/>
              </a:spcAft>
              <a:buSzPct val="100000"/>
              <a:buChar char="■"/>
            </a:pPr>
            <a:r>
              <a:rPr lang="en-US" sz="1600" b="1" dirty="0">
                <a:solidFill>
                  <a:srgbClr val="1F2937"/>
                </a:solidFill>
                <a:latin typeface="Calibri" pitchFamily="34" charset="0"/>
                <a:ea typeface="Calibri" pitchFamily="34" charset="-122"/>
                <a:cs typeface="Calibri" pitchFamily="34" charset="-120"/>
              </a:rPr>
              <a:t>nano</a:t>
            </a:r>
            <a:r>
              <a:rPr lang="en-US" sz="1600" dirty="0">
                <a:solidFill>
                  <a:srgbClr val="1F2937"/>
                </a:solidFill>
                <a:latin typeface="Calibri" pitchFamily="34" charset="0"/>
                <a:ea typeface="Calibri" pitchFamily="34" charset="-122"/>
                <a:cs typeface="Calibri" pitchFamily="34" charset="-120"/>
              </a:rPr>
              <a:t> (Ctrl-O save, Ctrl-X exit)</a:t>
            </a:r>
            <a:endParaRPr lang="en-US" sz="1600" dirty="0"/>
          </a:p>
          <a:p>
            <a:pPr marL="228600" indent="-228600">
              <a:spcAft>
                <a:spcPts val="600"/>
              </a:spcAft>
              <a:buSzPct val="100000"/>
              <a:buChar char="■"/>
            </a:pPr>
            <a:r>
              <a:rPr lang="en-US" sz="1600" dirty="0">
                <a:solidFill>
                  <a:srgbClr val="1F2937"/>
                </a:solidFill>
                <a:latin typeface="Calibri" pitchFamily="34" charset="0"/>
                <a:ea typeface="Calibri" pitchFamily="34" charset="-122"/>
                <a:cs typeface="Calibri" pitchFamily="34" charset="-120"/>
              </a:rPr>
              <a:t>How to escape </a:t>
            </a:r>
            <a:r>
              <a:rPr lang="en-US" sz="1600" dirty="0">
                <a:solidFill>
                  <a:srgbClr val="1E2761"/>
                </a:solidFill>
                <a:latin typeface="Consolas" pitchFamily="34" charset="0"/>
                <a:ea typeface="Consolas" pitchFamily="34" charset="-122"/>
                <a:cs typeface="Consolas" pitchFamily="34" charset="-120"/>
              </a:rPr>
              <a:t>vim</a:t>
            </a:r>
            <a:r>
              <a:rPr lang="en-US" sz="1600" dirty="0">
                <a:solidFill>
                  <a:srgbClr val="1F2937"/>
                </a:solidFill>
                <a:latin typeface="Calibri" pitchFamily="34" charset="0"/>
                <a:ea typeface="Calibri" pitchFamily="34" charset="-122"/>
                <a:cs typeface="Calibri" pitchFamily="34" charset="-120"/>
              </a:rPr>
              <a:t> if you land in it accidentally</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pic>
        <p:nvPicPr>
          <p:cNvPr id="5" name="Picture 4" descr="access-footer.jpg"/>
          <p:cNvPicPr>
            <a:picLocks noChangeAspect="1"/>
          </p:cNvPicPr>
          <p:nvPr/>
        </p:nvPicPr>
        <p:blipFill>
          <a:blip r:embed="rId3"/>
          <a:stretch>
            <a:fillRect/>
          </a:stretch>
        </p:blipFill>
        <p:spPr>
          <a:xfrm>
            <a:off x="0" y="0"/>
            <a:ext cx="9144000" cy="5143500"/>
          </a:xfrm>
          <a:prstGeom prst="rect">
            <a:avLst/>
          </a:prstGeom>
        </p:spPr>
      </p:pic>
      <p:sp>
        <p:nvSpPr>
          <p:cNvPr id="2" name="Text 0"/>
          <p:cNvSpPr/>
          <p:nvPr/>
        </p:nvSpPr>
        <p:spPr>
          <a:xfrm>
            <a:off x="457200" y="274320"/>
            <a:ext cx="8229600" cy="594360"/>
          </a:xfrm>
          <a:prstGeom prst="rect">
            <a:avLst/>
          </a:prstGeom>
          <a:solidFill>
            <a:srgbClr val="FFFFFF"/>
          </a:solidFill>
          <a:ln/>
        </p:spPr>
        <p:txBody>
          <a:bodyPr wrap="square" lIns="0" tIns="0" rIns="0" bIns="0" rtlCol="0" anchor="ctr"/>
          <a:lstStyle/>
          <a:p>
            <a:pPr marL="0" indent="0">
              <a:buNone/>
            </a:pPr>
            <a:r>
              <a:rPr lang="en-US" sz="2800" b="1" dirty="0">
                <a:solidFill>
                  <a:srgbClr val="1E2761"/>
                </a:solidFill>
                <a:latin typeface="Cambria" pitchFamily="34" charset="0"/>
                <a:ea typeface="Cambria" pitchFamily="34" charset="-122"/>
                <a:cs typeface="Cambria" pitchFamily="34" charset="-120"/>
              </a:rPr>
              <a:t>Block 7 outline — Glue: redirection and pipes</a:t>
            </a:r>
            <a:endParaRPr lang="en-US" sz="2800" dirty="0"/>
          </a:p>
        </p:txBody>
      </p:sp>
      <p:sp>
        <p:nvSpPr>
          <p:cNvPr id="3" name="Shape 1"/>
          <p:cNvSpPr/>
          <p:nvPr/>
        </p:nvSpPr>
        <p:spPr>
          <a:xfrm>
            <a:off x="457200" y="868680"/>
            <a:ext cx="548640" cy="36576"/>
          </a:xfrm>
          <a:prstGeom prst="rect">
            <a:avLst/>
          </a:prstGeom>
          <a:solidFill>
            <a:srgbClr val="1E2761"/>
          </a:solidFill>
          <a:ln w="12700">
            <a:solidFill>
              <a:srgbClr val="1E2761"/>
            </a:solidFill>
            <a:prstDash val="solid"/>
          </a:ln>
        </p:spPr>
        <p:txBody>
          <a:bodyPr/>
          <a:lstStyle/>
          <a:p>
            <a:endParaRPr lang="en-US"/>
          </a:p>
        </p:txBody>
      </p:sp>
      <p:sp>
        <p:nvSpPr>
          <p:cNvPr id="4" name="Text 2"/>
          <p:cNvSpPr/>
          <p:nvPr/>
        </p:nvSpPr>
        <p:spPr>
          <a:xfrm>
            <a:off x="548640" y="1005840"/>
            <a:ext cx="8046720" cy="1488440"/>
          </a:xfrm>
          <a:prstGeom prst="rect">
            <a:avLst/>
          </a:prstGeom>
          <a:solidFill>
            <a:srgbClr val="FFFFFF"/>
          </a:solidFill>
          <a:ln/>
        </p:spPr>
        <p:txBody>
          <a:bodyPr wrap="square" lIns="0" tIns="0" rIns="0" bIns="0" rtlCol="0" anchor="t"/>
          <a:lstStyle/>
          <a:p>
            <a:pPr marL="228600" indent="-228600">
              <a:spcAft>
                <a:spcPts val="600"/>
              </a:spcAft>
              <a:buSzPct val="100000"/>
              <a:buChar char="■"/>
            </a:pPr>
            <a:r>
              <a:rPr lang="en-US" sz="1600" dirty="0">
                <a:solidFill>
                  <a:srgbClr val="1F2937"/>
                </a:solidFill>
                <a:latin typeface="Calibri" pitchFamily="34" charset="0"/>
                <a:ea typeface="Calibri" pitchFamily="34" charset="-122"/>
                <a:cs typeface="Calibri" pitchFamily="34" charset="-120"/>
              </a:rPr>
              <a:t>Each command as a </a:t>
            </a:r>
            <a:r>
              <a:rPr lang="en-US" sz="1600" b="1" dirty="0">
                <a:solidFill>
                  <a:srgbClr val="1F2937"/>
                </a:solidFill>
                <a:latin typeface="Calibri" pitchFamily="34" charset="0"/>
                <a:ea typeface="Calibri" pitchFamily="34" charset="-122"/>
                <a:cs typeface="Calibri" pitchFamily="34" charset="-120"/>
              </a:rPr>
              <a:t>"little factory"</a:t>
            </a:r>
            <a:r>
              <a:rPr lang="en-US" sz="1600" dirty="0">
                <a:solidFill>
                  <a:srgbClr val="1F2937"/>
                </a:solidFill>
                <a:latin typeface="Calibri" pitchFamily="34" charset="0"/>
                <a:ea typeface="Calibri" pitchFamily="34" charset="-122"/>
                <a:cs typeface="Calibri" pitchFamily="34" charset="-120"/>
              </a:rPr>
              <a:t> with input and output</a:t>
            </a:r>
            <a:endParaRPr lang="en-US" sz="1600" dirty="0"/>
          </a:p>
          <a:p>
            <a:pPr marL="228600" indent="-228600">
              <a:spcAft>
                <a:spcPts val="600"/>
              </a:spcAft>
              <a:buSzPct val="100000"/>
              <a:buChar char="■"/>
            </a:pPr>
            <a:r>
              <a:rPr lang="en-US" sz="1600" dirty="0">
                <a:solidFill>
                  <a:srgbClr val="1E2761"/>
                </a:solidFill>
                <a:latin typeface="Consolas" pitchFamily="34" charset="0"/>
                <a:ea typeface="Consolas" pitchFamily="34" charset="-122"/>
                <a:cs typeface="Consolas" pitchFamily="34" charset="-120"/>
              </a:rPr>
              <a:t>&gt;</a:t>
            </a:r>
            <a:r>
              <a:rPr lang="en-US" sz="1600" dirty="0">
                <a:solidFill>
                  <a:srgbClr val="1F2937"/>
                </a:solidFill>
                <a:latin typeface="Calibri" pitchFamily="34" charset="0"/>
                <a:ea typeface="Calibri" pitchFamily="34" charset="-122"/>
                <a:cs typeface="Calibri" pitchFamily="34" charset="-120"/>
              </a:rPr>
              <a:t> and </a:t>
            </a:r>
            <a:r>
              <a:rPr lang="en-US" sz="1600" dirty="0">
                <a:solidFill>
                  <a:srgbClr val="1E2761"/>
                </a:solidFill>
                <a:latin typeface="Consolas" pitchFamily="34" charset="0"/>
                <a:ea typeface="Consolas" pitchFamily="34" charset="-122"/>
                <a:cs typeface="Consolas" pitchFamily="34" charset="-120"/>
              </a:rPr>
              <a:t>&gt;&gt;</a:t>
            </a:r>
            <a:r>
              <a:rPr lang="en-US" sz="1600" dirty="0">
                <a:solidFill>
                  <a:srgbClr val="1F2937"/>
                </a:solidFill>
                <a:latin typeface="Calibri" pitchFamily="34" charset="0"/>
                <a:ea typeface="Calibri" pitchFamily="34" charset="-122"/>
                <a:cs typeface="Calibri" pitchFamily="34" charset="-120"/>
              </a:rPr>
              <a:t> — sending output to a file</a:t>
            </a:r>
            <a:endParaRPr lang="en-US" sz="1600" dirty="0"/>
          </a:p>
          <a:p>
            <a:pPr marL="228600" indent="-228600">
              <a:spcAft>
                <a:spcPts val="600"/>
              </a:spcAft>
              <a:buSzPct val="100000"/>
              <a:buChar char="■"/>
            </a:pPr>
            <a:r>
              <a:rPr lang="en-US" sz="1600" dirty="0">
                <a:solidFill>
                  <a:srgbClr val="1E2761"/>
                </a:solidFill>
                <a:latin typeface="Consolas" pitchFamily="34" charset="0"/>
                <a:ea typeface="Consolas" pitchFamily="34" charset="-122"/>
                <a:cs typeface="Consolas" pitchFamily="34" charset="-120"/>
              </a:rPr>
              <a:t>|</a:t>
            </a:r>
            <a:r>
              <a:rPr lang="en-US" sz="1600" dirty="0">
                <a:solidFill>
                  <a:srgbClr val="1F2937"/>
                </a:solidFill>
                <a:latin typeface="Calibri" pitchFamily="34" charset="0"/>
                <a:ea typeface="Calibri" pitchFamily="34" charset="-122"/>
                <a:cs typeface="Calibri" pitchFamily="34" charset="-120"/>
              </a:rPr>
              <a:t> — piping output into another command</a:t>
            </a:r>
            <a:endParaRPr lang="en-US" sz="1600" dirty="0"/>
          </a:p>
          <a:p>
            <a:pPr marL="228600" indent="-228600">
              <a:spcAft>
                <a:spcPts val="600"/>
              </a:spcAft>
              <a:buSzPct val="100000"/>
              <a:buChar char="■"/>
            </a:pPr>
            <a:r>
              <a:rPr lang="en-US" sz="1600" dirty="0">
                <a:solidFill>
                  <a:srgbClr val="1E2761"/>
                </a:solidFill>
                <a:latin typeface="Consolas" pitchFamily="34" charset="0"/>
                <a:ea typeface="Consolas" pitchFamily="34" charset="-122"/>
                <a:cs typeface="Consolas" pitchFamily="34" charset="-120"/>
              </a:rPr>
              <a:t>grep</a:t>
            </a:r>
            <a:r>
              <a:rPr lang="en-US" sz="1600" dirty="0">
                <a:solidFill>
                  <a:srgbClr val="1F2937"/>
                </a:solidFill>
                <a:latin typeface="Calibri" pitchFamily="34" charset="0"/>
                <a:ea typeface="Calibri" pitchFamily="34" charset="-122"/>
                <a:cs typeface="Calibri" pitchFamily="34" charset="-120"/>
              </a:rPr>
              <a:t> and </a:t>
            </a:r>
            <a:r>
              <a:rPr lang="en-US" sz="1600" dirty="0">
                <a:solidFill>
                  <a:srgbClr val="1E2761"/>
                </a:solidFill>
                <a:latin typeface="Consolas" pitchFamily="34" charset="0"/>
                <a:ea typeface="Consolas" pitchFamily="34" charset="-122"/>
                <a:cs typeface="Consolas" pitchFamily="34" charset="-120"/>
              </a:rPr>
              <a:t>wc</a:t>
            </a:r>
            <a:r>
              <a:rPr lang="en-US" sz="1600" dirty="0">
                <a:solidFill>
                  <a:srgbClr val="1F2937"/>
                </a:solidFill>
                <a:latin typeface="Calibri" pitchFamily="34" charset="0"/>
                <a:ea typeface="Calibri" pitchFamily="34" charset="-122"/>
                <a:cs typeface="Calibri" pitchFamily="34" charset="-120"/>
              </a:rPr>
              <a:t> as glue partners</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pic>
        <p:nvPicPr>
          <p:cNvPr id="5" name="Picture 4" descr="access-footer.jpg"/>
          <p:cNvPicPr>
            <a:picLocks noChangeAspect="1"/>
          </p:cNvPicPr>
          <p:nvPr/>
        </p:nvPicPr>
        <p:blipFill>
          <a:blip r:embed="rId3"/>
          <a:stretch>
            <a:fillRect/>
          </a:stretch>
        </p:blipFill>
        <p:spPr>
          <a:xfrm>
            <a:off x="0" y="0"/>
            <a:ext cx="9144000" cy="5143500"/>
          </a:xfrm>
          <a:prstGeom prst="rect">
            <a:avLst/>
          </a:prstGeom>
        </p:spPr>
      </p:pic>
      <p:sp>
        <p:nvSpPr>
          <p:cNvPr id="2" name="Text 0"/>
          <p:cNvSpPr/>
          <p:nvPr/>
        </p:nvSpPr>
        <p:spPr>
          <a:xfrm>
            <a:off x="457200" y="274320"/>
            <a:ext cx="8229600" cy="594360"/>
          </a:xfrm>
          <a:prstGeom prst="rect">
            <a:avLst/>
          </a:prstGeom>
          <a:solidFill>
            <a:srgbClr val="FFFFFF"/>
          </a:solidFill>
          <a:ln/>
        </p:spPr>
        <p:txBody>
          <a:bodyPr wrap="square" lIns="0" tIns="0" rIns="0" bIns="0" rtlCol="0" anchor="ctr"/>
          <a:lstStyle/>
          <a:p>
            <a:pPr marL="0" indent="0">
              <a:buNone/>
            </a:pPr>
            <a:r>
              <a:rPr lang="en-US" sz="2800" b="1" dirty="0">
                <a:solidFill>
                  <a:srgbClr val="1E2761"/>
                </a:solidFill>
                <a:latin typeface="Cambria" pitchFamily="34" charset="0"/>
                <a:ea typeface="Cambria" pitchFamily="34" charset="-122"/>
                <a:cs typeface="Cambria" pitchFamily="34" charset="-120"/>
              </a:rPr>
              <a:t>Block 8 outline — Permissions and processes</a:t>
            </a:r>
            <a:endParaRPr lang="en-US" sz="2800" dirty="0"/>
          </a:p>
        </p:txBody>
      </p:sp>
      <p:sp>
        <p:nvSpPr>
          <p:cNvPr id="3" name="Shape 1"/>
          <p:cNvSpPr/>
          <p:nvPr/>
        </p:nvSpPr>
        <p:spPr>
          <a:xfrm>
            <a:off x="457200" y="868680"/>
            <a:ext cx="548640" cy="36576"/>
          </a:xfrm>
          <a:prstGeom prst="rect">
            <a:avLst/>
          </a:prstGeom>
          <a:solidFill>
            <a:srgbClr val="1E2761"/>
          </a:solidFill>
          <a:ln w="12700">
            <a:solidFill>
              <a:srgbClr val="1E2761"/>
            </a:solidFill>
            <a:prstDash val="solid"/>
          </a:ln>
        </p:spPr>
        <p:txBody>
          <a:bodyPr/>
          <a:lstStyle/>
          <a:p>
            <a:endParaRPr lang="en-US"/>
          </a:p>
        </p:txBody>
      </p:sp>
      <p:sp>
        <p:nvSpPr>
          <p:cNvPr id="4" name="Text 2"/>
          <p:cNvSpPr/>
          <p:nvPr/>
        </p:nvSpPr>
        <p:spPr>
          <a:xfrm>
            <a:off x="548640" y="1005840"/>
            <a:ext cx="8046720" cy="1488440"/>
          </a:xfrm>
          <a:prstGeom prst="rect">
            <a:avLst/>
          </a:prstGeom>
          <a:solidFill>
            <a:srgbClr val="FFFFFF"/>
          </a:solidFill>
          <a:ln/>
        </p:spPr>
        <p:txBody>
          <a:bodyPr wrap="square" lIns="0" tIns="0" rIns="0" bIns="0" rtlCol="0" anchor="t"/>
          <a:lstStyle/>
          <a:p>
            <a:pPr marL="228600" indent="-228600">
              <a:spcAft>
                <a:spcPts val="600"/>
              </a:spcAft>
              <a:buSzPct val="100000"/>
              <a:buChar char="■"/>
            </a:pPr>
            <a:r>
              <a:rPr lang="en-US" sz="1600" dirty="0">
                <a:solidFill>
                  <a:srgbClr val="1F2937"/>
                </a:solidFill>
                <a:latin typeface="Calibri" pitchFamily="34" charset="0"/>
                <a:ea typeface="Calibri" pitchFamily="34" charset="-122"/>
                <a:cs typeface="Calibri" pitchFamily="34" charset="-120"/>
              </a:rPr>
              <a:t>Reading </a:t>
            </a:r>
            <a:r>
              <a:rPr lang="en-US" sz="1600" dirty="0">
                <a:solidFill>
                  <a:srgbClr val="1E2761"/>
                </a:solidFill>
                <a:latin typeface="Consolas" pitchFamily="34" charset="0"/>
                <a:ea typeface="Consolas" pitchFamily="34" charset="-122"/>
                <a:cs typeface="Consolas" pitchFamily="34" charset="-120"/>
              </a:rPr>
              <a:t>ls -l</a:t>
            </a:r>
            <a:r>
              <a:rPr lang="en-US" sz="1600" dirty="0">
                <a:solidFill>
                  <a:srgbClr val="1F2937"/>
                </a:solidFill>
                <a:latin typeface="Calibri" pitchFamily="34" charset="0"/>
                <a:ea typeface="Calibri" pitchFamily="34" charset="-122"/>
                <a:cs typeface="Calibri" pitchFamily="34" charset="-120"/>
              </a:rPr>
              <a:t> and the </a:t>
            </a:r>
            <a:r>
              <a:rPr lang="en-US" sz="1600" b="1" dirty="0">
                <a:solidFill>
                  <a:srgbClr val="1F2937"/>
                </a:solidFill>
                <a:latin typeface="Calibri" pitchFamily="34" charset="0"/>
                <a:ea typeface="Calibri" pitchFamily="34" charset="-122"/>
                <a:cs typeface="Calibri" pitchFamily="34" charset="-120"/>
              </a:rPr>
              <a:t>rwx</a:t>
            </a:r>
            <a:r>
              <a:rPr lang="en-US" sz="1600" dirty="0">
                <a:solidFill>
                  <a:srgbClr val="1F2937"/>
                </a:solidFill>
                <a:latin typeface="Calibri" pitchFamily="34" charset="0"/>
                <a:ea typeface="Calibri" pitchFamily="34" charset="-122"/>
                <a:cs typeface="Calibri" pitchFamily="34" charset="-120"/>
              </a:rPr>
              <a:t> permission string</a:t>
            </a:r>
            <a:endParaRPr lang="en-US" sz="1600" dirty="0"/>
          </a:p>
          <a:p>
            <a:pPr marL="228600" indent="-228600">
              <a:spcAft>
                <a:spcPts val="600"/>
              </a:spcAft>
              <a:buSzPct val="100000"/>
              <a:buChar char="■"/>
            </a:pPr>
            <a:r>
              <a:rPr lang="en-US" sz="1600" dirty="0">
                <a:solidFill>
                  <a:srgbClr val="1E2761"/>
                </a:solidFill>
                <a:latin typeface="Consolas" pitchFamily="34" charset="0"/>
                <a:ea typeface="Consolas" pitchFamily="34" charset="-122"/>
                <a:cs typeface="Consolas" pitchFamily="34" charset="-120"/>
              </a:rPr>
              <a:t>chmod +x</a:t>
            </a:r>
            <a:r>
              <a:rPr lang="en-US" sz="1600" dirty="0">
                <a:solidFill>
                  <a:srgbClr val="1F2937"/>
                </a:solidFill>
                <a:latin typeface="Calibri" pitchFamily="34" charset="0"/>
                <a:ea typeface="Calibri" pitchFamily="34" charset="-122"/>
                <a:cs typeface="Calibri" pitchFamily="34" charset="-120"/>
              </a:rPr>
              <a:t> to make a script runnable</a:t>
            </a:r>
            <a:endParaRPr lang="en-US" sz="1600" dirty="0"/>
          </a:p>
          <a:p>
            <a:pPr marL="228600" indent="-228600">
              <a:spcAft>
                <a:spcPts val="600"/>
              </a:spcAft>
              <a:buSzPct val="100000"/>
              <a:buChar char="■"/>
            </a:pPr>
            <a:r>
              <a:rPr lang="en-US" sz="1600" dirty="0">
                <a:solidFill>
                  <a:srgbClr val="1E2761"/>
                </a:solidFill>
                <a:latin typeface="Consolas" pitchFamily="34" charset="0"/>
                <a:ea typeface="Consolas" pitchFamily="34" charset="-122"/>
                <a:cs typeface="Consolas" pitchFamily="34" charset="-120"/>
              </a:rPr>
              <a:t>ps</a:t>
            </a:r>
            <a:r>
              <a:rPr lang="en-US" sz="1600" dirty="0">
                <a:solidFill>
                  <a:srgbClr val="1F2937"/>
                </a:solidFill>
                <a:latin typeface="Calibri" pitchFamily="34" charset="0"/>
                <a:ea typeface="Calibri" pitchFamily="34" charset="-122"/>
                <a:cs typeface="Calibri" pitchFamily="34" charset="-120"/>
              </a:rPr>
              <a:t>, </a:t>
            </a:r>
            <a:r>
              <a:rPr lang="en-US" sz="1600" dirty="0">
                <a:solidFill>
                  <a:srgbClr val="1E2761"/>
                </a:solidFill>
                <a:latin typeface="Consolas" pitchFamily="34" charset="0"/>
                <a:ea typeface="Consolas" pitchFamily="34" charset="-122"/>
                <a:cs typeface="Consolas" pitchFamily="34" charset="-120"/>
              </a:rPr>
              <a:t>top</a:t>
            </a:r>
            <a:r>
              <a:rPr lang="en-US" sz="1600" dirty="0">
                <a:solidFill>
                  <a:srgbClr val="1F2937"/>
                </a:solidFill>
                <a:latin typeface="Calibri" pitchFamily="34" charset="0"/>
                <a:ea typeface="Calibri" pitchFamily="34" charset="-122"/>
                <a:cs typeface="Calibri" pitchFamily="34" charset="-120"/>
              </a:rPr>
              <a:t> — what's running</a:t>
            </a:r>
            <a:endParaRPr lang="en-US" sz="1600" dirty="0"/>
          </a:p>
          <a:p>
            <a:pPr marL="228600" indent="-228600">
              <a:spcAft>
                <a:spcPts val="600"/>
              </a:spcAft>
              <a:buSzPct val="100000"/>
              <a:buChar char="■"/>
            </a:pPr>
            <a:r>
              <a:rPr lang="en-US" sz="1600" dirty="0">
                <a:solidFill>
                  <a:srgbClr val="1E2761"/>
                </a:solidFill>
                <a:latin typeface="Consolas" pitchFamily="34" charset="0"/>
                <a:ea typeface="Consolas" pitchFamily="34" charset="-122"/>
                <a:cs typeface="Consolas" pitchFamily="34" charset="-120"/>
              </a:rPr>
              <a:t>kill</a:t>
            </a:r>
            <a:r>
              <a:rPr lang="en-US" sz="1600" dirty="0">
                <a:solidFill>
                  <a:srgbClr val="1F2937"/>
                </a:solidFill>
                <a:latin typeface="Calibri" pitchFamily="34" charset="0"/>
                <a:ea typeface="Calibri" pitchFamily="34" charset="-122"/>
                <a:cs typeface="Calibri" pitchFamily="34" charset="-120"/>
              </a:rPr>
              <a:t>, Ctrl-C — stopping things</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pic>
        <p:nvPicPr>
          <p:cNvPr id="5" name="Picture 4" descr="access-footer.jpg"/>
          <p:cNvPicPr>
            <a:picLocks noChangeAspect="1"/>
          </p:cNvPicPr>
          <p:nvPr/>
        </p:nvPicPr>
        <p:blipFill>
          <a:blip r:embed="rId3"/>
          <a:stretch>
            <a:fillRect/>
          </a:stretch>
        </p:blipFill>
        <p:spPr>
          <a:xfrm>
            <a:off x="0" y="0"/>
            <a:ext cx="9144000" cy="5143500"/>
          </a:xfrm>
          <a:prstGeom prst="rect">
            <a:avLst/>
          </a:prstGeom>
        </p:spPr>
      </p:pic>
      <p:sp>
        <p:nvSpPr>
          <p:cNvPr id="2" name="Text 0"/>
          <p:cNvSpPr/>
          <p:nvPr/>
        </p:nvSpPr>
        <p:spPr>
          <a:xfrm>
            <a:off x="457200" y="274320"/>
            <a:ext cx="8229600" cy="594360"/>
          </a:xfrm>
          <a:prstGeom prst="rect">
            <a:avLst/>
          </a:prstGeom>
          <a:solidFill>
            <a:srgbClr val="FFFFFF"/>
          </a:solidFill>
          <a:ln/>
        </p:spPr>
        <p:txBody>
          <a:bodyPr wrap="square" lIns="0" tIns="0" rIns="0" bIns="0" rtlCol="0" anchor="ctr"/>
          <a:lstStyle/>
          <a:p>
            <a:pPr marL="0" indent="0">
              <a:buNone/>
            </a:pPr>
            <a:r>
              <a:rPr lang="en-US" sz="2800" b="1" dirty="0">
                <a:solidFill>
                  <a:srgbClr val="1E2761"/>
                </a:solidFill>
                <a:latin typeface="Cambria" pitchFamily="34" charset="0"/>
                <a:ea typeface="Cambria" pitchFamily="34" charset="-122"/>
                <a:cs typeface="Cambria" pitchFamily="34" charset="-120"/>
              </a:rPr>
              <a:t>Block 9 outline — Users, root, and sudo</a:t>
            </a:r>
            <a:endParaRPr lang="en-US" sz="2800" dirty="0"/>
          </a:p>
        </p:txBody>
      </p:sp>
      <p:sp>
        <p:nvSpPr>
          <p:cNvPr id="3" name="Shape 1"/>
          <p:cNvSpPr/>
          <p:nvPr/>
        </p:nvSpPr>
        <p:spPr>
          <a:xfrm>
            <a:off x="457200" y="868680"/>
            <a:ext cx="548640" cy="36576"/>
          </a:xfrm>
          <a:prstGeom prst="rect">
            <a:avLst/>
          </a:prstGeom>
          <a:solidFill>
            <a:srgbClr val="1E2761"/>
          </a:solidFill>
          <a:ln w="12700">
            <a:solidFill>
              <a:srgbClr val="1E2761"/>
            </a:solidFill>
            <a:prstDash val="solid"/>
          </a:ln>
        </p:spPr>
        <p:txBody>
          <a:bodyPr/>
          <a:lstStyle/>
          <a:p>
            <a:endParaRPr lang="en-US"/>
          </a:p>
        </p:txBody>
      </p:sp>
      <p:sp>
        <p:nvSpPr>
          <p:cNvPr id="4" name="Text 2"/>
          <p:cNvSpPr/>
          <p:nvPr/>
        </p:nvSpPr>
        <p:spPr>
          <a:xfrm>
            <a:off x="548640" y="1005840"/>
            <a:ext cx="8046720" cy="1488440"/>
          </a:xfrm>
          <a:prstGeom prst="rect">
            <a:avLst/>
          </a:prstGeom>
          <a:solidFill>
            <a:srgbClr val="FFFFFF"/>
          </a:solidFill>
          <a:ln/>
        </p:spPr>
        <p:txBody>
          <a:bodyPr wrap="square" lIns="0" tIns="0" rIns="0" bIns="0" rtlCol="0" anchor="t"/>
          <a:lstStyle/>
          <a:p>
            <a:pPr marL="228600" indent="-228600">
              <a:spcAft>
                <a:spcPts val="600"/>
              </a:spcAft>
              <a:buSzPct val="100000"/>
              <a:buChar char="■"/>
            </a:pPr>
            <a:r>
              <a:rPr lang="en-US" sz="1600" dirty="0">
                <a:solidFill>
                  <a:srgbClr val="1F2937"/>
                </a:solidFill>
                <a:latin typeface="Calibri" pitchFamily="34" charset="0"/>
                <a:ea typeface="Calibri" pitchFamily="34" charset="-122"/>
                <a:cs typeface="Calibri" pitchFamily="34" charset="-120"/>
              </a:rPr>
              <a:t>Linux is </a:t>
            </a:r>
            <a:r>
              <a:rPr lang="en-US" sz="1600" b="1" dirty="0">
                <a:solidFill>
                  <a:srgbClr val="1F2937"/>
                </a:solidFill>
                <a:latin typeface="Calibri" pitchFamily="34" charset="0"/>
                <a:ea typeface="Calibri" pitchFamily="34" charset="-122"/>
                <a:cs typeface="Calibri" pitchFamily="34" charset="-120"/>
              </a:rPr>
              <a:t>multi-user</a:t>
            </a:r>
            <a:r>
              <a:rPr lang="en-US" sz="1600" dirty="0">
                <a:solidFill>
                  <a:srgbClr val="1F2937"/>
                </a:solidFill>
                <a:latin typeface="Calibri" pitchFamily="34" charset="0"/>
                <a:ea typeface="Calibri" pitchFamily="34" charset="-122"/>
                <a:cs typeface="Calibri" pitchFamily="34" charset="-120"/>
              </a:rPr>
              <a:t>; everything belongs to someone</a:t>
            </a:r>
            <a:endParaRPr lang="en-US" sz="1600" dirty="0"/>
          </a:p>
          <a:p>
            <a:pPr marL="228600" indent="-228600">
              <a:spcAft>
                <a:spcPts val="600"/>
              </a:spcAft>
              <a:buSzPct val="100000"/>
              <a:buChar char="■"/>
            </a:pPr>
            <a:r>
              <a:rPr lang="en-US" sz="1600" dirty="0">
                <a:solidFill>
                  <a:srgbClr val="1F2937"/>
                </a:solidFill>
                <a:latin typeface="Calibri" pitchFamily="34" charset="0"/>
                <a:ea typeface="Calibri" pitchFamily="34" charset="-122"/>
                <a:cs typeface="Calibri" pitchFamily="34" charset="-120"/>
              </a:rPr>
              <a:t>Regular users vs. </a:t>
            </a:r>
            <a:r>
              <a:rPr lang="en-US" sz="1600" b="1" dirty="0">
                <a:solidFill>
                  <a:srgbClr val="1F2937"/>
                </a:solidFill>
                <a:latin typeface="Calibri" pitchFamily="34" charset="0"/>
                <a:ea typeface="Calibri" pitchFamily="34" charset="-122"/>
                <a:cs typeface="Calibri" pitchFamily="34" charset="-120"/>
              </a:rPr>
              <a:t>root</a:t>
            </a:r>
            <a:r>
              <a:rPr lang="en-US" sz="1600" dirty="0">
                <a:solidFill>
                  <a:srgbClr val="1F2937"/>
                </a:solidFill>
                <a:latin typeface="Calibri" pitchFamily="34" charset="0"/>
                <a:ea typeface="Calibri" pitchFamily="34" charset="-122"/>
                <a:cs typeface="Calibri" pitchFamily="34" charset="-120"/>
              </a:rPr>
              <a:t> (UID 0)</a:t>
            </a:r>
            <a:endParaRPr lang="en-US" sz="1600" dirty="0"/>
          </a:p>
          <a:p>
            <a:pPr marL="228600" indent="-228600">
              <a:spcAft>
                <a:spcPts val="600"/>
              </a:spcAft>
              <a:buSzPct val="100000"/>
              <a:buChar char="■"/>
            </a:pPr>
            <a:r>
              <a:rPr lang="en-US" sz="1600" dirty="0">
                <a:solidFill>
                  <a:srgbClr val="1F2937"/>
                </a:solidFill>
                <a:latin typeface="Calibri" pitchFamily="34" charset="0"/>
                <a:ea typeface="Calibri" pitchFamily="34" charset="-122"/>
                <a:cs typeface="Calibri" pitchFamily="34" charset="-120"/>
              </a:rPr>
              <a:t>Why you can't install packages as a regular user</a:t>
            </a:r>
            <a:endParaRPr lang="en-US" sz="1600" dirty="0"/>
          </a:p>
          <a:p>
            <a:pPr marL="228600" indent="-228600">
              <a:spcAft>
                <a:spcPts val="600"/>
              </a:spcAft>
              <a:buSzPct val="100000"/>
              <a:buChar char="■"/>
            </a:pPr>
            <a:r>
              <a:rPr lang="en-US" sz="1600" dirty="0">
                <a:solidFill>
                  <a:srgbClr val="1E2761"/>
                </a:solidFill>
                <a:latin typeface="Consolas" pitchFamily="34" charset="0"/>
                <a:ea typeface="Consolas" pitchFamily="34" charset="-122"/>
                <a:cs typeface="Consolas" pitchFamily="34" charset="-120"/>
              </a:rPr>
              <a:t>sudo</a:t>
            </a:r>
            <a:r>
              <a:rPr lang="en-US" sz="1600" dirty="0">
                <a:solidFill>
                  <a:srgbClr val="1F2937"/>
                </a:solidFill>
                <a:latin typeface="Calibri" pitchFamily="34" charset="0"/>
                <a:ea typeface="Calibri" pitchFamily="34" charset="-122"/>
                <a:cs typeface="Calibri" pitchFamily="34" charset="-120"/>
              </a:rPr>
              <a:t> — what it is, how it behaves, what it strips</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pic>
        <p:nvPicPr>
          <p:cNvPr id="5" name="Picture 4" descr="access-footer.jpg"/>
          <p:cNvPicPr>
            <a:picLocks noChangeAspect="1"/>
          </p:cNvPicPr>
          <p:nvPr/>
        </p:nvPicPr>
        <p:blipFill>
          <a:blip r:embed="rId3"/>
          <a:stretch>
            <a:fillRect/>
          </a:stretch>
        </p:blipFill>
        <p:spPr>
          <a:xfrm>
            <a:off x="0" y="0"/>
            <a:ext cx="9144000" cy="5143500"/>
          </a:xfrm>
          <a:prstGeom prst="rect">
            <a:avLst/>
          </a:prstGeom>
        </p:spPr>
      </p:pic>
      <p:sp>
        <p:nvSpPr>
          <p:cNvPr id="2" name="Text 0"/>
          <p:cNvSpPr/>
          <p:nvPr/>
        </p:nvSpPr>
        <p:spPr>
          <a:xfrm>
            <a:off x="457200" y="274320"/>
            <a:ext cx="8229600" cy="594360"/>
          </a:xfrm>
          <a:prstGeom prst="rect">
            <a:avLst/>
          </a:prstGeom>
          <a:solidFill>
            <a:srgbClr val="FFFFFF"/>
          </a:solidFill>
          <a:ln/>
        </p:spPr>
        <p:txBody>
          <a:bodyPr wrap="square" lIns="0" tIns="0" rIns="0" bIns="0" rtlCol="0" anchor="ctr"/>
          <a:lstStyle/>
          <a:p>
            <a:pPr marL="0" indent="0">
              <a:buNone/>
            </a:pPr>
            <a:r>
              <a:rPr lang="en-US" sz="2800" b="1" dirty="0">
                <a:solidFill>
                  <a:srgbClr val="1E2761"/>
                </a:solidFill>
                <a:latin typeface="Cambria" pitchFamily="34" charset="0"/>
                <a:ea typeface="Cambria" pitchFamily="34" charset="-122"/>
                <a:cs typeface="Cambria" pitchFamily="34" charset="-120"/>
              </a:rPr>
              <a:t>Block 10 outline — Environment variables, PATH, LD_LIBRARY_PATH</a:t>
            </a:r>
            <a:endParaRPr lang="en-US" sz="2800" dirty="0"/>
          </a:p>
        </p:txBody>
      </p:sp>
      <p:sp>
        <p:nvSpPr>
          <p:cNvPr id="3" name="Shape 1"/>
          <p:cNvSpPr/>
          <p:nvPr/>
        </p:nvSpPr>
        <p:spPr>
          <a:xfrm>
            <a:off x="457200" y="868680"/>
            <a:ext cx="548640" cy="36576"/>
          </a:xfrm>
          <a:prstGeom prst="rect">
            <a:avLst/>
          </a:prstGeom>
          <a:solidFill>
            <a:srgbClr val="1E2761"/>
          </a:solidFill>
          <a:ln w="12700">
            <a:solidFill>
              <a:srgbClr val="1E2761"/>
            </a:solidFill>
            <a:prstDash val="solid"/>
          </a:ln>
        </p:spPr>
        <p:txBody>
          <a:bodyPr/>
          <a:lstStyle/>
          <a:p>
            <a:endParaRPr lang="en-US"/>
          </a:p>
        </p:txBody>
      </p:sp>
      <p:sp>
        <p:nvSpPr>
          <p:cNvPr id="4" name="Text 2"/>
          <p:cNvSpPr/>
          <p:nvPr/>
        </p:nvSpPr>
        <p:spPr>
          <a:xfrm>
            <a:off x="548640" y="1005840"/>
            <a:ext cx="8046720" cy="1488440"/>
          </a:xfrm>
          <a:prstGeom prst="rect">
            <a:avLst/>
          </a:prstGeom>
          <a:solidFill>
            <a:srgbClr val="FFFFFF"/>
          </a:solidFill>
          <a:ln/>
        </p:spPr>
        <p:txBody>
          <a:bodyPr wrap="square" lIns="0" tIns="0" rIns="0" bIns="0" rtlCol="0" anchor="t"/>
          <a:lstStyle/>
          <a:p>
            <a:pPr marL="228600" indent="-228600">
              <a:spcAft>
                <a:spcPts val="600"/>
              </a:spcAft>
              <a:buSzPct val="100000"/>
              <a:buChar char="■"/>
            </a:pPr>
            <a:r>
              <a:rPr lang="en-US" sz="1600" dirty="0">
                <a:solidFill>
                  <a:srgbClr val="1F2937"/>
                </a:solidFill>
                <a:latin typeface="Calibri" pitchFamily="34" charset="0"/>
                <a:ea typeface="Calibri" pitchFamily="34" charset="-122"/>
                <a:cs typeface="Calibri" pitchFamily="34" charset="-120"/>
              </a:rPr>
              <a:t>What environment variables are</a:t>
            </a:r>
            <a:endParaRPr lang="en-US" sz="1600" dirty="0"/>
          </a:p>
          <a:p>
            <a:pPr marL="228600" indent="-228600">
              <a:spcAft>
                <a:spcPts val="600"/>
              </a:spcAft>
              <a:buSzPct val="100000"/>
              <a:buChar char="■"/>
            </a:pPr>
            <a:r>
              <a:rPr lang="en-US" sz="1600" dirty="0">
                <a:solidFill>
                  <a:srgbClr val="1E2761"/>
                </a:solidFill>
                <a:latin typeface="Consolas" pitchFamily="34" charset="0"/>
                <a:ea typeface="Consolas" pitchFamily="34" charset="-122"/>
                <a:cs typeface="Consolas" pitchFamily="34" charset="-120"/>
              </a:rPr>
              <a:t>PATH</a:t>
            </a:r>
            <a:r>
              <a:rPr lang="en-US" sz="1600" dirty="0">
                <a:solidFill>
                  <a:srgbClr val="1F2937"/>
                </a:solidFill>
                <a:latin typeface="Calibri" pitchFamily="34" charset="0"/>
                <a:ea typeface="Calibri" pitchFamily="34" charset="-122"/>
                <a:cs typeface="Calibri" pitchFamily="34" charset="-120"/>
              </a:rPr>
              <a:t> — how the shell finds commands (and why venvs work)</a:t>
            </a:r>
            <a:endParaRPr lang="en-US" sz="1600" dirty="0"/>
          </a:p>
          <a:p>
            <a:pPr marL="228600" indent="-228600">
              <a:spcAft>
                <a:spcPts val="600"/>
              </a:spcAft>
              <a:buSzPct val="100000"/>
              <a:buChar char="■"/>
            </a:pPr>
            <a:r>
              <a:rPr lang="en-US" sz="1600" dirty="0">
                <a:solidFill>
                  <a:srgbClr val="1F2937"/>
                </a:solidFill>
                <a:latin typeface="Calibri" pitchFamily="34" charset="0"/>
                <a:ea typeface="Calibri" pitchFamily="34" charset="-122"/>
                <a:cs typeface="Calibri" pitchFamily="34" charset="-120"/>
              </a:rPr>
              <a:t>A small </a:t>
            </a:r>
            <a:r>
              <a:rPr lang="en-US" sz="1600" dirty="0">
                <a:solidFill>
                  <a:srgbClr val="1E2761"/>
                </a:solidFill>
                <a:latin typeface="Consolas" pitchFamily="34" charset="0"/>
                <a:ea typeface="Consolas" pitchFamily="34" charset="-122"/>
                <a:cs typeface="Consolas" pitchFamily="34" charset="-120"/>
              </a:rPr>
              <a:t>PATH</a:t>
            </a:r>
            <a:r>
              <a:rPr lang="en-US" sz="1600" dirty="0">
                <a:solidFill>
                  <a:srgbClr val="1F2937"/>
                </a:solidFill>
                <a:latin typeface="Calibri" pitchFamily="34" charset="0"/>
                <a:ea typeface="Calibri" pitchFamily="34" charset="-122"/>
                <a:cs typeface="Calibri" pitchFamily="34" charset="-120"/>
              </a:rPr>
              <a:t> </a:t>
            </a:r>
            <a:r>
              <a:rPr lang="en-US" sz="1600" b="1" dirty="0">
                <a:solidFill>
                  <a:srgbClr val="1F2937"/>
                </a:solidFill>
                <a:latin typeface="Calibri" pitchFamily="34" charset="0"/>
                <a:ea typeface="Calibri" pitchFamily="34" charset="-122"/>
                <a:cs typeface="Calibri" pitchFamily="34" charset="-120"/>
              </a:rPr>
              <a:t>foot-gun</a:t>
            </a:r>
            <a:r>
              <a:rPr lang="en-US" sz="1600" dirty="0">
                <a:solidFill>
                  <a:srgbClr val="1F2937"/>
                </a:solidFill>
                <a:latin typeface="Calibri" pitchFamily="34" charset="0"/>
                <a:ea typeface="Calibri" pitchFamily="34" charset="-122"/>
                <a:cs typeface="Calibri" pitchFamily="34" charset="-120"/>
              </a:rPr>
              <a:t> to avoid</a:t>
            </a:r>
            <a:endParaRPr lang="en-US" sz="1600" dirty="0"/>
          </a:p>
          <a:p>
            <a:pPr marL="228600" indent="-228600">
              <a:spcAft>
                <a:spcPts val="600"/>
              </a:spcAft>
              <a:buSzPct val="100000"/>
              <a:buChar char="■"/>
            </a:pPr>
            <a:r>
              <a:rPr lang="en-US" sz="1600" dirty="0">
                <a:solidFill>
                  <a:srgbClr val="1E2761"/>
                </a:solidFill>
                <a:latin typeface="Consolas" pitchFamily="34" charset="0"/>
                <a:ea typeface="Consolas" pitchFamily="34" charset="-122"/>
                <a:cs typeface="Consolas" pitchFamily="34" charset="-120"/>
              </a:rPr>
              <a:t>LD_LIBRARY_PATH</a:t>
            </a:r>
            <a:r>
              <a:rPr lang="en-US" sz="1600" dirty="0">
                <a:solidFill>
                  <a:srgbClr val="1F2937"/>
                </a:solidFill>
                <a:latin typeface="Calibri" pitchFamily="34" charset="0"/>
                <a:ea typeface="Calibri" pitchFamily="34" charset="-122"/>
                <a:cs typeface="Calibri" pitchFamily="34" charset="-120"/>
              </a:rPr>
              <a:t> — shared libraries, with a security angle</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pic>
        <p:nvPicPr>
          <p:cNvPr id="5" name="Picture 4" descr="access-footer.jpg"/>
          <p:cNvPicPr>
            <a:picLocks noChangeAspect="1"/>
          </p:cNvPicPr>
          <p:nvPr/>
        </p:nvPicPr>
        <p:blipFill>
          <a:blip r:embed="rId3"/>
          <a:stretch>
            <a:fillRect/>
          </a:stretch>
        </p:blipFill>
        <p:spPr>
          <a:xfrm>
            <a:off x="0" y="0"/>
            <a:ext cx="9144000" cy="5143500"/>
          </a:xfrm>
          <a:prstGeom prst="rect">
            <a:avLst/>
          </a:prstGeom>
        </p:spPr>
      </p:pic>
      <p:sp>
        <p:nvSpPr>
          <p:cNvPr id="2" name="Text 0"/>
          <p:cNvSpPr/>
          <p:nvPr/>
        </p:nvSpPr>
        <p:spPr>
          <a:xfrm>
            <a:off x="457200" y="274320"/>
            <a:ext cx="8229600" cy="594360"/>
          </a:xfrm>
          <a:prstGeom prst="rect">
            <a:avLst/>
          </a:prstGeom>
          <a:solidFill>
            <a:srgbClr val="FFFFFF"/>
          </a:solidFill>
          <a:ln/>
        </p:spPr>
        <p:txBody>
          <a:bodyPr wrap="square" lIns="0" tIns="0" rIns="0" bIns="0" rtlCol="0" anchor="ctr"/>
          <a:lstStyle/>
          <a:p>
            <a:pPr marL="0" indent="0">
              <a:buNone/>
            </a:pPr>
            <a:r>
              <a:rPr lang="en-US" sz="2800" b="1" dirty="0">
                <a:solidFill>
                  <a:srgbClr val="1E2761"/>
                </a:solidFill>
                <a:latin typeface="Cambria" pitchFamily="34" charset="0"/>
                <a:ea typeface="Cambria" pitchFamily="34" charset="-122"/>
                <a:cs typeface="Cambria" pitchFamily="34" charset="-120"/>
              </a:rPr>
              <a:t>Block 11 outline — Python virtual environments</a:t>
            </a:r>
            <a:endParaRPr lang="en-US" sz="2800" dirty="0"/>
          </a:p>
        </p:txBody>
      </p:sp>
      <p:sp>
        <p:nvSpPr>
          <p:cNvPr id="3" name="Shape 1"/>
          <p:cNvSpPr/>
          <p:nvPr/>
        </p:nvSpPr>
        <p:spPr>
          <a:xfrm>
            <a:off x="457200" y="868680"/>
            <a:ext cx="548640" cy="36576"/>
          </a:xfrm>
          <a:prstGeom prst="rect">
            <a:avLst/>
          </a:prstGeom>
          <a:solidFill>
            <a:srgbClr val="1E2761"/>
          </a:solidFill>
          <a:ln w="12700">
            <a:solidFill>
              <a:srgbClr val="1E2761"/>
            </a:solidFill>
            <a:prstDash val="solid"/>
          </a:ln>
        </p:spPr>
        <p:txBody>
          <a:bodyPr/>
          <a:lstStyle/>
          <a:p>
            <a:endParaRPr lang="en-US"/>
          </a:p>
        </p:txBody>
      </p:sp>
      <p:sp>
        <p:nvSpPr>
          <p:cNvPr id="4" name="Text 2"/>
          <p:cNvSpPr/>
          <p:nvPr/>
        </p:nvSpPr>
        <p:spPr>
          <a:xfrm>
            <a:off x="548640" y="1005840"/>
            <a:ext cx="8046720" cy="1488440"/>
          </a:xfrm>
          <a:prstGeom prst="rect">
            <a:avLst/>
          </a:prstGeom>
          <a:solidFill>
            <a:srgbClr val="FFFFFF"/>
          </a:solidFill>
          <a:ln/>
        </p:spPr>
        <p:txBody>
          <a:bodyPr wrap="square" lIns="0" tIns="0" rIns="0" bIns="0" rtlCol="0" anchor="t"/>
          <a:lstStyle/>
          <a:p>
            <a:pPr marL="228600" indent="-228600">
              <a:spcAft>
                <a:spcPts val="600"/>
              </a:spcAft>
              <a:buSzPct val="100000"/>
              <a:buChar char="■"/>
            </a:pPr>
            <a:r>
              <a:rPr lang="en-US" sz="1600" dirty="0">
                <a:solidFill>
                  <a:srgbClr val="1F2937"/>
                </a:solidFill>
                <a:latin typeface="Calibri" pitchFamily="34" charset="0"/>
                <a:ea typeface="Calibri" pitchFamily="34" charset="-122"/>
                <a:cs typeface="Calibri" pitchFamily="34" charset="-120"/>
              </a:rPr>
              <a:t>Why venvs exist (and why Ubuntu makes them practically mandatory)</a:t>
            </a:r>
            <a:endParaRPr lang="en-US" sz="1600" dirty="0"/>
          </a:p>
          <a:p>
            <a:pPr marL="228600" indent="-228600">
              <a:spcAft>
                <a:spcPts val="600"/>
              </a:spcAft>
              <a:buSzPct val="100000"/>
              <a:buChar char="■"/>
            </a:pPr>
            <a:r>
              <a:rPr lang="en-US" sz="1600" dirty="0">
                <a:solidFill>
                  <a:srgbClr val="1F2937"/>
                </a:solidFill>
                <a:latin typeface="Calibri" pitchFamily="34" charset="0"/>
                <a:ea typeface="Calibri" pitchFamily="34" charset="-122"/>
                <a:cs typeface="Calibri" pitchFamily="34" charset="-120"/>
              </a:rPr>
              <a:t>One-time install: </a:t>
            </a:r>
            <a:r>
              <a:rPr lang="en-US" sz="1600" dirty="0">
                <a:solidFill>
                  <a:srgbClr val="1E2761"/>
                </a:solidFill>
                <a:latin typeface="Consolas" pitchFamily="34" charset="0"/>
                <a:ea typeface="Consolas" pitchFamily="34" charset="-122"/>
                <a:cs typeface="Consolas" pitchFamily="34" charset="-120"/>
              </a:rPr>
              <a:t>python3-venv</a:t>
            </a:r>
            <a:r>
              <a:rPr lang="en-US" sz="1600" dirty="0">
                <a:solidFill>
                  <a:srgbClr val="1F2937"/>
                </a:solidFill>
                <a:latin typeface="Calibri" pitchFamily="34" charset="0"/>
                <a:ea typeface="Calibri" pitchFamily="34" charset="-122"/>
                <a:cs typeface="Calibri" pitchFamily="34" charset="-120"/>
              </a:rPr>
              <a:t> and </a:t>
            </a:r>
            <a:r>
              <a:rPr lang="en-US" sz="1600" dirty="0">
                <a:solidFill>
                  <a:srgbClr val="1E2761"/>
                </a:solidFill>
                <a:latin typeface="Consolas" pitchFamily="34" charset="0"/>
                <a:ea typeface="Consolas" pitchFamily="34" charset="-122"/>
                <a:cs typeface="Consolas" pitchFamily="34" charset="-120"/>
              </a:rPr>
              <a:t>python3-pip</a:t>
            </a:r>
            <a:endParaRPr lang="en-US" sz="1600" dirty="0"/>
          </a:p>
          <a:p>
            <a:pPr marL="228600" indent="-228600">
              <a:spcAft>
                <a:spcPts val="600"/>
              </a:spcAft>
              <a:buSzPct val="100000"/>
              <a:buChar char="■"/>
            </a:pPr>
            <a:r>
              <a:rPr lang="en-US" sz="1600" b="1" dirty="0">
                <a:solidFill>
                  <a:srgbClr val="1F2937"/>
                </a:solidFill>
                <a:latin typeface="Calibri" pitchFamily="34" charset="0"/>
                <a:ea typeface="Calibri" pitchFamily="34" charset="-122"/>
                <a:cs typeface="Calibri" pitchFamily="34" charset="-120"/>
              </a:rPr>
              <a:t>Create, activate, install, deactivate</a:t>
            </a:r>
            <a:endParaRPr lang="en-US" sz="1600" dirty="0"/>
          </a:p>
          <a:p>
            <a:pPr marL="228600" indent="-228600">
              <a:spcAft>
                <a:spcPts val="600"/>
              </a:spcAft>
              <a:buSzPct val="100000"/>
              <a:buChar char="■"/>
            </a:pPr>
            <a:r>
              <a:rPr lang="en-US" sz="1600" dirty="0">
                <a:solidFill>
                  <a:srgbClr val="1F2937"/>
                </a:solidFill>
                <a:latin typeface="Calibri" pitchFamily="34" charset="0"/>
                <a:ea typeface="Calibri" pitchFamily="34" charset="-122"/>
                <a:cs typeface="Calibri" pitchFamily="34" charset="-120"/>
              </a:rPr>
              <a:t>The workflow you'll use forever</a:t>
            </a:r>
            <a:endParaRPr lang="en-US" sz="1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pic>
        <p:nvPicPr>
          <p:cNvPr id="5" name="Picture 4" descr="access-footer.jpg"/>
          <p:cNvPicPr>
            <a:picLocks noChangeAspect="1"/>
          </p:cNvPicPr>
          <p:nvPr/>
        </p:nvPicPr>
        <p:blipFill>
          <a:blip r:embed="rId3"/>
          <a:stretch>
            <a:fillRect/>
          </a:stretch>
        </p:blipFill>
        <p:spPr>
          <a:xfrm>
            <a:off x="0" y="0"/>
            <a:ext cx="9144000" cy="5143500"/>
          </a:xfrm>
          <a:prstGeom prst="rect">
            <a:avLst/>
          </a:prstGeom>
        </p:spPr>
      </p:pic>
      <p:sp>
        <p:nvSpPr>
          <p:cNvPr id="2" name="Text 0"/>
          <p:cNvSpPr/>
          <p:nvPr/>
        </p:nvSpPr>
        <p:spPr>
          <a:xfrm>
            <a:off x="457200" y="274320"/>
            <a:ext cx="8229600" cy="594360"/>
          </a:xfrm>
          <a:prstGeom prst="rect">
            <a:avLst/>
          </a:prstGeom>
          <a:solidFill>
            <a:srgbClr val="FFFFFF"/>
          </a:solidFill>
          <a:ln/>
        </p:spPr>
        <p:txBody>
          <a:bodyPr wrap="square" lIns="0" tIns="0" rIns="0" bIns="0" rtlCol="0" anchor="ctr"/>
          <a:lstStyle/>
          <a:p>
            <a:pPr marL="0" indent="0">
              <a:buNone/>
            </a:pPr>
            <a:r>
              <a:rPr lang="en-US" sz="2800" b="1" dirty="0">
                <a:solidFill>
                  <a:srgbClr val="1E2761"/>
                </a:solidFill>
                <a:latin typeface="Cambria" pitchFamily="34" charset="0"/>
                <a:ea typeface="Cambria" pitchFamily="34" charset="-122"/>
                <a:cs typeface="Cambria" pitchFamily="34" charset="-120"/>
              </a:rPr>
              <a:t>Block 12 outline — Wrap up</a:t>
            </a:r>
            <a:endParaRPr lang="en-US" sz="2800" dirty="0"/>
          </a:p>
        </p:txBody>
      </p:sp>
      <p:sp>
        <p:nvSpPr>
          <p:cNvPr id="3" name="Shape 1"/>
          <p:cNvSpPr/>
          <p:nvPr/>
        </p:nvSpPr>
        <p:spPr>
          <a:xfrm>
            <a:off x="457200" y="868680"/>
            <a:ext cx="548640" cy="36576"/>
          </a:xfrm>
          <a:prstGeom prst="rect">
            <a:avLst/>
          </a:prstGeom>
          <a:solidFill>
            <a:srgbClr val="1E2761"/>
          </a:solidFill>
          <a:ln w="12700">
            <a:solidFill>
              <a:srgbClr val="1E2761"/>
            </a:solidFill>
            <a:prstDash val="solid"/>
          </a:ln>
        </p:spPr>
        <p:txBody>
          <a:bodyPr/>
          <a:lstStyle/>
          <a:p>
            <a:endParaRPr lang="en-US"/>
          </a:p>
        </p:txBody>
      </p:sp>
      <p:sp>
        <p:nvSpPr>
          <p:cNvPr id="4" name="Text 2"/>
          <p:cNvSpPr/>
          <p:nvPr/>
        </p:nvSpPr>
        <p:spPr>
          <a:xfrm>
            <a:off x="548640" y="1005840"/>
            <a:ext cx="8046720" cy="1488440"/>
          </a:xfrm>
          <a:prstGeom prst="rect">
            <a:avLst/>
          </a:prstGeom>
          <a:solidFill>
            <a:srgbClr val="FFFFFF"/>
          </a:solidFill>
          <a:ln/>
        </p:spPr>
        <p:txBody>
          <a:bodyPr wrap="square" lIns="0" tIns="0" rIns="0" bIns="0" rtlCol="0" anchor="t"/>
          <a:lstStyle/>
          <a:p>
            <a:pPr marL="228600" indent="-228600">
              <a:spcAft>
                <a:spcPts val="600"/>
              </a:spcAft>
              <a:buSzPct val="100000"/>
              <a:buChar char="■"/>
            </a:pPr>
            <a:r>
              <a:rPr lang="en-US" sz="1600" dirty="0">
                <a:solidFill>
                  <a:srgbClr val="1F2937"/>
                </a:solidFill>
                <a:latin typeface="Calibri" pitchFamily="34" charset="0"/>
                <a:ea typeface="Calibri" pitchFamily="34" charset="-122"/>
                <a:cs typeface="Calibri" pitchFamily="34" charset="-120"/>
              </a:rPr>
              <a:t>What you can now do</a:t>
            </a:r>
            <a:endParaRPr lang="en-US" sz="1600" dirty="0"/>
          </a:p>
          <a:p>
            <a:pPr marL="228600" indent="-228600">
              <a:spcAft>
                <a:spcPts val="600"/>
              </a:spcAft>
              <a:buSzPct val="100000"/>
              <a:buChar char="■"/>
            </a:pPr>
            <a:r>
              <a:rPr lang="en-US" sz="1600" dirty="0">
                <a:solidFill>
                  <a:srgbClr val="1F2937"/>
                </a:solidFill>
                <a:latin typeface="Calibri" pitchFamily="34" charset="0"/>
                <a:ea typeface="Calibri" pitchFamily="34" charset="-122"/>
                <a:cs typeface="Calibri" pitchFamily="34" charset="-120"/>
              </a:rPr>
              <a:t>What's coming </a:t>
            </a:r>
            <a:r>
              <a:rPr lang="en-US" sz="1600" b="1" dirty="0">
                <a:solidFill>
                  <a:srgbClr val="1F2937"/>
                </a:solidFill>
                <a:latin typeface="Calibri" pitchFamily="34" charset="0"/>
                <a:ea typeface="Calibri" pitchFamily="34" charset="-122"/>
                <a:cs typeface="Calibri" pitchFamily="34" charset="-120"/>
              </a:rPr>
              <a:t>next</a:t>
            </a:r>
            <a:r>
              <a:rPr lang="en-US" sz="1600" dirty="0">
                <a:solidFill>
                  <a:srgbClr val="1F2937"/>
                </a:solidFill>
                <a:latin typeface="Calibri" pitchFamily="34" charset="0"/>
                <a:ea typeface="Calibri" pitchFamily="34" charset="-122"/>
                <a:cs typeface="Calibri" pitchFamily="34" charset="-120"/>
              </a:rPr>
              <a:t> in the workshop</a:t>
            </a:r>
            <a:endParaRPr lang="en-US" sz="1600" dirty="0"/>
          </a:p>
          <a:p>
            <a:pPr marL="228600" indent="-228600">
              <a:spcAft>
                <a:spcPts val="600"/>
              </a:spcAft>
              <a:buSzPct val="100000"/>
              <a:buChar char="■"/>
            </a:pPr>
            <a:r>
              <a:rPr lang="en-US" sz="1600" dirty="0">
                <a:solidFill>
                  <a:srgbClr val="1F2937"/>
                </a:solidFill>
                <a:latin typeface="Calibri" pitchFamily="34" charset="0"/>
                <a:ea typeface="Calibri" pitchFamily="34" charset="-122"/>
                <a:cs typeface="Calibri" pitchFamily="34" charset="-120"/>
              </a:rPr>
              <a:t>The cheat sheet</a:t>
            </a:r>
            <a:endParaRPr lang="en-US" sz="1600" dirty="0"/>
          </a:p>
          <a:p>
            <a:pPr marL="228600" indent="-228600">
              <a:spcAft>
                <a:spcPts val="600"/>
              </a:spcAft>
              <a:buSzPct val="100000"/>
              <a:buChar char="■"/>
            </a:pPr>
            <a:r>
              <a:rPr lang="en-US" sz="1600" dirty="0">
                <a:solidFill>
                  <a:srgbClr val="1F2937"/>
                </a:solidFill>
                <a:latin typeface="Calibri" pitchFamily="34" charset="0"/>
                <a:ea typeface="Calibri" pitchFamily="34" charset="-122"/>
                <a:cs typeface="Calibri" pitchFamily="34" charset="-120"/>
              </a:rPr>
              <a:t>Q&amp;A</a:t>
            </a:r>
            <a:endParaRPr lang="en-US"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0">
            <a:extLst>
              <a:ext uri="{FF2B5EF4-FFF2-40B4-BE49-F238E27FC236}">
                <a16:creationId xmlns:a16="http://schemas.microsoft.com/office/drawing/2014/main" id="{C4F308D0-E16C-4CC5-260F-E28847C8B2B2}"/>
              </a:ext>
            </a:extLst>
          </p:cNvPr>
          <p:cNvSpPr/>
          <p:nvPr/>
        </p:nvSpPr>
        <p:spPr>
          <a:xfrm>
            <a:off x="548640" y="1280160"/>
            <a:ext cx="8046720" cy="457200"/>
          </a:xfrm>
          <a:prstGeom prst="rect">
            <a:avLst/>
          </a:prstGeom>
          <a:noFill/>
          <a:ln/>
        </p:spPr>
        <p:txBody>
          <a:bodyPr wrap="square" lIns="0" tIns="0" rIns="0" bIns="0" rtlCol="0" anchor="ctr"/>
          <a:lstStyle/>
          <a:p>
            <a:pPr marL="0" indent="0">
              <a:buNone/>
            </a:pPr>
            <a:r>
              <a:rPr lang="en-US" sz="1600" b="1" kern="0" spc="800" dirty="0">
                <a:latin typeface="Calibri" pitchFamily="34" charset="0"/>
                <a:ea typeface="Calibri" pitchFamily="34" charset="-122"/>
                <a:cs typeface="Calibri" pitchFamily="34" charset="-120"/>
              </a:rPr>
              <a:t>BLOCK 1</a:t>
            </a:r>
            <a:endParaRPr lang="en-US" sz="1600" dirty="0"/>
          </a:p>
        </p:txBody>
      </p:sp>
      <p:sp>
        <p:nvSpPr>
          <p:cNvPr id="4" name="Text 1">
            <a:extLst>
              <a:ext uri="{FF2B5EF4-FFF2-40B4-BE49-F238E27FC236}">
                <a16:creationId xmlns:a16="http://schemas.microsoft.com/office/drawing/2014/main" id="{39AB9CA9-4368-8FE5-AD42-55EA850B62AF}"/>
              </a:ext>
            </a:extLst>
          </p:cNvPr>
          <p:cNvSpPr/>
          <p:nvPr/>
        </p:nvSpPr>
        <p:spPr>
          <a:xfrm>
            <a:off x="548640" y="1783080"/>
            <a:ext cx="8046720" cy="1463040"/>
          </a:xfrm>
          <a:prstGeom prst="rect">
            <a:avLst/>
          </a:prstGeom>
          <a:noFill/>
          <a:ln/>
        </p:spPr>
        <p:txBody>
          <a:bodyPr wrap="square" lIns="0" tIns="0" rIns="0" bIns="0" rtlCol="0" anchor="t"/>
          <a:lstStyle/>
          <a:p>
            <a:pPr marL="0" indent="0">
              <a:buNone/>
            </a:pPr>
            <a:r>
              <a:rPr lang="en-US" sz="4000" b="1" dirty="0">
                <a:latin typeface="Cambria" pitchFamily="34" charset="0"/>
                <a:ea typeface="Cambria" pitchFamily="34" charset="-122"/>
                <a:cs typeface="Cambria" pitchFamily="34" charset="-120"/>
              </a:rPr>
              <a:t>Orientation</a:t>
            </a:r>
            <a:endParaRPr lang="en-US" sz="4000" dirty="0"/>
          </a:p>
        </p:txBody>
      </p:sp>
    </p:spTree>
    <p:extLst>
      <p:ext uri="{BB962C8B-B14F-4D97-AF65-F5344CB8AC3E}">
        <p14:creationId xmlns:p14="http://schemas.microsoft.com/office/powerpoint/2010/main" val="295695170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pic>
        <p:nvPicPr>
          <p:cNvPr id="7" name="Picture 6" descr="access-footer.jpg"/>
          <p:cNvPicPr>
            <a:picLocks noChangeAspect="1"/>
          </p:cNvPicPr>
          <p:nvPr/>
        </p:nvPicPr>
        <p:blipFill>
          <a:blip r:embed="rId3"/>
          <a:stretch>
            <a:fillRect/>
          </a:stretch>
        </p:blipFill>
        <p:spPr>
          <a:xfrm>
            <a:off x="0" y="0"/>
            <a:ext cx="9144000" cy="5143500"/>
          </a:xfrm>
          <a:prstGeom prst="rect">
            <a:avLst/>
          </a:prstGeom>
        </p:spPr>
      </p:pic>
      <p:sp>
        <p:nvSpPr>
          <p:cNvPr id="2" name="Text 0"/>
          <p:cNvSpPr/>
          <p:nvPr/>
        </p:nvSpPr>
        <p:spPr>
          <a:xfrm>
            <a:off x="457200" y="274320"/>
            <a:ext cx="8229600" cy="594360"/>
          </a:xfrm>
          <a:prstGeom prst="rect">
            <a:avLst/>
          </a:prstGeom>
          <a:solidFill>
            <a:srgbClr val="FFFFFF"/>
          </a:solidFill>
          <a:ln/>
        </p:spPr>
        <p:txBody>
          <a:bodyPr wrap="square" lIns="0" tIns="0" rIns="0" bIns="0" rtlCol="0" anchor="ctr"/>
          <a:lstStyle/>
          <a:p>
            <a:pPr marL="0" indent="0">
              <a:buNone/>
            </a:pPr>
            <a:r>
              <a:rPr lang="en-US" sz="2800" b="1" dirty="0">
                <a:solidFill>
                  <a:srgbClr val="1E2761"/>
                </a:solidFill>
                <a:latin typeface="Cambria" pitchFamily="34" charset="0"/>
                <a:ea typeface="Cambria" pitchFamily="34" charset="-122"/>
                <a:cs typeface="Cambria" pitchFamily="34" charset="-120"/>
              </a:rPr>
              <a:t>What is Linux?</a:t>
            </a:r>
            <a:endParaRPr lang="en-US" sz="2800" dirty="0"/>
          </a:p>
        </p:txBody>
      </p:sp>
      <p:sp>
        <p:nvSpPr>
          <p:cNvPr id="3" name="Shape 1"/>
          <p:cNvSpPr/>
          <p:nvPr/>
        </p:nvSpPr>
        <p:spPr>
          <a:xfrm>
            <a:off x="457200" y="868680"/>
            <a:ext cx="548640" cy="36576"/>
          </a:xfrm>
          <a:prstGeom prst="rect">
            <a:avLst/>
          </a:prstGeom>
          <a:solidFill>
            <a:srgbClr val="1E2761"/>
          </a:solidFill>
          <a:ln w="12700">
            <a:solidFill>
              <a:srgbClr val="1E2761"/>
            </a:solidFill>
            <a:prstDash val="solid"/>
          </a:ln>
        </p:spPr>
        <p:txBody>
          <a:bodyPr/>
          <a:lstStyle/>
          <a:p>
            <a:endParaRPr lang="en-US"/>
          </a:p>
        </p:txBody>
      </p:sp>
      <p:sp>
        <p:nvSpPr>
          <p:cNvPr id="4" name="Shape 2"/>
          <p:cNvSpPr/>
          <p:nvPr/>
        </p:nvSpPr>
        <p:spPr>
          <a:xfrm>
            <a:off x="457200" y="1005840"/>
            <a:ext cx="1005840" cy="292608"/>
          </a:xfrm>
          <a:prstGeom prst="rect">
            <a:avLst/>
          </a:prstGeom>
          <a:solidFill>
            <a:srgbClr val="1E2761"/>
          </a:solidFill>
          <a:ln w="12700">
            <a:solidFill>
              <a:srgbClr val="1E2761"/>
            </a:solidFill>
            <a:prstDash val="solid"/>
          </a:ln>
        </p:spPr>
        <p:txBody>
          <a:bodyPr/>
          <a:lstStyle/>
          <a:p>
            <a:endParaRPr lang="en-US"/>
          </a:p>
        </p:txBody>
      </p:sp>
      <p:sp>
        <p:nvSpPr>
          <p:cNvPr id="5" name="Text 3"/>
          <p:cNvSpPr/>
          <p:nvPr/>
        </p:nvSpPr>
        <p:spPr>
          <a:xfrm>
            <a:off x="457200" y="1005840"/>
            <a:ext cx="1005840" cy="292608"/>
          </a:xfrm>
          <a:prstGeom prst="rect">
            <a:avLst/>
          </a:prstGeom>
          <a:noFill/>
          <a:ln/>
        </p:spPr>
        <p:txBody>
          <a:bodyPr wrap="square" lIns="0" tIns="0" rIns="0" bIns="0" rtlCol="0" anchor="ctr"/>
          <a:lstStyle/>
          <a:p>
            <a:pPr marL="0" indent="0" algn="ctr">
              <a:buNone/>
            </a:pPr>
            <a:r>
              <a:rPr lang="en-US" sz="1100" b="1" kern="0" spc="200" dirty="0">
                <a:solidFill>
                  <a:srgbClr val="FFFFFF"/>
                </a:solidFill>
                <a:latin typeface="Calibri" pitchFamily="34" charset="0"/>
                <a:ea typeface="Calibri" pitchFamily="34" charset="-122"/>
                <a:cs typeface="Calibri" pitchFamily="34" charset="-120"/>
              </a:rPr>
              <a:t>TALK</a:t>
            </a:r>
            <a:endParaRPr lang="en-US" sz="1100" dirty="0"/>
          </a:p>
        </p:txBody>
      </p:sp>
      <p:sp>
        <p:nvSpPr>
          <p:cNvPr id="6" name="Text 4"/>
          <p:cNvSpPr/>
          <p:nvPr/>
        </p:nvSpPr>
        <p:spPr>
          <a:xfrm>
            <a:off x="548640" y="1435608"/>
            <a:ext cx="8046720" cy="2778760"/>
          </a:xfrm>
          <a:prstGeom prst="rect">
            <a:avLst/>
          </a:prstGeom>
          <a:solidFill>
            <a:srgbClr val="FFFFFF"/>
          </a:solidFill>
          <a:ln/>
        </p:spPr>
        <p:txBody>
          <a:bodyPr wrap="square" lIns="0" tIns="0" rIns="0" bIns="0" rtlCol="0" anchor="t"/>
          <a:lstStyle/>
          <a:p>
            <a:pPr marL="228600" indent="-228600">
              <a:spcAft>
                <a:spcPts val="600"/>
              </a:spcAft>
              <a:buSzPct val="100000"/>
              <a:buChar char="■"/>
            </a:pPr>
            <a:r>
              <a:rPr lang="en-US" sz="1600" dirty="0">
                <a:solidFill>
                  <a:srgbClr val="1F2937"/>
                </a:solidFill>
                <a:latin typeface="Calibri" pitchFamily="34" charset="0"/>
                <a:ea typeface="Calibri" pitchFamily="34" charset="-122"/>
                <a:cs typeface="Calibri" pitchFamily="34" charset="-120"/>
              </a:rPr>
              <a:t>Linux is the </a:t>
            </a:r>
            <a:r>
              <a:rPr lang="en-US" sz="1600" b="1" dirty="0">
                <a:solidFill>
                  <a:srgbClr val="1F2937"/>
                </a:solidFill>
                <a:latin typeface="Calibri" pitchFamily="34" charset="0"/>
                <a:ea typeface="Calibri" pitchFamily="34" charset="-122"/>
                <a:cs typeface="Calibri" pitchFamily="34" charset="-120"/>
              </a:rPr>
              <a:t>operating system</a:t>
            </a:r>
            <a:r>
              <a:rPr lang="en-US" sz="1600" dirty="0">
                <a:solidFill>
                  <a:srgbClr val="1F2937"/>
                </a:solidFill>
                <a:latin typeface="Calibri" pitchFamily="34" charset="0"/>
                <a:ea typeface="Calibri" pitchFamily="34" charset="-122"/>
                <a:cs typeface="Calibri" pitchFamily="34" charset="-120"/>
              </a:rPr>
              <a:t> that runs most of the servers, cloud VMs, supercomputers, and embedded devices on the planet.</a:t>
            </a:r>
            <a:endParaRPr lang="en-US" sz="1600" dirty="0"/>
          </a:p>
          <a:p>
            <a:pPr marL="228600" indent="-228600">
              <a:spcAft>
                <a:spcPts val="600"/>
              </a:spcAft>
              <a:buSzPct val="100000"/>
              <a:buChar char="■"/>
            </a:pPr>
            <a:r>
              <a:rPr lang="en-US" sz="1600" dirty="0">
                <a:solidFill>
                  <a:srgbClr val="1F2937"/>
                </a:solidFill>
                <a:latin typeface="Calibri" pitchFamily="34" charset="0"/>
                <a:ea typeface="Calibri" pitchFamily="34" charset="-122"/>
                <a:cs typeface="Calibri" pitchFamily="34" charset="-120"/>
              </a:rPr>
              <a:t>Android is Linux underneath. Most websites you visit run on Linux. Your VM is Linux.</a:t>
            </a:r>
            <a:endParaRPr lang="en-US" sz="1600" dirty="0"/>
          </a:p>
          <a:p>
            <a:pPr marL="228600" indent="-228600">
              <a:spcAft>
                <a:spcPts val="600"/>
              </a:spcAft>
              <a:buSzPct val="100000"/>
              <a:buChar char="■"/>
            </a:pPr>
            <a:r>
              <a:rPr lang="en-US" sz="1600" dirty="0">
                <a:solidFill>
                  <a:srgbClr val="1F2937"/>
                </a:solidFill>
                <a:latin typeface="Calibri" pitchFamily="34" charset="0"/>
                <a:ea typeface="Calibri" pitchFamily="34" charset="-122"/>
                <a:cs typeface="Calibri" pitchFamily="34" charset="-120"/>
              </a:rPr>
              <a:t>Linux is a real </a:t>
            </a:r>
            <a:r>
              <a:rPr lang="en-US" sz="1600" b="1" dirty="0">
                <a:solidFill>
                  <a:srgbClr val="1F2937"/>
                </a:solidFill>
                <a:latin typeface="Calibri" pitchFamily="34" charset="0"/>
                <a:ea typeface="Calibri" pitchFamily="34" charset="-122"/>
                <a:cs typeface="Calibri" pitchFamily="34" charset="-120"/>
              </a:rPr>
              <a:t>Open Source success story</a:t>
            </a:r>
            <a:r>
              <a:rPr lang="en-US" sz="1600" dirty="0">
                <a:solidFill>
                  <a:srgbClr val="1F2937"/>
                </a:solidFill>
                <a:latin typeface="Calibri" pitchFamily="34" charset="0"/>
                <a:ea typeface="Calibri" pitchFamily="34" charset="-122"/>
                <a:cs typeface="Calibri" pitchFamily="34" charset="-120"/>
              </a:rPr>
              <a:t>.</a:t>
            </a:r>
            <a:endParaRPr lang="en-US" sz="1600" dirty="0"/>
          </a:p>
          <a:p>
            <a:pPr marL="457200" lvl="1" indent="-228600">
              <a:spcAft>
                <a:spcPts val="600"/>
              </a:spcAft>
              <a:buSzPct val="100000"/>
              <a:buChar char="■"/>
            </a:pPr>
            <a:r>
              <a:rPr lang="en-US" sz="1600" dirty="0">
                <a:solidFill>
                  <a:srgbClr val="1E2761"/>
                </a:solidFill>
                <a:latin typeface="Consolas" pitchFamily="34" charset="0"/>
                <a:ea typeface="Consolas" pitchFamily="34" charset="-122"/>
                <a:cs typeface="Consolas" pitchFamily="34" charset="-120"/>
              </a:rPr>
              <a:t>git</a:t>
            </a:r>
            <a:r>
              <a:rPr lang="en-US" sz="1600" dirty="0">
                <a:solidFill>
                  <a:srgbClr val="1F2937"/>
                </a:solidFill>
                <a:latin typeface="Calibri" pitchFamily="34" charset="0"/>
                <a:ea typeface="Calibri" pitchFamily="34" charset="-122"/>
                <a:cs typeface="Calibri" pitchFamily="34" charset="-120"/>
              </a:rPr>
              <a:t> was created because maintaining the Linux source was hard.</a:t>
            </a:r>
            <a:endParaRPr lang="en-US" sz="1600" dirty="0"/>
          </a:p>
          <a:p>
            <a:pPr marL="228600" indent="-228600">
              <a:spcAft>
                <a:spcPts val="600"/>
              </a:spcAft>
              <a:buSzPct val="100000"/>
              <a:buChar char="■"/>
            </a:pPr>
            <a:r>
              <a:rPr lang="en-US" sz="1600" dirty="0">
                <a:solidFill>
                  <a:srgbClr val="1F2937"/>
                </a:solidFill>
                <a:latin typeface="Calibri" pitchFamily="34" charset="0"/>
                <a:ea typeface="Calibri" pitchFamily="34" charset="-122"/>
                <a:cs typeface="Calibri" pitchFamily="34" charset="-120"/>
              </a:rPr>
              <a:t>Linux is free; </a:t>
            </a:r>
            <a:r>
              <a:rPr lang="en-US" sz="1600" b="1" dirty="0">
                <a:solidFill>
                  <a:srgbClr val="1F2937"/>
                </a:solidFill>
                <a:latin typeface="Calibri" pitchFamily="34" charset="0"/>
                <a:ea typeface="Calibri" pitchFamily="34" charset="-122"/>
                <a:cs typeface="Calibri" pitchFamily="34" charset="-120"/>
              </a:rPr>
              <a:t>distributions may cost money</a:t>
            </a:r>
            <a:r>
              <a:rPr lang="en-US" sz="1600" dirty="0">
                <a:solidFill>
                  <a:srgbClr val="1F2937"/>
                </a:solidFill>
                <a:latin typeface="Calibri" pitchFamily="34" charset="0"/>
                <a:ea typeface="Calibri" pitchFamily="34" charset="-122"/>
                <a:cs typeface="Calibri" pitchFamily="34" charset="-120"/>
              </a:rPr>
              <a:t>.</a:t>
            </a:r>
            <a:endParaRPr lang="en-US" sz="1600" dirty="0"/>
          </a:p>
          <a:p>
            <a:pPr marL="228600" indent="-228600">
              <a:spcAft>
                <a:spcPts val="600"/>
              </a:spcAft>
              <a:buSzPct val="100000"/>
              <a:buChar char="■"/>
            </a:pPr>
            <a:r>
              <a:rPr lang="en-US" sz="1600" dirty="0">
                <a:solidFill>
                  <a:srgbClr val="1F2937"/>
                </a:solidFill>
                <a:latin typeface="Calibri" pitchFamily="34" charset="0"/>
                <a:ea typeface="Calibri" pitchFamily="34" charset="-122"/>
                <a:cs typeface="Calibri" pitchFamily="34" charset="-120"/>
              </a:rPr>
              <a:t>Very few people run Linux on the desktop/laptop.</a:t>
            </a:r>
            <a:endParaRPr lang="en-US" sz="1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pic>
        <p:nvPicPr>
          <p:cNvPr id="6" name="Picture 5" descr="access-footer.jpg"/>
          <p:cNvPicPr>
            <a:picLocks noChangeAspect="1"/>
          </p:cNvPicPr>
          <p:nvPr/>
        </p:nvPicPr>
        <p:blipFill>
          <a:blip r:embed="rId3"/>
          <a:stretch>
            <a:fillRect/>
          </a:stretch>
        </p:blipFill>
        <p:spPr>
          <a:xfrm>
            <a:off x="0" y="0"/>
            <a:ext cx="9144000" cy="5143500"/>
          </a:xfrm>
          <a:prstGeom prst="rect">
            <a:avLst/>
          </a:prstGeom>
        </p:spPr>
      </p:pic>
      <p:sp>
        <p:nvSpPr>
          <p:cNvPr id="2" name="Text 0"/>
          <p:cNvSpPr/>
          <p:nvPr/>
        </p:nvSpPr>
        <p:spPr>
          <a:xfrm>
            <a:off x="457200" y="274320"/>
            <a:ext cx="8229600" cy="594360"/>
          </a:xfrm>
          <a:prstGeom prst="rect">
            <a:avLst/>
          </a:prstGeom>
          <a:solidFill>
            <a:srgbClr val="FFFFFF"/>
          </a:solidFill>
          <a:ln/>
        </p:spPr>
        <p:txBody>
          <a:bodyPr wrap="square" lIns="0" tIns="0" rIns="0" bIns="0" rtlCol="0" anchor="ctr"/>
          <a:lstStyle/>
          <a:p>
            <a:pPr marL="0" indent="0">
              <a:buNone/>
            </a:pPr>
            <a:r>
              <a:rPr lang="en-US" sz="2800" b="1" dirty="0">
                <a:solidFill>
                  <a:srgbClr val="1E2761"/>
                </a:solidFill>
                <a:latin typeface="Cambria" pitchFamily="34" charset="0"/>
                <a:ea typeface="Cambria" pitchFamily="34" charset="-122"/>
                <a:cs typeface="Cambria" pitchFamily="34" charset="-120"/>
              </a:rPr>
              <a:t>Where Linux comes from</a:t>
            </a:r>
            <a:endParaRPr lang="en-US" sz="2800" dirty="0"/>
          </a:p>
        </p:txBody>
      </p:sp>
      <p:sp>
        <p:nvSpPr>
          <p:cNvPr id="3" name="Shape 1"/>
          <p:cNvSpPr/>
          <p:nvPr/>
        </p:nvSpPr>
        <p:spPr>
          <a:xfrm>
            <a:off x="457200" y="868680"/>
            <a:ext cx="548640" cy="36576"/>
          </a:xfrm>
          <a:prstGeom prst="rect">
            <a:avLst/>
          </a:prstGeom>
          <a:solidFill>
            <a:srgbClr val="1E2761"/>
          </a:solidFill>
          <a:ln w="12700">
            <a:solidFill>
              <a:srgbClr val="1E2761"/>
            </a:solidFill>
            <a:prstDash val="solid"/>
          </a:ln>
        </p:spPr>
        <p:txBody>
          <a:bodyPr/>
          <a:lstStyle/>
          <a:p>
            <a:endParaRPr lang="en-US"/>
          </a:p>
        </p:txBody>
      </p:sp>
      <p:pic>
        <p:nvPicPr>
          <p:cNvPr id="4" name="Image 0" descr="/Users/henschel/Dropbox/Documents/Publications/2026/2026_05_Step1Teaching/LinuxCurriculum/images/unix-history.png"/>
          <p:cNvPicPr>
            <a:picLocks noChangeAspect="1"/>
          </p:cNvPicPr>
          <p:nvPr/>
        </p:nvPicPr>
        <p:blipFill>
          <a:blip r:embed="rId4"/>
          <a:stretch>
            <a:fillRect/>
          </a:stretch>
        </p:blipFill>
        <p:spPr>
          <a:xfrm>
            <a:off x="1158240" y="960120"/>
            <a:ext cx="6827520" cy="3840480"/>
          </a:xfrm>
          <a:prstGeom prst="rect">
            <a:avLst/>
          </a:prstGeom>
        </p:spPr>
      </p:pic>
      <p:sp>
        <p:nvSpPr>
          <p:cNvPr id="5" name="Text 2"/>
          <p:cNvSpPr/>
          <p:nvPr/>
        </p:nvSpPr>
        <p:spPr>
          <a:xfrm>
            <a:off x="365760" y="4864608"/>
            <a:ext cx="8412480" cy="228600"/>
          </a:xfrm>
          <a:prstGeom prst="rect">
            <a:avLst/>
          </a:prstGeom>
          <a:solidFill>
            <a:srgbClr val="FFFFFF"/>
          </a:solidFill>
          <a:ln/>
        </p:spPr>
        <p:txBody>
          <a:bodyPr wrap="square" lIns="0" tIns="0" rIns="0" bIns="0" rtlCol="0" anchor="ctr"/>
          <a:lstStyle/>
          <a:p>
            <a:pPr marL="0" indent="0" algn="ctr">
              <a:buNone/>
            </a:pPr>
            <a:r>
              <a:rPr lang="en-US" sz="900" i="1" dirty="0">
                <a:solidFill>
                  <a:srgbClr val="475569"/>
                </a:solidFill>
                <a:latin typeface="Calibri" pitchFamily="34" charset="0"/>
                <a:ea typeface="Calibri" pitchFamily="34" charset="-122"/>
                <a:cs typeface="Calibri" pitchFamily="34" charset="-120"/>
              </a:rPr>
              <a:t>"Unix history (simplified)" — Wikimedia Commons, CC BY-SA 3.0 / GFDL.  Linux is on the left; macOS sits in the BSD/Darwin branch.  Windows, DOS, OS/2 are not in this family.</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pic>
        <p:nvPicPr>
          <p:cNvPr id="7" name="Picture 6" descr="access-footer.jpg"/>
          <p:cNvPicPr>
            <a:picLocks noChangeAspect="1"/>
          </p:cNvPicPr>
          <p:nvPr/>
        </p:nvPicPr>
        <p:blipFill>
          <a:blip r:embed="rId3"/>
          <a:stretch>
            <a:fillRect/>
          </a:stretch>
        </p:blipFill>
        <p:spPr>
          <a:xfrm>
            <a:off x="0" y="0"/>
            <a:ext cx="9144000" cy="5143500"/>
          </a:xfrm>
          <a:prstGeom prst="rect">
            <a:avLst/>
          </a:prstGeom>
        </p:spPr>
      </p:pic>
      <p:sp>
        <p:nvSpPr>
          <p:cNvPr id="2" name="Text 0"/>
          <p:cNvSpPr/>
          <p:nvPr/>
        </p:nvSpPr>
        <p:spPr>
          <a:xfrm>
            <a:off x="457200" y="274320"/>
            <a:ext cx="8229600" cy="594360"/>
          </a:xfrm>
          <a:prstGeom prst="rect">
            <a:avLst/>
          </a:prstGeom>
          <a:solidFill>
            <a:srgbClr val="FFFFFF"/>
          </a:solidFill>
          <a:ln/>
        </p:spPr>
        <p:txBody>
          <a:bodyPr wrap="square" lIns="0" tIns="0" rIns="0" bIns="0" rtlCol="0" anchor="ctr"/>
          <a:lstStyle/>
          <a:p>
            <a:pPr marL="0" indent="0">
              <a:buNone/>
            </a:pPr>
            <a:r>
              <a:rPr lang="en-US" sz="2800" b="1" dirty="0">
                <a:solidFill>
                  <a:srgbClr val="1E2761"/>
                </a:solidFill>
                <a:latin typeface="Cambria" pitchFamily="34" charset="0"/>
                <a:ea typeface="Cambria" pitchFamily="34" charset="-122"/>
                <a:cs typeface="Cambria" pitchFamily="34" charset="-120"/>
              </a:rPr>
              <a:t>Many distributions, one Linux</a:t>
            </a:r>
            <a:endParaRPr lang="en-US" sz="2800" dirty="0"/>
          </a:p>
        </p:txBody>
      </p:sp>
      <p:sp>
        <p:nvSpPr>
          <p:cNvPr id="3" name="Shape 1"/>
          <p:cNvSpPr/>
          <p:nvPr/>
        </p:nvSpPr>
        <p:spPr>
          <a:xfrm>
            <a:off x="457200" y="868680"/>
            <a:ext cx="548640" cy="36576"/>
          </a:xfrm>
          <a:prstGeom prst="rect">
            <a:avLst/>
          </a:prstGeom>
          <a:solidFill>
            <a:srgbClr val="1E2761"/>
          </a:solidFill>
          <a:ln w="12700">
            <a:solidFill>
              <a:srgbClr val="1E2761"/>
            </a:solidFill>
            <a:prstDash val="solid"/>
          </a:ln>
        </p:spPr>
        <p:txBody>
          <a:bodyPr/>
          <a:lstStyle/>
          <a:p>
            <a:endParaRPr lang="en-US"/>
          </a:p>
        </p:txBody>
      </p:sp>
      <p:pic>
        <p:nvPicPr>
          <p:cNvPr id="4" name="Image 0" descr="/Users/henschel/Dropbox/Documents/Publications/2026/2026_05_Step1Teaching/LinuxCurriculum/images/linux-distro-timeline.png"/>
          <p:cNvPicPr>
            <a:picLocks noChangeAspect="1"/>
          </p:cNvPicPr>
          <p:nvPr/>
        </p:nvPicPr>
        <p:blipFill>
          <a:blip r:embed="rId4"/>
          <a:stretch>
            <a:fillRect/>
          </a:stretch>
        </p:blipFill>
        <p:spPr>
          <a:xfrm>
            <a:off x="457200" y="960120"/>
            <a:ext cx="1019861" cy="3840480"/>
          </a:xfrm>
          <a:prstGeom prst="rect">
            <a:avLst/>
          </a:prstGeom>
        </p:spPr>
      </p:pic>
      <p:sp>
        <p:nvSpPr>
          <p:cNvPr id="5" name="Text 2"/>
          <p:cNvSpPr/>
          <p:nvPr/>
        </p:nvSpPr>
        <p:spPr>
          <a:xfrm>
            <a:off x="1842821" y="1051560"/>
            <a:ext cx="6935419" cy="3657600"/>
          </a:xfrm>
          <a:prstGeom prst="rect">
            <a:avLst/>
          </a:prstGeom>
          <a:solidFill>
            <a:srgbClr val="FFFFFF"/>
          </a:solidFill>
          <a:ln/>
        </p:spPr>
        <p:txBody>
          <a:bodyPr wrap="square" lIns="0" tIns="0" rIns="0" bIns="0" rtlCol="0" anchor="t"/>
          <a:lstStyle/>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"Linux" is technically just the </a:t>
            </a:r>
            <a:r>
              <a:rPr lang="en-US" sz="1500" b="1" dirty="0">
                <a:solidFill>
                  <a:srgbClr val="1F2937"/>
                </a:solidFill>
                <a:latin typeface="Calibri" pitchFamily="34" charset="0"/>
                <a:ea typeface="Calibri" pitchFamily="34" charset="-122"/>
                <a:cs typeface="Calibri" pitchFamily="34" charset="-120"/>
              </a:rPr>
              <a:t>kernel</a:t>
            </a:r>
            <a:r>
              <a:rPr lang="en-US" sz="1500" dirty="0">
                <a:solidFill>
                  <a:srgbClr val="1F2937"/>
                </a:solidFill>
                <a:latin typeface="Calibri" pitchFamily="34" charset="0"/>
                <a:ea typeface="Calibri" pitchFamily="34" charset="-122"/>
                <a:cs typeface="Calibri" pitchFamily="34" charset="-120"/>
              </a:rPr>
              <a:t> — the core of the OS.</a:t>
            </a:r>
            <a:endParaRPr lang="en-US" sz="1500" dirty="0"/>
          </a:p>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A </a:t>
            </a:r>
            <a:r>
              <a:rPr lang="en-US" sz="1500" b="1" dirty="0">
                <a:solidFill>
                  <a:srgbClr val="1F2937"/>
                </a:solidFill>
                <a:latin typeface="Calibri" pitchFamily="34" charset="0"/>
                <a:ea typeface="Calibri" pitchFamily="34" charset="-122"/>
                <a:cs typeface="Calibri" pitchFamily="34" charset="-120"/>
              </a:rPr>
              <a:t>distribution</a:t>
            </a:r>
            <a:r>
              <a:rPr lang="en-US" sz="1500" dirty="0">
                <a:solidFill>
                  <a:srgbClr val="1F2937"/>
                </a:solidFill>
                <a:latin typeface="Calibri" pitchFamily="34" charset="0"/>
                <a:ea typeface="Calibri" pitchFamily="34" charset="-122"/>
                <a:cs typeface="Calibri" pitchFamily="34" charset="-120"/>
              </a:rPr>
              <a:t> ("distro") bundles the kernel with a package manager, default tools, and an installer.</a:t>
            </a:r>
            <a:endParaRPr lang="en-US" sz="1500" dirty="0"/>
          </a:p>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Hundreds of distros exist. Most descend from a few ancestors:</a:t>
            </a:r>
            <a:endParaRPr lang="en-US" sz="1500" dirty="0"/>
          </a:p>
          <a:p>
            <a:pPr marL="457200" lvl="1" indent="-228600">
              <a:spcAft>
                <a:spcPts val="600"/>
              </a:spcAft>
              <a:buSzPct val="100000"/>
              <a:buChar char="■"/>
            </a:pPr>
            <a:r>
              <a:rPr lang="en-US" sz="1500" b="1" dirty="0">
                <a:solidFill>
                  <a:srgbClr val="1F2937"/>
                </a:solidFill>
                <a:latin typeface="Calibri" pitchFamily="34" charset="0"/>
                <a:ea typeface="Calibri" pitchFamily="34" charset="-122"/>
                <a:cs typeface="Calibri" pitchFamily="34" charset="-120"/>
              </a:rPr>
              <a:t>Debian</a:t>
            </a:r>
            <a:r>
              <a:rPr lang="en-US" sz="1500" dirty="0">
                <a:solidFill>
                  <a:srgbClr val="1F2937"/>
                </a:solidFill>
                <a:latin typeface="Calibri" pitchFamily="34" charset="0"/>
                <a:ea typeface="Calibri" pitchFamily="34" charset="-122"/>
                <a:cs typeface="Calibri" pitchFamily="34" charset="-120"/>
              </a:rPr>
              <a:t> → Ubuntu, Mint</a:t>
            </a:r>
            <a:endParaRPr lang="en-US" sz="1500" dirty="0"/>
          </a:p>
          <a:p>
            <a:pPr marL="457200" lvl="1" indent="-228600">
              <a:spcAft>
                <a:spcPts val="600"/>
              </a:spcAft>
              <a:buSzPct val="100000"/>
              <a:buChar char="■"/>
            </a:pPr>
            <a:r>
              <a:rPr lang="en-US" sz="1500" b="1" dirty="0">
                <a:solidFill>
                  <a:srgbClr val="1F2937"/>
                </a:solidFill>
                <a:latin typeface="Calibri" pitchFamily="34" charset="0"/>
                <a:ea typeface="Calibri" pitchFamily="34" charset="-122"/>
                <a:cs typeface="Calibri" pitchFamily="34" charset="-120"/>
              </a:rPr>
              <a:t>Red Hat</a:t>
            </a:r>
            <a:r>
              <a:rPr lang="en-US" sz="1500" dirty="0">
                <a:solidFill>
                  <a:srgbClr val="1F2937"/>
                </a:solidFill>
                <a:latin typeface="Calibri" pitchFamily="34" charset="0"/>
                <a:ea typeface="Calibri" pitchFamily="34" charset="-122"/>
                <a:cs typeface="Calibri" pitchFamily="34" charset="-120"/>
              </a:rPr>
              <a:t> → Fedora, CentOS, Rocky</a:t>
            </a:r>
            <a:endParaRPr lang="en-US" sz="1500" dirty="0"/>
          </a:p>
          <a:p>
            <a:pPr marL="457200" lvl="1" indent="-228600">
              <a:spcAft>
                <a:spcPts val="600"/>
              </a:spcAft>
              <a:buSzPct val="100000"/>
              <a:buChar char="■"/>
            </a:pPr>
            <a:r>
              <a:rPr lang="en-US" sz="1500" b="1" dirty="0">
                <a:solidFill>
                  <a:srgbClr val="1F2937"/>
                </a:solidFill>
                <a:latin typeface="Calibri" pitchFamily="34" charset="0"/>
                <a:ea typeface="Calibri" pitchFamily="34" charset="-122"/>
                <a:cs typeface="Calibri" pitchFamily="34" charset="-120"/>
              </a:rPr>
              <a:t>Slackware</a:t>
            </a:r>
            <a:r>
              <a:rPr lang="en-US" sz="1500" dirty="0">
                <a:solidFill>
                  <a:srgbClr val="1F2937"/>
                </a:solidFill>
                <a:latin typeface="Calibri" pitchFamily="34" charset="0"/>
                <a:ea typeface="Calibri" pitchFamily="34" charset="-122"/>
                <a:cs typeface="Calibri" pitchFamily="34" charset="-120"/>
              </a:rPr>
              <a:t>, </a:t>
            </a:r>
            <a:r>
              <a:rPr lang="en-US" sz="1500" b="1" dirty="0">
                <a:solidFill>
                  <a:srgbClr val="1F2937"/>
                </a:solidFill>
                <a:latin typeface="Calibri" pitchFamily="34" charset="0"/>
                <a:ea typeface="Calibri" pitchFamily="34" charset="-122"/>
                <a:cs typeface="Calibri" pitchFamily="34" charset="-120"/>
              </a:rPr>
              <a:t>Arch</a:t>
            </a:r>
            <a:r>
              <a:rPr lang="en-US" sz="1500" dirty="0">
                <a:solidFill>
                  <a:srgbClr val="1F2937"/>
                </a:solidFill>
                <a:latin typeface="Calibri" pitchFamily="34" charset="0"/>
                <a:ea typeface="Calibri" pitchFamily="34" charset="-122"/>
                <a:cs typeface="Calibri" pitchFamily="34" charset="-120"/>
              </a:rPr>
              <a:t>, </a:t>
            </a:r>
            <a:r>
              <a:rPr lang="en-US" sz="1500" b="1" dirty="0">
                <a:solidFill>
                  <a:srgbClr val="1F2937"/>
                </a:solidFill>
                <a:latin typeface="Calibri" pitchFamily="34" charset="0"/>
                <a:ea typeface="Calibri" pitchFamily="34" charset="-122"/>
                <a:cs typeface="Calibri" pitchFamily="34" charset="-120"/>
              </a:rPr>
              <a:t>SuSE</a:t>
            </a:r>
            <a:r>
              <a:rPr lang="en-US" sz="1500" dirty="0">
                <a:solidFill>
                  <a:srgbClr val="1F2937"/>
                </a:solidFill>
                <a:latin typeface="Calibri" pitchFamily="34" charset="0"/>
                <a:ea typeface="Calibri" pitchFamily="34" charset="-122"/>
                <a:cs typeface="Calibri" pitchFamily="34" charset="-120"/>
              </a:rPr>
              <a:t>, others</a:t>
            </a:r>
            <a:endParaRPr lang="en-US" sz="1500" dirty="0"/>
          </a:p>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Your VM runs </a:t>
            </a:r>
            <a:r>
              <a:rPr lang="en-US" sz="1500" b="1" dirty="0">
                <a:solidFill>
                  <a:srgbClr val="1F2937"/>
                </a:solidFill>
                <a:latin typeface="Calibri" pitchFamily="34" charset="0"/>
                <a:ea typeface="Calibri" pitchFamily="34" charset="-122"/>
                <a:cs typeface="Calibri" pitchFamily="34" charset="-120"/>
              </a:rPr>
              <a:t>Ubuntu</a:t>
            </a:r>
            <a:r>
              <a:rPr lang="en-US" sz="1500" dirty="0">
                <a:solidFill>
                  <a:srgbClr val="1F2937"/>
                </a:solidFill>
                <a:latin typeface="Calibri" pitchFamily="34" charset="0"/>
                <a:ea typeface="Calibri" pitchFamily="34" charset="-122"/>
                <a:cs typeface="Calibri" pitchFamily="34" charset="-120"/>
              </a:rPr>
              <a:t> (Debian family). What you learn today works on basically every distro.</a:t>
            </a:r>
            <a:endParaRPr lang="en-US" sz="1500" dirty="0"/>
          </a:p>
        </p:txBody>
      </p:sp>
      <p:sp>
        <p:nvSpPr>
          <p:cNvPr id="6" name="Text 3"/>
          <p:cNvSpPr/>
          <p:nvPr/>
        </p:nvSpPr>
        <p:spPr>
          <a:xfrm>
            <a:off x="365760" y="4864608"/>
            <a:ext cx="8412480" cy="228600"/>
          </a:xfrm>
          <a:prstGeom prst="rect">
            <a:avLst/>
          </a:prstGeom>
          <a:solidFill>
            <a:srgbClr val="FFFFFF"/>
          </a:solidFill>
          <a:ln/>
        </p:spPr>
        <p:txBody>
          <a:bodyPr wrap="square" lIns="0" tIns="0" rIns="0" bIns="0" rtlCol="0" anchor="ctr"/>
          <a:lstStyle/>
          <a:p>
            <a:pPr marL="0" indent="0" algn="ctr">
              <a:buNone/>
            </a:pPr>
            <a:r>
              <a:rPr lang="en-US" sz="900" i="1" dirty="0">
                <a:solidFill>
                  <a:srgbClr val="475569"/>
                </a:solidFill>
                <a:latin typeface="Calibri" pitchFamily="34" charset="0"/>
                <a:ea typeface="Calibri" pitchFamily="34" charset="-122"/>
                <a:cs typeface="Calibri" pitchFamily="34" charset="-120"/>
              </a:rPr>
              <a:t>"2023 Linux Distributions Timeline" — GioComitini via GNUclad, building on Lundqvist &amp; Rodic.  Wikimedia Commons, CC BY-SA 4.0.</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a:effectLst/>
      </p:bgPr>
    </p:bg>
    <p:spTree>
      <p:nvGrpSpPr>
        <p:cNvPr id="1" name=""/>
        <p:cNvGrpSpPr/>
        <p:nvPr/>
      </p:nvGrpSpPr>
      <p:grpSpPr>
        <a:xfrm>
          <a:off x="0" y="0"/>
          <a:ext cx="0" cy="0"/>
          <a:chOff x="0" y="0"/>
          <a:chExt cx="0" cy="0"/>
        </a:xfrm>
      </p:grpSpPr>
      <p:pic>
        <p:nvPicPr>
          <p:cNvPr id="7" name="Picture 6" descr="access-footer.jpg"/>
          <p:cNvPicPr>
            <a:picLocks noChangeAspect="1"/>
          </p:cNvPicPr>
          <p:nvPr/>
        </p:nvPicPr>
        <p:blipFill>
          <a:blip r:embed="rId3"/>
          <a:stretch>
            <a:fillRect/>
          </a:stretch>
        </p:blipFill>
        <p:spPr>
          <a:xfrm>
            <a:off x="0" y="0"/>
            <a:ext cx="9144000" cy="5143500"/>
          </a:xfrm>
          <a:prstGeom prst="rect">
            <a:avLst/>
          </a:prstGeom>
        </p:spPr>
      </p:pic>
      <p:sp>
        <p:nvSpPr>
          <p:cNvPr id="2" name="Text 0"/>
          <p:cNvSpPr/>
          <p:nvPr/>
        </p:nvSpPr>
        <p:spPr>
          <a:xfrm>
            <a:off x="457200" y="274320"/>
            <a:ext cx="8229600" cy="594360"/>
          </a:xfrm>
          <a:prstGeom prst="rect">
            <a:avLst/>
          </a:prstGeom>
          <a:solidFill>
            <a:srgbClr val="FFFFFF"/>
          </a:solidFill>
          <a:ln/>
        </p:spPr>
        <p:txBody>
          <a:bodyPr wrap="square" lIns="0" tIns="0" rIns="0" bIns="0" rtlCol="0" anchor="ctr"/>
          <a:lstStyle/>
          <a:p>
            <a:pPr marL="0" indent="0">
              <a:buNone/>
            </a:pPr>
            <a:r>
              <a:rPr lang="en-US" sz="2800" b="1" dirty="0">
                <a:solidFill>
                  <a:srgbClr val="1E2761"/>
                </a:solidFill>
                <a:latin typeface="Cambria" pitchFamily="34" charset="0"/>
                <a:ea typeface="Cambria" pitchFamily="34" charset="-122"/>
                <a:cs typeface="Cambria" pitchFamily="34" charset="-120"/>
              </a:rPr>
              <a:t>What is a shell?</a:t>
            </a:r>
            <a:endParaRPr lang="en-US" sz="2800" dirty="0"/>
          </a:p>
        </p:txBody>
      </p:sp>
      <p:sp>
        <p:nvSpPr>
          <p:cNvPr id="3" name="Shape 1"/>
          <p:cNvSpPr/>
          <p:nvPr/>
        </p:nvSpPr>
        <p:spPr>
          <a:xfrm>
            <a:off x="457200" y="868680"/>
            <a:ext cx="548640" cy="36576"/>
          </a:xfrm>
          <a:prstGeom prst="rect">
            <a:avLst/>
          </a:prstGeom>
          <a:solidFill>
            <a:srgbClr val="1E2761"/>
          </a:solidFill>
          <a:ln w="12700">
            <a:solidFill>
              <a:srgbClr val="1E2761"/>
            </a:solidFill>
            <a:prstDash val="solid"/>
          </a:ln>
        </p:spPr>
        <p:txBody>
          <a:bodyPr/>
          <a:lstStyle/>
          <a:p>
            <a:endParaRPr lang="en-US"/>
          </a:p>
        </p:txBody>
      </p:sp>
      <p:sp>
        <p:nvSpPr>
          <p:cNvPr id="4" name="Shape 2"/>
          <p:cNvSpPr/>
          <p:nvPr/>
        </p:nvSpPr>
        <p:spPr>
          <a:xfrm>
            <a:off x="457200" y="1005840"/>
            <a:ext cx="1005840" cy="292608"/>
          </a:xfrm>
          <a:prstGeom prst="rect">
            <a:avLst/>
          </a:prstGeom>
          <a:solidFill>
            <a:srgbClr val="1E2761"/>
          </a:solidFill>
          <a:ln w="12700">
            <a:solidFill>
              <a:srgbClr val="1E2761"/>
            </a:solidFill>
            <a:prstDash val="solid"/>
          </a:ln>
        </p:spPr>
        <p:txBody>
          <a:bodyPr/>
          <a:lstStyle/>
          <a:p>
            <a:endParaRPr lang="en-US"/>
          </a:p>
        </p:txBody>
      </p:sp>
      <p:sp>
        <p:nvSpPr>
          <p:cNvPr id="5" name="Text 3"/>
          <p:cNvSpPr/>
          <p:nvPr/>
        </p:nvSpPr>
        <p:spPr>
          <a:xfrm>
            <a:off x="457200" y="1005840"/>
            <a:ext cx="1005840" cy="292608"/>
          </a:xfrm>
          <a:prstGeom prst="rect">
            <a:avLst/>
          </a:prstGeom>
          <a:noFill/>
          <a:ln/>
        </p:spPr>
        <p:txBody>
          <a:bodyPr wrap="square" lIns="0" tIns="0" rIns="0" bIns="0" rtlCol="0" anchor="ctr"/>
          <a:lstStyle/>
          <a:p>
            <a:pPr marL="0" indent="0" algn="ctr">
              <a:buNone/>
            </a:pPr>
            <a:r>
              <a:rPr lang="en-US" sz="1100" b="1" kern="0" spc="200" dirty="0">
                <a:solidFill>
                  <a:srgbClr val="FFFFFF"/>
                </a:solidFill>
                <a:latin typeface="Calibri" pitchFamily="34" charset="0"/>
                <a:ea typeface="Calibri" pitchFamily="34" charset="-122"/>
                <a:cs typeface="Calibri" pitchFamily="34" charset="-120"/>
              </a:rPr>
              <a:t>TALK</a:t>
            </a:r>
            <a:endParaRPr lang="en-US" sz="1100" dirty="0"/>
          </a:p>
        </p:txBody>
      </p:sp>
      <p:sp>
        <p:nvSpPr>
          <p:cNvPr id="6" name="Text 4"/>
          <p:cNvSpPr/>
          <p:nvPr/>
        </p:nvSpPr>
        <p:spPr>
          <a:xfrm>
            <a:off x="548640" y="1435608"/>
            <a:ext cx="8046720" cy="2341880"/>
          </a:xfrm>
          <a:prstGeom prst="rect">
            <a:avLst/>
          </a:prstGeom>
          <a:solidFill>
            <a:srgbClr val="FFFFFF"/>
          </a:solidFill>
          <a:ln/>
        </p:spPr>
        <p:txBody>
          <a:bodyPr wrap="square" lIns="0" tIns="0" rIns="0" bIns="0" rtlCol="0" anchor="t"/>
          <a:lstStyle/>
          <a:p>
            <a:pPr marL="228600" indent="-228600">
              <a:spcAft>
                <a:spcPts val="600"/>
              </a:spcAft>
              <a:buSzPct val="100000"/>
              <a:buChar char="■"/>
            </a:pPr>
            <a:r>
              <a:rPr lang="en-US" sz="1600" dirty="0">
                <a:solidFill>
                  <a:srgbClr val="1F2937"/>
                </a:solidFill>
                <a:latin typeface="Calibri" pitchFamily="34" charset="0"/>
                <a:ea typeface="Calibri" pitchFamily="34" charset="-122"/>
                <a:cs typeface="Calibri" pitchFamily="34" charset="-120"/>
              </a:rPr>
              <a:t>A </a:t>
            </a:r>
            <a:r>
              <a:rPr lang="en-US" sz="1600" b="1" dirty="0">
                <a:solidFill>
                  <a:srgbClr val="1F2937"/>
                </a:solidFill>
                <a:latin typeface="Calibri" pitchFamily="34" charset="0"/>
                <a:ea typeface="Calibri" pitchFamily="34" charset="-122"/>
                <a:cs typeface="Calibri" pitchFamily="34" charset="-120"/>
              </a:rPr>
              <a:t>shell</a:t>
            </a:r>
            <a:r>
              <a:rPr lang="en-US" sz="1600" dirty="0">
                <a:solidFill>
                  <a:srgbClr val="1F2937"/>
                </a:solidFill>
                <a:latin typeface="Calibri" pitchFamily="34" charset="0"/>
                <a:ea typeface="Calibri" pitchFamily="34" charset="-122"/>
                <a:cs typeface="Calibri" pitchFamily="34" charset="-120"/>
              </a:rPr>
              <a:t> is a program that reads what you type, runs it, and shows you the result.</a:t>
            </a:r>
            <a:endParaRPr lang="en-US" sz="1600" dirty="0"/>
          </a:p>
          <a:p>
            <a:pPr marL="228600" indent="-228600">
              <a:spcAft>
                <a:spcPts val="600"/>
              </a:spcAft>
              <a:buSzPct val="100000"/>
              <a:buChar char="■"/>
            </a:pPr>
            <a:r>
              <a:rPr lang="en-US" sz="1600" dirty="0">
                <a:solidFill>
                  <a:srgbClr val="1F2937"/>
                </a:solidFill>
                <a:latin typeface="Calibri" pitchFamily="34" charset="0"/>
                <a:ea typeface="Calibri" pitchFamily="34" charset="-122"/>
                <a:cs typeface="Calibri" pitchFamily="34" charset="-120"/>
              </a:rPr>
              <a:t>The shell we're using is called </a:t>
            </a:r>
            <a:r>
              <a:rPr lang="en-US" sz="1600" b="1" dirty="0">
                <a:solidFill>
                  <a:srgbClr val="1F2937"/>
                </a:solidFill>
                <a:latin typeface="Calibri" pitchFamily="34" charset="0"/>
                <a:ea typeface="Calibri" pitchFamily="34" charset="-122"/>
                <a:cs typeface="Calibri" pitchFamily="34" charset="-120"/>
              </a:rPr>
              <a:t>bash</a:t>
            </a:r>
            <a:r>
              <a:rPr lang="en-US" sz="1600" dirty="0">
                <a:solidFill>
                  <a:srgbClr val="1F2937"/>
                </a:solidFill>
                <a:latin typeface="Calibri" pitchFamily="34" charset="0"/>
                <a:ea typeface="Calibri" pitchFamily="34" charset="-122"/>
                <a:cs typeface="Calibri" pitchFamily="34" charset="-120"/>
              </a:rPr>
              <a:t>. There are others (zsh, fish) — same idea, slight differences.</a:t>
            </a:r>
            <a:endParaRPr lang="en-US" sz="1600" dirty="0"/>
          </a:p>
          <a:p>
            <a:pPr marL="228600" indent="-228600">
              <a:spcAft>
                <a:spcPts val="600"/>
              </a:spcAft>
              <a:buSzPct val="100000"/>
              <a:buChar char="■"/>
            </a:pPr>
            <a:r>
              <a:rPr lang="en-US" sz="1600" dirty="0">
                <a:solidFill>
                  <a:srgbClr val="1F2937"/>
                </a:solidFill>
                <a:latin typeface="Calibri" pitchFamily="34" charset="0"/>
                <a:ea typeface="Calibri" pitchFamily="34" charset="-122"/>
                <a:cs typeface="Calibri" pitchFamily="34" charset="-120"/>
              </a:rPr>
              <a:t>A </a:t>
            </a:r>
            <a:r>
              <a:rPr lang="en-US" sz="1600" b="1" dirty="0">
                <a:solidFill>
                  <a:srgbClr val="1F2937"/>
                </a:solidFill>
                <a:latin typeface="Calibri" pitchFamily="34" charset="0"/>
                <a:ea typeface="Calibri" pitchFamily="34" charset="-122"/>
                <a:cs typeface="Calibri" pitchFamily="34" charset="-120"/>
              </a:rPr>
              <a:t>terminal</a:t>
            </a:r>
            <a:r>
              <a:rPr lang="en-US" sz="1600" dirty="0">
                <a:solidFill>
                  <a:srgbClr val="1F2937"/>
                </a:solidFill>
                <a:latin typeface="Calibri" pitchFamily="34" charset="0"/>
                <a:ea typeface="Calibri" pitchFamily="34" charset="-122"/>
                <a:cs typeface="Calibri" pitchFamily="34" charset="-120"/>
              </a:rPr>
              <a:t> is the window the shell runs in.</a:t>
            </a:r>
            <a:endParaRPr lang="en-US" sz="1600" dirty="0"/>
          </a:p>
          <a:p>
            <a:pPr marL="228600" indent="-228600">
              <a:spcAft>
                <a:spcPts val="600"/>
              </a:spcAft>
              <a:buSzPct val="100000"/>
              <a:buChar char="■"/>
            </a:pPr>
            <a:r>
              <a:rPr lang="en-US" sz="1600" dirty="0">
                <a:solidFill>
                  <a:srgbClr val="1F2937"/>
                </a:solidFill>
                <a:latin typeface="Calibri" pitchFamily="34" charset="0"/>
                <a:ea typeface="Calibri" pitchFamily="34" charset="-122"/>
                <a:cs typeface="Calibri" pitchFamily="34" charset="-120"/>
              </a:rPr>
              <a:t>People say "terminal" and "shell" loosely; they're not the same thing, but you'll be fine treating them as the same for now.</a:t>
            </a:r>
            <a:endParaRPr lang="en-US" sz="16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a:effectLst/>
      </p:bgPr>
    </p:bg>
    <p:spTree>
      <p:nvGrpSpPr>
        <p:cNvPr id="1" name=""/>
        <p:cNvGrpSpPr/>
        <p:nvPr/>
      </p:nvGrpSpPr>
      <p:grpSpPr>
        <a:xfrm>
          <a:off x="0" y="0"/>
          <a:ext cx="0" cy="0"/>
          <a:chOff x="0" y="0"/>
          <a:chExt cx="0" cy="0"/>
        </a:xfrm>
      </p:grpSpPr>
      <p:pic>
        <p:nvPicPr>
          <p:cNvPr id="7" name="Picture 6" descr="access-footer.jpg"/>
          <p:cNvPicPr>
            <a:picLocks noChangeAspect="1"/>
          </p:cNvPicPr>
          <p:nvPr/>
        </p:nvPicPr>
        <p:blipFill>
          <a:blip r:embed="rId3"/>
          <a:stretch>
            <a:fillRect/>
          </a:stretch>
        </p:blipFill>
        <p:spPr>
          <a:xfrm>
            <a:off x="0" y="0"/>
            <a:ext cx="9144000" cy="5143500"/>
          </a:xfrm>
          <a:prstGeom prst="rect">
            <a:avLst/>
          </a:prstGeom>
        </p:spPr>
      </p:pic>
      <p:sp>
        <p:nvSpPr>
          <p:cNvPr id="2" name="Text 0"/>
          <p:cNvSpPr/>
          <p:nvPr/>
        </p:nvSpPr>
        <p:spPr>
          <a:xfrm>
            <a:off x="457200" y="274320"/>
            <a:ext cx="8229600" cy="594360"/>
          </a:xfrm>
          <a:prstGeom prst="rect">
            <a:avLst/>
          </a:prstGeom>
          <a:solidFill>
            <a:srgbClr val="FFFFFF"/>
          </a:solidFill>
          <a:ln/>
        </p:spPr>
        <p:txBody>
          <a:bodyPr wrap="square" lIns="0" tIns="0" rIns="0" bIns="0" rtlCol="0" anchor="ctr"/>
          <a:lstStyle/>
          <a:p>
            <a:pPr marL="0" indent="0">
              <a:buNone/>
            </a:pPr>
            <a:r>
              <a:rPr lang="en-US" sz="2800" b="1" dirty="0">
                <a:solidFill>
                  <a:srgbClr val="1E2761"/>
                </a:solidFill>
                <a:latin typeface="Cambria" pitchFamily="34" charset="0"/>
                <a:ea typeface="Cambria" pitchFamily="34" charset="-122"/>
                <a:cs typeface="Cambria" pitchFamily="34" charset="-120"/>
              </a:rPr>
              <a:t>Why are we using the terminal? We have a GUI.</a:t>
            </a:r>
            <a:endParaRPr lang="en-US" sz="2800" dirty="0"/>
          </a:p>
        </p:txBody>
      </p:sp>
      <p:sp>
        <p:nvSpPr>
          <p:cNvPr id="3" name="Shape 1"/>
          <p:cNvSpPr/>
          <p:nvPr/>
        </p:nvSpPr>
        <p:spPr>
          <a:xfrm>
            <a:off x="457200" y="868680"/>
            <a:ext cx="548640" cy="36576"/>
          </a:xfrm>
          <a:prstGeom prst="rect">
            <a:avLst/>
          </a:prstGeom>
          <a:solidFill>
            <a:srgbClr val="1E2761"/>
          </a:solidFill>
          <a:ln w="12700">
            <a:solidFill>
              <a:srgbClr val="1E2761"/>
            </a:solidFill>
            <a:prstDash val="solid"/>
          </a:ln>
        </p:spPr>
        <p:txBody>
          <a:bodyPr/>
          <a:lstStyle/>
          <a:p>
            <a:endParaRPr lang="en-US"/>
          </a:p>
        </p:txBody>
      </p:sp>
      <p:sp>
        <p:nvSpPr>
          <p:cNvPr id="4" name="Shape 2"/>
          <p:cNvSpPr/>
          <p:nvPr/>
        </p:nvSpPr>
        <p:spPr>
          <a:xfrm>
            <a:off x="457200" y="1005840"/>
            <a:ext cx="1005840" cy="292608"/>
          </a:xfrm>
          <a:prstGeom prst="rect">
            <a:avLst/>
          </a:prstGeom>
          <a:solidFill>
            <a:srgbClr val="1E2761"/>
          </a:solidFill>
          <a:ln w="12700">
            <a:solidFill>
              <a:srgbClr val="1E2761"/>
            </a:solidFill>
            <a:prstDash val="solid"/>
          </a:ln>
        </p:spPr>
        <p:txBody>
          <a:bodyPr/>
          <a:lstStyle/>
          <a:p>
            <a:endParaRPr lang="en-US"/>
          </a:p>
        </p:txBody>
      </p:sp>
      <p:sp>
        <p:nvSpPr>
          <p:cNvPr id="5" name="Text 3"/>
          <p:cNvSpPr/>
          <p:nvPr/>
        </p:nvSpPr>
        <p:spPr>
          <a:xfrm>
            <a:off x="457200" y="1005840"/>
            <a:ext cx="1005840" cy="292608"/>
          </a:xfrm>
          <a:prstGeom prst="rect">
            <a:avLst/>
          </a:prstGeom>
          <a:noFill/>
          <a:ln/>
        </p:spPr>
        <p:txBody>
          <a:bodyPr wrap="square" lIns="0" tIns="0" rIns="0" bIns="0" rtlCol="0" anchor="ctr"/>
          <a:lstStyle/>
          <a:p>
            <a:pPr marL="0" indent="0" algn="ctr">
              <a:buNone/>
            </a:pPr>
            <a:r>
              <a:rPr lang="en-US" sz="1100" b="1" kern="0" spc="200" dirty="0">
                <a:solidFill>
                  <a:srgbClr val="FFFFFF"/>
                </a:solidFill>
                <a:latin typeface="Calibri" pitchFamily="34" charset="0"/>
                <a:ea typeface="Calibri" pitchFamily="34" charset="-122"/>
                <a:cs typeface="Calibri" pitchFamily="34" charset="-120"/>
              </a:rPr>
              <a:t>TALK</a:t>
            </a:r>
            <a:endParaRPr lang="en-US" sz="1100" dirty="0"/>
          </a:p>
        </p:txBody>
      </p:sp>
      <p:sp>
        <p:nvSpPr>
          <p:cNvPr id="6" name="Text 4"/>
          <p:cNvSpPr/>
          <p:nvPr/>
        </p:nvSpPr>
        <p:spPr>
          <a:xfrm>
            <a:off x="548640" y="1435608"/>
            <a:ext cx="8046720" cy="2702560"/>
          </a:xfrm>
          <a:prstGeom prst="rect">
            <a:avLst/>
          </a:prstGeom>
          <a:solidFill>
            <a:srgbClr val="FFFFFF"/>
          </a:solidFill>
          <a:ln/>
        </p:spPr>
        <p:txBody>
          <a:bodyPr wrap="square" lIns="0" tIns="0" rIns="0" bIns="0" rtlCol="0" anchor="t"/>
          <a:lstStyle/>
          <a:p>
            <a:pPr marL="228600" indent="-228600">
              <a:spcAft>
                <a:spcPts val="600"/>
              </a:spcAft>
              <a:buSzPct val="100000"/>
              <a:buChar char="■"/>
            </a:pPr>
            <a:r>
              <a:rPr lang="en-US" sz="1600" dirty="0">
                <a:solidFill>
                  <a:srgbClr val="1F2937"/>
                </a:solidFill>
                <a:latin typeface="Calibri" pitchFamily="34" charset="0"/>
                <a:ea typeface="Calibri" pitchFamily="34" charset="-122"/>
                <a:cs typeface="Calibri" pitchFamily="34" charset="-120"/>
              </a:rPr>
              <a:t>The GUI is a </a:t>
            </a:r>
            <a:r>
              <a:rPr lang="en-US" sz="1600" b="1" dirty="0">
                <a:solidFill>
                  <a:srgbClr val="1F2937"/>
                </a:solidFill>
                <a:latin typeface="Calibri" pitchFamily="34" charset="0"/>
                <a:ea typeface="Calibri" pitchFamily="34" charset="-122"/>
                <a:cs typeface="Calibri" pitchFamily="34" charset="-120"/>
              </a:rPr>
              <a:t>thin layer</a:t>
            </a:r>
            <a:r>
              <a:rPr lang="en-US" sz="1600" dirty="0">
                <a:solidFill>
                  <a:srgbClr val="1F2937"/>
                </a:solidFill>
                <a:latin typeface="Calibri" pitchFamily="34" charset="0"/>
                <a:ea typeface="Calibri" pitchFamily="34" charset="-122"/>
                <a:cs typeface="Calibri" pitchFamily="34" charset="-120"/>
              </a:rPr>
              <a:t> over the same files and programs. Everything you can do in the GUI, you can do in the terminal — and a lot more.</a:t>
            </a:r>
            <a:endParaRPr lang="en-US" sz="1600" dirty="0"/>
          </a:p>
          <a:p>
            <a:pPr marL="228600" indent="-228600">
              <a:spcAft>
                <a:spcPts val="600"/>
              </a:spcAft>
              <a:buSzPct val="100000"/>
              <a:buChar char="■"/>
            </a:pPr>
            <a:r>
              <a:rPr lang="en-US" sz="1600" dirty="0">
                <a:solidFill>
                  <a:srgbClr val="1F2937"/>
                </a:solidFill>
                <a:latin typeface="Calibri" pitchFamily="34" charset="0"/>
                <a:ea typeface="Calibri" pitchFamily="34" charset="-122"/>
                <a:cs typeface="Calibri" pitchFamily="34" charset="-120"/>
              </a:rPr>
              <a:t>Most servers don't </a:t>
            </a:r>
            <a:r>
              <a:rPr lang="en-US" sz="1600" i="1" dirty="0">
                <a:solidFill>
                  <a:srgbClr val="1F2937"/>
                </a:solidFill>
                <a:latin typeface="Calibri" pitchFamily="34" charset="0"/>
                <a:ea typeface="Calibri" pitchFamily="34" charset="-122"/>
                <a:cs typeface="Calibri" pitchFamily="34" charset="-120"/>
              </a:rPr>
              <a:t>have</a:t>
            </a:r>
            <a:r>
              <a:rPr lang="en-US" sz="1600" dirty="0">
                <a:solidFill>
                  <a:srgbClr val="1F2937"/>
                </a:solidFill>
                <a:latin typeface="Calibri" pitchFamily="34" charset="0"/>
                <a:ea typeface="Calibri" pitchFamily="34" charset="-122"/>
                <a:cs typeface="Calibri" pitchFamily="34" charset="-120"/>
              </a:rPr>
              <a:t> a GUI. When you SSH into a cloud machine, all you get is a shell.</a:t>
            </a:r>
            <a:endParaRPr lang="en-US" sz="1600" dirty="0"/>
          </a:p>
          <a:p>
            <a:pPr marL="228600" indent="-228600">
              <a:spcAft>
                <a:spcPts val="600"/>
              </a:spcAft>
              <a:buSzPct val="100000"/>
              <a:buChar char="■"/>
            </a:pPr>
            <a:r>
              <a:rPr lang="en-US" sz="1600" dirty="0">
                <a:solidFill>
                  <a:srgbClr val="1F2937"/>
                </a:solidFill>
                <a:latin typeface="Calibri" pitchFamily="34" charset="0"/>
                <a:ea typeface="Calibri" pitchFamily="34" charset="-122"/>
                <a:cs typeface="Calibri" pitchFamily="34" charset="-120"/>
              </a:rPr>
              <a:t>The terminal is how professionals actually drive these systems: faster, scriptable, reproducible.</a:t>
            </a:r>
            <a:endParaRPr lang="en-US" sz="1600" dirty="0"/>
          </a:p>
          <a:p>
            <a:pPr marL="228600" indent="-228600">
              <a:spcAft>
                <a:spcPts val="600"/>
              </a:spcAft>
              <a:buSzPct val="100000"/>
              <a:buChar char="■"/>
            </a:pPr>
            <a:r>
              <a:rPr lang="en-US" sz="1600" b="1" dirty="0">
                <a:solidFill>
                  <a:srgbClr val="1F2937"/>
                </a:solidFill>
                <a:latin typeface="Calibri" pitchFamily="34" charset="0"/>
                <a:ea typeface="Calibri" pitchFamily="34" charset="-122"/>
                <a:cs typeface="Calibri" pitchFamily="34" charset="-120"/>
              </a:rPr>
              <a:t>Automation</a:t>
            </a:r>
            <a:r>
              <a:rPr lang="en-US" sz="1600" dirty="0">
                <a:solidFill>
                  <a:srgbClr val="1F2937"/>
                </a:solidFill>
                <a:latin typeface="Calibri" pitchFamily="34" charset="0"/>
                <a:ea typeface="Calibri" pitchFamily="34" charset="-122"/>
                <a:cs typeface="Calibri" pitchFamily="34" charset="-120"/>
              </a:rPr>
              <a:t> — anything you can type, you can script.</a:t>
            </a:r>
            <a:endParaRPr lang="en-US" sz="1600" dirty="0"/>
          </a:p>
          <a:p>
            <a:pPr marL="228600" indent="-228600">
              <a:spcAft>
                <a:spcPts val="600"/>
              </a:spcAft>
              <a:buSzPct val="100000"/>
              <a:buChar char="■"/>
            </a:pPr>
            <a:r>
              <a:rPr lang="en-US" sz="1600" dirty="0">
                <a:solidFill>
                  <a:srgbClr val="1F2937"/>
                </a:solidFill>
                <a:latin typeface="Calibri" pitchFamily="34" charset="0"/>
                <a:ea typeface="Calibri" pitchFamily="34" charset="-122"/>
                <a:cs typeface="Calibri" pitchFamily="34" charset="-120"/>
              </a:rPr>
              <a:t>It looks good in movies.</a:t>
            </a:r>
            <a:endParaRPr lang="en-US" sz="16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a:effectLst/>
      </p:bgPr>
    </p:bg>
    <p:spTree>
      <p:nvGrpSpPr>
        <p:cNvPr id="1" name=""/>
        <p:cNvGrpSpPr/>
        <p:nvPr/>
      </p:nvGrpSpPr>
      <p:grpSpPr>
        <a:xfrm>
          <a:off x="0" y="0"/>
          <a:ext cx="0" cy="0"/>
          <a:chOff x="0" y="0"/>
          <a:chExt cx="0" cy="0"/>
        </a:xfrm>
      </p:grpSpPr>
      <p:pic>
        <p:nvPicPr>
          <p:cNvPr id="6" name="Picture 5" descr="access-footer.jpg"/>
          <p:cNvPicPr>
            <a:picLocks noChangeAspect="1"/>
          </p:cNvPicPr>
          <p:nvPr/>
        </p:nvPicPr>
        <p:blipFill>
          <a:blip r:embed="rId3"/>
          <a:stretch>
            <a:fillRect/>
          </a:stretch>
        </p:blipFill>
        <p:spPr>
          <a:xfrm>
            <a:off x="0" y="0"/>
            <a:ext cx="9144000" cy="5143500"/>
          </a:xfrm>
          <a:prstGeom prst="rect">
            <a:avLst/>
          </a:prstGeom>
        </p:spPr>
      </p:pic>
      <p:sp>
        <p:nvSpPr>
          <p:cNvPr id="2" name="Text 0"/>
          <p:cNvSpPr/>
          <p:nvPr/>
        </p:nvSpPr>
        <p:spPr>
          <a:xfrm>
            <a:off x="457200" y="274320"/>
            <a:ext cx="8229600" cy="594360"/>
          </a:xfrm>
          <a:prstGeom prst="rect">
            <a:avLst/>
          </a:prstGeom>
          <a:solidFill>
            <a:srgbClr val="FFFFFF"/>
          </a:solidFill>
          <a:ln/>
        </p:spPr>
        <p:txBody>
          <a:bodyPr wrap="square" lIns="0" tIns="0" rIns="0" bIns="0" rtlCol="0" anchor="ctr"/>
          <a:lstStyle/>
          <a:p>
            <a:pPr marL="0" indent="0">
              <a:buNone/>
            </a:pPr>
            <a:r>
              <a:rPr lang="en-US" sz="2800" b="1" dirty="0">
                <a:solidFill>
                  <a:srgbClr val="1E2761"/>
                </a:solidFill>
                <a:latin typeface="Cambria" pitchFamily="34" charset="0"/>
                <a:ea typeface="Cambria" pitchFamily="34" charset="-122"/>
                <a:cs typeface="Cambria" pitchFamily="34" charset="-120"/>
              </a:rPr>
              <a:t>Three ideas to hold in your head all day</a:t>
            </a:r>
            <a:endParaRPr lang="en-US" sz="2800" dirty="0"/>
          </a:p>
        </p:txBody>
      </p:sp>
      <p:sp>
        <p:nvSpPr>
          <p:cNvPr id="3" name="Shape 1"/>
          <p:cNvSpPr/>
          <p:nvPr/>
        </p:nvSpPr>
        <p:spPr>
          <a:xfrm>
            <a:off x="457200" y="868680"/>
            <a:ext cx="548640" cy="36576"/>
          </a:xfrm>
          <a:prstGeom prst="rect">
            <a:avLst/>
          </a:prstGeom>
          <a:solidFill>
            <a:srgbClr val="1E2761"/>
          </a:solidFill>
          <a:ln w="12700">
            <a:solidFill>
              <a:srgbClr val="1E2761"/>
            </a:solidFill>
            <a:prstDash val="solid"/>
          </a:ln>
        </p:spPr>
        <p:txBody>
          <a:bodyPr/>
          <a:lstStyle/>
          <a:p>
            <a:endParaRPr lang="en-US"/>
          </a:p>
        </p:txBody>
      </p:sp>
      <p:sp>
        <p:nvSpPr>
          <p:cNvPr id="4" name="Text 2"/>
          <p:cNvSpPr/>
          <p:nvPr/>
        </p:nvSpPr>
        <p:spPr>
          <a:xfrm>
            <a:off x="548640" y="1005840"/>
            <a:ext cx="8046720" cy="1696720"/>
          </a:xfrm>
          <a:prstGeom prst="rect">
            <a:avLst/>
          </a:prstGeom>
          <a:solidFill>
            <a:srgbClr val="FFFFFF"/>
          </a:solidFill>
          <a:ln/>
        </p:spPr>
        <p:txBody>
          <a:bodyPr wrap="square" lIns="0" tIns="0" rIns="0" bIns="0" rtlCol="0" anchor="t"/>
          <a:lstStyle/>
          <a:p>
            <a:pPr marL="279400" indent="-279400">
              <a:spcAft>
                <a:spcPts val="600"/>
              </a:spcAft>
              <a:buSzPct val="100000"/>
              <a:buFont typeface="+mj-lt"/>
              <a:buAutoNum type="arabicPeriod"/>
            </a:pPr>
            <a:r>
              <a:rPr lang="en-US" sz="1600" b="1" dirty="0">
                <a:solidFill>
                  <a:srgbClr val="1F2937"/>
                </a:solidFill>
                <a:latin typeface="Calibri" pitchFamily="34" charset="0"/>
                <a:ea typeface="Calibri" pitchFamily="34" charset="-122"/>
                <a:cs typeface="Calibri" pitchFamily="34" charset="-120"/>
              </a:rPr>
              <a:t>The filesystem is a tree.</a:t>
            </a:r>
            <a:r>
              <a:rPr lang="en-US" sz="1600" dirty="0">
                <a:solidFill>
                  <a:srgbClr val="1F2937"/>
                </a:solidFill>
                <a:latin typeface="Calibri" pitchFamily="34" charset="0"/>
                <a:ea typeface="Calibri" pitchFamily="34" charset="-122"/>
                <a:cs typeface="Calibri" pitchFamily="34" charset="-120"/>
              </a:rPr>
              <a:t> Everything lives under one root, </a:t>
            </a:r>
            <a:r>
              <a:rPr lang="en-US" sz="1600" dirty="0">
                <a:solidFill>
                  <a:srgbClr val="1E2761"/>
                </a:solidFill>
                <a:latin typeface="Consolas" pitchFamily="34" charset="0"/>
                <a:ea typeface="Consolas" pitchFamily="34" charset="-122"/>
                <a:cs typeface="Consolas" pitchFamily="34" charset="-120"/>
              </a:rPr>
              <a:t>/</a:t>
            </a:r>
            <a:r>
              <a:rPr lang="en-US" sz="1600" dirty="0">
                <a:solidFill>
                  <a:srgbClr val="1F2937"/>
                </a:solidFill>
                <a:latin typeface="Calibri" pitchFamily="34" charset="0"/>
                <a:ea typeface="Calibri" pitchFamily="34" charset="-122"/>
                <a:cs typeface="Calibri" pitchFamily="34" charset="-120"/>
              </a:rPr>
              <a:t>.</a:t>
            </a:r>
            <a:endParaRPr lang="en-US" sz="1600" dirty="0"/>
          </a:p>
          <a:p>
            <a:pPr marL="279400" indent="-279400">
              <a:spcAft>
                <a:spcPts val="600"/>
              </a:spcAft>
              <a:buSzPct val="100000"/>
              <a:buFont typeface="+mj-lt"/>
              <a:buAutoNum type="arabicPeriod"/>
            </a:pPr>
            <a:r>
              <a:rPr lang="en-US" sz="1600" b="1" dirty="0">
                <a:solidFill>
                  <a:srgbClr val="1F2937"/>
                </a:solidFill>
                <a:latin typeface="Calibri" pitchFamily="34" charset="0"/>
                <a:ea typeface="Calibri" pitchFamily="34" charset="-122"/>
                <a:cs typeface="Calibri" pitchFamily="34" charset="-120"/>
              </a:rPr>
              <a:t>The shell is a conversation.</a:t>
            </a:r>
            <a:r>
              <a:rPr lang="en-US" sz="1600" dirty="0">
                <a:solidFill>
                  <a:srgbClr val="1F2937"/>
                </a:solidFill>
                <a:latin typeface="Calibri" pitchFamily="34" charset="0"/>
                <a:ea typeface="Calibri" pitchFamily="34" charset="-122"/>
                <a:cs typeface="Calibri" pitchFamily="34" charset="-120"/>
              </a:rPr>
              <a:t> You say a command, it responds. One turn at a time.</a:t>
            </a:r>
            <a:endParaRPr lang="en-US" sz="1600" dirty="0"/>
          </a:p>
          <a:p>
            <a:pPr marL="279400" indent="-279400">
              <a:spcAft>
                <a:spcPts val="600"/>
              </a:spcAft>
              <a:buSzPct val="100000"/>
              <a:buFont typeface="+mj-lt"/>
              <a:buAutoNum type="arabicPeriod"/>
            </a:pPr>
            <a:r>
              <a:rPr lang="en-US" sz="1600" b="1" dirty="0">
                <a:solidFill>
                  <a:srgbClr val="1F2937"/>
                </a:solidFill>
                <a:latin typeface="Calibri" pitchFamily="34" charset="0"/>
                <a:ea typeface="Calibri" pitchFamily="34" charset="-122"/>
                <a:cs typeface="Calibri" pitchFamily="34" charset="-120"/>
              </a:rPr>
              <a:t>Every command is: `verb [flags] [nouns]`.</a:t>
            </a:r>
            <a:r>
              <a:rPr lang="en-US" sz="1600" dirty="0">
                <a:solidFill>
                  <a:srgbClr val="1F2937"/>
                </a:solidFill>
                <a:latin typeface="Calibri" pitchFamily="34" charset="0"/>
                <a:ea typeface="Calibri" pitchFamily="34" charset="-122"/>
                <a:cs typeface="Calibri" pitchFamily="34" charset="-120"/>
              </a:rPr>
              <a:t> Verb = the command, flags = how, nouns = what to act on.</a:t>
            </a:r>
            <a:endParaRPr lang="en-US" sz="1600" dirty="0"/>
          </a:p>
        </p:txBody>
      </p:sp>
      <p:sp>
        <p:nvSpPr>
          <p:cNvPr id="5" name="Text 3"/>
          <p:cNvSpPr/>
          <p:nvPr/>
        </p:nvSpPr>
        <p:spPr>
          <a:xfrm>
            <a:off x="548640" y="2885440"/>
            <a:ext cx="8046720" cy="276860"/>
          </a:xfrm>
          <a:prstGeom prst="rect">
            <a:avLst/>
          </a:prstGeom>
          <a:solidFill>
            <a:srgbClr val="FFFFFF"/>
          </a:solidFill>
          <a:ln/>
        </p:spPr>
        <p:txBody>
          <a:bodyPr wrap="square" rtlCol="0" anchor="t"/>
          <a:lstStyle/>
          <a:p>
            <a:pPr marL="0" indent="0">
              <a:buNone/>
            </a:pPr>
            <a:r>
              <a:rPr lang="en-US" sz="1300" i="1" dirty="0">
                <a:solidFill>
                  <a:srgbClr val="475569"/>
                </a:solidFill>
                <a:latin typeface="Calibri" pitchFamily="34" charset="0"/>
                <a:ea typeface="Calibri" pitchFamily="34" charset="-122"/>
                <a:cs typeface="Calibri" pitchFamily="34" charset="-120"/>
              </a:rPr>
              <a:t>Example: </a:t>
            </a:r>
            <a:r>
              <a:rPr lang="en-US" sz="1300" i="1" dirty="0">
                <a:solidFill>
                  <a:srgbClr val="1E2761"/>
                </a:solidFill>
                <a:latin typeface="Consolas" pitchFamily="34" charset="0"/>
                <a:ea typeface="Consolas" pitchFamily="34" charset="-122"/>
                <a:cs typeface="Consolas" pitchFamily="34" charset="-120"/>
              </a:rPr>
              <a:t>ls -l /home</a:t>
            </a:r>
            <a:r>
              <a:rPr lang="en-US" sz="1300" i="1" dirty="0">
                <a:solidFill>
                  <a:srgbClr val="475569"/>
                </a:solidFill>
                <a:latin typeface="Calibri" pitchFamily="34" charset="0"/>
                <a:ea typeface="Calibri" pitchFamily="34" charset="-122"/>
                <a:cs typeface="Calibri" pitchFamily="34" charset="-120"/>
              </a:rPr>
              <a:t> — verb </a:t>
            </a:r>
            <a:r>
              <a:rPr lang="en-US" sz="1300" i="1" dirty="0">
                <a:solidFill>
                  <a:srgbClr val="1E2761"/>
                </a:solidFill>
                <a:latin typeface="Consolas" pitchFamily="34" charset="0"/>
                <a:ea typeface="Consolas" pitchFamily="34" charset="-122"/>
                <a:cs typeface="Consolas" pitchFamily="34" charset="-120"/>
              </a:rPr>
              <a:t>ls</a:t>
            </a:r>
            <a:r>
              <a:rPr lang="en-US" sz="1300" i="1" dirty="0">
                <a:solidFill>
                  <a:srgbClr val="475569"/>
                </a:solidFill>
                <a:latin typeface="Calibri" pitchFamily="34" charset="0"/>
                <a:ea typeface="Calibri" pitchFamily="34" charset="-122"/>
                <a:cs typeface="Calibri" pitchFamily="34" charset="-120"/>
              </a:rPr>
              <a:t>, flag </a:t>
            </a:r>
            <a:r>
              <a:rPr lang="en-US" sz="1300" i="1" dirty="0">
                <a:solidFill>
                  <a:srgbClr val="1E2761"/>
                </a:solidFill>
                <a:latin typeface="Consolas" pitchFamily="34" charset="0"/>
                <a:ea typeface="Consolas" pitchFamily="34" charset="-122"/>
                <a:cs typeface="Consolas" pitchFamily="34" charset="-120"/>
              </a:rPr>
              <a:t>-l</a:t>
            </a:r>
            <a:r>
              <a:rPr lang="en-US" sz="1300" i="1" dirty="0">
                <a:solidFill>
                  <a:srgbClr val="475569"/>
                </a:solidFill>
                <a:latin typeface="Calibri" pitchFamily="34" charset="0"/>
                <a:ea typeface="Calibri" pitchFamily="34" charset="-122"/>
                <a:cs typeface="Calibri" pitchFamily="34" charset="-120"/>
              </a:rPr>
              <a:t>, noun </a:t>
            </a:r>
            <a:r>
              <a:rPr lang="en-US" sz="1300" i="1" dirty="0">
                <a:solidFill>
                  <a:srgbClr val="1E2761"/>
                </a:solidFill>
                <a:latin typeface="Consolas" pitchFamily="34" charset="0"/>
                <a:ea typeface="Consolas" pitchFamily="34" charset="-122"/>
                <a:cs typeface="Consolas" pitchFamily="34" charset="-120"/>
              </a:rPr>
              <a:t>/home</a:t>
            </a:r>
            <a:r>
              <a:rPr lang="en-US" sz="1300" i="1" dirty="0">
                <a:solidFill>
                  <a:srgbClr val="475569"/>
                </a:solidFill>
                <a:latin typeface="Calibri" pitchFamily="34" charset="0"/>
                <a:ea typeface="Calibri" pitchFamily="34" charset="-122"/>
                <a:cs typeface="Calibri" pitchFamily="34" charset="-120"/>
              </a:rPr>
              <a:t>. We'll come back to this all day.</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0">
            <a:extLst>
              <a:ext uri="{FF2B5EF4-FFF2-40B4-BE49-F238E27FC236}">
                <a16:creationId xmlns:a16="http://schemas.microsoft.com/office/drawing/2014/main" id="{C4F308D0-E16C-4CC5-260F-E28847C8B2B2}"/>
              </a:ext>
            </a:extLst>
          </p:cNvPr>
          <p:cNvSpPr/>
          <p:nvPr/>
        </p:nvSpPr>
        <p:spPr>
          <a:xfrm>
            <a:off x="548640" y="1280160"/>
            <a:ext cx="8046720" cy="457200"/>
          </a:xfrm>
          <a:prstGeom prst="rect">
            <a:avLst/>
          </a:prstGeom>
          <a:noFill/>
          <a:ln/>
        </p:spPr>
        <p:txBody>
          <a:bodyPr wrap="square" lIns="0" tIns="0" rIns="0" bIns="0" rtlCol="0" anchor="ctr"/>
          <a:lstStyle/>
          <a:p>
            <a:pPr marL="0" indent="0">
              <a:buNone/>
            </a:pPr>
            <a:r>
              <a:rPr lang="en-US" sz="1600" b="1" kern="0" spc="800" dirty="0">
                <a:latin typeface="Calibri" pitchFamily="34" charset="0"/>
                <a:ea typeface="Calibri" pitchFamily="34" charset="-122"/>
                <a:cs typeface="Calibri" pitchFamily="34" charset="-120"/>
              </a:rPr>
              <a:t>BLOCK 2</a:t>
            </a:r>
            <a:endParaRPr lang="en-US" sz="1600" dirty="0"/>
          </a:p>
        </p:txBody>
      </p:sp>
      <p:sp>
        <p:nvSpPr>
          <p:cNvPr id="4" name="Text 1">
            <a:extLst>
              <a:ext uri="{FF2B5EF4-FFF2-40B4-BE49-F238E27FC236}">
                <a16:creationId xmlns:a16="http://schemas.microsoft.com/office/drawing/2014/main" id="{39AB9CA9-4368-8FE5-AD42-55EA850B62AF}"/>
              </a:ext>
            </a:extLst>
          </p:cNvPr>
          <p:cNvSpPr/>
          <p:nvPr/>
        </p:nvSpPr>
        <p:spPr>
          <a:xfrm>
            <a:off x="548640" y="1783080"/>
            <a:ext cx="8046720" cy="1463040"/>
          </a:xfrm>
          <a:prstGeom prst="rect">
            <a:avLst/>
          </a:prstGeom>
          <a:noFill/>
          <a:ln/>
        </p:spPr>
        <p:txBody>
          <a:bodyPr wrap="square" lIns="0" tIns="0" rIns="0" bIns="0" rtlCol="0" anchor="t"/>
          <a:lstStyle/>
          <a:p>
            <a:pPr marL="0" indent="0">
              <a:buNone/>
            </a:pPr>
            <a:r>
              <a:rPr lang="en-US" sz="4000" b="1" dirty="0">
                <a:latin typeface="Cambria" pitchFamily="34" charset="0"/>
                <a:ea typeface="Cambria" pitchFamily="34" charset="-122"/>
                <a:cs typeface="Cambria" pitchFamily="34" charset="-120"/>
              </a:rPr>
              <a:t>First contact</a:t>
            </a:r>
            <a:endParaRPr lang="en-US" sz="4000" dirty="0"/>
          </a:p>
        </p:txBody>
      </p:sp>
    </p:spTree>
    <p:extLst>
      <p:ext uri="{BB962C8B-B14F-4D97-AF65-F5344CB8AC3E}">
        <p14:creationId xmlns:p14="http://schemas.microsoft.com/office/powerpoint/2010/main" val="295695170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a:effectLst/>
      </p:bgPr>
    </p:bg>
    <p:spTree>
      <p:nvGrpSpPr>
        <p:cNvPr id="1" name=""/>
        <p:cNvGrpSpPr/>
        <p:nvPr/>
      </p:nvGrpSpPr>
      <p:grpSpPr>
        <a:xfrm>
          <a:off x="0" y="0"/>
          <a:ext cx="0" cy="0"/>
          <a:chOff x="0" y="0"/>
          <a:chExt cx="0" cy="0"/>
        </a:xfrm>
      </p:grpSpPr>
      <p:pic>
        <p:nvPicPr>
          <p:cNvPr id="10" name="Picture 9" descr="access-footer.jpg"/>
          <p:cNvPicPr>
            <a:picLocks noChangeAspect="1"/>
          </p:cNvPicPr>
          <p:nvPr/>
        </p:nvPicPr>
        <p:blipFill>
          <a:blip r:embed="rId3"/>
          <a:stretch>
            <a:fillRect/>
          </a:stretch>
        </p:blipFill>
        <p:spPr>
          <a:xfrm>
            <a:off x="0" y="0"/>
            <a:ext cx="9144000" cy="5143500"/>
          </a:xfrm>
          <a:prstGeom prst="rect">
            <a:avLst/>
          </a:prstGeom>
        </p:spPr>
      </p:pic>
      <p:sp>
        <p:nvSpPr>
          <p:cNvPr id="2" name="Text 0"/>
          <p:cNvSpPr/>
          <p:nvPr/>
        </p:nvSpPr>
        <p:spPr>
          <a:xfrm>
            <a:off x="457200" y="274320"/>
            <a:ext cx="8229600" cy="594360"/>
          </a:xfrm>
          <a:prstGeom prst="rect">
            <a:avLst/>
          </a:prstGeom>
          <a:solidFill>
            <a:srgbClr val="FFFFFF"/>
          </a:solidFill>
          <a:ln/>
        </p:spPr>
        <p:txBody>
          <a:bodyPr wrap="square" lIns="0" tIns="0" rIns="0" bIns="0" rtlCol="0" anchor="ctr"/>
          <a:lstStyle/>
          <a:p>
            <a:pPr marL="0" indent="0">
              <a:buNone/>
            </a:pPr>
            <a:r>
              <a:rPr lang="en-US" sz="2800" b="1" dirty="0">
                <a:solidFill>
                  <a:srgbClr val="1E2761"/>
                </a:solidFill>
                <a:latin typeface="Cambria" pitchFamily="34" charset="0"/>
                <a:ea typeface="Cambria" pitchFamily="34" charset="-122"/>
                <a:cs typeface="Cambria" pitchFamily="34" charset="-120"/>
              </a:rPr>
              <a:t>Open a terminal</a:t>
            </a:r>
            <a:endParaRPr lang="en-US" sz="2800" dirty="0"/>
          </a:p>
        </p:txBody>
      </p:sp>
      <p:sp>
        <p:nvSpPr>
          <p:cNvPr id="3" name="Shape 1"/>
          <p:cNvSpPr/>
          <p:nvPr/>
        </p:nvSpPr>
        <p:spPr>
          <a:xfrm>
            <a:off x="457200" y="868680"/>
            <a:ext cx="548640" cy="36576"/>
          </a:xfrm>
          <a:prstGeom prst="rect">
            <a:avLst/>
          </a:prstGeom>
          <a:solidFill>
            <a:srgbClr val="1E2761"/>
          </a:solidFill>
          <a:ln w="12700">
            <a:solidFill>
              <a:srgbClr val="1E2761"/>
            </a:solidFill>
            <a:prstDash val="solid"/>
          </a:ln>
        </p:spPr>
        <p:txBody>
          <a:bodyPr/>
          <a:lstStyle/>
          <a:p>
            <a:endParaRPr lang="en-US"/>
          </a:p>
        </p:txBody>
      </p:sp>
      <p:sp>
        <p:nvSpPr>
          <p:cNvPr id="4" name="Shape 2"/>
          <p:cNvSpPr/>
          <p:nvPr/>
        </p:nvSpPr>
        <p:spPr>
          <a:xfrm>
            <a:off x="457200" y="1005840"/>
            <a:ext cx="1005840" cy="292608"/>
          </a:xfrm>
          <a:prstGeom prst="rect">
            <a:avLst/>
          </a:prstGeom>
          <a:solidFill>
            <a:srgbClr val="0369A1"/>
          </a:solidFill>
          <a:ln w="12700">
            <a:solidFill>
              <a:srgbClr val="0369A1"/>
            </a:solidFill>
            <a:prstDash val="solid"/>
          </a:ln>
        </p:spPr>
        <p:txBody>
          <a:bodyPr/>
          <a:lstStyle/>
          <a:p>
            <a:endParaRPr lang="en-US"/>
          </a:p>
        </p:txBody>
      </p:sp>
      <p:sp>
        <p:nvSpPr>
          <p:cNvPr id="5" name="Text 3"/>
          <p:cNvSpPr/>
          <p:nvPr/>
        </p:nvSpPr>
        <p:spPr>
          <a:xfrm>
            <a:off x="457200" y="1005840"/>
            <a:ext cx="1005840" cy="292608"/>
          </a:xfrm>
          <a:prstGeom prst="rect">
            <a:avLst/>
          </a:prstGeom>
          <a:noFill/>
          <a:ln/>
        </p:spPr>
        <p:txBody>
          <a:bodyPr wrap="square" lIns="0" tIns="0" rIns="0" bIns="0" rtlCol="0" anchor="ctr"/>
          <a:lstStyle/>
          <a:p>
            <a:pPr marL="0" indent="0" algn="ctr">
              <a:buNone/>
            </a:pPr>
            <a:r>
              <a:rPr lang="en-US" sz="1100" b="1" kern="0" spc="200" dirty="0">
                <a:solidFill>
                  <a:srgbClr val="FFFFFF"/>
                </a:solidFill>
                <a:latin typeface="Calibri" pitchFamily="34" charset="0"/>
                <a:ea typeface="Calibri" pitchFamily="34" charset="-122"/>
                <a:cs typeface="Calibri" pitchFamily="34" charset="-120"/>
              </a:rPr>
              <a:t>DEMO</a:t>
            </a:r>
            <a:endParaRPr lang="en-US" sz="1100" dirty="0"/>
          </a:p>
        </p:txBody>
      </p:sp>
      <p:sp>
        <p:nvSpPr>
          <p:cNvPr id="6" name="Text 4"/>
          <p:cNvSpPr/>
          <p:nvPr/>
        </p:nvSpPr>
        <p:spPr>
          <a:xfrm>
            <a:off x="548640" y="1435608"/>
            <a:ext cx="8046720" cy="767080"/>
          </a:xfrm>
          <a:prstGeom prst="rect">
            <a:avLst/>
          </a:prstGeom>
          <a:solidFill>
            <a:srgbClr val="FFFFFF"/>
          </a:solidFill>
          <a:ln/>
        </p:spPr>
        <p:txBody>
          <a:bodyPr wrap="square" lIns="0" tIns="0" rIns="0" bIns="0" rtlCol="0" anchor="t"/>
          <a:lstStyle/>
          <a:p>
            <a:pPr marL="228600" indent="-228600">
              <a:spcAft>
                <a:spcPts val="600"/>
              </a:spcAft>
              <a:buSzPct val="100000"/>
              <a:buChar char="■"/>
            </a:pPr>
            <a:r>
              <a:rPr lang="en-US" sz="1600" dirty="0">
                <a:solidFill>
                  <a:srgbClr val="1F2937"/>
                </a:solidFill>
                <a:latin typeface="Calibri" pitchFamily="34" charset="0"/>
                <a:ea typeface="Calibri" pitchFamily="34" charset="-122"/>
                <a:cs typeface="Calibri" pitchFamily="34" charset="-120"/>
              </a:rPr>
              <a:t>On your VM desktop, open the </a:t>
            </a:r>
            <a:r>
              <a:rPr lang="en-US" sz="1600" b="1" dirty="0">
                <a:solidFill>
                  <a:srgbClr val="1F2937"/>
                </a:solidFill>
                <a:latin typeface="Calibri" pitchFamily="34" charset="0"/>
                <a:ea typeface="Calibri" pitchFamily="34" charset="-122"/>
                <a:cs typeface="Calibri" pitchFamily="34" charset="-120"/>
              </a:rPr>
              <a:t>Terminal</a:t>
            </a:r>
            <a:r>
              <a:rPr lang="en-US" sz="1600" dirty="0">
                <a:solidFill>
                  <a:srgbClr val="1F2937"/>
                </a:solidFill>
                <a:latin typeface="Calibri" pitchFamily="34" charset="0"/>
                <a:ea typeface="Calibri" pitchFamily="34" charset="-122"/>
                <a:cs typeface="Calibri" pitchFamily="34" charset="-120"/>
              </a:rPr>
              <a:t> application.</a:t>
            </a:r>
            <a:endParaRPr lang="en-US" sz="1600" dirty="0"/>
          </a:p>
          <a:p>
            <a:pPr marL="228600" indent="-228600">
              <a:spcAft>
                <a:spcPts val="600"/>
              </a:spcAft>
              <a:buSzPct val="100000"/>
              <a:buChar char="■"/>
            </a:pPr>
            <a:r>
              <a:rPr lang="en-US" sz="1600" dirty="0">
                <a:solidFill>
                  <a:srgbClr val="1F2937"/>
                </a:solidFill>
                <a:latin typeface="Calibri" pitchFamily="34" charset="0"/>
                <a:ea typeface="Calibri" pitchFamily="34" charset="-122"/>
                <a:cs typeface="Calibri" pitchFamily="34" charset="-120"/>
              </a:rPr>
              <a:t>Or: right-click the desktop → "Open Terminal".</a:t>
            </a:r>
            <a:endParaRPr lang="en-US" sz="1600" dirty="0"/>
          </a:p>
        </p:txBody>
      </p:sp>
      <p:sp>
        <p:nvSpPr>
          <p:cNvPr id="7" name="Shape 5"/>
          <p:cNvSpPr/>
          <p:nvPr/>
        </p:nvSpPr>
        <p:spPr>
          <a:xfrm>
            <a:off x="457200" y="2431288"/>
            <a:ext cx="1005840" cy="292608"/>
          </a:xfrm>
          <a:prstGeom prst="rect">
            <a:avLst/>
          </a:prstGeom>
          <a:solidFill>
            <a:srgbClr val="047857"/>
          </a:solidFill>
          <a:ln w="12700">
            <a:solidFill>
              <a:srgbClr val="047857"/>
            </a:solidFill>
            <a:prstDash val="solid"/>
          </a:ln>
        </p:spPr>
        <p:txBody>
          <a:bodyPr/>
          <a:lstStyle/>
          <a:p>
            <a:endParaRPr lang="en-US"/>
          </a:p>
        </p:txBody>
      </p:sp>
      <p:sp>
        <p:nvSpPr>
          <p:cNvPr id="8" name="Text 6"/>
          <p:cNvSpPr/>
          <p:nvPr/>
        </p:nvSpPr>
        <p:spPr>
          <a:xfrm>
            <a:off x="457200" y="2431288"/>
            <a:ext cx="1005840" cy="292608"/>
          </a:xfrm>
          <a:prstGeom prst="rect">
            <a:avLst/>
          </a:prstGeom>
          <a:noFill/>
          <a:ln/>
        </p:spPr>
        <p:txBody>
          <a:bodyPr wrap="square" lIns="0" tIns="0" rIns="0" bIns="0" rtlCol="0" anchor="ctr"/>
          <a:lstStyle/>
          <a:p>
            <a:pPr marL="0" indent="0" algn="ctr">
              <a:buNone/>
            </a:pPr>
            <a:r>
              <a:rPr lang="en-US" sz="1100" b="1" kern="0" spc="200" dirty="0">
                <a:solidFill>
                  <a:srgbClr val="FFFFFF"/>
                </a:solidFill>
                <a:latin typeface="Calibri" pitchFamily="34" charset="0"/>
                <a:ea typeface="Calibri" pitchFamily="34" charset="-122"/>
                <a:cs typeface="Calibri" pitchFamily="34" charset="-120"/>
              </a:rPr>
              <a:t>EXERCISE</a:t>
            </a:r>
            <a:endParaRPr lang="en-US" sz="1100" dirty="0"/>
          </a:p>
        </p:txBody>
      </p:sp>
      <p:sp>
        <p:nvSpPr>
          <p:cNvPr id="9" name="Text 7"/>
          <p:cNvSpPr/>
          <p:nvPr/>
        </p:nvSpPr>
        <p:spPr>
          <a:xfrm>
            <a:off x="548640" y="2861056"/>
            <a:ext cx="8046720" cy="406400"/>
          </a:xfrm>
          <a:prstGeom prst="rect">
            <a:avLst/>
          </a:prstGeom>
          <a:solidFill>
            <a:srgbClr val="FFFFFF"/>
          </a:solidFill>
          <a:ln/>
        </p:spPr>
        <p:txBody>
          <a:bodyPr wrap="square" lIns="0" tIns="0" rIns="0" bIns="0" rtlCol="0" anchor="t"/>
          <a:lstStyle/>
          <a:p>
            <a:pPr marL="228600" indent="-228600">
              <a:spcAft>
                <a:spcPts val="600"/>
              </a:spcAft>
              <a:buSzPct val="100000"/>
              <a:buChar char="■"/>
            </a:pPr>
            <a:r>
              <a:rPr lang="en-US" sz="1600" dirty="0">
                <a:solidFill>
                  <a:srgbClr val="1F2937"/>
                </a:solidFill>
                <a:latin typeface="Calibri" pitchFamily="34" charset="0"/>
                <a:ea typeface="Calibri" pitchFamily="34" charset="-122"/>
                <a:cs typeface="Calibri" pitchFamily="34" charset="-120"/>
              </a:rPr>
              <a:t>Open a terminal on your VM. Make it bigger so you can read it.</a:t>
            </a:r>
            <a:endParaRPr lang="en-US" sz="16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a:effectLst/>
      </p:bgPr>
    </p:bg>
    <p:spTree>
      <p:nvGrpSpPr>
        <p:cNvPr id="1" name=""/>
        <p:cNvGrpSpPr/>
        <p:nvPr/>
      </p:nvGrpSpPr>
      <p:grpSpPr>
        <a:xfrm>
          <a:off x="0" y="0"/>
          <a:ext cx="0" cy="0"/>
          <a:chOff x="0" y="0"/>
          <a:chExt cx="0" cy="0"/>
        </a:xfrm>
      </p:grpSpPr>
      <p:pic>
        <p:nvPicPr>
          <p:cNvPr id="8" name="Picture 7" descr="access-footer.jpg"/>
          <p:cNvPicPr>
            <a:picLocks noChangeAspect="1"/>
          </p:cNvPicPr>
          <p:nvPr/>
        </p:nvPicPr>
        <p:blipFill>
          <a:blip r:embed="rId3"/>
          <a:stretch>
            <a:fillRect/>
          </a:stretch>
        </p:blipFill>
        <p:spPr>
          <a:xfrm>
            <a:off x="0" y="0"/>
            <a:ext cx="9144000" cy="5143500"/>
          </a:xfrm>
          <a:prstGeom prst="rect">
            <a:avLst/>
          </a:prstGeom>
        </p:spPr>
      </p:pic>
      <p:sp>
        <p:nvSpPr>
          <p:cNvPr id="2" name="Text 0"/>
          <p:cNvSpPr/>
          <p:nvPr/>
        </p:nvSpPr>
        <p:spPr>
          <a:xfrm>
            <a:off x="457200" y="274320"/>
            <a:ext cx="8229600" cy="594360"/>
          </a:xfrm>
          <a:prstGeom prst="rect">
            <a:avLst/>
          </a:prstGeom>
          <a:solidFill>
            <a:srgbClr val="FFFFFF"/>
          </a:solidFill>
          <a:ln/>
        </p:spPr>
        <p:txBody>
          <a:bodyPr wrap="square" lIns="0" tIns="0" rIns="0" bIns="0" rtlCol="0" anchor="ctr"/>
          <a:lstStyle/>
          <a:p>
            <a:pPr marL="0" indent="0">
              <a:buNone/>
            </a:pPr>
            <a:r>
              <a:rPr lang="en-US" sz="2800" b="1" dirty="0">
                <a:solidFill>
                  <a:srgbClr val="1E2761"/>
                </a:solidFill>
                <a:latin typeface="Cambria" pitchFamily="34" charset="0"/>
                <a:ea typeface="Cambria" pitchFamily="34" charset="-122"/>
                <a:cs typeface="Cambria" pitchFamily="34" charset="-120"/>
              </a:rPr>
              <a:t>What you're looking at — the prompt</a:t>
            </a:r>
            <a:endParaRPr lang="en-US" sz="2800" dirty="0"/>
          </a:p>
        </p:txBody>
      </p:sp>
      <p:sp>
        <p:nvSpPr>
          <p:cNvPr id="3" name="Shape 1"/>
          <p:cNvSpPr/>
          <p:nvPr/>
        </p:nvSpPr>
        <p:spPr>
          <a:xfrm>
            <a:off x="457200" y="868680"/>
            <a:ext cx="548640" cy="36576"/>
          </a:xfrm>
          <a:prstGeom prst="rect">
            <a:avLst/>
          </a:prstGeom>
          <a:solidFill>
            <a:srgbClr val="1E2761"/>
          </a:solidFill>
          <a:ln w="12700">
            <a:solidFill>
              <a:srgbClr val="1E2761"/>
            </a:solidFill>
            <a:prstDash val="solid"/>
          </a:ln>
        </p:spPr>
        <p:txBody>
          <a:bodyPr/>
          <a:lstStyle/>
          <a:p>
            <a:endParaRPr lang="en-US"/>
          </a:p>
        </p:txBody>
      </p:sp>
      <p:sp>
        <p:nvSpPr>
          <p:cNvPr id="4" name="Shape 2"/>
          <p:cNvSpPr/>
          <p:nvPr/>
        </p:nvSpPr>
        <p:spPr>
          <a:xfrm>
            <a:off x="548640" y="1005840"/>
            <a:ext cx="8046720" cy="546100"/>
          </a:xfrm>
          <a:prstGeom prst="rect">
            <a:avLst/>
          </a:prstGeom>
          <a:solidFill>
            <a:srgbClr val="0F172A"/>
          </a:solidFill>
          <a:ln w="12700">
            <a:solidFill>
              <a:srgbClr val="0F172A"/>
            </a:solidFill>
            <a:prstDash val="solid"/>
          </a:ln>
        </p:spPr>
        <p:txBody>
          <a:bodyPr/>
          <a:lstStyle/>
          <a:p>
            <a:endParaRPr lang="en-US"/>
          </a:p>
        </p:txBody>
      </p:sp>
      <p:sp>
        <p:nvSpPr>
          <p:cNvPr id="5" name="Text 3"/>
          <p:cNvSpPr/>
          <p:nvPr/>
        </p:nvSpPr>
        <p:spPr>
          <a:xfrm>
            <a:off x="685800" y="1078992"/>
            <a:ext cx="7772400" cy="399796"/>
          </a:xfrm>
          <a:prstGeom prst="rect">
            <a:avLst/>
          </a:prstGeom>
          <a:noFill/>
          <a:ln/>
        </p:spPr>
        <p:txBody>
          <a:bodyPr wrap="square" lIns="0" tIns="0" rIns="0" bIns="0" rtlCol="0" anchor="t"/>
          <a:lstStyle/>
          <a:p>
            <a:pPr marL="0" indent="0">
              <a:buNone/>
            </a:pPr>
            <a:r>
              <a:rPr lang="en-US" sz="2200" dirty="0">
                <a:solidFill>
                  <a:srgbClr val="E2E8F0"/>
                </a:solidFill>
                <a:latin typeface="Consolas" pitchFamily="34" charset="0"/>
                <a:ea typeface="Consolas" pitchFamily="34" charset="-122"/>
                <a:cs typeface="Consolas" pitchFamily="34" charset="-120"/>
              </a:rPr>
              <a:t>exouser@vm-42:~$</a:t>
            </a:r>
            <a:endParaRPr lang="en-US" sz="2200" dirty="0"/>
          </a:p>
        </p:txBody>
      </p:sp>
      <p:sp>
        <p:nvSpPr>
          <p:cNvPr id="6" name="Text 4"/>
          <p:cNvSpPr/>
          <p:nvPr/>
        </p:nvSpPr>
        <p:spPr>
          <a:xfrm>
            <a:off x="548640" y="1734820"/>
            <a:ext cx="8046720" cy="1488440"/>
          </a:xfrm>
          <a:prstGeom prst="rect">
            <a:avLst/>
          </a:prstGeom>
          <a:solidFill>
            <a:srgbClr val="FFFFFF"/>
          </a:solidFill>
          <a:ln/>
        </p:spPr>
        <p:txBody>
          <a:bodyPr wrap="square" lIns="0" tIns="0" rIns="0" bIns="0" rtlCol="0" anchor="t"/>
          <a:lstStyle/>
          <a:p>
            <a:pPr marL="228600" indent="-228600">
              <a:spcAft>
                <a:spcPts val="600"/>
              </a:spcAft>
              <a:buSzPct val="100000"/>
              <a:buChar char="■"/>
            </a:pPr>
            <a:r>
              <a:rPr lang="en-US" sz="1600" dirty="0">
                <a:solidFill>
                  <a:srgbClr val="1E2761"/>
                </a:solidFill>
                <a:latin typeface="Consolas" pitchFamily="34" charset="0"/>
                <a:ea typeface="Consolas" pitchFamily="34" charset="-122"/>
                <a:cs typeface="Consolas" pitchFamily="34" charset="-120"/>
              </a:rPr>
              <a:t>exouser</a:t>
            </a:r>
            <a:r>
              <a:rPr lang="en-US" sz="1600" dirty="0">
                <a:solidFill>
                  <a:srgbClr val="1F2937"/>
                </a:solidFill>
                <a:latin typeface="Calibri" pitchFamily="34" charset="0"/>
                <a:ea typeface="Calibri" pitchFamily="34" charset="-122"/>
                <a:cs typeface="Calibri" pitchFamily="34" charset="-120"/>
              </a:rPr>
              <a:t> — your </a:t>
            </a:r>
            <a:r>
              <a:rPr lang="en-US" sz="1600" b="1" dirty="0">
                <a:solidFill>
                  <a:srgbClr val="1F2937"/>
                </a:solidFill>
                <a:latin typeface="Calibri" pitchFamily="34" charset="0"/>
                <a:ea typeface="Calibri" pitchFamily="34" charset="-122"/>
                <a:cs typeface="Calibri" pitchFamily="34" charset="-120"/>
              </a:rPr>
              <a:t>username</a:t>
            </a:r>
            <a:endParaRPr lang="en-US" sz="1600" dirty="0"/>
          </a:p>
          <a:p>
            <a:pPr marL="228600" indent="-228600">
              <a:spcAft>
                <a:spcPts val="600"/>
              </a:spcAft>
              <a:buSzPct val="100000"/>
              <a:buChar char="■"/>
            </a:pPr>
            <a:r>
              <a:rPr lang="en-US" sz="1600" dirty="0">
                <a:solidFill>
                  <a:srgbClr val="1E2761"/>
                </a:solidFill>
                <a:latin typeface="Consolas" pitchFamily="34" charset="0"/>
                <a:ea typeface="Consolas" pitchFamily="34" charset="-122"/>
                <a:cs typeface="Consolas" pitchFamily="34" charset="-120"/>
              </a:rPr>
              <a:t>vm-42</a:t>
            </a:r>
            <a:r>
              <a:rPr lang="en-US" sz="1600" dirty="0">
                <a:solidFill>
                  <a:srgbClr val="1F2937"/>
                </a:solidFill>
                <a:latin typeface="Calibri" pitchFamily="34" charset="0"/>
                <a:ea typeface="Calibri" pitchFamily="34" charset="-122"/>
                <a:cs typeface="Calibri" pitchFamily="34" charset="-120"/>
              </a:rPr>
              <a:t> — the </a:t>
            </a:r>
            <a:r>
              <a:rPr lang="en-US" sz="1600" b="1" dirty="0">
                <a:solidFill>
                  <a:srgbClr val="1F2937"/>
                </a:solidFill>
                <a:latin typeface="Calibri" pitchFamily="34" charset="0"/>
                <a:ea typeface="Calibri" pitchFamily="34" charset="-122"/>
                <a:cs typeface="Calibri" pitchFamily="34" charset="-120"/>
              </a:rPr>
              <a:t>hostname</a:t>
            </a:r>
            <a:r>
              <a:rPr lang="en-US" sz="1600" dirty="0">
                <a:solidFill>
                  <a:srgbClr val="1F2937"/>
                </a:solidFill>
                <a:latin typeface="Calibri" pitchFamily="34" charset="0"/>
                <a:ea typeface="Calibri" pitchFamily="34" charset="-122"/>
                <a:cs typeface="Calibri" pitchFamily="34" charset="-120"/>
              </a:rPr>
              <a:t> (this machine's name)</a:t>
            </a:r>
            <a:endParaRPr lang="en-US" sz="1600" dirty="0"/>
          </a:p>
          <a:p>
            <a:pPr marL="228600" indent="-228600">
              <a:spcAft>
                <a:spcPts val="600"/>
              </a:spcAft>
              <a:buSzPct val="100000"/>
              <a:buChar char="■"/>
            </a:pPr>
            <a:r>
              <a:rPr lang="en-US" sz="1600" dirty="0">
                <a:solidFill>
                  <a:srgbClr val="1E2761"/>
                </a:solidFill>
                <a:latin typeface="Consolas" pitchFamily="34" charset="0"/>
                <a:ea typeface="Consolas" pitchFamily="34" charset="-122"/>
                <a:cs typeface="Consolas" pitchFamily="34" charset="-120"/>
              </a:rPr>
              <a:t>~</a:t>
            </a:r>
            <a:r>
              <a:rPr lang="en-US" sz="1600" dirty="0">
                <a:solidFill>
                  <a:srgbClr val="1F2937"/>
                </a:solidFill>
                <a:latin typeface="Calibri" pitchFamily="34" charset="0"/>
                <a:ea typeface="Calibri" pitchFamily="34" charset="-122"/>
                <a:cs typeface="Calibri" pitchFamily="34" charset="-120"/>
              </a:rPr>
              <a:t> — your </a:t>
            </a:r>
            <a:r>
              <a:rPr lang="en-US" sz="1600" b="1" dirty="0">
                <a:solidFill>
                  <a:srgbClr val="1F2937"/>
                </a:solidFill>
                <a:latin typeface="Calibri" pitchFamily="34" charset="0"/>
                <a:ea typeface="Calibri" pitchFamily="34" charset="-122"/>
                <a:cs typeface="Calibri" pitchFamily="34" charset="-120"/>
              </a:rPr>
              <a:t>current directory</a:t>
            </a:r>
            <a:r>
              <a:rPr lang="en-US" sz="1600" dirty="0">
                <a:solidFill>
                  <a:srgbClr val="1F2937"/>
                </a:solidFill>
                <a:latin typeface="Calibri" pitchFamily="34" charset="0"/>
                <a:ea typeface="Calibri" pitchFamily="34" charset="-122"/>
                <a:cs typeface="Calibri" pitchFamily="34" charset="-120"/>
              </a:rPr>
              <a:t> (shorthand for your home)</a:t>
            </a:r>
            <a:endParaRPr lang="en-US" sz="1600" dirty="0"/>
          </a:p>
          <a:p>
            <a:pPr marL="228600" indent="-228600">
              <a:spcAft>
                <a:spcPts val="600"/>
              </a:spcAft>
              <a:buSzPct val="100000"/>
              <a:buChar char="■"/>
            </a:pPr>
            <a:r>
              <a:rPr lang="en-US" sz="1600" dirty="0">
                <a:solidFill>
                  <a:srgbClr val="1E2761"/>
                </a:solidFill>
                <a:latin typeface="Consolas" pitchFamily="34" charset="0"/>
                <a:ea typeface="Consolas" pitchFamily="34" charset="-122"/>
                <a:cs typeface="Consolas" pitchFamily="34" charset="-120"/>
              </a:rPr>
              <a:t>$</a:t>
            </a:r>
            <a:r>
              <a:rPr lang="en-US" sz="1600" dirty="0">
                <a:solidFill>
                  <a:srgbClr val="1F2937"/>
                </a:solidFill>
                <a:latin typeface="Calibri" pitchFamily="34" charset="0"/>
                <a:ea typeface="Calibri" pitchFamily="34" charset="-122"/>
                <a:cs typeface="Calibri" pitchFamily="34" charset="-120"/>
              </a:rPr>
              <a:t> — the </a:t>
            </a:r>
            <a:r>
              <a:rPr lang="en-US" sz="1600" b="1" dirty="0">
                <a:solidFill>
                  <a:srgbClr val="1F2937"/>
                </a:solidFill>
                <a:latin typeface="Calibri" pitchFamily="34" charset="0"/>
                <a:ea typeface="Calibri" pitchFamily="34" charset="-122"/>
                <a:cs typeface="Calibri" pitchFamily="34" charset="-120"/>
              </a:rPr>
              <a:t>prompt</a:t>
            </a:r>
            <a:r>
              <a:rPr lang="en-US" sz="1600" dirty="0">
                <a:solidFill>
                  <a:srgbClr val="1F2937"/>
                </a:solidFill>
                <a:latin typeface="Calibri" pitchFamily="34" charset="0"/>
                <a:ea typeface="Calibri" pitchFamily="34" charset="-122"/>
                <a:cs typeface="Calibri" pitchFamily="34" charset="-120"/>
              </a:rPr>
              <a:t>. The shell is ready for a command.</a:t>
            </a:r>
            <a:endParaRPr lang="en-US" sz="1600" dirty="0"/>
          </a:p>
        </p:txBody>
      </p:sp>
      <p:sp>
        <p:nvSpPr>
          <p:cNvPr id="7" name="Text 5"/>
          <p:cNvSpPr/>
          <p:nvPr/>
        </p:nvSpPr>
        <p:spPr>
          <a:xfrm>
            <a:off x="548640" y="3268980"/>
            <a:ext cx="8046720" cy="276860"/>
          </a:xfrm>
          <a:prstGeom prst="rect">
            <a:avLst/>
          </a:prstGeom>
          <a:solidFill>
            <a:srgbClr val="FFFFFF"/>
          </a:solidFill>
          <a:ln/>
        </p:spPr>
        <p:txBody>
          <a:bodyPr wrap="square" rtlCol="0" anchor="t"/>
          <a:lstStyle/>
          <a:p>
            <a:pPr marL="0" indent="0">
              <a:buNone/>
            </a:pPr>
            <a:r>
              <a:rPr lang="en-US" sz="1300" i="1" dirty="0">
                <a:solidFill>
                  <a:srgbClr val="475569"/>
                </a:solidFill>
                <a:latin typeface="Calibri" pitchFamily="34" charset="0"/>
                <a:ea typeface="Calibri" pitchFamily="34" charset="-122"/>
                <a:cs typeface="Calibri" pitchFamily="34" charset="-120"/>
              </a:rPr>
              <a:t>The prompt is telling you who you are, where you are, and that it's listening.</a:t>
            </a:r>
            <a:endParaRPr lang="en-US" sz="13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a:effectLst/>
      </p:bgPr>
    </p:bg>
    <p:spTree>
      <p:nvGrpSpPr>
        <p:cNvPr id="1" name=""/>
        <p:cNvGrpSpPr/>
        <p:nvPr/>
      </p:nvGrpSpPr>
      <p:grpSpPr>
        <a:xfrm>
          <a:off x="0" y="0"/>
          <a:ext cx="0" cy="0"/>
          <a:chOff x="0" y="0"/>
          <a:chExt cx="0" cy="0"/>
        </a:xfrm>
      </p:grpSpPr>
      <p:pic>
        <p:nvPicPr>
          <p:cNvPr id="9" name="Picture 8" descr="access-footer.jpg"/>
          <p:cNvPicPr>
            <a:picLocks noChangeAspect="1"/>
          </p:cNvPicPr>
          <p:nvPr/>
        </p:nvPicPr>
        <p:blipFill>
          <a:blip r:embed="rId3"/>
          <a:stretch>
            <a:fillRect/>
          </a:stretch>
        </p:blipFill>
        <p:spPr>
          <a:xfrm>
            <a:off x="0" y="0"/>
            <a:ext cx="9144000" cy="5143500"/>
          </a:xfrm>
          <a:prstGeom prst="rect">
            <a:avLst/>
          </a:prstGeom>
        </p:spPr>
      </p:pic>
      <p:sp>
        <p:nvSpPr>
          <p:cNvPr id="2" name="Text 0"/>
          <p:cNvSpPr/>
          <p:nvPr/>
        </p:nvSpPr>
        <p:spPr>
          <a:xfrm>
            <a:off x="457200" y="274320"/>
            <a:ext cx="8229600" cy="594360"/>
          </a:xfrm>
          <a:prstGeom prst="rect">
            <a:avLst/>
          </a:prstGeom>
          <a:solidFill>
            <a:srgbClr val="FFFFFF"/>
          </a:solidFill>
          <a:ln/>
        </p:spPr>
        <p:txBody>
          <a:bodyPr wrap="square" lIns="0" tIns="0" rIns="0" bIns="0" rtlCol="0" anchor="ctr"/>
          <a:lstStyle/>
          <a:p>
            <a:pPr marL="0" indent="0">
              <a:buNone/>
            </a:pPr>
            <a:r>
              <a:rPr lang="en-US" sz="2800" b="1" dirty="0">
                <a:solidFill>
                  <a:srgbClr val="1E2761"/>
                </a:solidFill>
                <a:latin typeface="Cambria" pitchFamily="34" charset="0"/>
                <a:ea typeface="Cambria" pitchFamily="34" charset="-122"/>
                <a:cs typeface="Cambria" pitchFamily="34" charset="-120"/>
              </a:rPr>
              <a:t>Your first commands</a:t>
            </a:r>
            <a:endParaRPr lang="en-US" sz="2800" dirty="0"/>
          </a:p>
        </p:txBody>
      </p:sp>
      <p:sp>
        <p:nvSpPr>
          <p:cNvPr id="3" name="Shape 1"/>
          <p:cNvSpPr/>
          <p:nvPr/>
        </p:nvSpPr>
        <p:spPr>
          <a:xfrm>
            <a:off x="457200" y="868680"/>
            <a:ext cx="548640" cy="36576"/>
          </a:xfrm>
          <a:prstGeom prst="rect">
            <a:avLst/>
          </a:prstGeom>
          <a:solidFill>
            <a:srgbClr val="1E2761"/>
          </a:solidFill>
          <a:ln w="12700">
            <a:solidFill>
              <a:srgbClr val="1E2761"/>
            </a:solidFill>
            <a:prstDash val="solid"/>
          </a:ln>
        </p:spPr>
        <p:txBody>
          <a:bodyPr/>
          <a:lstStyle/>
          <a:p>
            <a:endParaRPr lang="en-US"/>
          </a:p>
        </p:txBody>
      </p:sp>
      <p:sp>
        <p:nvSpPr>
          <p:cNvPr id="4" name="Shape 2"/>
          <p:cNvSpPr/>
          <p:nvPr/>
        </p:nvSpPr>
        <p:spPr>
          <a:xfrm>
            <a:off x="457200" y="1005840"/>
            <a:ext cx="1005840" cy="292608"/>
          </a:xfrm>
          <a:prstGeom prst="rect">
            <a:avLst/>
          </a:prstGeom>
          <a:solidFill>
            <a:srgbClr val="0369A1"/>
          </a:solidFill>
          <a:ln w="12700">
            <a:solidFill>
              <a:srgbClr val="0369A1"/>
            </a:solidFill>
            <a:prstDash val="solid"/>
          </a:ln>
        </p:spPr>
        <p:txBody>
          <a:bodyPr/>
          <a:lstStyle/>
          <a:p>
            <a:endParaRPr lang="en-US"/>
          </a:p>
        </p:txBody>
      </p:sp>
      <p:sp>
        <p:nvSpPr>
          <p:cNvPr id="5" name="Text 3"/>
          <p:cNvSpPr/>
          <p:nvPr/>
        </p:nvSpPr>
        <p:spPr>
          <a:xfrm>
            <a:off x="457200" y="1005840"/>
            <a:ext cx="1005840" cy="292608"/>
          </a:xfrm>
          <a:prstGeom prst="rect">
            <a:avLst/>
          </a:prstGeom>
          <a:noFill/>
          <a:ln/>
        </p:spPr>
        <p:txBody>
          <a:bodyPr wrap="square" lIns="0" tIns="0" rIns="0" bIns="0" rtlCol="0" anchor="ctr"/>
          <a:lstStyle/>
          <a:p>
            <a:pPr marL="0" indent="0" algn="ctr">
              <a:buNone/>
            </a:pPr>
            <a:r>
              <a:rPr lang="en-US" sz="1100" b="1" kern="0" spc="200" dirty="0">
                <a:solidFill>
                  <a:srgbClr val="FFFFFF"/>
                </a:solidFill>
                <a:latin typeface="Calibri" pitchFamily="34" charset="0"/>
                <a:ea typeface="Calibri" pitchFamily="34" charset="-122"/>
                <a:cs typeface="Calibri" pitchFamily="34" charset="-120"/>
              </a:rPr>
              <a:t>DEMO</a:t>
            </a:r>
            <a:endParaRPr lang="en-US" sz="1100" dirty="0"/>
          </a:p>
        </p:txBody>
      </p:sp>
      <p:sp>
        <p:nvSpPr>
          <p:cNvPr id="6" name="Shape 4"/>
          <p:cNvSpPr/>
          <p:nvPr/>
        </p:nvSpPr>
        <p:spPr>
          <a:xfrm>
            <a:off x="548640" y="1435608"/>
            <a:ext cx="8046720" cy="1173480"/>
          </a:xfrm>
          <a:prstGeom prst="rect">
            <a:avLst/>
          </a:prstGeom>
          <a:solidFill>
            <a:srgbClr val="0F172A"/>
          </a:solidFill>
          <a:ln w="12700">
            <a:solidFill>
              <a:srgbClr val="0F172A"/>
            </a:solidFill>
            <a:prstDash val="solid"/>
          </a:ln>
        </p:spPr>
        <p:txBody>
          <a:bodyPr/>
          <a:lstStyle/>
          <a:p>
            <a:endParaRPr lang="en-US"/>
          </a:p>
        </p:txBody>
      </p:sp>
      <p:sp>
        <p:nvSpPr>
          <p:cNvPr id="7" name="Text 5"/>
          <p:cNvSpPr/>
          <p:nvPr/>
        </p:nvSpPr>
        <p:spPr>
          <a:xfrm>
            <a:off x="685800" y="1508760"/>
            <a:ext cx="7772400" cy="1027176"/>
          </a:xfrm>
          <a:prstGeom prst="rect">
            <a:avLst/>
          </a:prstGeom>
          <a:noFill/>
          <a:ln/>
        </p:spPr>
        <p:txBody>
          <a:bodyPr wrap="square" lIns="0" tIns="0" rIns="0" bIns="0" rtlCol="0" anchor="t"/>
          <a:lstStyle/>
          <a:p>
            <a:pPr marL="0" indent="0">
              <a:buNone/>
            </a:pPr>
            <a:r>
              <a:rPr lang="en-US" sz="1500" dirty="0">
                <a:solidFill>
                  <a:srgbClr val="E2E8F0"/>
                </a:solidFill>
                <a:latin typeface="Consolas" pitchFamily="34" charset="0"/>
                <a:ea typeface="Consolas" pitchFamily="34" charset="-122"/>
                <a:cs typeface="Consolas" pitchFamily="34" charset="-120"/>
              </a:rPr>
              <a:t>$ whoami</a:t>
            </a:r>
            <a:endParaRPr lang="en-US" sz="1500" dirty="0"/>
          </a:p>
          <a:p>
            <a:pPr marL="0" indent="0">
              <a:buNone/>
            </a:pPr>
            <a:r>
              <a:rPr lang="en-US" sz="1500" dirty="0">
                <a:solidFill>
                  <a:srgbClr val="E2E8F0"/>
                </a:solidFill>
                <a:latin typeface="Consolas" pitchFamily="34" charset="0"/>
                <a:ea typeface="Consolas" pitchFamily="34" charset="-122"/>
                <a:cs typeface="Consolas" pitchFamily="34" charset="-120"/>
              </a:rPr>
              <a:t>$ hostname</a:t>
            </a:r>
            <a:endParaRPr lang="en-US" sz="1500" dirty="0"/>
          </a:p>
          <a:p>
            <a:pPr marL="0" indent="0">
              <a:buNone/>
            </a:pPr>
            <a:r>
              <a:rPr lang="en-US" sz="1500" dirty="0">
                <a:solidFill>
                  <a:srgbClr val="E2E8F0"/>
                </a:solidFill>
                <a:latin typeface="Consolas" pitchFamily="34" charset="0"/>
                <a:ea typeface="Consolas" pitchFamily="34" charset="-122"/>
                <a:cs typeface="Consolas" pitchFamily="34" charset="-120"/>
              </a:rPr>
              <a:t>$ date</a:t>
            </a:r>
            <a:endParaRPr lang="en-US" sz="1500" dirty="0"/>
          </a:p>
          <a:p>
            <a:pPr marL="0" indent="0">
              <a:buNone/>
            </a:pPr>
            <a:r>
              <a:rPr lang="en-US" sz="1500" dirty="0">
                <a:solidFill>
                  <a:srgbClr val="E2E8F0"/>
                </a:solidFill>
                <a:latin typeface="Consolas" pitchFamily="34" charset="0"/>
                <a:ea typeface="Consolas" pitchFamily="34" charset="-122"/>
                <a:cs typeface="Consolas" pitchFamily="34" charset="-120"/>
              </a:rPr>
              <a:t>$ echo "hello world"</a:t>
            </a:r>
            <a:endParaRPr lang="en-US" sz="1500" dirty="0"/>
          </a:p>
        </p:txBody>
      </p:sp>
      <p:sp>
        <p:nvSpPr>
          <p:cNvPr id="8" name="Text 6"/>
          <p:cNvSpPr/>
          <p:nvPr/>
        </p:nvSpPr>
        <p:spPr>
          <a:xfrm>
            <a:off x="548640" y="2654808"/>
            <a:ext cx="8046720" cy="1844040"/>
          </a:xfrm>
          <a:prstGeom prst="rect">
            <a:avLst/>
          </a:prstGeom>
          <a:solidFill>
            <a:srgbClr val="FFFFFF"/>
          </a:solidFill>
          <a:ln/>
        </p:spPr>
        <p:txBody>
          <a:bodyPr wrap="square" lIns="0" tIns="0" rIns="0" bIns="0" rtlCol="0" anchor="t"/>
          <a:lstStyle/>
          <a:p>
            <a:pPr marL="228600" indent="-228600">
              <a:spcAft>
                <a:spcPts val="600"/>
              </a:spcAft>
              <a:buSzPct val="100000"/>
              <a:buChar char="■"/>
            </a:pPr>
            <a:r>
              <a:rPr lang="en-US" sz="1400" dirty="0">
                <a:solidFill>
                  <a:srgbClr val="1E2761"/>
                </a:solidFill>
                <a:latin typeface="Consolas" pitchFamily="34" charset="0"/>
                <a:ea typeface="Consolas" pitchFamily="34" charset="-122"/>
                <a:cs typeface="Consolas" pitchFamily="34" charset="-120"/>
              </a:rPr>
              <a:t>whoami</a:t>
            </a:r>
            <a:r>
              <a:rPr lang="en-US" sz="1400" dirty="0">
                <a:solidFill>
                  <a:srgbClr val="1F2937"/>
                </a:solidFill>
                <a:latin typeface="Calibri" pitchFamily="34" charset="0"/>
                <a:ea typeface="Calibri" pitchFamily="34" charset="-122"/>
                <a:cs typeface="Calibri" pitchFamily="34" charset="-120"/>
              </a:rPr>
              <a:t> — your username. Useful on a server when you forget who you logged in as.</a:t>
            </a:r>
            <a:endParaRPr lang="en-US" sz="1400" dirty="0"/>
          </a:p>
          <a:p>
            <a:pPr marL="228600" indent="-228600">
              <a:spcAft>
                <a:spcPts val="600"/>
              </a:spcAft>
              <a:buSzPct val="100000"/>
              <a:buChar char="■"/>
            </a:pPr>
            <a:r>
              <a:rPr lang="en-US" sz="1400" dirty="0">
                <a:solidFill>
                  <a:srgbClr val="1E2761"/>
                </a:solidFill>
                <a:latin typeface="Consolas" pitchFamily="34" charset="0"/>
                <a:ea typeface="Consolas" pitchFamily="34" charset="-122"/>
                <a:cs typeface="Consolas" pitchFamily="34" charset="-120"/>
              </a:rPr>
              <a:t>hostname</a:t>
            </a:r>
            <a:r>
              <a:rPr lang="en-US" sz="1400" dirty="0">
                <a:solidFill>
                  <a:srgbClr val="1F2937"/>
                </a:solidFill>
                <a:latin typeface="Calibri" pitchFamily="34" charset="0"/>
                <a:ea typeface="Calibri" pitchFamily="34" charset="-122"/>
                <a:cs typeface="Calibri" pitchFamily="34" charset="-120"/>
              </a:rPr>
              <a:t> — the name of this machine.</a:t>
            </a:r>
            <a:endParaRPr lang="en-US" sz="1400" dirty="0"/>
          </a:p>
          <a:p>
            <a:pPr marL="228600" indent="-228600">
              <a:spcAft>
                <a:spcPts val="600"/>
              </a:spcAft>
              <a:buSzPct val="100000"/>
              <a:buChar char="■"/>
            </a:pPr>
            <a:r>
              <a:rPr lang="en-US" sz="1400" dirty="0">
                <a:solidFill>
                  <a:srgbClr val="1E2761"/>
                </a:solidFill>
                <a:latin typeface="Consolas" pitchFamily="34" charset="0"/>
                <a:ea typeface="Consolas" pitchFamily="34" charset="-122"/>
                <a:cs typeface="Consolas" pitchFamily="34" charset="-120"/>
              </a:rPr>
              <a:t>date</a:t>
            </a:r>
            <a:r>
              <a:rPr lang="en-US" sz="1400" dirty="0">
                <a:solidFill>
                  <a:srgbClr val="1F2937"/>
                </a:solidFill>
                <a:latin typeface="Calibri" pitchFamily="34" charset="0"/>
                <a:ea typeface="Calibri" pitchFamily="34" charset="-122"/>
                <a:cs typeface="Calibri" pitchFamily="34" charset="-120"/>
              </a:rPr>
              <a:t> — the current date and time.</a:t>
            </a:r>
            <a:endParaRPr lang="en-US" sz="1400" dirty="0"/>
          </a:p>
          <a:p>
            <a:pPr marL="228600" indent="-228600">
              <a:spcAft>
                <a:spcPts val="600"/>
              </a:spcAft>
              <a:buSzPct val="100000"/>
              <a:buChar char="■"/>
            </a:pPr>
            <a:r>
              <a:rPr lang="en-US" sz="1400" dirty="0">
                <a:solidFill>
                  <a:srgbClr val="1E2761"/>
                </a:solidFill>
                <a:latin typeface="Consolas" pitchFamily="34" charset="0"/>
                <a:ea typeface="Consolas" pitchFamily="34" charset="-122"/>
                <a:cs typeface="Consolas" pitchFamily="34" charset="-120"/>
              </a:rPr>
              <a:t>echo</a:t>
            </a:r>
            <a:r>
              <a:rPr lang="en-US" sz="1400" dirty="0">
                <a:solidFill>
                  <a:srgbClr val="1F2937"/>
                </a:solidFill>
                <a:latin typeface="Calibri" pitchFamily="34" charset="0"/>
                <a:ea typeface="Calibri" pitchFamily="34" charset="-122"/>
                <a:cs typeface="Calibri" pitchFamily="34" charset="-120"/>
              </a:rPr>
              <a:t> — prints whatever you give it. Boring on its own. We'll see why it matters later.</a:t>
            </a:r>
            <a:endParaRPr lang="en-US" sz="1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a:effectLst/>
      </p:bgPr>
    </p:bg>
    <p:spTree>
      <p:nvGrpSpPr>
        <p:cNvPr id="1" name=""/>
        <p:cNvGrpSpPr/>
        <p:nvPr/>
      </p:nvGrpSpPr>
      <p:grpSpPr>
        <a:xfrm>
          <a:off x="0" y="0"/>
          <a:ext cx="0" cy="0"/>
          <a:chOff x="0" y="0"/>
          <a:chExt cx="0" cy="0"/>
        </a:xfrm>
      </p:grpSpPr>
      <p:pic>
        <p:nvPicPr>
          <p:cNvPr id="10" name="Picture 9" descr="access-footer.jpg"/>
          <p:cNvPicPr>
            <a:picLocks noChangeAspect="1"/>
          </p:cNvPicPr>
          <p:nvPr/>
        </p:nvPicPr>
        <p:blipFill>
          <a:blip r:embed="rId3"/>
          <a:stretch>
            <a:fillRect/>
          </a:stretch>
        </p:blipFill>
        <p:spPr>
          <a:xfrm>
            <a:off x="0" y="0"/>
            <a:ext cx="9144000" cy="5143500"/>
          </a:xfrm>
          <a:prstGeom prst="rect">
            <a:avLst/>
          </a:prstGeom>
        </p:spPr>
      </p:pic>
      <p:sp>
        <p:nvSpPr>
          <p:cNvPr id="2" name="Text 0"/>
          <p:cNvSpPr/>
          <p:nvPr/>
        </p:nvSpPr>
        <p:spPr>
          <a:xfrm>
            <a:off x="457200" y="274320"/>
            <a:ext cx="8229600" cy="594360"/>
          </a:xfrm>
          <a:prstGeom prst="rect">
            <a:avLst/>
          </a:prstGeom>
          <a:solidFill>
            <a:srgbClr val="FFFFFF"/>
          </a:solidFill>
          <a:ln/>
        </p:spPr>
        <p:txBody>
          <a:bodyPr wrap="square" lIns="0" tIns="0" rIns="0" bIns="0" rtlCol="0" anchor="ctr"/>
          <a:lstStyle/>
          <a:p>
            <a:pPr marL="0" indent="0">
              <a:buNone/>
            </a:pPr>
            <a:r>
              <a:rPr lang="en-US" sz="2800" b="1" dirty="0">
                <a:solidFill>
                  <a:srgbClr val="1E2761"/>
                </a:solidFill>
                <a:latin typeface="Cambria" pitchFamily="34" charset="0"/>
                <a:ea typeface="Cambria" pitchFamily="34" charset="-122"/>
                <a:cs typeface="Cambria" pitchFamily="34" charset="-120"/>
              </a:rPr>
              <a:t>Tab completion — your new best friend</a:t>
            </a:r>
            <a:endParaRPr lang="en-US" sz="2800" dirty="0"/>
          </a:p>
        </p:txBody>
      </p:sp>
      <p:sp>
        <p:nvSpPr>
          <p:cNvPr id="3" name="Shape 1"/>
          <p:cNvSpPr/>
          <p:nvPr/>
        </p:nvSpPr>
        <p:spPr>
          <a:xfrm>
            <a:off x="457200" y="868680"/>
            <a:ext cx="548640" cy="36576"/>
          </a:xfrm>
          <a:prstGeom prst="rect">
            <a:avLst/>
          </a:prstGeom>
          <a:solidFill>
            <a:srgbClr val="1E2761"/>
          </a:solidFill>
          <a:ln w="12700">
            <a:solidFill>
              <a:srgbClr val="1E2761"/>
            </a:solidFill>
            <a:prstDash val="solid"/>
          </a:ln>
        </p:spPr>
        <p:txBody>
          <a:bodyPr/>
          <a:lstStyle/>
          <a:p>
            <a:endParaRPr lang="en-US"/>
          </a:p>
        </p:txBody>
      </p:sp>
      <p:sp>
        <p:nvSpPr>
          <p:cNvPr id="4" name="Shape 2"/>
          <p:cNvSpPr/>
          <p:nvPr/>
        </p:nvSpPr>
        <p:spPr>
          <a:xfrm>
            <a:off x="457200" y="1005840"/>
            <a:ext cx="1005840" cy="292608"/>
          </a:xfrm>
          <a:prstGeom prst="rect">
            <a:avLst/>
          </a:prstGeom>
          <a:solidFill>
            <a:srgbClr val="1E2761"/>
          </a:solidFill>
          <a:ln w="12700">
            <a:solidFill>
              <a:srgbClr val="1E2761"/>
            </a:solidFill>
            <a:prstDash val="solid"/>
          </a:ln>
        </p:spPr>
        <p:txBody>
          <a:bodyPr/>
          <a:lstStyle/>
          <a:p>
            <a:endParaRPr lang="en-US"/>
          </a:p>
        </p:txBody>
      </p:sp>
      <p:sp>
        <p:nvSpPr>
          <p:cNvPr id="5" name="Text 3"/>
          <p:cNvSpPr/>
          <p:nvPr/>
        </p:nvSpPr>
        <p:spPr>
          <a:xfrm>
            <a:off x="457200" y="1005840"/>
            <a:ext cx="1005840" cy="292608"/>
          </a:xfrm>
          <a:prstGeom prst="rect">
            <a:avLst/>
          </a:prstGeom>
          <a:noFill/>
          <a:ln/>
        </p:spPr>
        <p:txBody>
          <a:bodyPr wrap="square" lIns="0" tIns="0" rIns="0" bIns="0" rtlCol="0" anchor="ctr"/>
          <a:lstStyle/>
          <a:p>
            <a:pPr marL="0" indent="0" algn="ctr">
              <a:buNone/>
            </a:pPr>
            <a:r>
              <a:rPr lang="en-US" sz="1100" b="1" kern="0" spc="200" dirty="0">
                <a:solidFill>
                  <a:srgbClr val="FFFFFF"/>
                </a:solidFill>
                <a:latin typeface="Calibri" pitchFamily="34" charset="0"/>
                <a:ea typeface="Calibri" pitchFamily="34" charset="-122"/>
                <a:cs typeface="Calibri" pitchFamily="34" charset="-120"/>
              </a:rPr>
              <a:t>TALK</a:t>
            </a:r>
            <a:endParaRPr lang="en-US" sz="1100" dirty="0"/>
          </a:p>
        </p:txBody>
      </p:sp>
      <p:sp>
        <p:nvSpPr>
          <p:cNvPr id="6" name="Text 4"/>
          <p:cNvSpPr/>
          <p:nvPr/>
        </p:nvSpPr>
        <p:spPr>
          <a:xfrm>
            <a:off x="548640" y="1435608"/>
            <a:ext cx="8046720" cy="1412240"/>
          </a:xfrm>
          <a:prstGeom prst="rect">
            <a:avLst/>
          </a:prstGeom>
          <a:solidFill>
            <a:srgbClr val="FFFFFF"/>
          </a:solidFill>
          <a:ln/>
        </p:spPr>
        <p:txBody>
          <a:bodyPr wrap="square" lIns="0" tIns="0" rIns="0" bIns="0" rtlCol="0" anchor="t"/>
          <a:lstStyle/>
          <a:p>
            <a:pPr marL="228600" indent="-228600">
              <a:spcAft>
                <a:spcPts val="600"/>
              </a:spcAft>
              <a:buSzPct val="100000"/>
              <a:buChar char="■"/>
            </a:pPr>
            <a:r>
              <a:rPr lang="en-US" sz="1600" dirty="0">
                <a:solidFill>
                  <a:srgbClr val="1F2937"/>
                </a:solidFill>
                <a:latin typeface="Calibri" pitchFamily="34" charset="0"/>
                <a:ea typeface="Calibri" pitchFamily="34" charset="-122"/>
                <a:cs typeface="Calibri" pitchFamily="34" charset="-120"/>
              </a:rPr>
              <a:t>The shell will </a:t>
            </a:r>
            <a:r>
              <a:rPr lang="en-US" sz="1600" b="1" dirty="0">
                <a:solidFill>
                  <a:srgbClr val="1F2937"/>
                </a:solidFill>
                <a:latin typeface="Calibri" pitchFamily="34" charset="0"/>
                <a:ea typeface="Calibri" pitchFamily="34" charset="-122"/>
                <a:cs typeface="Calibri" pitchFamily="34" charset="-120"/>
              </a:rPr>
              <a:t>finish words for you</a:t>
            </a:r>
            <a:r>
              <a:rPr lang="en-US" sz="1600" dirty="0">
                <a:solidFill>
                  <a:srgbClr val="1F2937"/>
                </a:solidFill>
                <a:latin typeface="Calibri" pitchFamily="34" charset="0"/>
                <a:ea typeface="Calibri" pitchFamily="34" charset="-122"/>
                <a:cs typeface="Calibri" pitchFamily="34" charset="-120"/>
              </a:rPr>
              <a:t>. Type a few letters, press </a:t>
            </a:r>
            <a:r>
              <a:rPr lang="en-US" sz="1600" b="1" dirty="0">
                <a:solidFill>
                  <a:srgbClr val="1F2937"/>
                </a:solidFill>
                <a:latin typeface="Calibri" pitchFamily="34" charset="0"/>
                <a:ea typeface="Calibri" pitchFamily="34" charset="-122"/>
                <a:cs typeface="Calibri" pitchFamily="34" charset="-120"/>
              </a:rPr>
              <a:t>Tab</a:t>
            </a:r>
            <a:r>
              <a:rPr lang="en-US" sz="1600" dirty="0">
                <a:solidFill>
                  <a:srgbClr val="1F2937"/>
                </a:solidFill>
                <a:latin typeface="Calibri" pitchFamily="34" charset="0"/>
                <a:ea typeface="Calibri" pitchFamily="34" charset="-122"/>
                <a:cs typeface="Calibri" pitchFamily="34" charset="-120"/>
              </a:rPr>
              <a:t>.</a:t>
            </a:r>
            <a:endParaRPr lang="en-US" sz="1600" dirty="0"/>
          </a:p>
          <a:p>
            <a:pPr marL="228600" indent="-228600">
              <a:spcAft>
                <a:spcPts val="600"/>
              </a:spcAft>
              <a:buSzPct val="100000"/>
              <a:buChar char="■"/>
            </a:pPr>
            <a:r>
              <a:rPr lang="en-US" sz="1600" dirty="0">
                <a:solidFill>
                  <a:srgbClr val="1F2937"/>
                </a:solidFill>
                <a:latin typeface="Calibri" pitchFamily="34" charset="0"/>
                <a:ea typeface="Calibri" pitchFamily="34" charset="-122"/>
                <a:cs typeface="Calibri" pitchFamily="34" charset="-120"/>
              </a:rPr>
              <a:t>If it's unique → it completes. If not → press </a:t>
            </a:r>
            <a:r>
              <a:rPr lang="en-US" sz="1600" b="1" dirty="0">
                <a:solidFill>
                  <a:srgbClr val="1F2937"/>
                </a:solidFill>
                <a:latin typeface="Calibri" pitchFamily="34" charset="0"/>
                <a:ea typeface="Calibri" pitchFamily="34" charset="-122"/>
                <a:cs typeface="Calibri" pitchFamily="34" charset="-120"/>
              </a:rPr>
              <a:t>Tab twice</a:t>
            </a:r>
            <a:r>
              <a:rPr lang="en-US" sz="1600" dirty="0">
                <a:solidFill>
                  <a:srgbClr val="1F2937"/>
                </a:solidFill>
                <a:latin typeface="Calibri" pitchFamily="34" charset="0"/>
                <a:ea typeface="Calibri" pitchFamily="34" charset="-122"/>
                <a:cs typeface="Calibri" pitchFamily="34" charset="-120"/>
              </a:rPr>
              <a:t> to see options.</a:t>
            </a:r>
            <a:endParaRPr lang="en-US" sz="1600" dirty="0"/>
          </a:p>
          <a:p>
            <a:pPr marL="228600" indent="-228600">
              <a:spcAft>
                <a:spcPts val="600"/>
              </a:spcAft>
              <a:buSzPct val="100000"/>
              <a:buChar char="■"/>
            </a:pPr>
            <a:r>
              <a:rPr lang="en-US" sz="1600" b="1" dirty="0">
                <a:solidFill>
                  <a:srgbClr val="1F2937"/>
                </a:solidFill>
                <a:latin typeface="Calibri" pitchFamily="34" charset="0"/>
                <a:ea typeface="Calibri" pitchFamily="34" charset="-122"/>
                <a:cs typeface="Calibri" pitchFamily="34" charset="-120"/>
              </a:rPr>
              <a:t>Use this constantly.</a:t>
            </a:r>
            <a:r>
              <a:rPr lang="en-US" sz="1600" dirty="0">
                <a:solidFill>
                  <a:srgbClr val="1F2937"/>
                </a:solidFill>
                <a:latin typeface="Calibri" pitchFamily="34" charset="0"/>
                <a:ea typeface="Calibri" pitchFamily="34" charset="-122"/>
                <a:cs typeface="Calibri" pitchFamily="34" charset="-120"/>
              </a:rPr>
              <a:t> Prevents typos. Makes you faster.</a:t>
            </a:r>
            <a:endParaRPr lang="en-US" sz="1600" dirty="0"/>
          </a:p>
        </p:txBody>
      </p:sp>
      <p:sp>
        <p:nvSpPr>
          <p:cNvPr id="7" name="Shape 5"/>
          <p:cNvSpPr/>
          <p:nvPr/>
        </p:nvSpPr>
        <p:spPr>
          <a:xfrm>
            <a:off x="457200" y="2893568"/>
            <a:ext cx="1005840" cy="292608"/>
          </a:xfrm>
          <a:prstGeom prst="rect">
            <a:avLst/>
          </a:prstGeom>
          <a:solidFill>
            <a:srgbClr val="B45309"/>
          </a:solidFill>
          <a:ln w="12700">
            <a:solidFill>
              <a:srgbClr val="B45309"/>
            </a:solidFill>
            <a:prstDash val="solid"/>
          </a:ln>
        </p:spPr>
        <p:txBody>
          <a:bodyPr/>
          <a:lstStyle/>
          <a:p>
            <a:endParaRPr lang="en-US"/>
          </a:p>
        </p:txBody>
      </p:sp>
      <p:sp>
        <p:nvSpPr>
          <p:cNvPr id="8" name="Text 6"/>
          <p:cNvSpPr/>
          <p:nvPr/>
        </p:nvSpPr>
        <p:spPr>
          <a:xfrm>
            <a:off x="457200" y="2893568"/>
            <a:ext cx="1005840" cy="292608"/>
          </a:xfrm>
          <a:prstGeom prst="rect">
            <a:avLst/>
          </a:prstGeom>
          <a:noFill/>
          <a:ln/>
        </p:spPr>
        <p:txBody>
          <a:bodyPr wrap="square" lIns="0" tIns="0" rIns="0" bIns="0" rtlCol="0" anchor="ctr"/>
          <a:lstStyle/>
          <a:p>
            <a:pPr marL="0" indent="0" algn="ctr">
              <a:buNone/>
            </a:pPr>
            <a:r>
              <a:rPr lang="en-US" sz="1100" b="1" kern="0" spc="200" dirty="0">
                <a:solidFill>
                  <a:srgbClr val="FFFFFF"/>
                </a:solidFill>
                <a:latin typeface="Calibri" pitchFamily="34" charset="0"/>
                <a:ea typeface="Calibri" pitchFamily="34" charset="-122"/>
                <a:cs typeface="Calibri" pitchFamily="34" charset="-120"/>
              </a:rPr>
              <a:t>WATCH OUT</a:t>
            </a:r>
            <a:endParaRPr lang="en-US" sz="1100" dirty="0"/>
          </a:p>
        </p:txBody>
      </p:sp>
      <p:sp>
        <p:nvSpPr>
          <p:cNvPr id="9" name="Text 7"/>
          <p:cNvSpPr/>
          <p:nvPr/>
        </p:nvSpPr>
        <p:spPr>
          <a:xfrm>
            <a:off x="548640" y="3323336"/>
            <a:ext cx="8046720" cy="406400"/>
          </a:xfrm>
          <a:prstGeom prst="rect">
            <a:avLst/>
          </a:prstGeom>
          <a:solidFill>
            <a:srgbClr val="FFFFFF"/>
          </a:solidFill>
          <a:ln/>
        </p:spPr>
        <p:txBody>
          <a:bodyPr wrap="square" lIns="0" tIns="0" rIns="0" bIns="0" rtlCol="0" anchor="t"/>
          <a:lstStyle/>
          <a:p>
            <a:pPr marL="228600" indent="-228600">
              <a:spcAft>
                <a:spcPts val="600"/>
              </a:spcAft>
              <a:buSzPct val="100000"/>
              <a:buChar char="■"/>
            </a:pPr>
            <a:r>
              <a:rPr lang="en-US" sz="1600" dirty="0">
                <a:solidFill>
                  <a:srgbClr val="1F2937"/>
                </a:solidFill>
                <a:latin typeface="Calibri" pitchFamily="34" charset="0"/>
                <a:ea typeface="Calibri" pitchFamily="34" charset="-122"/>
                <a:cs typeface="Calibri" pitchFamily="34" charset="-120"/>
              </a:rPr>
              <a:t>Tab completion is </a:t>
            </a:r>
            <a:r>
              <a:rPr lang="en-US" sz="1600" b="1" dirty="0">
                <a:solidFill>
                  <a:srgbClr val="1F2937"/>
                </a:solidFill>
                <a:latin typeface="Calibri" pitchFamily="34" charset="0"/>
                <a:ea typeface="Calibri" pitchFamily="34" charset="-122"/>
                <a:cs typeface="Calibri" pitchFamily="34" charset="-120"/>
              </a:rPr>
              <a:t>case-sensitive</a:t>
            </a:r>
            <a:r>
              <a:rPr lang="en-US" sz="1600" dirty="0">
                <a:solidFill>
                  <a:srgbClr val="1F2937"/>
                </a:solidFill>
                <a:latin typeface="Calibri" pitchFamily="34" charset="0"/>
                <a:ea typeface="Calibri" pitchFamily="34" charset="-122"/>
                <a:cs typeface="Calibri" pitchFamily="34" charset="-120"/>
              </a:rPr>
              <a:t>. </a:t>
            </a:r>
            <a:r>
              <a:rPr lang="en-US" sz="1600" dirty="0">
                <a:solidFill>
                  <a:srgbClr val="1E2761"/>
                </a:solidFill>
                <a:latin typeface="Consolas" pitchFamily="34" charset="0"/>
                <a:ea typeface="Consolas" pitchFamily="34" charset="-122"/>
                <a:cs typeface="Consolas" pitchFamily="34" charset="-120"/>
              </a:rPr>
              <a:t>Desktop</a:t>
            </a:r>
            <a:r>
              <a:rPr lang="en-US" sz="1600" dirty="0">
                <a:solidFill>
                  <a:srgbClr val="1F2937"/>
                </a:solidFill>
                <a:latin typeface="Calibri" pitchFamily="34" charset="0"/>
                <a:ea typeface="Calibri" pitchFamily="34" charset="-122"/>
                <a:cs typeface="Calibri" pitchFamily="34" charset="-120"/>
              </a:rPr>
              <a:t> and </a:t>
            </a:r>
            <a:r>
              <a:rPr lang="en-US" sz="1600" dirty="0">
                <a:solidFill>
                  <a:srgbClr val="1E2761"/>
                </a:solidFill>
                <a:latin typeface="Consolas" pitchFamily="34" charset="0"/>
                <a:ea typeface="Consolas" pitchFamily="34" charset="-122"/>
                <a:cs typeface="Consolas" pitchFamily="34" charset="-120"/>
              </a:rPr>
              <a:t>desktop</a:t>
            </a:r>
            <a:r>
              <a:rPr lang="en-US" sz="1600" dirty="0">
                <a:solidFill>
                  <a:srgbClr val="1F2937"/>
                </a:solidFill>
                <a:latin typeface="Calibri" pitchFamily="34" charset="0"/>
                <a:ea typeface="Calibri" pitchFamily="34" charset="-122"/>
                <a:cs typeface="Calibri" pitchFamily="34" charset="-120"/>
              </a:rPr>
              <a:t> are different.</a:t>
            </a:r>
            <a:endParaRPr lang="en-US" sz="16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a:effectLst/>
      </p:bgPr>
    </p:bg>
    <p:spTree>
      <p:nvGrpSpPr>
        <p:cNvPr id="1" name=""/>
        <p:cNvGrpSpPr/>
        <p:nvPr/>
      </p:nvGrpSpPr>
      <p:grpSpPr>
        <a:xfrm>
          <a:off x="0" y="0"/>
          <a:ext cx="0" cy="0"/>
          <a:chOff x="0" y="0"/>
          <a:chExt cx="0" cy="0"/>
        </a:xfrm>
      </p:grpSpPr>
      <p:pic>
        <p:nvPicPr>
          <p:cNvPr id="10" name="Picture 9" descr="access-footer.jpg"/>
          <p:cNvPicPr>
            <a:picLocks noChangeAspect="1"/>
          </p:cNvPicPr>
          <p:nvPr/>
        </p:nvPicPr>
        <p:blipFill>
          <a:blip r:embed="rId3"/>
          <a:stretch>
            <a:fillRect/>
          </a:stretch>
        </p:blipFill>
        <p:spPr>
          <a:xfrm>
            <a:off x="0" y="0"/>
            <a:ext cx="9144000" cy="5143500"/>
          </a:xfrm>
          <a:prstGeom prst="rect">
            <a:avLst/>
          </a:prstGeom>
        </p:spPr>
      </p:pic>
      <p:sp>
        <p:nvSpPr>
          <p:cNvPr id="2" name="Text 0"/>
          <p:cNvSpPr/>
          <p:nvPr/>
        </p:nvSpPr>
        <p:spPr>
          <a:xfrm>
            <a:off x="457200" y="274320"/>
            <a:ext cx="8229600" cy="594360"/>
          </a:xfrm>
          <a:prstGeom prst="rect">
            <a:avLst/>
          </a:prstGeom>
          <a:solidFill>
            <a:srgbClr val="FFFFFF"/>
          </a:solidFill>
          <a:ln/>
        </p:spPr>
        <p:txBody>
          <a:bodyPr wrap="square" lIns="0" tIns="0" rIns="0" bIns="0" rtlCol="0" anchor="ctr"/>
          <a:lstStyle/>
          <a:p>
            <a:pPr marL="0" indent="0">
              <a:buNone/>
            </a:pPr>
            <a:r>
              <a:rPr lang="en-US" sz="2800" b="1" dirty="0">
                <a:solidFill>
                  <a:srgbClr val="1E2761"/>
                </a:solidFill>
                <a:latin typeface="Cambria" pitchFamily="34" charset="0"/>
                <a:ea typeface="Cambria" pitchFamily="34" charset="-122"/>
                <a:cs typeface="Cambria" pitchFamily="34" charset="-120"/>
              </a:rPr>
              <a:t>Command history</a:t>
            </a:r>
            <a:endParaRPr lang="en-US" sz="2800" dirty="0"/>
          </a:p>
        </p:txBody>
      </p:sp>
      <p:sp>
        <p:nvSpPr>
          <p:cNvPr id="3" name="Shape 1"/>
          <p:cNvSpPr/>
          <p:nvPr/>
        </p:nvSpPr>
        <p:spPr>
          <a:xfrm>
            <a:off x="457200" y="868680"/>
            <a:ext cx="548640" cy="36576"/>
          </a:xfrm>
          <a:prstGeom prst="rect">
            <a:avLst/>
          </a:prstGeom>
          <a:solidFill>
            <a:srgbClr val="1E2761"/>
          </a:solidFill>
          <a:ln w="12700">
            <a:solidFill>
              <a:srgbClr val="1E2761"/>
            </a:solidFill>
            <a:prstDash val="solid"/>
          </a:ln>
        </p:spPr>
        <p:txBody>
          <a:bodyPr/>
          <a:lstStyle/>
          <a:p>
            <a:endParaRPr lang="en-US"/>
          </a:p>
        </p:txBody>
      </p:sp>
      <p:sp>
        <p:nvSpPr>
          <p:cNvPr id="4" name="Shape 2"/>
          <p:cNvSpPr/>
          <p:nvPr/>
        </p:nvSpPr>
        <p:spPr>
          <a:xfrm>
            <a:off x="457200" y="1005840"/>
            <a:ext cx="1005840" cy="292608"/>
          </a:xfrm>
          <a:prstGeom prst="rect">
            <a:avLst/>
          </a:prstGeom>
          <a:solidFill>
            <a:srgbClr val="1E2761"/>
          </a:solidFill>
          <a:ln w="12700">
            <a:solidFill>
              <a:srgbClr val="1E2761"/>
            </a:solidFill>
            <a:prstDash val="solid"/>
          </a:ln>
        </p:spPr>
        <p:txBody>
          <a:bodyPr/>
          <a:lstStyle/>
          <a:p>
            <a:endParaRPr lang="en-US"/>
          </a:p>
        </p:txBody>
      </p:sp>
      <p:sp>
        <p:nvSpPr>
          <p:cNvPr id="5" name="Text 3"/>
          <p:cNvSpPr/>
          <p:nvPr/>
        </p:nvSpPr>
        <p:spPr>
          <a:xfrm>
            <a:off x="457200" y="1005840"/>
            <a:ext cx="1005840" cy="292608"/>
          </a:xfrm>
          <a:prstGeom prst="rect">
            <a:avLst/>
          </a:prstGeom>
          <a:noFill/>
          <a:ln/>
        </p:spPr>
        <p:txBody>
          <a:bodyPr wrap="square" lIns="0" tIns="0" rIns="0" bIns="0" rtlCol="0" anchor="ctr"/>
          <a:lstStyle/>
          <a:p>
            <a:pPr marL="0" indent="0" algn="ctr">
              <a:buNone/>
            </a:pPr>
            <a:r>
              <a:rPr lang="en-US" sz="1100" b="1" kern="0" spc="200" dirty="0">
                <a:solidFill>
                  <a:srgbClr val="FFFFFF"/>
                </a:solidFill>
                <a:latin typeface="Calibri" pitchFamily="34" charset="0"/>
                <a:ea typeface="Calibri" pitchFamily="34" charset="-122"/>
                <a:cs typeface="Calibri" pitchFamily="34" charset="-120"/>
              </a:rPr>
              <a:t>TALK</a:t>
            </a:r>
            <a:endParaRPr lang="en-US" sz="1100" dirty="0"/>
          </a:p>
        </p:txBody>
      </p:sp>
      <p:sp>
        <p:nvSpPr>
          <p:cNvPr id="6" name="Text 4"/>
          <p:cNvSpPr/>
          <p:nvPr/>
        </p:nvSpPr>
        <p:spPr>
          <a:xfrm>
            <a:off x="548640" y="1435608"/>
            <a:ext cx="8046720" cy="1772920"/>
          </a:xfrm>
          <a:prstGeom prst="rect">
            <a:avLst/>
          </a:prstGeom>
          <a:solidFill>
            <a:srgbClr val="FFFFFF"/>
          </a:solidFill>
          <a:ln/>
        </p:spPr>
        <p:txBody>
          <a:bodyPr wrap="square" lIns="0" tIns="0" rIns="0" bIns="0" rtlCol="0" anchor="t"/>
          <a:lstStyle/>
          <a:p>
            <a:pPr marL="228600" indent="-228600">
              <a:spcAft>
                <a:spcPts val="600"/>
              </a:spcAft>
              <a:buSzPct val="100000"/>
              <a:buChar char="■"/>
            </a:pPr>
            <a:r>
              <a:rPr lang="en-US" sz="1600" dirty="0">
                <a:solidFill>
                  <a:srgbClr val="1F2937"/>
                </a:solidFill>
                <a:latin typeface="Calibri" pitchFamily="34" charset="0"/>
                <a:ea typeface="Calibri" pitchFamily="34" charset="-122"/>
                <a:cs typeface="Calibri" pitchFamily="34" charset="-120"/>
              </a:rPr>
              <a:t>The shell </a:t>
            </a:r>
            <a:r>
              <a:rPr lang="en-US" sz="1600" b="1" dirty="0">
                <a:solidFill>
                  <a:srgbClr val="1F2937"/>
                </a:solidFill>
                <a:latin typeface="Calibri" pitchFamily="34" charset="0"/>
                <a:ea typeface="Calibri" pitchFamily="34" charset="-122"/>
                <a:cs typeface="Calibri" pitchFamily="34" charset="-120"/>
              </a:rPr>
              <a:t>remembers</a:t>
            </a:r>
            <a:r>
              <a:rPr lang="en-US" sz="1600" dirty="0">
                <a:solidFill>
                  <a:srgbClr val="1F2937"/>
                </a:solidFill>
                <a:latin typeface="Calibri" pitchFamily="34" charset="0"/>
                <a:ea typeface="Calibri" pitchFamily="34" charset="-122"/>
                <a:cs typeface="Calibri" pitchFamily="34" charset="-120"/>
              </a:rPr>
              <a:t> what you typed. You don't have to retype.</a:t>
            </a:r>
            <a:endParaRPr lang="en-US" sz="1600" dirty="0"/>
          </a:p>
          <a:p>
            <a:pPr marL="228600" indent="-228600">
              <a:spcAft>
                <a:spcPts val="600"/>
              </a:spcAft>
              <a:buSzPct val="100000"/>
              <a:buChar char="■"/>
            </a:pPr>
            <a:r>
              <a:rPr lang="en-US" sz="1600" b="1" dirty="0">
                <a:solidFill>
                  <a:srgbClr val="1F2937"/>
                </a:solidFill>
                <a:latin typeface="Calibri" pitchFamily="34" charset="0"/>
                <a:ea typeface="Calibri" pitchFamily="34" charset="-122"/>
                <a:cs typeface="Calibri" pitchFamily="34" charset="-120"/>
              </a:rPr>
              <a:t>↑ / ↓</a:t>
            </a:r>
            <a:r>
              <a:rPr lang="en-US" sz="1600" dirty="0">
                <a:solidFill>
                  <a:srgbClr val="1F2937"/>
                </a:solidFill>
                <a:latin typeface="Calibri" pitchFamily="34" charset="0"/>
                <a:ea typeface="Calibri" pitchFamily="34" charset="-122"/>
                <a:cs typeface="Calibri" pitchFamily="34" charset="-120"/>
              </a:rPr>
              <a:t> — walk through previous commands.</a:t>
            </a:r>
            <a:endParaRPr lang="en-US" sz="1600" dirty="0"/>
          </a:p>
          <a:p>
            <a:pPr marL="228600" indent="-228600">
              <a:spcAft>
                <a:spcPts val="600"/>
              </a:spcAft>
              <a:buSzPct val="100000"/>
              <a:buChar char="■"/>
            </a:pPr>
            <a:r>
              <a:rPr lang="en-US" sz="1600" b="1" dirty="0">
                <a:solidFill>
                  <a:srgbClr val="1F2937"/>
                </a:solidFill>
                <a:latin typeface="Calibri" pitchFamily="34" charset="0"/>
                <a:ea typeface="Calibri" pitchFamily="34" charset="-122"/>
                <a:cs typeface="Calibri" pitchFamily="34" charset="-120"/>
              </a:rPr>
              <a:t>Ctrl-R</a:t>
            </a:r>
            <a:r>
              <a:rPr lang="en-US" sz="1600" dirty="0">
                <a:solidFill>
                  <a:srgbClr val="1F2937"/>
                </a:solidFill>
                <a:latin typeface="Calibri" pitchFamily="34" charset="0"/>
                <a:ea typeface="Calibri" pitchFamily="34" charset="-122"/>
                <a:cs typeface="Calibri" pitchFamily="34" charset="-120"/>
              </a:rPr>
              <a:t> — search your history. Start typing a few letters of an old command.</a:t>
            </a:r>
            <a:endParaRPr lang="en-US" sz="1600" dirty="0"/>
          </a:p>
          <a:p>
            <a:pPr marL="228600" indent="-228600">
              <a:spcAft>
                <a:spcPts val="600"/>
              </a:spcAft>
              <a:buSzPct val="100000"/>
              <a:buChar char="■"/>
            </a:pPr>
            <a:r>
              <a:rPr lang="en-US" sz="1600" dirty="0">
                <a:solidFill>
                  <a:srgbClr val="1E2761"/>
                </a:solidFill>
                <a:latin typeface="Consolas" pitchFamily="34" charset="0"/>
                <a:ea typeface="Consolas" pitchFamily="34" charset="-122"/>
                <a:cs typeface="Consolas" pitchFamily="34" charset="-120"/>
              </a:rPr>
              <a:t>history</a:t>
            </a:r>
            <a:r>
              <a:rPr lang="en-US" sz="1600" dirty="0">
                <a:solidFill>
                  <a:srgbClr val="1F2937"/>
                </a:solidFill>
                <a:latin typeface="Calibri" pitchFamily="34" charset="0"/>
                <a:ea typeface="Calibri" pitchFamily="34" charset="-122"/>
                <a:cs typeface="Calibri" pitchFamily="34" charset="-120"/>
              </a:rPr>
              <a:t> — print everything you've typed in this session.</a:t>
            </a:r>
            <a:endParaRPr lang="en-US" sz="1600" dirty="0"/>
          </a:p>
        </p:txBody>
      </p:sp>
      <p:sp>
        <p:nvSpPr>
          <p:cNvPr id="7" name="Shape 5"/>
          <p:cNvSpPr/>
          <p:nvPr/>
        </p:nvSpPr>
        <p:spPr>
          <a:xfrm>
            <a:off x="457200" y="3254248"/>
            <a:ext cx="1005840" cy="292608"/>
          </a:xfrm>
          <a:prstGeom prst="rect">
            <a:avLst/>
          </a:prstGeom>
          <a:solidFill>
            <a:srgbClr val="047857"/>
          </a:solidFill>
          <a:ln w="12700">
            <a:solidFill>
              <a:srgbClr val="047857"/>
            </a:solidFill>
            <a:prstDash val="solid"/>
          </a:ln>
        </p:spPr>
        <p:txBody>
          <a:bodyPr/>
          <a:lstStyle/>
          <a:p>
            <a:endParaRPr lang="en-US"/>
          </a:p>
        </p:txBody>
      </p:sp>
      <p:sp>
        <p:nvSpPr>
          <p:cNvPr id="8" name="Text 6"/>
          <p:cNvSpPr/>
          <p:nvPr/>
        </p:nvSpPr>
        <p:spPr>
          <a:xfrm>
            <a:off x="457200" y="3254248"/>
            <a:ext cx="1005840" cy="292608"/>
          </a:xfrm>
          <a:prstGeom prst="rect">
            <a:avLst/>
          </a:prstGeom>
          <a:noFill/>
          <a:ln/>
        </p:spPr>
        <p:txBody>
          <a:bodyPr wrap="square" lIns="0" tIns="0" rIns="0" bIns="0" rtlCol="0" anchor="ctr"/>
          <a:lstStyle/>
          <a:p>
            <a:pPr marL="0" indent="0" algn="ctr">
              <a:buNone/>
            </a:pPr>
            <a:r>
              <a:rPr lang="en-US" sz="1100" b="1" kern="0" spc="200" dirty="0">
                <a:solidFill>
                  <a:srgbClr val="FFFFFF"/>
                </a:solidFill>
                <a:latin typeface="Calibri" pitchFamily="34" charset="0"/>
                <a:ea typeface="Calibri" pitchFamily="34" charset="-122"/>
                <a:cs typeface="Calibri" pitchFamily="34" charset="-120"/>
              </a:rPr>
              <a:t>EXERCISE</a:t>
            </a:r>
            <a:endParaRPr lang="en-US" sz="1100" dirty="0"/>
          </a:p>
        </p:txBody>
      </p:sp>
      <p:sp>
        <p:nvSpPr>
          <p:cNvPr id="9" name="Text 7"/>
          <p:cNvSpPr/>
          <p:nvPr/>
        </p:nvSpPr>
        <p:spPr>
          <a:xfrm>
            <a:off x="548640" y="3684016"/>
            <a:ext cx="8046720" cy="690880"/>
          </a:xfrm>
          <a:prstGeom prst="rect">
            <a:avLst/>
          </a:prstGeom>
          <a:solidFill>
            <a:srgbClr val="FFFFFF"/>
          </a:solidFill>
          <a:ln/>
        </p:spPr>
        <p:txBody>
          <a:bodyPr wrap="square" lIns="0" tIns="0" rIns="0" bIns="0" rtlCol="0" anchor="t"/>
          <a:lstStyle/>
          <a:p>
            <a:pPr marL="228600" indent="-228600">
              <a:spcAft>
                <a:spcPts val="600"/>
              </a:spcAft>
              <a:buSzPct val="100000"/>
              <a:buChar char="■"/>
            </a:pPr>
            <a:r>
              <a:rPr lang="en-US" sz="1600" dirty="0">
                <a:solidFill>
                  <a:srgbClr val="1F2937"/>
                </a:solidFill>
                <a:latin typeface="Calibri" pitchFamily="34" charset="0"/>
                <a:ea typeface="Calibri" pitchFamily="34" charset="-122"/>
                <a:cs typeface="Calibri" pitchFamily="34" charset="-120"/>
              </a:rPr>
              <a:t>Press ↑ a few times. Find the </a:t>
            </a:r>
            <a:r>
              <a:rPr lang="en-US" sz="1600" dirty="0">
                <a:solidFill>
                  <a:srgbClr val="1E2761"/>
                </a:solidFill>
                <a:latin typeface="Consolas" pitchFamily="34" charset="0"/>
                <a:ea typeface="Consolas" pitchFamily="34" charset="-122"/>
                <a:cs typeface="Consolas" pitchFamily="34" charset="-120"/>
              </a:rPr>
              <a:t>whoami</a:t>
            </a:r>
            <a:r>
              <a:rPr lang="en-US" sz="1600" dirty="0">
                <a:solidFill>
                  <a:srgbClr val="1F2937"/>
                </a:solidFill>
                <a:latin typeface="Calibri" pitchFamily="34" charset="0"/>
                <a:ea typeface="Calibri" pitchFamily="34" charset="-122"/>
                <a:cs typeface="Calibri" pitchFamily="34" charset="-120"/>
              </a:rPr>
              <a:t> you ran a minute ago and re-run it.</a:t>
            </a:r>
            <a:endParaRPr lang="en-US" sz="16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0">
            <a:extLst>
              <a:ext uri="{FF2B5EF4-FFF2-40B4-BE49-F238E27FC236}">
                <a16:creationId xmlns:a16="http://schemas.microsoft.com/office/drawing/2014/main" id="{C4F308D0-E16C-4CC5-260F-E28847C8B2B2}"/>
              </a:ext>
            </a:extLst>
          </p:cNvPr>
          <p:cNvSpPr/>
          <p:nvPr/>
        </p:nvSpPr>
        <p:spPr>
          <a:xfrm>
            <a:off x="548640" y="1280160"/>
            <a:ext cx="8046720" cy="457200"/>
          </a:xfrm>
          <a:prstGeom prst="rect">
            <a:avLst/>
          </a:prstGeom>
          <a:noFill/>
          <a:ln/>
        </p:spPr>
        <p:txBody>
          <a:bodyPr wrap="square" lIns="0" tIns="0" rIns="0" bIns="0" rtlCol="0" anchor="ctr"/>
          <a:lstStyle/>
          <a:p>
            <a:pPr marL="0" indent="0">
              <a:buNone/>
            </a:pPr>
            <a:r>
              <a:rPr lang="en-US" sz="1600" b="1" kern="0" spc="800" dirty="0">
                <a:latin typeface="Calibri" pitchFamily="34" charset="0"/>
                <a:ea typeface="Calibri" pitchFamily="34" charset="-122"/>
                <a:cs typeface="Calibri" pitchFamily="34" charset="-120"/>
              </a:rPr>
              <a:t>BLOCK 3</a:t>
            </a:r>
            <a:endParaRPr lang="en-US" sz="1600" dirty="0"/>
          </a:p>
        </p:txBody>
      </p:sp>
      <p:sp>
        <p:nvSpPr>
          <p:cNvPr id="4" name="Text 1">
            <a:extLst>
              <a:ext uri="{FF2B5EF4-FFF2-40B4-BE49-F238E27FC236}">
                <a16:creationId xmlns:a16="http://schemas.microsoft.com/office/drawing/2014/main" id="{39AB9CA9-4368-8FE5-AD42-55EA850B62AF}"/>
              </a:ext>
            </a:extLst>
          </p:cNvPr>
          <p:cNvSpPr/>
          <p:nvPr/>
        </p:nvSpPr>
        <p:spPr>
          <a:xfrm>
            <a:off x="548640" y="1783080"/>
            <a:ext cx="8046720" cy="1463040"/>
          </a:xfrm>
          <a:prstGeom prst="rect">
            <a:avLst/>
          </a:prstGeom>
          <a:noFill/>
          <a:ln/>
        </p:spPr>
        <p:txBody>
          <a:bodyPr wrap="square" lIns="0" tIns="0" rIns="0" bIns="0" rtlCol="0" anchor="t"/>
          <a:lstStyle/>
          <a:p>
            <a:pPr marL="0" indent="0">
              <a:buNone/>
            </a:pPr>
            <a:r>
              <a:rPr lang="en-US" sz="4000" b="1" dirty="0">
                <a:latin typeface="Cambria" pitchFamily="34" charset="0"/>
                <a:ea typeface="Cambria" pitchFamily="34" charset="-122"/>
                <a:cs typeface="Cambria" pitchFamily="34" charset="-120"/>
              </a:rPr>
              <a:t>Navigating the filesystem</a:t>
            </a:r>
            <a:endParaRPr lang="en-US" sz="4000" dirty="0"/>
          </a:p>
        </p:txBody>
      </p:sp>
    </p:spTree>
    <p:extLst>
      <p:ext uri="{BB962C8B-B14F-4D97-AF65-F5344CB8AC3E}">
        <p14:creationId xmlns:p14="http://schemas.microsoft.com/office/powerpoint/2010/main" val="295695170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a:effectLst/>
      </p:bgPr>
    </p:bg>
    <p:spTree>
      <p:nvGrpSpPr>
        <p:cNvPr id="1" name=""/>
        <p:cNvGrpSpPr/>
        <p:nvPr/>
      </p:nvGrpSpPr>
      <p:grpSpPr>
        <a:xfrm>
          <a:off x="0" y="0"/>
          <a:ext cx="0" cy="0"/>
          <a:chOff x="0" y="0"/>
          <a:chExt cx="0" cy="0"/>
        </a:xfrm>
      </p:grpSpPr>
      <p:pic>
        <p:nvPicPr>
          <p:cNvPr id="7" name="Picture 6" descr="access-footer.jpg"/>
          <p:cNvPicPr>
            <a:picLocks noChangeAspect="1"/>
          </p:cNvPicPr>
          <p:nvPr/>
        </p:nvPicPr>
        <p:blipFill>
          <a:blip r:embed="rId3"/>
          <a:stretch>
            <a:fillRect/>
          </a:stretch>
        </p:blipFill>
        <p:spPr>
          <a:xfrm>
            <a:off x="0" y="0"/>
            <a:ext cx="9144000" cy="5143500"/>
          </a:xfrm>
          <a:prstGeom prst="rect">
            <a:avLst/>
          </a:prstGeom>
        </p:spPr>
      </p:pic>
      <p:sp>
        <p:nvSpPr>
          <p:cNvPr id="2" name="Text 0"/>
          <p:cNvSpPr/>
          <p:nvPr/>
        </p:nvSpPr>
        <p:spPr>
          <a:xfrm>
            <a:off x="457200" y="274320"/>
            <a:ext cx="8229600" cy="594360"/>
          </a:xfrm>
          <a:prstGeom prst="rect">
            <a:avLst/>
          </a:prstGeom>
          <a:solidFill>
            <a:srgbClr val="FFFFFF"/>
          </a:solidFill>
          <a:ln/>
        </p:spPr>
        <p:txBody>
          <a:bodyPr wrap="square" lIns="0" tIns="0" rIns="0" bIns="0" rtlCol="0" anchor="ctr"/>
          <a:lstStyle/>
          <a:p>
            <a:pPr marL="0" indent="0">
              <a:buNone/>
            </a:pPr>
            <a:r>
              <a:rPr lang="en-US" sz="2800" b="1" dirty="0">
                <a:solidFill>
                  <a:srgbClr val="1E2761"/>
                </a:solidFill>
                <a:latin typeface="Cambria" pitchFamily="34" charset="0"/>
                <a:ea typeface="Cambria" pitchFamily="34" charset="-122"/>
                <a:cs typeface="Cambria" pitchFamily="34" charset="-120"/>
              </a:rPr>
              <a:t>The filesystem is a tree</a:t>
            </a:r>
            <a:endParaRPr lang="en-US" sz="2800" dirty="0"/>
          </a:p>
        </p:txBody>
      </p:sp>
      <p:sp>
        <p:nvSpPr>
          <p:cNvPr id="3" name="Shape 1"/>
          <p:cNvSpPr/>
          <p:nvPr/>
        </p:nvSpPr>
        <p:spPr>
          <a:xfrm>
            <a:off x="457200" y="868680"/>
            <a:ext cx="548640" cy="36576"/>
          </a:xfrm>
          <a:prstGeom prst="rect">
            <a:avLst/>
          </a:prstGeom>
          <a:solidFill>
            <a:srgbClr val="1E2761"/>
          </a:solidFill>
          <a:ln w="12700">
            <a:solidFill>
              <a:srgbClr val="1E2761"/>
            </a:solidFill>
            <a:prstDash val="solid"/>
          </a:ln>
        </p:spPr>
        <p:txBody>
          <a:bodyPr/>
          <a:lstStyle/>
          <a:p>
            <a:endParaRPr lang="en-US"/>
          </a:p>
        </p:txBody>
      </p:sp>
      <p:sp>
        <p:nvSpPr>
          <p:cNvPr id="4" name="Shape 2"/>
          <p:cNvSpPr/>
          <p:nvPr/>
        </p:nvSpPr>
        <p:spPr>
          <a:xfrm>
            <a:off x="548640" y="1005840"/>
            <a:ext cx="8046720" cy="1899920"/>
          </a:xfrm>
          <a:prstGeom prst="rect">
            <a:avLst/>
          </a:prstGeom>
          <a:solidFill>
            <a:srgbClr val="0F172A"/>
          </a:solidFill>
          <a:ln w="12700">
            <a:solidFill>
              <a:srgbClr val="0F172A"/>
            </a:solidFill>
            <a:prstDash val="solid"/>
          </a:ln>
        </p:spPr>
        <p:txBody>
          <a:bodyPr/>
          <a:lstStyle/>
          <a:p>
            <a:endParaRPr lang="en-US"/>
          </a:p>
        </p:txBody>
      </p:sp>
      <p:sp>
        <p:nvSpPr>
          <p:cNvPr id="5" name="Text 3"/>
          <p:cNvSpPr/>
          <p:nvPr/>
        </p:nvSpPr>
        <p:spPr>
          <a:xfrm>
            <a:off x="685800" y="1078992"/>
            <a:ext cx="7772400" cy="1753616"/>
          </a:xfrm>
          <a:prstGeom prst="rect">
            <a:avLst/>
          </a:prstGeom>
          <a:noFill/>
          <a:ln/>
        </p:spPr>
        <p:txBody>
          <a:bodyPr wrap="square" lIns="0" tIns="0" rIns="0" bIns="0" rtlCol="0" anchor="t"/>
          <a:lstStyle/>
          <a:p>
            <a:pPr marL="0" indent="0">
              <a:buNone/>
            </a:pPr>
            <a:r>
              <a:rPr lang="en-US" sz="1300" dirty="0">
                <a:solidFill>
                  <a:srgbClr val="E2E8F0"/>
                </a:solidFill>
                <a:latin typeface="Consolas" pitchFamily="34" charset="0"/>
                <a:ea typeface="Consolas" pitchFamily="34" charset="-122"/>
                <a:cs typeface="Consolas" pitchFamily="34" charset="-120"/>
              </a:rPr>
              <a:t>/                  ← the "root" — everything lives under this</a:t>
            </a:r>
            <a:endParaRPr lang="en-US" sz="1300" dirty="0"/>
          </a:p>
          <a:p>
            <a:pPr marL="0" indent="0">
              <a:buNone/>
            </a:pPr>
            <a:r>
              <a:rPr lang="en-US" sz="1300" dirty="0">
                <a:solidFill>
                  <a:srgbClr val="E2E8F0"/>
                </a:solidFill>
                <a:latin typeface="Consolas" pitchFamily="34" charset="0"/>
                <a:ea typeface="Consolas" pitchFamily="34" charset="-122"/>
                <a:cs typeface="Consolas" pitchFamily="34" charset="-120"/>
              </a:rPr>
              <a:t>├── home</a:t>
            </a:r>
            <a:endParaRPr lang="en-US" sz="1300" dirty="0"/>
          </a:p>
          <a:p>
            <a:pPr marL="0" indent="0">
              <a:buNone/>
            </a:pPr>
            <a:r>
              <a:rPr lang="en-US" sz="1300" dirty="0">
                <a:solidFill>
                  <a:srgbClr val="E2E8F0"/>
                </a:solidFill>
                <a:latin typeface="Consolas" pitchFamily="34" charset="0"/>
                <a:ea typeface="Consolas" pitchFamily="34" charset="-122"/>
                <a:cs typeface="Consolas" pitchFamily="34" charset="-120"/>
              </a:rPr>
              <a:t>│   └── exouser    ← your home directory (this is what ~ means)</a:t>
            </a:r>
            <a:endParaRPr lang="en-US" sz="1300" dirty="0"/>
          </a:p>
          <a:p>
            <a:pPr marL="0" indent="0">
              <a:buNone/>
            </a:pPr>
            <a:r>
              <a:rPr lang="en-US" sz="1300" dirty="0">
                <a:solidFill>
                  <a:srgbClr val="E2E8F0"/>
                </a:solidFill>
                <a:latin typeface="Consolas" pitchFamily="34" charset="0"/>
                <a:ea typeface="Consolas" pitchFamily="34" charset="-122"/>
                <a:cs typeface="Consolas" pitchFamily="34" charset="-120"/>
              </a:rPr>
              <a:t>├── etc            ← system configuration files</a:t>
            </a:r>
            <a:endParaRPr lang="en-US" sz="1300" dirty="0"/>
          </a:p>
          <a:p>
            <a:pPr marL="0" indent="0">
              <a:buNone/>
            </a:pPr>
            <a:r>
              <a:rPr lang="en-US" sz="1300" dirty="0">
                <a:solidFill>
                  <a:srgbClr val="E2E8F0"/>
                </a:solidFill>
                <a:latin typeface="Consolas" pitchFamily="34" charset="0"/>
                <a:ea typeface="Consolas" pitchFamily="34" charset="-122"/>
                <a:cs typeface="Consolas" pitchFamily="34" charset="-120"/>
              </a:rPr>
              <a:t>├── tmp            ← scratch space, wiped on reboot</a:t>
            </a:r>
            <a:endParaRPr lang="en-US" sz="1300" dirty="0"/>
          </a:p>
          <a:p>
            <a:pPr marL="0" indent="0">
              <a:buNone/>
            </a:pPr>
            <a:r>
              <a:rPr lang="en-US" sz="1300" dirty="0">
                <a:solidFill>
                  <a:srgbClr val="E2E8F0"/>
                </a:solidFill>
                <a:latin typeface="Consolas" pitchFamily="34" charset="0"/>
                <a:ea typeface="Consolas" pitchFamily="34" charset="-122"/>
                <a:cs typeface="Consolas" pitchFamily="34" charset="-120"/>
              </a:rPr>
              <a:t>├── usr            ← installed programs</a:t>
            </a:r>
            <a:endParaRPr lang="en-US" sz="1300" dirty="0"/>
          </a:p>
          <a:p>
            <a:pPr marL="0" indent="0">
              <a:buNone/>
            </a:pPr>
            <a:r>
              <a:rPr lang="en-US" sz="1300" dirty="0">
                <a:solidFill>
                  <a:srgbClr val="E2E8F0"/>
                </a:solidFill>
                <a:latin typeface="Consolas" pitchFamily="34" charset="0"/>
                <a:ea typeface="Consolas" pitchFamily="34" charset="-122"/>
                <a:cs typeface="Consolas" pitchFamily="34" charset="-120"/>
              </a:rPr>
              <a:t>├── var            ← logs and variable data</a:t>
            </a:r>
            <a:endParaRPr lang="en-US" sz="1300" dirty="0"/>
          </a:p>
          <a:p>
            <a:pPr marL="0" indent="0">
              <a:buNone/>
            </a:pPr>
            <a:r>
              <a:rPr lang="en-US" sz="1300" dirty="0">
                <a:solidFill>
                  <a:srgbClr val="E2E8F0"/>
                </a:solidFill>
                <a:latin typeface="Consolas" pitchFamily="34" charset="0"/>
                <a:ea typeface="Consolas" pitchFamily="34" charset="-122"/>
                <a:cs typeface="Consolas" pitchFamily="34" charset="-120"/>
              </a:rPr>
              <a:t>└── bin            ← essential commands</a:t>
            </a:r>
            <a:endParaRPr lang="en-US" sz="1300" dirty="0"/>
          </a:p>
        </p:txBody>
      </p:sp>
      <p:sp>
        <p:nvSpPr>
          <p:cNvPr id="6" name="Text 4"/>
          <p:cNvSpPr/>
          <p:nvPr/>
        </p:nvSpPr>
        <p:spPr>
          <a:xfrm>
            <a:off x="548640" y="2951480"/>
            <a:ext cx="8046720" cy="695960"/>
          </a:xfrm>
          <a:prstGeom prst="rect">
            <a:avLst/>
          </a:prstGeom>
          <a:solidFill>
            <a:srgbClr val="FFFFFF"/>
          </a:solidFill>
          <a:ln/>
        </p:spPr>
        <p:txBody>
          <a:bodyPr wrap="square" lIns="0" tIns="0" rIns="0" bIns="0" rtlCol="0" anchor="t"/>
          <a:lstStyle/>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One tree. One root. </a:t>
            </a:r>
            <a:r>
              <a:rPr lang="en-US" sz="1400" b="1" dirty="0">
                <a:solidFill>
                  <a:srgbClr val="1F2937"/>
                </a:solidFill>
                <a:latin typeface="Calibri" pitchFamily="34" charset="0"/>
                <a:ea typeface="Calibri" pitchFamily="34" charset="-122"/>
                <a:cs typeface="Calibri" pitchFamily="34" charset="-120"/>
              </a:rPr>
              <a:t>No drive letters</a:t>
            </a:r>
            <a:r>
              <a:rPr lang="en-US" sz="1400" dirty="0">
                <a:solidFill>
                  <a:srgbClr val="1F2937"/>
                </a:solidFill>
                <a:latin typeface="Calibri" pitchFamily="34" charset="0"/>
                <a:ea typeface="Calibri" pitchFamily="34" charset="-122"/>
                <a:cs typeface="Calibri" pitchFamily="34" charset="-120"/>
              </a:rPr>
              <a:t> like </a:t>
            </a:r>
            <a:r>
              <a:rPr lang="en-US" sz="1400" dirty="0">
                <a:solidFill>
                  <a:srgbClr val="1E2761"/>
                </a:solidFill>
                <a:latin typeface="Consolas" pitchFamily="34" charset="0"/>
                <a:ea typeface="Consolas" pitchFamily="34" charset="-122"/>
                <a:cs typeface="Consolas" pitchFamily="34" charset="-120"/>
              </a:rPr>
              <a:t>C:\</a:t>
            </a:r>
            <a:r>
              <a:rPr lang="en-US" sz="1400" dirty="0">
                <a:solidFill>
                  <a:srgbClr val="1F2937"/>
                </a:solidFill>
                <a:latin typeface="Calibri" pitchFamily="34" charset="0"/>
                <a:ea typeface="Calibri" pitchFamily="34" charset="-122"/>
                <a:cs typeface="Calibri" pitchFamily="34" charset="-120"/>
              </a:rPr>
              <a:t>.</a:t>
            </a:r>
            <a:endParaRPr lang="en-US" sz="1400" dirty="0"/>
          </a:p>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Every file has a </a:t>
            </a:r>
            <a:r>
              <a:rPr lang="en-US" sz="1400" b="1" dirty="0">
                <a:solidFill>
                  <a:srgbClr val="1F2937"/>
                </a:solidFill>
                <a:latin typeface="Calibri" pitchFamily="34" charset="0"/>
                <a:ea typeface="Calibri" pitchFamily="34" charset="-122"/>
                <a:cs typeface="Calibri" pitchFamily="34" charset="-120"/>
              </a:rPr>
              <a:t>path</a:t>
            </a:r>
            <a:r>
              <a:rPr lang="en-US" sz="1400" dirty="0">
                <a:solidFill>
                  <a:srgbClr val="1F2937"/>
                </a:solidFill>
                <a:latin typeface="Calibri" pitchFamily="34" charset="0"/>
                <a:ea typeface="Calibri" pitchFamily="34" charset="-122"/>
                <a:cs typeface="Calibri" pitchFamily="34" charset="-120"/>
              </a:rPr>
              <a:t> that describes where it sits in the tree.</a:t>
            </a:r>
            <a:endParaRPr lang="en-US" sz="14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a:effectLst/>
      </p:bgPr>
    </p:bg>
    <p:spTree>
      <p:nvGrpSpPr>
        <p:cNvPr id="1" name=""/>
        <p:cNvGrpSpPr/>
        <p:nvPr/>
      </p:nvGrpSpPr>
      <p:grpSpPr>
        <a:xfrm>
          <a:off x="0" y="0"/>
          <a:ext cx="0" cy="0"/>
          <a:chOff x="0" y="0"/>
          <a:chExt cx="0" cy="0"/>
        </a:xfrm>
      </p:grpSpPr>
      <p:pic>
        <p:nvPicPr>
          <p:cNvPr id="9" name="Picture 8" descr="access-footer.jpg"/>
          <p:cNvPicPr>
            <a:picLocks noChangeAspect="1"/>
          </p:cNvPicPr>
          <p:nvPr/>
        </p:nvPicPr>
        <p:blipFill>
          <a:blip r:embed="rId3"/>
          <a:stretch>
            <a:fillRect/>
          </a:stretch>
        </p:blipFill>
        <p:spPr>
          <a:xfrm>
            <a:off x="0" y="0"/>
            <a:ext cx="9144000" cy="5143500"/>
          </a:xfrm>
          <a:prstGeom prst="rect">
            <a:avLst/>
          </a:prstGeom>
        </p:spPr>
      </p:pic>
      <p:sp>
        <p:nvSpPr>
          <p:cNvPr id="2" name="Text 0"/>
          <p:cNvSpPr/>
          <p:nvPr/>
        </p:nvSpPr>
        <p:spPr>
          <a:xfrm>
            <a:off x="457200" y="274320"/>
            <a:ext cx="8229600" cy="594360"/>
          </a:xfrm>
          <a:prstGeom prst="rect">
            <a:avLst/>
          </a:prstGeom>
          <a:solidFill>
            <a:srgbClr val="FFFFFF"/>
          </a:solidFill>
          <a:ln/>
        </p:spPr>
        <p:txBody>
          <a:bodyPr wrap="square" lIns="0" tIns="0" rIns="0" bIns="0" rtlCol="0" anchor="ctr"/>
          <a:lstStyle/>
          <a:p>
            <a:pPr marL="0" indent="0">
              <a:buNone/>
            </a:pPr>
            <a:r>
              <a:rPr lang="en-US" sz="2800" b="1" dirty="0">
                <a:solidFill>
                  <a:srgbClr val="1E2761"/>
                </a:solidFill>
                <a:latin typeface="Cambria" pitchFamily="34" charset="0"/>
                <a:ea typeface="Cambria" pitchFamily="34" charset="-122"/>
                <a:cs typeface="Cambria" pitchFamily="34" charset="-120"/>
              </a:rPr>
              <a:t>Where am I right now?</a:t>
            </a:r>
            <a:endParaRPr lang="en-US" sz="2800" dirty="0"/>
          </a:p>
        </p:txBody>
      </p:sp>
      <p:sp>
        <p:nvSpPr>
          <p:cNvPr id="3" name="Shape 1"/>
          <p:cNvSpPr/>
          <p:nvPr/>
        </p:nvSpPr>
        <p:spPr>
          <a:xfrm>
            <a:off x="457200" y="868680"/>
            <a:ext cx="548640" cy="36576"/>
          </a:xfrm>
          <a:prstGeom prst="rect">
            <a:avLst/>
          </a:prstGeom>
          <a:solidFill>
            <a:srgbClr val="1E2761"/>
          </a:solidFill>
          <a:ln w="12700">
            <a:solidFill>
              <a:srgbClr val="1E2761"/>
            </a:solidFill>
            <a:prstDash val="solid"/>
          </a:ln>
        </p:spPr>
        <p:txBody>
          <a:bodyPr/>
          <a:lstStyle/>
          <a:p>
            <a:endParaRPr lang="en-US"/>
          </a:p>
        </p:txBody>
      </p:sp>
      <p:sp>
        <p:nvSpPr>
          <p:cNvPr id="4" name="Shape 2"/>
          <p:cNvSpPr/>
          <p:nvPr/>
        </p:nvSpPr>
        <p:spPr>
          <a:xfrm>
            <a:off x="457200" y="1005840"/>
            <a:ext cx="1005840" cy="292608"/>
          </a:xfrm>
          <a:prstGeom prst="rect">
            <a:avLst/>
          </a:prstGeom>
          <a:solidFill>
            <a:srgbClr val="0369A1"/>
          </a:solidFill>
          <a:ln w="12700">
            <a:solidFill>
              <a:srgbClr val="0369A1"/>
            </a:solidFill>
            <a:prstDash val="solid"/>
          </a:ln>
        </p:spPr>
        <p:txBody>
          <a:bodyPr/>
          <a:lstStyle/>
          <a:p>
            <a:endParaRPr lang="en-US"/>
          </a:p>
        </p:txBody>
      </p:sp>
      <p:sp>
        <p:nvSpPr>
          <p:cNvPr id="5" name="Text 3"/>
          <p:cNvSpPr/>
          <p:nvPr/>
        </p:nvSpPr>
        <p:spPr>
          <a:xfrm>
            <a:off x="457200" y="1005840"/>
            <a:ext cx="1005840" cy="292608"/>
          </a:xfrm>
          <a:prstGeom prst="rect">
            <a:avLst/>
          </a:prstGeom>
          <a:noFill/>
          <a:ln/>
        </p:spPr>
        <p:txBody>
          <a:bodyPr wrap="square" lIns="0" tIns="0" rIns="0" bIns="0" rtlCol="0" anchor="ctr"/>
          <a:lstStyle/>
          <a:p>
            <a:pPr marL="0" indent="0" algn="ctr">
              <a:buNone/>
            </a:pPr>
            <a:r>
              <a:rPr lang="en-US" sz="1100" b="1" kern="0" spc="200" dirty="0">
                <a:solidFill>
                  <a:srgbClr val="FFFFFF"/>
                </a:solidFill>
                <a:latin typeface="Calibri" pitchFamily="34" charset="0"/>
                <a:ea typeface="Calibri" pitchFamily="34" charset="-122"/>
                <a:cs typeface="Calibri" pitchFamily="34" charset="-120"/>
              </a:rPr>
              <a:t>DEMO</a:t>
            </a:r>
            <a:endParaRPr lang="en-US" sz="1100" dirty="0"/>
          </a:p>
        </p:txBody>
      </p:sp>
      <p:sp>
        <p:nvSpPr>
          <p:cNvPr id="6" name="Shape 4"/>
          <p:cNvSpPr/>
          <p:nvPr/>
        </p:nvSpPr>
        <p:spPr>
          <a:xfrm>
            <a:off x="548640" y="1435608"/>
            <a:ext cx="8046720" cy="678180"/>
          </a:xfrm>
          <a:prstGeom prst="rect">
            <a:avLst/>
          </a:prstGeom>
          <a:solidFill>
            <a:srgbClr val="0F172A"/>
          </a:solidFill>
          <a:ln w="12700">
            <a:solidFill>
              <a:srgbClr val="0F172A"/>
            </a:solidFill>
            <a:prstDash val="solid"/>
          </a:ln>
        </p:spPr>
        <p:txBody>
          <a:bodyPr/>
          <a:lstStyle/>
          <a:p>
            <a:endParaRPr lang="en-US"/>
          </a:p>
        </p:txBody>
      </p:sp>
      <p:sp>
        <p:nvSpPr>
          <p:cNvPr id="7" name="Text 5"/>
          <p:cNvSpPr/>
          <p:nvPr/>
        </p:nvSpPr>
        <p:spPr>
          <a:xfrm>
            <a:off x="685800" y="1508760"/>
            <a:ext cx="7772400" cy="531876"/>
          </a:xfrm>
          <a:prstGeom prst="rect">
            <a:avLst/>
          </a:prstGeom>
          <a:noFill/>
          <a:ln/>
        </p:spPr>
        <p:txBody>
          <a:bodyPr wrap="square" lIns="0" tIns="0" rIns="0" bIns="0" rtlCol="0" anchor="t"/>
          <a:lstStyle/>
          <a:p>
            <a:pPr marL="0" indent="0">
              <a:buNone/>
            </a:pPr>
            <a:r>
              <a:rPr lang="en-US" sz="1500" dirty="0">
                <a:solidFill>
                  <a:srgbClr val="E2E8F0"/>
                </a:solidFill>
                <a:latin typeface="Consolas" pitchFamily="34" charset="0"/>
                <a:ea typeface="Consolas" pitchFamily="34" charset="-122"/>
                <a:cs typeface="Consolas" pitchFamily="34" charset="-120"/>
              </a:rPr>
              <a:t>$ pwd</a:t>
            </a:r>
            <a:endParaRPr lang="en-US" sz="1500" dirty="0"/>
          </a:p>
          <a:p>
            <a:pPr marL="0" indent="0">
              <a:buNone/>
            </a:pPr>
            <a:r>
              <a:rPr lang="en-US" sz="1500" dirty="0">
                <a:solidFill>
                  <a:srgbClr val="E2E8F0"/>
                </a:solidFill>
                <a:latin typeface="Consolas" pitchFamily="34" charset="0"/>
                <a:ea typeface="Consolas" pitchFamily="34" charset="-122"/>
                <a:cs typeface="Consolas" pitchFamily="34" charset="-120"/>
              </a:rPr>
              <a:t>/home/exouser</a:t>
            </a:r>
            <a:endParaRPr lang="en-US" sz="1500" dirty="0"/>
          </a:p>
        </p:txBody>
      </p:sp>
      <p:sp>
        <p:nvSpPr>
          <p:cNvPr id="8" name="Text 6"/>
          <p:cNvSpPr/>
          <p:nvPr/>
        </p:nvSpPr>
        <p:spPr>
          <a:xfrm>
            <a:off x="548640" y="2159508"/>
            <a:ext cx="8046720" cy="1412240"/>
          </a:xfrm>
          <a:prstGeom prst="rect">
            <a:avLst/>
          </a:prstGeom>
          <a:solidFill>
            <a:srgbClr val="FFFFFF"/>
          </a:solidFill>
          <a:ln/>
        </p:spPr>
        <p:txBody>
          <a:bodyPr wrap="square" lIns="0" tIns="0" rIns="0" bIns="0" rtlCol="0" anchor="t"/>
          <a:lstStyle/>
          <a:p>
            <a:pPr marL="228600" indent="-228600">
              <a:spcAft>
                <a:spcPts val="600"/>
              </a:spcAft>
              <a:buSzPct val="100000"/>
              <a:buChar char="■"/>
            </a:pPr>
            <a:r>
              <a:rPr lang="en-US" sz="1600" dirty="0">
                <a:solidFill>
                  <a:srgbClr val="1E2761"/>
                </a:solidFill>
                <a:latin typeface="Consolas" pitchFamily="34" charset="0"/>
                <a:ea typeface="Consolas" pitchFamily="34" charset="-122"/>
                <a:cs typeface="Consolas" pitchFamily="34" charset="-120"/>
              </a:rPr>
              <a:t>pwd</a:t>
            </a:r>
            <a:r>
              <a:rPr lang="en-US" sz="1600" dirty="0">
                <a:solidFill>
                  <a:srgbClr val="1F2937"/>
                </a:solidFill>
                <a:latin typeface="Calibri" pitchFamily="34" charset="0"/>
                <a:ea typeface="Calibri" pitchFamily="34" charset="-122"/>
                <a:cs typeface="Calibri" pitchFamily="34" charset="-120"/>
              </a:rPr>
              <a:t> = </a:t>
            </a:r>
            <a:r>
              <a:rPr lang="en-US" sz="1600" b="1" dirty="0">
                <a:solidFill>
                  <a:srgbClr val="1F2937"/>
                </a:solidFill>
                <a:latin typeface="Calibri" pitchFamily="34" charset="0"/>
                <a:ea typeface="Calibri" pitchFamily="34" charset="-122"/>
                <a:cs typeface="Calibri" pitchFamily="34" charset="-120"/>
              </a:rPr>
              <a:t>print working directory</a:t>
            </a:r>
            <a:r>
              <a:rPr lang="en-US" sz="1600" dirty="0">
                <a:solidFill>
                  <a:srgbClr val="1F2937"/>
                </a:solidFill>
                <a:latin typeface="Calibri" pitchFamily="34" charset="0"/>
                <a:ea typeface="Calibri" pitchFamily="34" charset="-122"/>
                <a:cs typeface="Calibri" pitchFamily="34" charset="-120"/>
              </a:rPr>
              <a:t>.</a:t>
            </a:r>
            <a:endParaRPr lang="en-US" sz="1600" dirty="0"/>
          </a:p>
          <a:p>
            <a:pPr marL="228600" indent="-228600">
              <a:spcAft>
                <a:spcPts val="600"/>
              </a:spcAft>
              <a:buSzPct val="100000"/>
              <a:buChar char="■"/>
            </a:pPr>
            <a:r>
              <a:rPr lang="en-US" sz="1600" dirty="0">
                <a:solidFill>
                  <a:srgbClr val="1F2937"/>
                </a:solidFill>
                <a:latin typeface="Calibri" pitchFamily="34" charset="0"/>
                <a:ea typeface="Calibri" pitchFamily="34" charset="-122"/>
                <a:cs typeface="Calibri" pitchFamily="34" charset="-120"/>
              </a:rPr>
              <a:t>You are </a:t>
            </a:r>
            <a:r>
              <a:rPr lang="en-US" sz="1600" i="1" dirty="0">
                <a:solidFill>
                  <a:srgbClr val="1F2937"/>
                </a:solidFill>
                <a:latin typeface="Calibri" pitchFamily="34" charset="0"/>
                <a:ea typeface="Calibri" pitchFamily="34" charset="-122"/>
                <a:cs typeface="Calibri" pitchFamily="34" charset="-120"/>
              </a:rPr>
              <a:t>always</a:t>
            </a:r>
            <a:r>
              <a:rPr lang="en-US" sz="1600" dirty="0">
                <a:solidFill>
                  <a:srgbClr val="1F2937"/>
                </a:solidFill>
                <a:latin typeface="Calibri" pitchFamily="34" charset="0"/>
                <a:ea typeface="Calibri" pitchFamily="34" charset="-122"/>
                <a:cs typeface="Calibri" pitchFamily="34" charset="-120"/>
              </a:rPr>
              <a:t> somewhere in the filesystem.</a:t>
            </a:r>
            <a:endParaRPr lang="en-US" sz="1600" dirty="0"/>
          </a:p>
          <a:p>
            <a:pPr marL="228600" indent="-228600">
              <a:spcAft>
                <a:spcPts val="600"/>
              </a:spcAft>
              <a:buSzPct val="100000"/>
              <a:buChar char="■"/>
            </a:pPr>
            <a:r>
              <a:rPr lang="en-US" sz="1600" dirty="0">
                <a:solidFill>
                  <a:srgbClr val="1F2937"/>
                </a:solidFill>
                <a:latin typeface="Calibri" pitchFamily="34" charset="0"/>
                <a:ea typeface="Calibri" pitchFamily="34" charset="-122"/>
                <a:cs typeface="Calibri" pitchFamily="34" charset="-120"/>
              </a:rPr>
              <a:t>Commands usually act on your </a:t>
            </a:r>
            <a:r>
              <a:rPr lang="en-US" sz="1600" b="1" dirty="0">
                <a:solidFill>
                  <a:srgbClr val="1F2937"/>
                </a:solidFill>
                <a:latin typeface="Calibri" pitchFamily="34" charset="0"/>
                <a:ea typeface="Calibri" pitchFamily="34" charset="-122"/>
                <a:cs typeface="Calibri" pitchFamily="34" charset="-120"/>
              </a:rPr>
              <a:t>current location</a:t>
            </a:r>
            <a:r>
              <a:rPr lang="en-US" sz="1600" dirty="0">
                <a:solidFill>
                  <a:srgbClr val="1F2937"/>
                </a:solidFill>
                <a:latin typeface="Calibri" pitchFamily="34" charset="0"/>
                <a:ea typeface="Calibri" pitchFamily="34" charset="-122"/>
                <a:cs typeface="Calibri" pitchFamily="34" charset="-120"/>
              </a:rPr>
              <a:t> unless you tell them otherwise.</a:t>
            </a:r>
            <a:endParaRPr lang="en-US" sz="16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a:effectLst/>
      </p:bgPr>
    </p:bg>
    <p:spTree>
      <p:nvGrpSpPr>
        <p:cNvPr id="1" name=""/>
        <p:cNvGrpSpPr/>
        <p:nvPr/>
      </p:nvGrpSpPr>
      <p:grpSpPr>
        <a:xfrm>
          <a:off x="0" y="0"/>
          <a:ext cx="0" cy="0"/>
          <a:chOff x="0" y="0"/>
          <a:chExt cx="0" cy="0"/>
        </a:xfrm>
      </p:grpSpPr>
      <p:pic>
        <p:nvPicPr>
          <p:cNvPr id="9" name="Picture 8" descr="access-footer.jpg"/>
          <p:cNvPicPr>
            <a:picLocks noChangeAspect="1"/>
          </p:cNvPicPr>
          <p:nvPr/>
        </p:nvPicPr>
        <p:blipFill>
          <a:blip r:embed="rId3"/>
          <a:stretch>
            <a:fillRect/>
          </a:stretch>
        </p:blipFill>
        <p:spPr>
          <a:xfrm>
            <a:off x="0" y="0"/>
            <a:ext cx="9144000" cy="5143500"/>
          </a:xfrm>
          <a:prstGeom prst="rect">
            <a:avLst/>
          </a:prstGeom>
        </p:spPr>
      </p:pic>
      <p:sp>
        <p:nvSpPr>
          <p:cNvPr id="2" name="Text 0"/>
          <p:cNvSpPr/>
          <p:nvPr/>
        </p:nvSpPr>
        <p:spPr>
          <a:xfrm>
            <a:off x="457200" y="274320"/>
            <a:ext cx="8229600" cy="594360"/>
          </a:xfrm>
          <a:prstGeom prst="rect">
            <a:avLst/>
          </a:prstGeom>
          <a:solidFill>
            <a:srgbClr val="FFFFFF"/>
          </a:solidFill>
          <a:ln/>
        </p:spPr>
        <p:txBody>
          <a:bodyPr wrap="square" lIns="0" tIns="0" rIns="0" bIns="0" rtlCol="0" anchor="ctr"/>
          <a:lstStyle/>
          <a:p>
            <a:pPr marL="0" indent="0">
              <a:buNone/>
            </a:pPr>
            <a:r>
              <a:rPr lang="en-US" sz="2800" b="1" dirty="0">
                <a:solidFill>
                  <a:srgbClr val="1E2761"/>
                </a:solidFill>
                <a:latin typeface="Cambria" pitchFamily="34" charset="0"/>
                <a:ea typeface="Cambria" pitchFamily="34" charset="-122"/>
                <a:cs typeface="Cambria" pitchFamily="34" charset="-120"/>
              </a:rPr>
              <a:t>What's here?  —  ls</a:t>
            </a:r>
            <a:endParaRPr lang="en-US" sz="2800" dirty="0"/>
          </a:p>
        </p:txBody>
      </p:sp>
      <p:sp>
        <p:nvSpPr>
          <p:cNvPr id="3" name="Shape 1"/>
          <p:cNvSpPr/>
          <p:nvPr/>
        </p:nvSpPr>
        <p:spPr>
          <a:xfrm>
            <a:off x="457200" y="868680"/>
            <a:ext cx="548640" cy="36576"/>
          </a:xfrm>
          <a:prstGeom prst="rect">
            <a:avLst/>
          </a:prstGeom>
          <a:solidFill>
            <a:srgbClr val="1E2761"/>
          </a:solidFill>
          <a:ln w="12700">
            <a:solidFill>
              <a:srgbClr val="1E2761"/>
            </a:solidFill>
            <a:prstDash val="solid"/>
          </a:ln>
        </p:spPr>
        <p:txBody>
          <a:bodyPr/>
          <a:lstStyle/>
          <a:p>
            <a:endParaRPr lang="en-US"/>
          </a:p>
        </p:txBody>
      </p:sp>
      <p:sp>
        <p:nvSpPr>
          <p:cNvPr id="4" name="Shape 2"/>
          <p:cNvSpPr/>
          <p:nvPr/>
        </p:nvSpPr>
        <p:spPr>
          <a:xfrm>
            <a:off x="457200" y="1005840"/>
            <a:ext cx="1005840" cy="292608"/>
          </a:xfrm>
          <a:prstGeom prst="rect">
            <a:avLst/>
          </a:prstGeom>
          <a:solidFill>
            <a:srgbClr val="0369A1"/>
          </a:solidFill>
          <a:ln w="12700">
            <a:solidFill>
              <a:srgbClr val="0369A1"/>
            </a:solidFill>
            <a:prstDash val="solid"/>
          </a:ln>
        </p:spPr>
        <p:txBody>
          <a:bodyPr/>
          <a:lstStyle/>
          <a:p>
            <a:endParaRPr lang="en-US"/>
          </a:p>
        </p:txBody>
      </p:sp>
      <p:sp>
        <p:nvSpPr>
          <p:cNvPr id="5" name="Text 3"/>
          <p:cNvSpPr/>
          <p:nvPr/>
        </p:nvSpPr>
        <p:spPr>
          <a:xfrm>
            <a:off x="457200" y="1005840"/>
            <a:ext cx="1005840" cy="292608"/>
          </a:xfrm>
          <a:prstGeom prst="rect">
            <a:avLst/>
          </a:prstGeom>
          <a:noFill/>
          <a:ln/>
        </p:spPr>
        <p:txBody>
          <a:bodyPr wrap="square" lIns="0" tIns="0" rIns="0" bIns="0" rtlCol="0" anchor="ctr"/>
          <a:lstStyle/>
          <a:p>
            <a:pPr marL="0" indent="0" algn="ctr">
              <a:buNone/>
            </a:pPr>
            <a:r>
              <a:rPr lang="en-US" sz="1100" b="1" kern="0" spc="200" dirty="0">
                <a:solidFill>
                  <a:srgbClr val="FFFFFF"/>
                </a:solidFill>
                <a:latin typeface="Calibri" pitchFamily="34" charset="0"/>
                <a:ea typeface="Calibri" pitchFamily="34" charset="-122"/>
                <a:cs typeface="Calibri" pitchFamily="34" charset="-120"/>
              </a:rPr>
              <a:t>DEMO</a:t>
            </a:r>
            <a:endParaRPr lang="en-US" sz="1100" dirty="0"/>
          </a:p>
        </p:txBody>
      </p:sp>
      <p:sp>
        <p:nvSpPr>
          <p:cNvPr id="6" name="Shape 4"/>
          <p:cNvSpPr/>
          <p:nvPr/>
        </p:nvSpPr>
        <p:spPr>
          <a:xfrm>
            <a:off x="548640" y="1435608"/>
            <a:ext cx="8046720" cy="1173480"/>
          </a:xfrm>
          <a:prstGeom prst="rect">
            <a:avLst/>
          </a:prstGeom>
          <a:solidFill>
            <a:srgbClr val="0F172A"/>
          </a:solidFill>
          <a:ln w="12700">
            <a:solidFill>
              <a:srgbClr val="0F172A"/>
            </a:solidFill>
            <a:prstDash val="solid"/>
          </a:ln>
        </p:spPr>
        <p:txBody>
          <a:bodyPr/>
          <a:lstStyle/>
          <a:p>
            <a:endParaRPr lang="en-US"/>
          </a:p>
        </p:txBody>
      </p:sp>
      <p:sp>
        <p:nvSpPr>
          <p:cNvPr id="7" name="Text 5"/>
          <p:cNvSpPr/>
          <p:nvPr/>
        </p:nvSpPr>
        <p:spPr>
          <a:xfrm>
            <a:off x="685800" y="1508760"/>
            <a:ext cx="7772400" cy="1027176"/>
          </a:xfrm>
          <a:prstGeom prst="rect">
            <a:avLst/>
          </a:prstGeom>
          <a:noFill/>
          <a:ln/>
        </p:spPr>
        <p:txBody>
          <a:bodyPr wrap="square" lIns="0" tIns="0" rIns="0" bIns="0" rtlCol="0" anchor="t"/>
          <a:lstStyle/>
          <a:p>
            <a:pPr marL="0" indent="0">
              <a:buNone/>
            </a:pPr>
            <a:r>
              <a:rPr lang="en-US" sz="1500" dirty="0">
                <a:solidFill>
                  <a:srgbClr val="E2E8F0"/>
                </a:solidFill>
                <a:latin typeface="Consolas" pitchFamily="34" charset="0"/>
                <a:ea typeface="Consolas" pitchFamily="34" charset="-122"/>
                <a:cs typeface="Consolas" pitchFamily="34" charset="-120"/>
              </a:rPr>
              <a:t>$ ls          # files &amp; dirs here</a:t>
            </a:r>
            <a:endParaRPr lang="en-US" sz="1500" dirty="0"/>
          </a:p>
          <a:p>
            <a:pPr marL="0" indent="0">
              <a:buNone/>
            </a:pPr>
            <a:r>
              <a:rPr lang="en-US" sz="1500" dirty="0">
                <a:solidFill>
                  <a:srgbClr val="E2E8F0"/>
                </a:solidFill>
                <a:latin typeface="Consolas" pitchFamily="34" charset="0"/>
                <a:ea typeface="Consolas" pitchFamily="34" charset="-122"/>
                <a:cs typeface="Consolas" pitchFamily="34" charset="-120"/>
              </a:rPr>
              <a:t>$ ls -l       # long format: sizes, dates, permissions</a:t>
            </a:r>
            <a:endParaRPr lang="en-US" sz="1500" dirty="0"/>
          </a:p>
          <a:p>
            <a:pPr marL="0" indent="0">
              <a:buNone/>
            </a:pPr>
            <a:r>
              <a:rPr lang="en-US" sz="1500" dirty="0">
                <a:solidFill>
                  <a:srgbClr val="E2E8F0"/>
                </a:solidFill>
                <a:latin typeface="Consolas" pitchFamily="34" charset="0"/>
                <a:ea typeface="Consolas" pitchFamily="34" charset="-122"/>
                <a:cs typeface="Consolas" pitchFamily="34" charset="-120"/>
              </a:rPr>
              <a:t>$ ls -a       # all files, including hidden (.foo)</a:t>
            </a:r>
            <a:endParaRPr lang="en-US" sz="1500" dirty="0"/>
          </a:p>
          <a:p>
            <a:pPr marL="0" indent="0">
              <a:buNone/>
            </a:pPr>
            <a:r>
              <a:rPr lang="en-US" sz="1500" dirty="0">
                <a:solidFill>
                  <a:srgbClr val="E2E8F0"/>
                </a:solidFill>
                <a:latin typeface="Consolas" pitchFamily="34" charset="0"/>
                <a:ea typeface="Consolas" pitchFamily="34" charset="-122"/>
                <a:cs typeface="Consolas" pitchFamily="34" charset="-120"/>
              </a:rPr>
              <a:t>$ ls -la      # long AND all</a:t>
            </a:r>
            <a:endParaRPr lang="en-US" sz="1500" dirty="0"/>
          </a:p>
        </p:txBody>
      </p:sp>
      <p:sp>
        <p:nvSpPr>
          <p:cNvPr id="8" name="Text 6"/>
          <p:cNvSpPr/>
          <p:nvPr/>
        </p:nvSpPr>
        <p:spPr>
          <a:xfrm>
            <a:off x="548640" y="2654808"/>
            <a:ext cx="8046720" cy="276860"/>
          </a:xfrm>
          <a:prstGeom prst="rect">
            <a:avLst/>
          </a:prstGeom>
          <a:solidFill>
            <a:srgbClr val="FFFFFF"/>
          </a:solidFill>
          <a:ln/>
        </p:spPr>
        <p:txBody>
          <a:bodyPr wrap="square" rtlCol="0" anchor="t"/>
          <a:lstStyle/>
          <a:p>
            <a:pPr marL="0" indent="0">
              <a:buNone/>
            </a:pPr>
            <a:r>
              <a:rPr lang="en-US" sz="1300" i="1" dirty="0">
                <a:solidFill>
                  <a:srgbClr val="475569"/>
                </a:solidFill>
                <a:latin typeface="Calibri" pitchFamily="34" charset="0"/>
                <a:ea typeface="Calibri" pitchFamily="34" charset="-122"/>
                <a:cs typeface="Calibri" pitchFamily="34" charset="-120"/>
              </a:rPr>
              <a:t>Verb / flags / nouns pattern: </a:t>
            </a:r>
            <a:r>
              <a:rPr lang="en-US" sz="1300" i="1" dirty="0">
                <a:solidFill>
                  <a:srgbClr val="1E2761"/>
                </a:solidFill>
                <a:latin typeface="Consolas" pitchFamily="34" charset="0"/>
                <a:ea typeface="Consolas" pitchFamily="34" charset="-122"/>
                <a:cs typeface="Consolas" pitchFamily="34" charset="-120"/>
              </a:rPr>
              <a:t>ls</a:t>
            </a:r>
            <a:r>
              <a:rPr lang="en-US" sz="1300" i="1" dirty="0">
                <a:solidFill>
                  <a:srgbClr val="475569"/>
                </a:solidFill>
                <a:latin typeface="Calibri" pitchFamily="34" charset="0"/>
                <a:ea typeface="Calibri" pitchFamily="34" charset="-122"/>
                <a:cs typeface="Calibri" pitchFamily="34" charset="-120"/>
              </a:rPr>
              <a:t> (verb), </a:t>
            </a:r>
            <a:r>
              <a:rPr lang="en-US" sz="1300" i="1" dirty="0">
                <a:solidFill>
                  <a:srgbClr val="1E2761"/>
                </a:solidFill>
                <a:latin typeface="Consolas" pitchFamily="34" charset="0"/>
                <a:ea typeface="Consolas" pitchFamily="34" charset="-122"/>
                <a:cs typeface="Consolas" pitchFamily="34" charset="-120"/>
              </a:rPr>
              <a:t>-l -a</a:t>
            </a:r>
            <a:r>
              <a:rPr lang="en-US" sz="1300" i="1" dirty="0">
                <a:solidFill>
                  <a:srgbClr val="475569"/>
                </a:solidFill>
                <a:latin typeface="Calibri" pitchFamily="34" charset="0"/>
                <a:ea typeface="Calibri" pitchFamily="34" charset="-122"/>
                <a:cs typeface="Calibri" pitchFamily="34" charset="-120"/>
              </a:rPr>
              <a:t> (flags), no noun → defaults to "here".</a:t>
            </a:r>
            <a:endParaRPr lang="en-US" sz="13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a:effectLst/>
      </p:bgPr>
    </p:bg>
    <p:spTree>
      <p:nvGrpSpPr>
        <p:cNvPr id="1" name=""/>
        <p:cNvGrpSpPr/>
        <p:nvPr/>
      </p:nvGrpSpPr>
      <p:grpSpPr>
        <a:xfrm>
          <a:off x="0" y="0"/>
          <a:ext cx="0" cy="0"/>
          <a:chOff x="0" y="0"/>
          <a:chExt cx="0" cy="0"/>
        </a:xfrm>
      </p:grpSpPr>
      <p:pic>
        <p:nvPicPr>
          <p:cNvPr id="8" name="Picture 7" descr="access-footer.jpg"/>
          <p:cNvPicPr>
            <a:picLocks noChangeAspect="1"/>
          </p:cNvPicPr>
          <p:nvPr/>
        </p:nvPicPr>
        <p:blipFill>
          <a:blip r:embed="rId3"/>
          <a:stretch>
            <a:fillRect/>
          </a:stretch>
        </p:blipFill>
        <p:spPr>
          <a:xfrm>
            <a:off x="0" y="0"/>
            <a:ext cx="9144000" cy="5143500"/>
          </a:xfrm>
          <a:prstGeom prst="rect">
            <a:avLst/>
          </a:prstGeom>
        </p:spPr>
      </p:pic>
      <p:sp>
        <p:nvSpPr>
          <p:cNvPr id="2" name="Text 0"/>
          <p:cNvSpPr/>
          <p:nvPr/>
        </p:nvSpPr>
        <p:spPr>
          <a:xfrm>
            <a:off x="457200" y="274320"/>
            <a:ext cx="8229600" cy="594360"/>
          </a:xfrm>
          <a:prstGeom prst="rect">
            <a:avLst/>
          </a:prstGeom>
          <a:solidFill>
            <a:srgbClr val="FFFFFF"/>
          </a:solidFill>
          <a:ln/>
        </p:spPr>
        <p:txBody>
          <a:bodyPr wrap="square" lIns="0" tIns="0" rIns="0" bIns="0" rtlCol="0" anchor="ctr"/>
          <a:lstStyle/>
          <a:p>
            <a:pPr marL="0" indent="0">
              <a:buNone/>
            </a:pPr>
            <a:r>
              <a:rPr lang="en-US" sz="2800" b="1" dirty="0">
                <a:solidFill>
                  <a:srgbClr val="1E2761"/>
                </a:solidFill>
                <a:latin typeface="Cambria" pitchFamily="34" charset="0"/>
                <a:ea typeface="Cambria" pitchFamily="34" charset="-122"/>
                <a:cs typeface="Cambria" pitchFamily="34" charset="-120"/>
              </a:rPr>
              <a:t>Moving around: cd</a:t>
            </a:r>
            <a:endParaRPr lang="en-US" sz="2800" dirty="0"/>
          </a:p>
        </p:txBody>
      </p:sp>
      <p:sp>
        <p:nvSpPr>
          <p:cNvPr id="3" name="Shape 1"/>
          <p:cNvSpPr/>
          <p:nvPr/>
        </p:nvSpPr>
        <p:spPr>
          <a:xfrm>
            <a:off x="457200" y="868680"/>
            <a:ext cx="548640" cy="36576"/>
          </a:xfrm>
          <a:prstGeom prst="rect">
            <a:avLst/>
          </a:prstGeom>
          <a:solidFill>
            <a:srgbClr val="1E2761"/>
          </a:solidFill>
          <a:ln w="12700">
            <a:solidFill>
              <a:srgbClr val="1E2761"/>
            </a:solidFill>
            <a:prstDash val="solid"/>
          </a:ln>
        </p:spPr>
        <p:txBody>
          <a:bodyPr/>
          <a:lstStyle/>
          <a:p>
            <a:endParaRPr lang="en-US"/>
          </a:p>
        </p:txBody>
      </p:sp>
      <p:sp>
        <p:nvSpPr>
          <p:cNvPr id="4" name="Shape 2"/>
          <p:cNvSpPr/>
          <p:nvPr/>
        </p:nvSpPr>
        <p:spPr>
          <a:xfrm>
            <a:off x="457200" y="1005840"/>
            <a:ext cx="1005840" cy="292608"/>
          </a:xfrm>
          <a:prstGeom prst="rect">
            <a:avLst/>
          </a:prstGeom>
          <a:solidFill>
            <a:srgbClr val="0369A1"/>
          </a:solidFill>
          <a:ln w="12700">
            <a:solidFill>
              <a:srgbClr val="0369A1"/>
            </a:solidFill>
            <a:prstDash val="solid"/>
          </a:ln>
        </p:spPr>
        <p:txBody>
          <a:bodyPr/>
          <a:lstStyle/>
          <a:p>
            <a:endParaRPr lang="en-US"/>
          </a:p>
        </p:txBody>
      </p:sp>
      <p:sp>
        <p:nvSpPr>
          <p:cNvPr id="5" name="Text 3"/>
          <p:cNvSpPr/>
          <p:nvPr/>
        </p:nvSpPr>
        <p:spPr>
          <a:xfrm>
            <a:off x="457200" y="1005840"/>
            <a:ext cx="1005840" cy="292608"/>
          </a:xfrm>
          <a:prstGeom prst="rect">
            <a:avLst/>
          </a:prstGeom>
          <a:noFill/>
          <a:ln/>
        </p:spPr>
        <p:txBody>
          <a:bodyPr wrap="square" lIns="0" tIns="0" rIns="0" bIns="0" rtlCol="0" anchor="ctr"/>
          <a:lstStyle/>
          <a:p>
            <a:pPr marL="0" indent="0" algn="ctr">
              <a:buNone/>
            </a:pPr>
            <a:r>
              <a:rPr lang="en-US" sz="1100" b="1" kern="0" spc="200" dirty="0">
                <a:solidFill>
                  <a:srgbClr val="FFFFFF"/>
                </a:solidFill>
                <a:latin typeface="Calibri" pitchFamily="34" charset="0"/>
                <a:ea typeface="Calibri" pitchFamily="34" charset="-122"/>
                <a:cs typeface="Calibri" pitchFamily="34" charset="-120"/>
              </a:rPr>
              <a:t>DEMO</a:t>
            </a:r>
            <a:endParaRPr lang="en-US" sz="1100" dirty="0"/>
          </a:p>
        </p:txBody>
      </p:sp>
      <p:sp>
        <p:nvSpPr>
          <p:cNvPr id="6" name="Shape 4"/>
          <p:cNvSpPr/>
          <p:nvPr/>
        </p:nvSpPr>
        <p:spPr>
          <a:xfrm>
            <a:off x="548640" y="1435608"/>
            <a:ext cx="8046720" cy="1421130"/>
          </a:xfrm>
          <a:prstGeom prst="rect">
            <a:avLst/>
          </a:prstGeom>
          <a:solidFill>
            <a:srgbClr val="0F172A"/>
          </a:solidFill>
          <a:ln w="12700">
            <a:solidFill>
              <a:srgbClr val="0F172A"/>
            </a:solidFill>
            <a:prstDash val="solid"/>
          </a:ln>
        </p:spPr>
        <p:txBody>
          <a:bodyPr/>
          <a:lstStyle/>
          <a:p>
            <a:endParaRPr lang="en-US"/>
          </a:p>
        </p:txBody>
      </p:sp>
      <p:sp>
        <p:nvSpPr>
          <p:cNvPr id="7" name="Text 5"/>
          <p:cNvSpPr/>
          <p:nvPr/>
        </p:nvSpPr>
        <p:spPr>
          <a:xfrm>
            <a:off x="685800" y="1508760"/>
            <a:ext cx="7772400" cy="1274826"/>
          </a:xfrm>
          <a:prstGeom prst="rect">
            <a:avLst/>
          </a:prstGeom>
          <a:noFill/>
          <a:ln/>
        </p:spPr>
        <p:txBody>
          <a:bodyPr wrap="square" lIns="0" tIns="0" rIns="0" bIns="0" rtlCol="0" anchor="t"/>
          <a:lstStyle/>
          <a:p>
            <a:pPr marL="0" indent="0">
              <a:buNone/>
            </a:pPr>
            <a:r>
              <a:rPr lang="en-US" sz="1500" dirty="0">
                <a:solidFill>
                  <a:srgbClr val="E2E8F0"/>
                </a:solidFill>
                <a:latin typeface="Consolas" pitchFamily="34" charset="0"/>
                <a:ea typeface="Consolas" pitchFamily="34" charset="-122"/>
                <a:cs typeface="Consolas" pitchFamily="34" charset="-120"/>
              </a:rPr>
              <a:t>$ cd /          # go to the root</a:t>
            </a:r>
            <a:endParaRPr lang="en-US" sz="1500" dirty="0"/>
          </a:p>
          <a:p>
            <a:pPr marL="0" indent="0">
              <a:buNone/>
            </a:pPr>
            <a:r>
              <a:rPr lang="en-US" sz="1500" dirty="0">
                <a:solidFill>
                  <a:srgbClr val="E2E8F0"/>
                </a:solidFill>
                <a:latin typeface="Consolas" pitchFamily="34" charset="0"/>
                <a:ea typeface="Consolas" pitchFamily="34" charset="-122"/>
                <a:cs typeface="Consolas" pitchFamily="34" charset="-120"/>
              </a:rPr>
              <a:t>$ cd /etc       # go into /etc</a:t>
            </a:r>
            <a:endParaRPr lang="en-US" sz="1500" dirty="0"/>
          </a:p>
          <a:p>
            <a:pPr marL="0" indent="0">
              <a:buNone/>
            </a:pPr>
            <a:r>
              <a:rPr lang="en-US" sz="1500" dirty="0">
                <a:solidFill>
                  <a:srgbClr val="E2E8F0"/>
                </a:solidFill>
                <a:latin typeface="Consolas" pitchFamily="34" charset="0"/>
                <a:ea typeface="Consolas" pitchFamily="34" charset="-122"/>
                <a:cs typeface="Consolas" pitchFamily="34" charset="-120"/>
              </a:rPr>
              <a:t>$ cd ~          # go home  (~ means your home dir)</a:t>
            </a:r>
            <a:endParaRPr lang="en-US" sz="1500" dirty="0"/>
          </a:p>
          <a:p>
            <a:pPr marL="0" indent="0">
              <a:buNone/>
            </a:pPr>
            <a:r>
              <a:rPr lang="en-US" sz="1500" dirty="0">
                <a:solidFill>
                  <a:srgbClr val="E2E8F0"/>
                </a:solidFill>
                <a:latin typeface="Consolas" pitchFamily="34" charset="0"/>
                <a:ea typeface="Consolas" pitchFamily="34" charset="-122"/>
                <a:cs typeface="Consolas" pitchFamily="34" charset="-120"/>
              </a:rPr>
              <a:t>$ cd            # no args → also goes home</a:t>
            </a:r>
            <a:endParaRPr lang="en-US" sz="1500" dirty="0"/>
          </a:p>
          <a:p>
            <a:pPr marL="0" indent="0">
              <a:buNone/>
            </a:pPr>
            <a:r>
              <a:rPr lang="en-US" sz="1500" dirty="0">
                <a:solidFill>
                  <a:srgbClr val="E2E8F0"/>
                </a:solidFill>
                <a:latin typeface="Consolas" pitchFamily="34" charset="0"/>
                <a:ea typeface="Consolas" pitchFamily="34" charset="-122"/>
                <a:cs typeface="Consolas" pitchFamily="34" charset="-120"/>
              </a:rPr>
              <a:t>$ cd -          # go back to the previous directory</a:t>
            </a:r>
            <a:endParaRPr lang="en-US" sz="15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a:effectLst/>
      </p:bgPr>
    </p:bg>
    <p:spTree>
      <p:nvGrpSpPr>
        <p:cNvPr id="1" name=""/>
        <p:cNvGrpSpPr/>
        <p:nvPr/>
      </p:nvGrpSpPr>
      <p:grpSpPr>
        <a:xfrm>
          <a:off x="0" y="0"/>
          <a:ext cx="0" cy="0"/>
          <a:chOff x="0" y="0"/>
          <a:chExt cx="0" cy="0"/>
        </a:xfrm>
      </p:grpSpPr>
      <p:pic>
        <p:nvPicPr>
          <p:cNvPr id="8" name="Picture 7" descr="access-footer.jpg"/>
          <p:cNvPicPr>
            <a:picLocks noChangeAspect="1"/>
          </p:cNvPicPr>
          <p:nvPr/>
        </p:nvPicPr>
        <p:blipFill>
          <a:blip r:embed="rId3"/>
          <a:stretch>
            <a:fillRect/>
          </a:stretch>
        </p:blipFill>
        <p:spPr>
          <a:xfrm>
            <a:off x="0" y="0"/>
            <a:ext cx="9144000" cy="5143500"/>
          </a:xfrm>
          <a:prstGeom prst="rect">
            <a:avLst/>
          </a:prstGeom>
        </p:spPr>
      </p:pic>
      <p:sp>
        <p:nvSpPr>
          <p:cNvPr id="2" name="Text 0"/>
          <p:cNvSpPr/>
          <p:nvPr/>
        </p:nvSpPr>
        <p:spPr>
          <a:xfrm>
            <a:off x="457200" y="274320"/>
            <a:ext cx="8229600" cy="594360"/>
          </a:xfrm>
          <a:prstGeom prst="rect">
            <a:avLst/>
          </a:prstGeom>
          <a:solidFill>
            <a:srgbClr val="FFFFFF"/>
          </a:solidFill>
          <a:ln/>
        </p:spPr>
        <p:txBody>
          <a:bodyPr wrap="square" lIns="0" tIns="0" rIns="0" bIns="0" rtlCol="0" anchor="ctr"/>
          <a:lstStyle/>
          <a:p>
            <a:pPr marL="0" indent="0">
              <a:buNone/>
            </a:pPr>
            <a:r>
              <a:rPr lang="en-US" sz="2800" b="1" dirty="0">
                <a:solidFill>
                  <a:srgbClr val="1E2761"/>
                </a:solidFill>
                <a:latin typeface="Cambria" pitchFamily="34" charset="0"/>
                <a:ea typeface="Cambria" pitchFamily="34" charset="-122"/>
                <a:cs typeface="Cambria" pitchFamily="34" charset="-120"/>
              </a:rPr>
              <a:t>Absolute vs relative paths</a:t>
            </a:r>
            <a:endParaRPr lang="en-US" sz="2800" dirty="0"/>
          </a:p>
        </p:txBody>
      </p:sp>
      <p:sp>
        <p:nvSpPr>
          <p:cNvPr id="3" name="Shape 1"/>
          <p:cNvSpPr/>
          <p:nvPr/>
        </p:nvSpPr>
        <p:spPr>
          <a:xfrm>
            <a:off x="457200" y="868680"/>
            <a:ext cx="548640" cy="36576"/>
          </a:xfrm>
          <a:prstGeom prst="rect">
            <a:avLst/>
          </a:prstGeom>
          <a:solidFill>
            <a:srgbClr val="1E2761"/>
          </a:solidFill>
          <a:ln w="12700">
            <a:solidFill>
              <a:srgbClr val="1E2761"/>
            </a:solidFill>
            <a:prstDash val="solid"/>
          </a:ln>
        </p:spPr>
        <p:txBody>
          <a:bodyPr/>
          <a:lstStyle/>
          <a:p>
            <a:endParaRPr lang="en-US"/>
          </a:p>
        </p:txBody>
      </p:sp>
      <p:sp>
        <p:nvSpPr>
          <p:cNvPr id="4" name="Shape 2"/>
          <p:cNvSpPr/>
          <p:nvPr/>
        </p:nvSpPr>
        <p:spPr>
          <a:xfrm>
            <a:off x="457200" y="1005840"/>
            <a:ext cx="1005840" cy="292608"/>
          </a:xfrm>
          <a:prstGeom prst="rect">
            <a:avLst/>
          </a:prstGeom>
          <a:solidFill>
            <a:srgbClr val="1E2761"/>
          </a:solidFill>
          <a:ln w="12700">
            <a:solidFill>
              <a:srgbClr val="1E2761"/>
            </a:solidFill>
            <a:prstDash val="solid"/>
          </a:ln>
        </p:spPr>
        <p:txBody>
          <a:bodyPr/>
          <a:lstStyle/>
          <a:p>
            <a:endParaRPr lang="en-US"/>
          </a:p>
        </p:txBody>
      </p:sp>
      <p:sp>
        <p:nvSpPr>
          <p:cNvPr id="5" name="Text 3"/>
          <p:cNvSpPr/>
          <p:nvPr/>
        </p:nvSpPr>
        <p:spPr>
          <a:xfrm>
            <a:off x="457200" y="1005840"/>
            <a:ext cx="1005840" cy="292608"/>
          </a:xfrm>
          <a:prstGeom prst="rect">
            <a:avLst/>
          </a:prstGeom>
          <a:noFill/>
          <a:ln/>
        </p:spPr>
        <p:txBody>
          <a:bodyPr wrap="square" lIns="0" tIns="0" rIns="0" bIns="0" rtlCol="0" anchor="ctr"/>
          <a:lstStyle/>
          <a:p>
            <a:pPr marL="0" indent="0" algn="ctr">
              <a:buNone/>
            </a:pPr>
            <a:r>
              <a:rPr lang="en-US" sz="1100" b="1" kern="0" spc="200" dirty="0">
                <a:solidFill>
                  <a:srgbClr val="FFFFFF"/>
                </a:solidFill>
                <a:latin typeface="Calibri" pitchFamily="34" charset="0"/>
                <a:ea typeface="Calibri" pitchFamily="34" charset="-122"/>
                <a:cs typeface="Calibri" pitchFamily="34" charset="-120"/>
              </a:rPr>
              <a:t>TALK</a:t>
            </a:r>
            <a:endParaRPr lang="en-US" sz="1100" dirty="0"/>
          </a:p>
        </p:txBody>
      </p:sp>
      <p:sp>
        <p:nvSpPr>
          <p:cNvPr id="6" name="Text 4"/>
          <p:cNvSpPr/>
          <p:nvPr/>
        </p:nvSpPr>
        <p:spPr>
          <a:xfrm>
            <a:off x="548640" y="1435608"/>
            <a:ext cx="8046720" cy="2341880"/>
          </a:xfrm>
          <a:prstGeom prst="rect">
            <a:avLst/>
          </a:prstGeom>
          <a:solidFill>
            <a:srgbClr val="FFFFFF"/>
          </a:solidFill>
          <a:ln/>
        </p:spPr>
        <p:txBody>
          <a:bodyPr wrap="square" lIns="0" tIns="0" rIns="0" bIns="0" rtlCol="0" anchor="t"/>
          <a:lstStyle/>
          <a:p>
            <a:pPr marL="228600" indent="-228600">
              <a:spcAft>
                <a:spcPts val="600"/>
              </a:spcAft>
              <a:buSzPct val="100000"/>
              <a:buChar char="■"/>
            </a:pPr>
            <a:r>
              <a:rPr lang="en-US" sz="1600" b="1" dirty="0">
                <a:solidFill>
                  <a:srgbClr val="1F2937"/>
                </a:solidFill>
                <a:latin typeface="Calibri" pitchFamily="34" charset="0"/>
                <a:ea typeface="Calibri" pitchFamily="34" charset="-122"/>
                <a:cs typeface="Calibri" pitchFamily="34" charset="-120"/>
              </a:rPr>
              <a:t>Absolute path</a:t>
            </a:r>
            <a:r>
              <a:rPr lang="en-US" sz="1600" dirty="0">
                <a:solidFill>
                  <a:srgbClr val="1F2937"/>
                </a:solidFill>
                <a:latin typeface="Calibri" pitchFamily="34" charset="0"/>
                <a:ea typeface="Calibri" pitchFamily="34" charset="-122"/>
                <a:cs typeface="Calibri" pitchFamily="34" charset="-120"/>
              </a:rPr>
              <a:t> starts with </a:t>
            </a:r>
            <a:r>
              <a:rPr lang="en-US" sz="1600" dirty="0">
                <a:solidFill>
                  <a:srgbClr val="1E2761"/>
                </a:solidFill>
                <a:latin typeface="Consolas" pitchFamily="34" charset="0"/>
                <a:ea typeface="Consolas" pitchFamily="34" charset="-122"/>
                <a:cs typeface="Consolas" pitchFamily="34" charset="-120"/>
              </a:rPr>
              <a:t>/</a:t>
            </a:r>
            <a:r>
              <a:rPr lang="en-US" sz="1600" dirty="0">
                <a:solidFill>
                  <a:srgbClr val="1F2937"/>
                </a:solidFill>
                <a:latin typeface="Calibri" pitchFamily="34" charset="0"/>
                <a:ea typeface="Calibri" pitchFamily="34" charset="-122"/>
                <a:cs typeface="Calibri" pitchFamily="34" charset="-120"/>
              </a:rPr>
              <a:t>. Full address from the root. Always works.</a:t>
            </a:r>
            <a:endParaRPr lang="en-US" sz="1600" dirty="0"/>
          </a:p>
          <a:p>
            <a:pPr marL="457200" lvl="1" indent="-228600">
              <a:spcAft>
                <a:spcPts val="600"/>
              </a:spcAft>
              <a:buSzPct val="100000"/>
              <a:buChar char="■"/>
            </a:pPr>
            <a:r>
              <a:rPr lang="en-US" sz="1600" dirty="0">
                <a:solidFill>
                  <a:srgbClr val="1F2937"/>
                </a:solidFill>
                <a:latin typeface="Calibri" pitchFamily="34" charset="0"/>
                <a:ea typeface="Calibri" pitchFamily="34" charset="-122"/>
                <a:cs typeface="Calibri" pitchFamily="34" charset="-120"/>
              </a:rPr>
              <a:t>Example: </a:t>
            </a:r>
            <a:r>
              <a:rPr lang="en-US" sz="1600" dirty="0">
                <a:solidFill>
                  <a:srgbClr val="1E2761"/>
                </a:solidFill>
                <a:latin typeface="Consolas" pitchFamily="34" charset="0"/>
                <a:ea typeface="Consolas" pitchFamily="34" charset="-122"/>
                <a:cs typeface="Consolas" pitchFamily="34" charset="-120"/>
              </a:rPr>
              <a:t>/home/exouser/Documents</a:t>
            </a:r>
            <a:endParaRPr lang="en-US" sz="1600" dirty="0"/>
          </a:p>
          <a:p>
            <a:pPr marL="228600" indent="-228600">
              <a:spcAft>
                <a:spcPts val="600"/>
              </a:spcAft>
              <a:buSzPct val="100000"/>
              <a:buChar char="■"/>
            </a:pPr>
            <a:r>
              <a:rPr lang="en-US" sz="1600" b="1" dirty="0">
                <a:solidFill>
                  <a:srgbClr val="1F2937"/>
                </a:solidFill>
                <a:latin typeface="Calibri" pitchFamily="34" charset="0"/>
                <a:ea typeface="Calibri" pitchFamily="34" charset="-122"/>
                <a:cs typeface="Calibri" pitchFamily="34" charset="-120"/>
              </a:rPr>
              <a:t>Relative path</a:t>
            </a:r>
            <a:r>
              <a:rPr lang="en-US" sz="1600" dirty="0">
                <a:solidFill>
                  <a:srgbClr val="1F2937"/>
                </a:solidFill>
                <a:latin typeface="Calibri" pitchFamily="34" charset="0"/>
                <a:ea typeface="Calibri" pitchFamily="34" charset="-122"/>
                <a:cs typeface="Calibri" pitchFamily="34" charset="-120"/>
              </a:rPr>
              <a:t> does NOT start with </a:t>
            </a:r>
            <a:r>
              <a:rPr lang="en-US" sz="1600" dirty="0">
                <a:solidFill>
                  <a:srgbClr val="1E2761"/>
                </a:solidFill>
                <a:latin typeface="Consolas" pitchFamily="34" charset="0"/>
                <a:ea typeface="Consolas" pitchFamily="34" charset="-122"/>
                <a:cs typeface="Consolas" pitchFamily="34" charset="-120"/>
              </a:rPr>
              <a:t>/</a:t>
            </a:r>
            <a:r>
              <a:rPr lang="en-US" sz="1600" dirty="0">
                <a:solidFill>
                  <a:srgbClr val="1F2937"/>
                </a:solidFill>
                <a:latin typeface="Calibri" pitchFamily="34" charset="0"/>
                <a:ea typeface="Calibri" pitchFamily="34" charset="-122"/>
                <a:cs typeface="Calibri" pitchFamily="34" charset="-120"/>
              </a:rPr>
              <a:t>. Relative to where you currently are.</a:t>
            </a:r>
            <a:endParaRPr lang="en-US" sz="1600" dirty="0"/>
          </a:p>
          <a:p>
            <a:pPr marL="457200" lvl="1" indent="-228600">
              <a:spcAft>
                <a:spcPts val="600"/>
              </a:spcAft>
              <a:buSzPct val="100000"/>
              <a:buChar char="■"/>
            </a:pPr>
            <a:r>
              <a:rPr lang="en-US" sz="1600" dirty="0">
                <a:solidFill>
                  <a:srgbClr val="1F2937"/>
                </a:solidFill>
                <a:latin typeface="Calibri" pitchFamily="34" charset="0"/>
                <a:ea typeface="Calibri" pitchFamily="34" charset="-122"/>
                <a:cs typeface="Calibri" pitchFamily="34" charset="-120"/>
              </a:rPr>
              <a:t>Example: from </a:t>
            </a:r>
            <a:r>
              <a:rPr lang="en-US" sz="1600" dirty="0">
                <a:solidFill>
                  <a:srgbClr val="1E2761"/>
                </a:solidFill>
                <a:latin typeface="Consolas" pitchFamily="34" charset="0"/>
                <a:ea typeface="Consolas" pitchFamily="34" charset="-122"/>
                <a:cs typeface="Consolas" pitchFamily="34" charset="-120"/>
              </a:rPr>
              <a:t>/home/exouser</a:t>
            </a:r>
            <a:r>
              <a:rPr lang="en-US" sz="1600" dirty="0">
                <a:solidFill>
                  <a:srgbClr val="1F2937"/>
                </a:solidFill>
                <a:latin typeface="Calibri" pitchFamily="34" charset="0"/>
                <a:ea typeface="Calibri" pitchFamily="34" charset="-122"/>
                <a:cs typeface="Calibri" pitchFamily="34" charset="-120"/>
              </a:rPr>
              <a:t>, </a:t>
            </a:r>
            <a:r>
              <a:rPr lang="en-US" sz="1600" dirty="0">
                <a:solidFill>
                  <a:srgbClr val="1E2761"/>
                </a:solidFill>
                <a:latin typeface="Consolas" pitchFamily="34" charset="0"/>
                <a:ea typeface="Consolas" pitchFamily="34" charset="-122"/>
                <a:cs typeface="Consolas" pitchFamily="34" charset="-120"/>
              </a:rPr>
              <a:t>Documents</a:t>
            </a:r>
            <a:r>
              <a:rPr lang="en-US" sz="1600" dirty="0">
                <a:solidFill>
                  <a:srgbClr val="1F2937"/>
                </a:solidFill>
                <a:latin typeface="Calibri" pitchFamily="34" charset="0"/>
                <a:ea typeface="Calibri" pitchFamily="34" charset="-122"/>
                <a:cs typeface="Calibri" pitchFamily="34" charset="-120"/>
              </a:rPr>
              <a:t> means </a:t>
            </a:r>
            <a:r>
              <a:rPr lang="en-US" sz="1600" dirty="0">
                <a:solidFill>
                  <a:srgbClr val="1E2761"/>
                </a:solidFill>
                <a:latin typeface="Consolas" pitchFamily="34" charset="0"/>
                <a:ea typeface="Consolas" pitchFamily="34" charset="-122"/>
                <a:cs typeface="Consolas" pitchFamily="34" charset="-120"/>
              </a:rPr>
              <a:t>/home/exouser/Documents</a:t>
            </a:r>
            <a:endParaRPr lang="en-US" sz="1600" dirty="0"/>
          </a:p>
        </p:txBody>
      </p:sp>
      <p:sp>
        <p:nvSpPr>
          <p:cNvPr id="7" name="Text 5"/>
          <p:cNvSpPr/>
          <p:nvPr/>
        </p:nvSpPr>
        <p:spPr>
          <a:xfrm>
            <a:off x="548640" y="3823208"/>
            <a:ext cx="8046720" cy="767080"/>
          </a:xfrm>
          <a:prstGeom prst="rect">
            <a:avLst/>
          </a:prstGeom>
          <a:solidFill>
            <a:srgbClr val="FFFFFF"/>
          </a:solidFill>
          <a:ln/>
        </p:spPr>
        <p:txBody>
          <a:bodyPr wrap="square" lIns="0" tIns="0" rIns="0" bIns="0" rtlCol="0" anchor="t"/>
          <a:lstStyle/>
          <a:p>
            <a:pPr marL="228600" indent="-228600">
              <a:spcAft>
                <a:spcPts val="600"/>
              </a:spcAft>
              <a:buSzPct val="100000"/>
              <a:buChar char="■"/>
            </a:pPr>
            <a:r>
              <a:rPr lang="en-US" sz="1600" dirty="0">
                <a:solidFill>
                  <a:srgbClr val="1E2761"/>
                </a:solidFill>
                <a:latin typeface="Consolas" pitchFamily="34" charset="0"/>
                <a:ea typeface="Consolas" pitchFamily="34" charset="-122"/>
                <a:cs typeface="Consolas" pitchFamily="34" charset="-120"/>
              </a:rPr>
              <a:t>.</a:t>
            </a:r>
            <a:r>
              <a:rPr lang="en-US" sz="1600" dirty="0">
                <a:solidFill>
                  <a:srgbClr val="1F2937"/>
                </a:solidFill>
                <a:latin typeface="Calibri" pitchFamily="34" charset="0"/>
                <a:ea typeface="Calibri" pitchFamily="34" charset="-122"/>
                <a:cs typeface="Calibri" pitchFamily="34" charset="-120"/>
              </a:rPr>
              <a:t> — "here" (the current directory)</a:t>
            </a:r>
            <a:endParaRPr lang="en-US" sz="1600" dirty="0"/>
          </a:p>
          <a:p>
            <a:pPr marL="228600" indent="-228600">
              <a:spcAft>
                <a:spcPts val="600"/>
              </a:spcAft>
              <a:buSzPct val="100000"/>
              <a:buChar char="■"/>
            </a:pPr>
            <a:r>
              <a:rPr lang="en-US" sz="1600" dirty="0">
                <a:solidFill>
                  <a:srgbClr val="1E2761"/>
                </a:solidFill>
                <a:latin typeface="Consolas" pitchFamily="34" charset="0"/>
                <a:ea typeface="Consolas" pitchFamily="34" charset="-122"/>
                <a:cs typeface="Consolas" pitchFamily="34" charset="-120"/>
              </a:rPr>
              <a:t>..</a:t>
            </a:r>
            <a:r>
              <a:rPr lang="en-US" sz="1600" dirty="0">
                <a:solidFill>
                  <a:srgbClr val="1F2937"/>
                </a:solidFill>
                <a:latin typeface="Calibri" pitchFamily="34" charset="0"/>
                <a:ea typeface="Calibri" pitchFamily="34" charset="-122"/>
                <a:cs typeface="Calibri" pitchFamily="34" charset="-120"/>
              </a:rPr>
              <a:t> — "one level up" (the parent directory)</a:t>
            </a:r>
            <a:endParaRPr lang="en-US" sz="16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a:effectLst/>
      </p:bgPr>
    </p:bg>
    <p:spTree>
      <p:nvGrpSpPr>
        <p:cNvPr id="1" name=""/>
        <p:cNvGrpSpPr/>
        <p:nvPr/>
      </p:nvGrpSpPr>
      <p:grpSpPr>
        <a:xfrm>
          <a:off x="0" y="0"/>
          <a:ext cx="0" cy="0"/>
          <a:chOff x="0" y="0"/>
          <a:chExt cx="0" cy="0"/>
        </a:xfrm>
      </p:grpSpPr>
      <p:pic>
        <p:nvPicPr>
          <p:cNvPr id="9" name="Picture 8" descr="access-footer.jpg"/>
          <p:cNvPicPr>
            <a:picLocks noChangeAspect="1"/>
          </p:cNvPicPr>
          <p:nvPr/>
        </p:nvPicPr>
        <p:blipFill>
          <a:blip r:embed="rId3"/>
          <a:stretch>
            <a:fillRect/>
          </a:stretch>
        </p:blipFill>
        <p:spPr>
          <a:xfrm>
            <a:off x="0" y="0"/>
            <a:ext cx="9144000" cy="5143500"/>
          </a:xfrm>
          <a:prstGeom prst="rect">
            <a:avLst/>
          </a:prstGeom>
        </p:spPr>
      </p:pic>
      <p:sp>
        <p:nvSpPr>
          <p:cNvPr id="2" name="Text 0"/>
          <p:cNvSpPr/>
          <p:nvPr/>
        </p:nvSpPr>
        <p:spPr>
          <a:xfrm>
            <a:off x="457200" y="274320"/>
            <a:ext cx="8229600" cy="594360"/>
          </a:xfrm>
          <a:prstGeom prst="rect">
            <a:avLst/>
          </a:prstGeom>
          <a:solidFill>
            <a:srgbClr val="FFFFFF"/>
          </a:solidFill>
          <a:ln/>
        </p:spPr>
        <p:txBody>
          <a:bodyPr wrap="square" lIns="0" tIns="0" rIns="0" bIns="0" rtlCol="0" anchor="ctr"/>
          <a:lstStyle/>
          <a:p>
            <a:pPr marL="0" indent="0">
              <a:buNone/>
            </a:pPr>
            <a:r>
              <a:rPr lang="en-US" sz="2800" b="1" dirty="0">
                <a:solidFill>
                  <a:srgbClr val="1E2761"/>
                </a:solidFill>
                <a:latin typeface="Cambria" pitchFamily="34" charset="0"/>
                <a:ea typeface="Cambria" pitchFamily="34" charset="-122"/>
                <a:cs typeface="Cambria" pitchFamily="34" charset="-120"/>
              </a:rPr>
              <a:t>Try moving around — both kinds of paths</a:t>
            </a:r>
            <a:endParaRPr lang="en-US" sz="2800" dirty="0"/>
          </a:p>
        </p:txBody>
      </p:sp>
      <p:sp>
        <p:nvSpPr>
          <p:cNvPr id="3" name="Shape 1"/>
          <p:cNvSpPr/>
          <p:nvPr/>
        </p:nvSpPr>
        <p:spPr>
          <a:xfrm>
            <a:off x="457200" y="868680"/>
            <a:ext cx="548640" cy="36576"/>
          </a:xfrm>
          <a:prstGeom prst="rect">
            <a:avLst/>
          </a:prstGeom>
          <a:solidFill>
            <a:srgbClr val="1E2761"/>
          </a:solidFill>
          <a:ln w="12700">
            <a:solidFill>
              <a:srgbClr val="1E2761"/>
            </a:solidFill>
            <a:prstDash val="solid"/>
          </a:ln>
        </p:spPr>
        <p:txBody>
          <a:bodyPr/>
          <a:lstStyle/>
          <a:p>
            <a:endParaRPr lang="en-US"/>
          </a:p>
        </p:txBody>
      </p:sp>
      <p:sp>
        <p:nvSpPr>
          <p:cNvPr id="4" name="Shape 2"/>
          <p:cNvSpPr/>
          <p:nvPr/>
        </p:nvSpPr>
        <p:spPr>
          <a:xfrm>
            <a:off x="457200" y="1005840"/>
            <a:ext cx="1005840" cy="292608"/>
          </a:xfrm>
          <a:prstGeom prst="rect">
            <a:avLst/>
          </a:prstGeom>
          <a:solidFill>
            <a:srgbClr val="047857"/>
          </a:solidFill>
          <a:ln w="12700">
            <a:solidFill>
              <a:srgbClr val="047857"/>
            </a:solidFill>
            <a:prstDash val="solid"/>
          </a:ln>
        </p:spPr>
        <p:txBody>
          <a:bodyPr/>
          <a:lstStyle/>
          <a:p>
            <a:endParaRPr lang="en-US"/>
          </a:p>
        </p:txBody>
      </p:sp>
      <p:sp>
        <p:nvSpPr>
          <p:cNvPr id="5" name="Text 3"/>
          <p:cNvSpPr/>
          <p:nvPr/>
        </p:nvSpPr>
        <p:spPr>
          <a:xfrm>
            <a:off x="457200" y="1005840"/>
            <a:ext cx="1005840" cy="292608"/>
          </a:xfrm>
          <a:prstGeom prst="rect">
            <a:avLst/>
          </a:prstGeom>
          <a:noFill/>
          <a:ln/>
        </p:spPr>
        <p:txBody>
          <a:bodyPr wrap="square" lIns="0" tIns="0" rIns="0" bIns="0" rtlCol="0" anchor="ctr"/>
          <a:lstStyle/>
          <a:p>
            <a:pPr marL="0" indent="0" algn="ctr">
              <a:buNone/>
            </a:pPr>
            <a:r>
              <a:rPr lang="en-US" sz="1100" b="1" kern="0" spc="200" dirty="0">
                <a:solidFill>
                  <a:srgbClr val="FFFFFF"/>
                </a:solidFill>
                <a:latin typeface="Calibri" pitchFamily="34" charset="0"/>
                <a:ea typeface="Calibri" pitchFamily="34" charset="-122"/>
                <a:cs typeface="Calibri" pitchFamily="34" charset="-120"/>
              </a:rPr>
              <a:t>EXERCISE</a:t>
            </a:r>
            <a:endParaRPr lang="en-US" sz="1100" dirty="0"/>
          </a:p>
        </p:txBody>
      </p:sp>
      <p:sp>
        <p:nvSpPr>
          <p:cNvPr id="6" name="Shape 4"/>
          <p:cNvSpPr/>
          <p:nvPr/>
        </p:nvSpPr>
        <p:spPr>
          <a:xfrm>
            <a:off x="548640" y="1435608"/>
            <a:ext cx="8046720" cy="2411730"/>
          </a:xfrm>
          <a:prstGeom prst="rect">
            <a:avLst/>
          </a:prstGeom>
          <a:solidFill>
            <a:srgbClr val="0F172A"/>
          </a:solidFill>
          <a:ln w="12700">
            <a:solidFill>
              <a:srgbClr val="0F172A"/>
            </a:solidFill>
            <a:prstDash val="solid"/>
          </a:ln>
        </p:spPr>
        <p:txBody>
          <a:bodyPr/>
          <a:lstStyle/>
          <a:p>
            <a:endParaRPr lang="en-US"/>
          </a:p>
        </p:txBody>
      </p:sp>
      <p:sp>
        <p:nvSpPr>
          <p:cNvPr id="7" name="Text 5"/>
          <p:cNvSpPr/>
          <p:nvPr/>
        </p:nvSpPr>
        <p:spPr>
          <a:xfrm>
            <a:off x="685800" y="1508760"/>
            <a:ext cx="7772400" cy="2265426"/>
          </a:xfrm>
          <a:prstGeom prst="rect">
            <a:avLst/>
          </a:prstGeom>
          <a:noFill/>
          <a:ln/>
        </p:spPr>
        <p:txBody>
          <a:bodyPr wrap="square" lIns="0" tIns="0" rIns="0" bIns="0" rtlCol="0" anchor="t"/>
          <a:lstStyle/>
          <a:p>
            <a:pPr marL="0" indent="0">
              <a:buNone/>
            </a:pPr>
            <a:r>
              <a:rPr lang="en-US" sz="1500" dirty="0">
                <a:solidFill>
                  <a:srgbClr val="E2E8F0"/>
                </a:solidFill>
                <a:latin typeface="Consolas" pitchFamily="34" charset="0"/>
                <a:ea typeface="Consolas" pitchFamily="34" charset="-122"/>
                <a:cs typeface="Consolas" pitchFamily="34" charset="-120"/>
              </a:rPr>
              <a:t>$ cd ~</a:t>
            </a:r>
            <a:endParaRPr lang="en-US" sz="1500" dirty="0"/>
          </a:p>
          <a:p>
            <a:pPr marL="0" indent="0">
              <a:buNone/>
            </a:pPr>
            <a:r>
              <a:rPr lang="en-US" sz="1500" dirty="0">
                <a:solidFill>
                  <a:srgbClr val="E2E8F0"/>
                </a:solidFill>
                <a:latin typeface="Consolas" pitchFamily="34" charset="0"/>
                <a:ea typeface="Consolas" pitchFamily="34" charset="-122"/>
                <a:cs typeface="Consolas" pitchFamily="34" charset="-120"/>
              </a:rPr>
              <a:t>$ mkdir practice</a:t>
            </a:r>
            <a:endParaRPr lang="en-US" sz="1500" dirty="0"/>
          </a:p>
          <a:p>
            <a:pPr marL="0" indent="0">
              <a:buNone/>
            </a:pPr>
            <a:r>
              <a:rPr lang="en-US" sz="1500" dirty="0">
                <a:solidFill>
                  <a:srgbClr val="E2E8F0"/>
                </a:solidFill>
                <a:latin typeface="Consolas" pitchFamily="34" charset="0"/>
                <a:ea typeface="Consolas" pitchFamily="34" charset="-122"/>
                <a:cs typeface="Consolas" pitchFamily="34" charset="-120"/>
              </a:rPr>
              <a:t>$ cd practice</a:t>
            </a:r>
            <a:endParaRPr lang="en-US" sz="1500" dirty="0"/>
          </a:p>
          <a:p>
            <a:pPr marL="0" indent="0">
              <a:buNone/>
            </a:pPr>
            <a:r>
              <a:rPr lang="en-US" sz="1500" dirty="0">
                <a:solidFill>
                  <a:srgbClr val="E2E8F0"/>
                </a:solidFill>
                <a:latin typeface="Consolas" pitchFamily="34" charset="0"/>
                <a:ea typeface="Consolas" pitchFamily="34" charset="-122"/>
                <a:cs typeface="Consolas" pitchFamily="34" charset="-120"/>
              </a:rPr>
              <a:t>$ pwd</a:t>
            </a:r>
            <a:endParaRPr lang="en-US" sz="1500" dirty="0"/>
          </a:p>
          <a:p>
            <a:pPr marL="0" indent="0">
              <a:buNone/>
            </a:pPr>
            <a:r>
              <a:rPr lang="en-US" sz="1500" dirty="0">
                <a:solidFill>
                  <a:srgbClr val="E2E8F0"/>
                </a:solidFill>
                <a:latin typeface="Consolas" pitchFamily="34" charset="0"/>
                <a:ea typeface="Consolas" pitchFamily="34" charset="-122"/>
                <a:cs typeface="Consolas" pitchFamily="34" charset="-120"/>
              </a:rPr>
              <a:t>$ cd ..</a:t>
            </a:r>
            <a:endParaRPr lang="en-US" sz="1500" dirty="0"/>
          </a:p>
          <a:p>
            <a:pPr marL="0" indent="0">
              <a:buNone/>
            </a:pPr>
            <a:r>
              <a:rPr lang="en-US" sz="1500" dirty="0">
                <a:solidFill>
                  <a:srgbClr val="E2E8F0"/>
                </a:solidFill>
                <a:latin typeface="Consolas" pitchFamily="34" charset="0"/>
                <a:ea typeface="Consolas" pitchFamily="34" charset="-122"/>
                <a:cs typeface="Consolas" pitchFamily="34" charset="-120"/>
              </a:rPr>
              <a:t>$ pwd</a:t>
            </a:r>
            <a:endParaRPr lang="en-US" sz="1500" dirty="0"/>
          </a:p>
          <a:p>
            <a:pPr marL="0" indent="0">
              <a:buNone/>
            </a:pPr>
            <a:r>
              <a:rPr lang="en-US" sz="1500" dirty="0">
                <a:solidFill>
                  <a:srgbClr val="E2E8F0"/>
                </a:solidFill>
                <a:latin typeface="Consolas" pitchFamily="34" charset="0"/>
                <a:ea typeface="Consolas" pitchFamily="34" charset="-122"/>
                <a:cs typeface="Consolas" pitchFamily="34" charset="-120"/>
              </a:rPr>
              <a:t>$ cd practice</a:t>
            </a:r>
            <a:endParaRPr lang="en-US" sz="1500" dirty="0"/>
          </a:p>
          <a:p>
            <a:pPr marL="0" indent="0">
              <a:buNone/>
            </a:pPr>
            <a:r>
              <a:rPr lang="en-US" sz="1500" dirty="0">
                <a:solidFill>
                  <a:srgbClr val="E2E8F0"/>
                </a:solidFill>
                <a:latin typeface="Consolas" pitchFamily="34" charset="0"/>
                <a:ea typeface="Consolas" pitchFamily="34" charset="-122"/>
                <a:cs typeface="Consolas" pitchFamily="34" charset="-120"/>
              </a:rPr>
              <a:t>$ cd ../..</a:t>
            </a:r>
            <a:endParaRPr lang="en-US" sz="1500" dirty="0"/>
          </a:p>
          <a:p>
            <a:pPr marL="0" indent="0">
              <a:buNone/>
            </a:pPr>
            <a:r>
              <a:rPr lang="en-US" sz="1500" dirty="0">
                <a:solidFill>
                  <a:srgbClr val="E2E8F0"/>
                </a:solidFill>
                <a:latin typeface="Consolas" pitchFamily="34" charset="0"/>
                <a:ea typeface="Consolas" pitchFamily="34" charset="-122"/>
                <a:cs typeface="Consolas" pitchFamily="34" charset="-120"/>
              </a:rPr>
              <a:t>$ pwd</a:t>
            </a:r>
            <a:endParaRPr lang="en-US" sz="1500" dirty="0"/>
          </a:p>
        </p:txBody>
      </p:sp>
      <p:sp>
        <p:nvSpPr>
          <p:cNvPr id="8" name="Text 6"/>
          <p:cNvSpPr/>
          <p:nvPr/>
        </p:nvSpPr>
        <p:spPr>
          <a:xfrm>
            <a:off x="548640" y="3893058"/>
            <a:ext cx="8046720" cy="276860"/>
          </a:xfrm>
          <a:prstGeom prst="rect">
            <a:avLst/>
          </a:prstGeom>
          <a:solidFill>
            <a:srgbClr val="FFFFFF"/>
          </a:solidFill>
          <a:ln/>
        </p:spPr>
        <p:txBody>
          <a:bodyPr wrap="square" rtlCol="0" anchor="t"/>
          <a:lstStyle/>
          <a:p>
            <a:pPr marL="0" indent="0">
              <a:buNone/>
            </a:pPr>
            <a:r>
              <a:rPr lang="en-US" sz="1300" i="1" dirty="0">
                <a:solidFill>
                  <a:srgbClr val="475569"/>
                </a:solidFill>
                <a:latin typeface="Calibri" pitchFamily="34" charset="0"/>
                <a:ea typeface="Calibri" pitchFamily="34" charset="-122"/>
                <a:cs typeface="Calibri" pitchFamily="34" charset="-120"/>
              </a:rPr>
              <a:t>Talk through what happened at each step. Did each </a:t>
            </a:r>
            <a:r>
              <a:rPr lang="en-US" sz="1300" i="1" dirty="0">
                <a:solidFill>
                  <a:srgbClr val="1E2761"/>
                </a:solidFill>
                <a:latin typeface="Consolas" pitchFamily="34" charset="0"/>
                <a:ea typeface="Consolas" pitchFamily="34" charset="-122"/>
                <a:cs typeface="Consolas" pitchFamily="34" charset="-120"/>
              </a:rPr>
              <a:t>pwd</a:t>
            </a:r>
            <a:r>
              <a:rPr lang="en-US" sz="1300" i="1" dirty="0">
                <a:solidFill>
                  <a:srgbClr val="475569"/>
                </a:solidFill>
                <a:latin typeface="Calibri" pitchFamily="34" charset="0"/>
                <a:ea typeface="Calibri" pitchFamily="34" charset="-122"/>
                <a:cs typeface="Calibri" pitchFamily="34" charset="-120"/>
              </a:rPr>
              <a:t> match what you expected?</a:t>
            </a:r>
            <a:endParaRPr lang="en-US" sz="13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a:effectLst/>
      </p:bgPr>
    </p:bg>
    <p:spTree>
      <p:nvGrpSpPr>
        <p:cNvPr id="1" name=""/>
        <p:cNvGrpSpPr/>
        <p:nvPr/>
      </p:nvGrpSpPr>
      <p:grpSpPr>
        <a:xfrm>
          <a:off x="0" y="0"/>
          <a:ext cx="0" cy="0"/>
          <a:chOff x="0" y="0"/>
          <a:chExt cx="0" cy="0"/>
        </a:xfrm>
      </p:grpSpPr>
      <p:pic>
        <p:nvPicPr>
          <p:cNvPr id="9" name="Picture 8" descr="access-footer.jpg"/>
          <p:cNvPicPr>
            <a:picLocks noChangeAspect="1"/>
          </p:cNvPicPr>
          <p:nvPr/>
        </p:nvPicPr>
        <p:blipFill>
          <a:blip r:embed="rId3"/>
          <a:stretch>
            <a:fillRect/>
          </a:stretch>
        </p:blipFill>
        <p:spPr>
          <a:xfrm>
            <a:off x="0" y="0"/>
            <a:ext cx="9144000" cy="5143500"/>
          </a:xfrm>
          <a:prstGeom prst="rect">
            <a:avLst/>
          </a:prstGeom>
        </p:spPr>
      </p:pic>
      <p:sp>
        <p:nvSpPr>
          <p:cNvPr id="2" name="Text 0"/>
          <p:cNvSpPr/>
          <p:nvPr/>
        </p:nvSpPr>
        <p:spPr>
          <a:xfrm>
            <a:off x="457200" y="274320"/>
            <a:ext cx="8229600" cy="594360"/>
          </a:xfrm>
          <a:prstGeom prst="rect">
            <a:avLst/>
          </a:prstGeom>
          <a:solidFill>
            <a:srgbClr val="FFFFFF"/>
          </a:solidFill>
          <a:ln/>
        </p:spPr>
        <p:txBody>
          <a:bodyPr wrap="square" lIns="0" tIns="0" rIns="0" bIns="0" rtlCol="0" anchor="ctr"/>
          <a:lstStyle/>
          <a:p>
            <a:pPr marL="0" indent="0">
              <a:buNone/>
            </a:pPr>
            <a:r>
              <a:rPr lang="en-US" sz="2800" b="1" dirty="0">
                <a:solidFill>
                  <a:srgbClr val="1E2761"/>
                </a:solidFill>
                <a:latin typeface="Cambria" pitchFamily="34" charset="0"/>
                <a:ea typeface="Cambria" pitchFamily="34" charset="-122"/>
                <a:cs typeface="Cambria" pitchFamily="34" charset="-120"/>
              </a:rPr>
              <a:t>Where do programs live?</a:t>
            </a:r>
            <a:endParaRPr lang="en-US" sz="2800" dirty="0"/>
          </a:p>
        </p:txBody>
      </p:sp>
      <p:sp>
        <p:nvSpPr>
          <p:cNvPr id="3" name="Shape 1"/>
          <p:cNvSpPr/>
          <p:nvPr/>
        </p:nvSpPr>
        <p:spPr>
          <a:xfrm>
            <a:off x="457200" y="868680"/>
            <a:ext cx="548640" cy="36576"/>
          </a:xfrm>
          <a:prstGeom prst="rect">
            <a:avLst/>
          </a:prstGeom>
          <a:solidFill>
            <a:srgbClr val="1E2761"/>
          </a:solidFill>
          <a:ln w="12700">
            <a:solidFill>
              <a:srgbClr val="1E2761"/>
            </a:solidFill>
            <a:prstDash val="solid"/>
          </a:ln>
        </p:spPr>
        <p:txBody>
          <a:bodyPr/>
          <a:lstStyle/>
          <a:p>
            <a:endParaRPr lang="en-US"/>
          </a:p>
        </p:txBody>
      </p:sp>
      <p:sp>
        <p:nvSpPr>
          <p:cNvPr id="4" name="Shape 2"/>
          <p:cNvSpPr/>
          <p:nvPr/>
        </p:nvSpPr>
        <p:spPr>
          <a:xfrm>
            <a:off x="457200" y="1005840"/>
            <a:ext cx="1005840" cy="292608"/>
          </a:xfrm>
          <a:prstGeom prst="rect">
            <a:avLst/>
          </a:prstGeom>
          <a:solidFill>
            <a:srgbClr val="0369A1"/>
          </a:solidFill>
          <a:ln w="12700">
            <a:solidFill>
              <a:srgbClr val="0369A1"/>
            </a:solidFill>
            <a:prstDash val="solid"/>
          </a:ln>
        </p:spPr>
        <p:txBody>
          <a:bodyPr/>
          <a:lstStyle/>
          <a:p>
            <a:endParaRPr lang="en-US"/>
          </a:p>
        </p:txBody>
      </p:sp>
      <p:sp>
        <p:nvSpPr>
          <p:cNvPr id="5" name="Text 3"/>
          <p:cNvSpPr/>
          <p:nvPr/>
        </p:nvSpPr>
        <p:spPr>
          <a:xfrm>
            <a:off x="457200" y="1005840"/>
            <a:ext cx="1005840" cy="292608"/>
          </a:xfrm>
          <a:prstGeom prst="rect">
            <a:avLst/>
          </a:prstGeom>
          <a:noFill/>
          <a:ln/>
        </p:spPr>
        <p:txBody>
          <a:bodyPr wrap="square" lIns="0" tIns="0" rIns="0" bIns="0" rtlCol="0" anchor="ctr"/>
          <a:lstStyle/>
          <a:p>
            <a:pPr marL="0" indent="0" algn="ctr">
              <a:buNone/>
            </a:pPr>
            <a:r>
              <a:rPr lang="en-US" sz="1100" b="1" kern="0" spc="200" dirty="0">
                <a:solidFill>
                  <a:srgbClr val="FFFFFF"/>
                </a:solidFill>
                <a:latin typeface="Calibri" pitchFamily="34" charset="0"/>
                <a:ea typeface="Calibri" pitchFamily="34" charset="-122"/>
                <a:cs typeface="Calibri" pitchFamily="34" charset="-120"/>
              </a:rPr>
              <a:t>DEMO</a:t>
            </a:r>
            <a:endParaRPr lang="en-US" sz="1100" dirty="0"/>
          </a:p>
        </p:txBody>
      </p:sp>
      <p:sp>
        <p:nvSpPr>
          <p:cNvPr id="6" name="Shape 4"/>
          <p:cNvSpPr/>
          <p:nvPr/>
        </p:nvSpPr>
        <p:spPr>
          <a:xfrm>
            <a:off x="548640" y="1435608"/>
            <a:ext cx="8046720" cy="1173480"/>
          </a:xfrm>
          <a:prstGeom prst="rect">
            <a:avLst/>
          </a:prstGeom>
          <a:solidFill>
            <a:srgbClr val="0F172A"/>
          </a:solidFill>
          <a:ln w="12700">
            <a:solidFill>
              <a:srgbClr val="0F172A"/>
            </a:solidFill>
            <a:prstDash val="solid"/>
          </a:ln>
        </p:spPr>
        <p:txBody>
          <a:bodyPr/>
          <a:lstStyle/>
          <a:p>
            <a:endParaRPr lang="en-US"/>
          </a:p>
        </p:txBody>
      </p:sp>
      <p:sp>
        <p:nvSpPr>
          <p:cNvPr id="7" name="Text 5"/>
          <p:cNvSpPr/>
          <p:nvPr/>
        </p:nvSpPr>
        <p:spPr>
          <a:xfrm>
            <a:off x="685800" y="1508760"/>
            <a:ext cx="7772400" cy="1027176"/>
          </a:xfrm>
          <a:prstGeom prst="rect">
            <a:avLst/>
          </a:prstGeom>
          <a:noFill/>
          <a:ln/>
        </p:spPr>
        <p:txBody>
          <a:bodyPr wrap="square" lIns="0" tIns="0" rIns="0" bIns="0" rtlCol="0" anchor="t"/>
          <a:lstStyle/>
          <a:p>
            <a:pPr marL="0" indent="0">
              <a:buNone/>
            </a:pPr>
            <a:r>
              <a:rPr lang="en-US" sz="1500" dirty="0">
                <a:solidFill>
                  <a:srgbClr val="E2E8F0"/>
                </a:solidFill>
                <a:latin typeface="Consolas" pitchFamily="34" charset="0"/>
                <a:ea typeface="Consolas" pitchFamily="34" charset="-122"/>
                <a:cs typeface="Consolas" pitchFamily="34" charset="-120"/>
              </a:rPr>
              <a:t>$ which ls</a:t>
            </a:r>
            <a:endParaRPr lang="en-US" sz="1500" dirty="0"/>
          </a:p>
          <a:p>
            <a:pPr marL="0" indent="0">
              <a:buNone/>
            </a:pPr>
            <a:r>
              <a:rPr lang="en-US" sz="1500" dirty="0">
                <a:solidFill>
                  <a:srgbClr val="E2E8F0"/>
                </a:solidFill>
                <a:latin typeface="Consolas" pitchFamily="34" charset="0"/>
                <a:ea typeface="Consolas" pitchFamily="34" charset="-122"/>
                <a:cs typeface="Consolas" pitchFamily="34" charset="-120"/>
              </a:rPr>
              <a:t>/usr/bin/ls</a:t>
            </a:r>
            <a:endParaRPr lang="en-US" sz="1500" dirty="0"/>
          </a:p>
          <a:p>
            <a:pPr marL="0" indent="0">
              <a:buNone/>
            </a:pPr>
            <a:r>
              <a:rPr lang="en-US" sz="1500" dirty="0">
                <a:solidFill>
                  <a:srgbClr val="E2E8F0"/>
                </a:solidFill>
                <a:latin typeface="Consolas" pitchFamily="34" charset="0"/>
                <a:ea typeface="Consolas" pitchFamily="34" charset="-122"/>
                <a:cs typeface="Consolas" pitchFamily="34" charset="-120"/>
              </a:rPr>
              <a:t>$ which python3</a:t>
            </a:r>
            <a:endParaRPr lang="en-US" sz="1500" dirty="0"/>
          </a:p>
          <a:p>
            <a:pPr marL="0" indent="0">
              <a:buNone/>
            </a:pPr>
            <a:r>
              <a:rPr lang="en-US" sz="1500" dirty="0">
                <a:solidFill>
                  <a:srgbClr val="E2E8F0"/>
                </a:solidFill>
                <a:latin typeface="Consolas" pitchFamily="34" charset="0"/>
                <a:ea typeface="Consolas" pitchFamily="34" charset="-122"/>
                <a:cs typeface="Consolas" pitchFamily="34" charset="-120"/>
              </a:rPr>
              <a:t>$ which bash</a:t>
            </a:r>
            <a:endParaRPr lang="en-US" sz="1500" dirty="0"/>
          </a:p>
        </p:txBody>
      </p:sp>
      <p:sp>
        <p:nvSpPr>
          <p:cNvPr id="8" name="Text 6"/>
          <p:cNvSpPr/>
          <p:nvPr/>
        </p:nvSpPr>
        <p:spPr>
          <a:xfrm>
            <a:off x="548640" y="2654808"/>
            <a:ext cx="8046720" cy="1412240"/>
          </a:xfrm>
          <a:prstGeom prst="rect">
            <a:avLst/>
          </a:prstGeom>
          <a:solidFill>
            <a:srgbClr val="FFFFFF"/>
          </a:solidFill>
          <a:ln/>
        </p:spPr>
        <p:txBody>
          <a:bodyPr wrap="square" lIns="0" tIns="0" rIns="0" bIns="0" rtlCol="0" anchor="t"/>
          <a:lstStyle/>
          <a:p>
            <a:pPr marL="228600" indent="-228600">
              <a:spcAft>
                <a:spcPts val="600"/>
              </a:spcAft>
              <a:buSzPct val="100000"/>
              <a:buChar char="■"/>
            </a:pPr>
            <a:r>
              <a:rPr lang="en-US" sz="1600" dirty="0">
                <a:solidFill>
                  <a:srgbClr val="1E2761"/>
                </a:solidFill>
                <a:latin typeface="Consolas" pitchFamily="34" charset="0"/>
                <a:ea typeface="Consolas" pitchFamily="34" charset="-122"/>
                <a:cs typeface="Consolas" pitchFamily="34" charset="-120"/>
              </a:rPr>
              <a:t>which</a:t>
            </a:r>
            <a:r>
              <a:rPr lang="en-US" sz="1600" dirty="0">
                <a:solidFill>
                  <a:srgbClr val="1F2937"/>
                </a:solidFill>
                <a:latin typeface="Calibri" pitchFamily="34" charset="0"/>
                <a:ea typeface="Calibri" pitchFamily="34" charset="-122"/>
                <a:cs typeface="Calibri" pitchFamily="34" charset="-120"/>
              </a:rPr>
              <a:t> tells you where a command's program file actually lives on disk.</a:t>
            </a:r>
            <a:endParaRPr lang="en-US" sz="1600" dirty="0"/>
          </a:p>
          <a:p>
            <a:pPr marL="228600" indent="-228600">
              <a:spcAft>
                <a:spcPts val="600"/>
              </a:spcAft>
              <a:buSzPct val="100000"/>
              <a:buChar char="■"/>
            </a:pPr>
            <a:r>
              <a:rPr lang="en-US" sz="1600" b="1" dirty="0">
                <a:solidFill>
                  <a:srgbClr val="1F2937"/>
                </a:solidFill>
                <a:latin typeface="Calibri" pitchFamily="34" charset="0"/>
                <a:ea typeface="Calibri" pitchFamily="34" charset="-122"/>
                <a:cs typeface="Calibri" pitchFamily="34" charset="-120"/>
              </a:rPr>
              <a:t>Commands are just files.</a:t>
            </a:r>
            <a:r>
              <a:rPr lang="en-US" sz="1600" dirty="0">
                <a:solidFill>
                  <a:srgbClr val="1F2937"/>
                </a:solidFill>
                <a:latin typeface="Calibri" pitchFamily="34" charset="0"/>
                <a:ea typeface="Calibri" pitchFamily="34" charset="-122"/>
                <a:cs typeface="Calibri" pitchFamily="34" charset="-120"/>
              </a:rPr>
              <a:t> </a:t>
            </a:r>
            <a:r>
              <a:rPr lang="en-US" sz="1600" dirty="0">
                <a:solidFill>
                  <a:srgbClr val="1E2761"/>
                </a:solidFill>
                <a:latin typeface="Consolas" pitchFamily="34" charset="0"/>
                <a:ea typeface="Consolas" pitchFamily="34" charset="-122"/>
                <a:cs typeface="Consolas" pitchFamily="34" charset="-120"/>
              </a:rPr>
              <a:t>ls</a:t>
            </a:r>
            <a:r>
              <a:rPr lang="en-US" sz="1600" dirty="0">
                <a:solidFill>
                  <a:srgbClr val="1F2937"/>
                </a:solidFill>
                <a:latin typeface="Calibri" pitchFamily="34" charset="0"/>
                <a:ea typeface="Calibri" pitchFamily="34" charset="-122"/>
                <a:cs typeface="Calibri" pitchFamily="34" charset="-120"/>
              </a:rPr>
              <a:t> is a real file at </a:t>
            </a:r>
            <a:r>
              <a:rPr lang="en-US" sz="1600" dirty="0">
                <a:solidFill>
                  <a:srgbClr val="1E2761"/>
                </a:solidFill>
                <a:latin typeface="Consolas" pitchFamily="34" charset="0"/>
                <a:ea typeface="Consolas" pitchFamily="34" charset="-122"/>
                <a:cs typeface="Consolas" pitchFamily="34" charset="-120"/>
              </a:rPr>
              <a:t>/usr/bin/ls</a:t>
            </a:r>
            <a:r>
              <a:rPr lang="en-US" sz="1600" dirty="0">
                <a:solidFill>
                  <a:srgbClr val="1F2937"/>
                </a:solidFill>
                <a:latin typeface="Calibri" pitchFamily="34" charset="0"/>
                <a:ea typeface="Calibri" pitchFamily="34" charset="-122"/>
                <a:cs typeface="Calibri" pitchFamily="34" charset="-120"/>
              </a:rPr>
              <a:t>.</a:t>
            </a:r>
            <a:endParaRPr lang="en-US" sz="1600" dirty="0"/>
          </a:p>
          <a:p>
            <a:pPr marL="228600" indent="-228600">
              <a:spcAft>
                <a:spcPts val="600"/>
              </a:spcAft>
              <a:buSzPct val="100000"/>
              <a:buChar char="■"/>
            </a:pPr>
            <a:r>
              <a:rPr lang="en-US" sz="1600" dirty="0">
                <a:solidFill>
                  <a:srgbClr val="1F2937"/>
                </a:solidFill>
                <a:latin typeface="Calibri" pitchFamily="34" charset="0"/>
                <a:ea typeface="Calibri" pitchFamily="34" charset="-122"/>
                <a:cs typeface="Calibri" pitchFamily="34" charset="-120"/>
              </a:rPr>
              <a:t>When you type </a:t>
            </a:r>
            <a:r>
              <a:rPr lang="en-US" sz="1600" dirty="0">
                <a:solidFill>
                  <a:srgbClr val="1E2761"/>
                </a:solidFill>
                <a:latin typeface="Consolas" pitchFamily="34" charset="0"/>
                <a:ea typeface="Consolas" pitchFamily="34" charset="-122"/>
                <a:cs typeface="Consolas" pitchFamily="34" charset="-120"/>
              </a:rPr>
              <a:t>ls</a:t>
            </a:r>
            <a:r>
              <a:rPr lang="en-US" sz="1600" dirty="0">
                <a:solidFill>
                  <a:srgbClr val="1F2937"/>
                </a:solidFill>
                <a:latin typeface="Calibri" pitchFamily="34" charset="0"/>
                <a:ea typeface="Calibri" pitchFamily="34" charset="-122"/>
                <a:cs typeface="Calibri" pitchFamily="34" charset="-120"/>
              </a:rPr>
              <a:t>, the shell looks it up and runs it.</a:t>
            </a:r>
            <a:endParaRPr lang="en-US" sz="16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0">
            <a:extLst>
              <a:ext uri="{FF2B5EF4-FFF2-40B4-BE49-F238E27FC236}">
                <a16:creationId xmlns:a16="http://schemas.microsoft.com/office/drawing/2014/main" id="{C4F308D0-E16C-4CC5-260F-E28847C8B2B2}"/>
              </a:ext>
            </a:extLst>
          </p:cNvPr>
          <p:cNvSpPr/>
          <p:nvPr/>
        </p:nvSpPr>
        <p:spPr>
          <a:xfrm>
            <a:off x="548640" y="1280160"/>
            <a:ext cx="8046720" cy="457200"/>
          </a:xfrm>
          <a:prstGeom prst="rect">
            <a:avLst/>
          </a:prstGeom>
          <a:noFill/>
          <a:ln/>
        </p:spPr>
        <p:txBody>
          <a:bodyPr wrap="square" lIns="0" tIns="0" rIns="0" bIns="0" rtlCol="0" anchor="ctr"/>
          <a:lstStyle/>
          <a:p>
            <a:pPr marL="0" indent="0">
              <a:buNone/>
            </a:pPr>
            <a:r>
              <a:rPr lang="en-US" sz="1600" b="1" kern="0" spc="800" dirty="0">
                <a:latin typeface="Calibri" pitchFamily="34" charset="0"/>
                <a:ea typeface="Calibri" pitchFamily="34" charset="-122"/>
                <a:cs typeface="Calibri" pitchFamily="34" charset="-120"/>
              </a:rPr>
              <a:t>BLOCK 4</a:t>
            </a:r>
            <a:endParaRPr lang="en-US" sz="1600" dirty="0"/>
          </a:p>
        </p:txBody>
      </p:sp>
      <p:sp>
        <p:nvSpPr>
          <p:cNvPr id="4" name="Text 1">
            <a:extLst>
              <a:ext uri="{FF2B5EF4-FFF2-40B4-BE49-F238E27FC236}">
                <a16:creationId xmlns:a16="http://schemas.microsoft.com/office/drawing/2014/main" id="{39AB9CA9-4368-8FE5-AD42-55EA850B62AF}"/>
              </a:ext>
            </a:extLst>
          </p:cNvPr>
          <p:cNvSpPr/>
          <p:nvPr/>
        </p:nvSpPr>
        <p:spPr>
          <a:xfrm>
            <a:off x="548640" y="1783080"/>
            <a:ext cx="8046720" cy="1463040"/>
          </a:xfrm>
          <a:prstGeom prst="rect">
            <a:avLst/>
          </a:prstGeom>
          <a:noFill/>
          <a:ln/>
        </p:spPr>
        <p:txBody>
          <a:bodyPr wrap="square" lIns="0" tIns="0" rIns="0" bIns="0" rtlCol="0" anchor="t"/>
          <a:lstStyle/>
          <a:p>
            <a:pPr marL="0" indent="0">
              <a:buNone/>
            </a:pPr>
            <a:r>
              <a:rPr lang="en-US" sz="4000" b="1" dirty="0">
                <a:latin typeface="Cambria" pitchFamily="34" charset="0"/>
                <a:ea typeface="Cambria" pitchFamily="34" charset="-122"/>
                <a:cs typeface="Cambria" pitchFamily="34" charset="-120"/>
              </a:rPr>
              <a:t>Working with files and directories</a:t>
            </a:r>
            <a:endParaRPr lang="en-US" sz="4000" dirty="0"/>
          </a:p>
        </p:txBody>
      </p:sp>
    </p:spTree>
    <p:extLst>
      <p:ext uri="{BB962C8B-B14F-4D97-AF65-F5344CB8AC3E}">
        <p14:creationId xmlns:p14="http://schemas.microsoft.com/office/powerpoint/2010/main" val="295695170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a:effectLst/>
      </p:bgPr>
    </p:bg>
    <p:spTree>
      <p:nvGrpSpPr>
        <p:cNvPr id="1" name=""/>
        <p:cNvGrpSpPr/>
        <p:nvPr/>
      </p:nvGrpSpPr>
      <p:grpSpPr>
        <a:xfrm>
          <a:off x="0" y="0"/>
          <a:ext cx="0" cy="0"/>
          <a:chOff x="0" y="0"/>
          <a:chExt cx="0" cy="0"/>
        </a:xfrm>
      </p:grpSpPr>
      <p:pic>
        <p:nvPicPr>
          <p:cNvPr id="9" name="Picture 8" descr="access-footer.jpg"/>
          <p:cNvPicPr>
            <a:picLocks noChangeAspect="1"/>
          </p:cNvPicPr>
          <p:nvPr/>
        </p:nvPicPr>
        <p:blipFill>
          <a:blip r:embed="rId3"/>
          <a:stretch>
            <a:fillRect/>
          </a:stretch>
        </p:blipFill>
        <p:spPr>
          <a:xfrm>
            <a:off x="0" y="0"/>
            <a:ext cx="9144000" cy="5143500"/>
          </a:xfrm>
          <a:prstGeom prst="rect">
            <a:avLst/>
          </a:prstGeom>
        </p:spPr>
      </p:pic>
      <p:sp>
        <p:nvSpPr>
          <p:cNvPr id="2" name="Text 0"/>
          <p:cNvSpPr/>
          <p:nvPr/>
        </p:nvSpPr>
        <p:spPr>
          <a:xfrm>
            <a:off x="457200" y="274320"/>
            <a:ext cx="8229600" cy="594360"/>
          </a:xfrm>
          <a:prstGeom prst="rect">
            <a:avLst/>
          </a:prstGeom>
          <a:solidFill>
            <a:srgbClr val="FFFFFF"/>
          </a:solidFill>
          <a:ln/>
        </p:spPr>
        <p:txBody>
          <a:bodyPr wrap="square" lIns="0" tIns="0" rIns="0" bIns="0" rtlCol="0" anchor="ctr"/>
          <a:lstStyle/>
          <a:p>
            <a:pPr marL="0" indent="0">
              <a:buNone/>
            </a:pPr>
            <a:r>
              <a:rPr lang="en-US" sz="2800" b="1" dirty="0">
                <a:solidFill>
                  <a:srgbClr val="1E2761"/>
                </a:solidFill>
                <a:latin typeface="Cambria" pitchFamily="34" charset="0"/>
                <a:ea typeface="Cambria" pitchFamily="34" charset="-122"/>
                <a:cs typeface="Cambria" pitchFamily="34" charset="-120"/>
              </a:rPr>
              <a:t>Making things</a:t>
            </a:r>
            <a:endParaRPr lang="en-US" sz="2800" dirty="0"/>
          </a:p>
        </p:txBody>
      </p:sp>
      <p:sp>
        <p:nvSpPr>
          <p:cNvPr id="3" name="Shape 1"/>
          <p:cNvSpPr/>
          <p:nvPr/>
        </p:nvSpPr>
        <p:spPr>
          <a:xfrm>
            <a:off x="457200" y="868680"/>
            <a:ext cx="548640" cy="36576"/>
          </a:xfrm>
          <a:prstGeom prst="rect">
            <a:avLst/>
          </a:prstGeom>
          <a:solidFill>
            <a:srgbClr val="1E2761"/>
          </a:solidFill>
          <a:ln w="12700">
            <a:solidFill>
              <a:srgbClr val="1E2761"/>
            </a:solidFill>
            <a:prstDash val="solid"/>
          </a:ln>
        </p:spPr>
        <p:txBody>
          <a:bodyPr/>
          <a:lstStyle/>
          <a:p>
            <a:endParaRPr lang="en-US"/>
          </a:p>
        </p:txBody>
      </p:sp>
      <p:sp>
        <p:nvSpPr>
          <p:cNvPr id="4" name="Shape 2"/>
          <p:cNvSpPr/>
          <p:nvPr/>
        </p:nvSpPr>
        <p:spPr>
          <a:xfrm>
            <a:off x="457200" y="1005840"/>
            <a:ext cx="1005840" cy="292608"/>
          </a:xfrm>
          <a:prstGeom prst="rect">
            <a:avLst/>
          </a:prstGeom>
          <a:solidFill>
            <a:srgbClr val="0369A1"/>
          </a:solidFill>
          <a:ln w="12700">
            <a:solidFill>
              <a:srgbClr val="0369A1"/>
            </a:solidFill>
            <a:prstDash val="solid"/>
          </a:ln>
        </p:spPr>
        <p:txBody>
          <a:bodyPr/>
          <a:lstStyle/>
          <a:p>
            <a:endParaRPr lang="en-US"/>
          </a:p>
        </p:txBody>
      </p:sp>
      <p:sp>
        <p:nvSpPr>
          <p:cNvPr id="5" name="Text 3"/>
          <p:cNvSpPr/>
          <p:nvPr/>
        </p:nvSpPr>
        <p:spPr>
          <a:xfrm>
            <a:off x="457200" y="1005840"/>
            <a:ext cx="1005840" cy="292608"/>
          </a:xfrm>
          <a:prstGeom prst="rect">
            <a:avLst/>
          </a:prstGeom>
          <a:noFill/>
          <a:ln/>
        </p:spPr>
        <p:txBody>
          <a:bodyPr wrap="square" lIns="0" tIns="0" rIns="0" bIns="0" rtlCol="0" anchor="ctr"/>
          <a:lstStyle/>
          <a:p>
            <a:pPr marL="0" indent="0" algn="ctr">
              <a:buNone/>
            </a:pPr>
            <a:r>
              <a:rPr lang="en-US" sz="1100" b="1" kern="0" spc="200" dirty="0">
                <a:solidFill>
                  <a:srgbClr val="FFFFFF"/>
                </a:solidFill>
                <a:latin typeface="Calibri" pitchFamily="34" charset="0"/>
                <a:ea typeface="Calibri" pitchFamily="34" charset="-122"/>
                <a:cs typeface="Calibri" pitchFamily="34" charset="-120"/>
              </a:rPr>
              <a:t>DEMO</a:t>
            </a:r>
            <a:endParaRPr lang="en-US" sz="1100" dirty="0"/>
          </a:p>
        </p:txBody>
      </p:sp>
      <p:sp>
        <p:nvSpPr>
          <p:cNvPr id="6" name="Shape 4"/>
          <p:cNvSpPr/>
          <p:nvPr/>
        </p:nvSpPr>
        <p:spPr>
          <a:xfrm>
            <a:off x="548640" y="1435608"/>
            <a:ext cx="8046720" cy="1916430"/>
          </a:xfrm>
          <a:prstGeom prst="rect">
            <a:avLst/>
          </a:prstGeom>
          <a:solidFill>
            <a:srgbClr val="0F172A"/>
          </a:solidFill>
          <a:ln w="12700">
            <a:solidFill>
              <a:srgbClr val="0F172A"/>
            </a:solidFill>
            <a:prstDash val="solid"/>
          </a:ln>
        </p:spPr>
        <p:txBody>
          <a:bodyPr/>
          <a:lstStyle/>
          <a:p>
            <a:endParaRPr lang="en-US"/>
          </a:p>
        </p:txBody>
      </p:sp>
      <p:sp>
        <p:nvSpPr>
          <p:cNvPr id="7" name="Text 5"/>
          <p:cNvSpPr/>
          <p:nvPr/>
        </p:nvSpPr>
        <p:spPr>
          <a:xfrm>
            <a:off x="685800" y="1508760"/>
            <a:ext cx="7772400" cy="1770126"/>
          </a:xfrm>
          <a:prstGeom prst="rect">
            <a:avLst/>
          </a:prstGeom>
          <a:noFill/>
          <a:ln/>
        </p:spPr>
        <p:txBody>
          <a:bodyPr wrap="square" lIns="0" tIns="0" rIns="0" bIns="0" rtlCol="0" anchor="t"/>
          <a:lstStyle/>
          <a:p>
            <a:pPr marL="0" indent="0">
              <a:buNone/>
            </a:pPr>
            <a:r>
              <a:rPr lang="en-US" sz="1500" dirty="0">
                <a:solidFill>
                  <a:srgbClr val="E2E8F0"/>
                </a:solidFill>
                <a:latin typeface="Consolas" pitchFamily="34" charset="0"/>
                <a:ea typeface="Consolas" pitchFamily="34" charset="-122"/>
                <a:cs typeface="Consolas" pitchFamily="34" charset="-120"/>
              </a:rPr>
              <a:t>$ cd ~</a:t>
            </a:r>
            <a:endParaRPr lang="en-US" sz="1500" dirty="0"/>
          </a:p>
          <a:p>
            <a:pPr marL="0" indent="0">
              <a:buNone/>
            </a:pPr>
            <a:r>
              <a:rPr lang="en-US" sz="1500" dirty="0">
                <a:solidFill>
                  <a:srgbClr val="E2E8F0"/>
                </a:solidFill>
                <a:latin typeface="Consolas" pitchFamily="34" charset="0"/>
                <a:ea typeface="Consolas" pitchFamily="34" charset="-122"/>
                <a:cs typeface="Consolas" pitchFamily="34" charset="-120"/>
              </a:rPr>
              <a:t>$ mkdir workshop</a:t>
            </a:r>
            <a:endParaRPr lang="en-US" sz="1500" dirty="0"/>
          </a:p>
          <a:p>
            <a:pPr marL="0" indent="0">
              <a:buNone/>
            </a:pPr>
            <a:r>
              <a:rPr lang="en-US" sz="1500" dirty="0">
                <a:solidFill>
                  <a:srgbClr val="E2E8F0"/>
                </a:solidFill>
                <a:latin typeface="Consolas" pitchFamily="34" charset="0"/>
                <a:ea typeface="Consolas" pitchFamily="34" charset="-122"/>
                <a:cs typeface="Consolas" pitchFamily="34" charset="-120"/>
              </a:rPr>
              <a:t>$ cd workshop</a:t>
            </a:r>
            <a:endParaRPr lang="en-US" sz="1500" dirty="0"/>
          </a:p>
          <a:p>
            <a:pPr marL="0" indent="0">
              <a:buNone/>
            </a:pPr>
            <a:r>
              <a:rPr lang="en-US" sz="1500" dirty="0">
                <a:solidFill>
                  <a:srgbClr val="E2E8F0"/>
                </a:solidFill>
                <a:latin typeface="Consolas" pitchFamily="34" charset="0"/>
                <a:ea typeface="Consolas" pitchFamily="34" charset="-122"/>
                <a:cs typeface="Consolas" pitchFamily="34" charset="-120"/>
              </a:rPr>
              <a:t>$ mkdir notes scripts data</a:t>
            </a:r>
            <a:endParaRPr lang="en-US" sz="1500" dirty="0"/>
          </a:p>
          <a:p>
            <a:pPr marL="0" indent="0">
              <a:buNone/>
            </a:pPr>
            <a:r>
              <a:rPr lang="en-US" sz="1500" dirty="0">
                <a:solidFill>
                  <a:srgbClr val="E2E8F0"/>
                </a:solidFill>
                <a:latin typeface="Consolas" pitchFamily="34" charset="0"/>
                <a:ea typeface="Consolas" pitchFamily="34" charset="-122"/>
                <a:cs typeface="Consolas" pitchFamily="34" charset="-120"/>
              </a:rPr>
              <a:t>$ touch hello.txt</a:t>
            </a:r>
            <a:endParaRPr lang="en-US" sz="1500" dirty="0"/>
          </a:p>
          <a:p>
            <a:pPr marL="0" indent="0">
              <a:buNone/>
            </a:pPr>
            <a:r>
              <a:rPr lang="en-US" sz="1500" dirty="0">
                <a:solidFill>
                  <a:srgbClr val="E2E8F0"/>
                </a:solidFill>
                <a:latin typeface="Consolas" pitchFamily="34" charset="0"/>
                <a:ea typeface="Consolas" pitchFamily="34" charset="-122"/>
                <a:cs typeface="Consolas" pitchFamily="34" charset="-120"/>
              </a:rPr>
              <a:t>$ touch notes/day1.md</a:t>
            </a:r>
            <a:endParaRPr lang="en-US" sz="1500" dirty="0"/>
          </a:p>
          <a:p>
            <a:pPr marL="0" indent="0">
              <a:buNone/>
            </a:pPr>
            <a:r>
              <a:rPr lang="en-US" sz="1500" dirty="0">
                <a:solidFill>
                  <a:srgbClr val="E2E8F0"/>
                </a:solidFill>
                <a:latin typeface="Consolas" pitchFamily="34" charset="0"/>
                <a:ea typeface="Consolas" pitchFamily="34" charset="-122"/>
                <a:cs typeface="Consolas" pitchFamily="34" charset="-120"/>
              </a:rPr>
              <a:t>$ ls</a:t>
            </a:r>
            <a:endParaRPr lang="en-US" sz="1500" dirty="0"/>
          </a:p>
        </p:txBody>
      </p:sp>
      <p:sp>
        <p:nvSpPr>
          <p:cNvPr id="8" name="Text 6"/>
          <p:cNvSpPr/>
          <p:nvPr/>
        </p:nvSpPr>
        <p:spPr>
          <a:xfrm>
            <a:off x="548640" y="3397758"/>
            <a:ext cx="8046720" cy="767080"/>
          </a:xfrm>
          <a:prstGeom prst="rect">
            <a:avLst/>
          </a:prstGeom>
          <a:solidFill>
            <a:srgbClr val="FFFFFF"/>
          </a:solidFill>
          <a:ln/>
        </p:spPr>
        <p:txBody>
          <a:bodyPr wrap="square" lIns="0" tIns="0" rIns="0" bIns="0" rtlCol="0" anchor="t"/>
          <a:lstStyle/>
          <a:p>
            <a:pPr marL="228600" indent="-228600">
              <a:spcAft>
                <a:spcPts val="600"/>
              </a:spcAft>
              <a:buSzPct val="100000"/>
              <a:buChar char="■"/>
            </a:pPr>
            <a:r>
              <a:rPr lang="en-US" sz="1600" dirty="0">
                <a:solidFill>
                  <a:srgbClr val="1E2761"/>
                </a:solidFill>
                <a:latin typeface="Consolas" pitchFamily="34" charset="0"/>
                <a:ea typeface="Consolas" pitchFamily="34" charset="-122"/>
                <a:cs typeface="Consolas" pitchFamily="34" charset="-120"/>
              </a:rPr>
              <a:t>mkdir</a:t>
            </a:r>
            <a:r>
              <a:rPr lang="en-US" sz="1600" dirty="0">
                <a:solidFill>
                  <a:srgbClr val="1F2937"/>
                </a:solidFill>
                <a:latin typeface="Calibri" pitchFamily="34" charset="0"/>
                <a:ea typeface="Calibri" pitchFamily="34" charset="-122"/>
                <a:cs typeface="Calibri" pitchFamily="34" charset="-120"/>
              </a:rPr>
              <a:t> = </a:t>
            </a:r>
            <a:r>
              <a:rPr lang="en-US" sz="1600" b="1" dirty="0">
                <a:solidFill>
                  <a:srgbClr val="1F2937"/>
                </a:solidFill>
                <a:latin typeface="Calibri" pitchFamily="34" charset="0"/>
                <a:ea typeface="Calibri" pitchFamily="34" charset="-122"/>
                <a:cs typeface="Calibri" pitchFamily="34" charset="-120"/>
              </a:rPr>
              <a:t>make directory</a:t>
            </a:r>
            <a:r>
              <a:rPr lang="en-US" sz="1600" dirty="0">
                <a:solidFill>
                  <a:srgbClr val="1F2937"/>
                </a:solidFill>
                <a:latin typeface="Calibri" pitchFamily="34" charset="0"/>
                <a:ea typeface="Calibri" pitchFamily="34" charset="-122"/>
                <a:cs typeface="Calibri" pitchFamily="34" charset="-120"/>
              </a:rPr>
              <a:t>. You can make several at once.</a:t>
            </a:r>
            <a:endParaRPr lang="en-US" sz="1600" dirty="0"/>
          </a:p>
          <a:p>
            <a:pPr marL="228600" indent="-228600">
              <a:spcAft>
                <a:spcPts val="600"/>
              </a:spcAft>
              <a:buSzPct val="100000"/>
              <a:buChar char="■"/>
            </a:pPr>
            <a:r>
              <a:rPr lang="en-US" sz="1600" dirty="0">
                <a:solidFill>
                  <a:srgbClr val="1E2761"/>
                </a:solidFill>
                <a:latin typeface="Consolas" pitchFamily="34" charset="0"/>
                <a:ea typeface="Consolas" pitchFamily="34" charset="-122"/>
                <a:cs typeface="Consolas" pitchFamily="34" charset="-120"/>
              </a:rPr>
              <a:t>touch</a:t>
            </a:r>
            <a:r>
              <a:rPr lang="en-US" sz="1600" dirty="0">
                <a:solidFill>
                  <a:srgbClr val="1F2937"/>
                </a:solidFill>
                <a:latin typeface="Calibri" pitchFamily="34" charset="0"/>
                <a:ea typeface="Calibri" pitchFamily="34" charset="-122"/>
                <a:cs typeface="Calibri" pitchFamily="34" charset="-120"/>
              </a:rPr>
              <a:t> creates an empty file (or updates its timestamp if it exists).</a:t>
            </a:r>
            <a:endParaRPr lang="en-US" sz="16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a:effectLst/>
      </p:bgPr>
    </p:bg>
    <p:spTree>
      <p:nvGrpSpPr>
        <p:cNvPr id="1" name=""/>
        <p:cNvGrpSpPr/>
        <p:nvPr/>
      </p:nvGrpSpPr>
      <p:grpSpPr>
        <a:xfrm>
          <a:off x="0" y="0"/>
          <a:ext cx="0" cy="0"/>
          <a:chOff x="0" y="0"/>
          <a:chExt cx="0" cy="0"/>
        </a:xfrm>
      </p:grpSpPr>
      <p:pic>
        <p:nvPicPr>
          <p:cNvPr id="11" name="Picture 10" descr="access-footer.jpg"/>
          <p:cNvPicPr>
            <a:picLocks noChangeAspect="1"/>
          </p:cNvPicPr>
          <p:nvPr/>
        </p:nvPicPr>
        <p:blipFill>
          <a:blip r:embed="rId3"/>
          <a:stretch>
            <a:fillRect/>
          </a:stretch>
        </p:blipFill>
        <p:spPr>
          <a:xfrm>
            <a:off x="0" y="0"/>
            <a:ext cx="9144000" cy="5143500"/>
          </a:xfrm>
          <a:prstGeom prst="rect">
            <a:avLst/>
          </a:prstGeom>
        </p:spPr>
      </p:pic>
      <p:sp>
        <p:nvSpPr>
          <p:cNvPr id="2" name="Text 0"/>
          <p:cNvSpPr/>
          <p:nvPr/>
        </p:nvSpPr>
        <p:spPr>
          <a:xfrm>
            <a:off x="457200" y="274320"/>
            <a:ext cx="8229600" cy="594360"/>
          </a:xfrm>
          <a:prstGeom prst="rect">
            <a:avLst/>
          </a:prstGeom>
          <a:solidFill>
            <a:srgbClr val="FFFFFF"/>
          </a:solidFill>
          <a:ln/>
        </p:spPr>
        <p:txBody>
          <a:bodyPr wrap="square" lIns="0" tIns="0" rIns="0" bIns="0" rtlCol="0" anchor="ctr"/>
          <a:lstStyle/>
          <a:p>
            <a:pPr marL="0" indent="0">
              <a:buNone/>
            </a:pPr>
            <a:r>
              <a:rPr lang="en-US" sz="2800" b="1" dirty="0">
                <a:solidFill>
                  <a:srgbClr val="1E2761"/>
                </a:solidFill>
                <a:latin typeface="Cambria" pitchFamily="34" charset="0"/>
                <a:ea typeface="Cambria" pitchFamily="34" charset="-122"/>
                <a:cs typeface="Cambria" pitchFamily="34" charset="-120"/>
              </a:rPr>
              <a:t>Reading file contents</a:t>
            </a:r>
            <a:endParaRPr lang="en-US" sz="2800" dirty="0"/>
          </a:p>
        </p:txBody>
      </p:sp>
      <p:sp>
        <p:nvSpPr>
          <p:cNvPr id="3" name="Shape 1"/>
          <p:cNvSpPr/>
          <p:nvPr/>
        </p:nvSpPr>
        <p:spPr>
          <a:xfrm>
            <a:off x="457200" y="868680"/>
            <a:ext cx="548640" cy="36576"/>
          </a:xfrm>
          <a:prstGeom prst="rect">
            <a:avLst/>
          </a:prstGeom>
          <a:solidFill>
            <a:srgbClr val="1E2761"/>
          </a:solidFill>
          <a:ln w="12700">
            <a:solidFill>
              <a:srgbClr val="1E2761"/>
            </a:solidFill>
            <a:prstDash val="solid"/>
          </a:ln>
        </p:spPr>
        <p:txBody>
          <a:bodyPr/>
          <a:lstStyle/>
          <a:p>
            <a:endParaRPr lang="en-US"/>
          </a:p>
        </p:txBody>
      </p:sp>
      <p:sp>
        <p:nvSpPr>
          <p:cNvPr id="4" name="Shape 2"/>
          <p:cNvSpPr/>
          <p:nvPr/>
        </p:nvSpPr>
        <p:spPr>
          <a:xfrm>
            <a:off x="457200" y="1005840"/>
            <a:ext cx="1005840" cy="292608"/>
          </a:xfrm>
          <a:prstGeom prst="rect">
            <a:avLst/>
          </a:prstGeom>
          <a:solidFill>
            <a:srgbClr val="0369A1"/>
          </a:solidFill>
          <a:ln w="12700">
            <a:solidFill>
              <a:srgbClr val="0369A1"/>
            </a:solidFill>
            <a:prstDash val="solid"/>
          </a:ln>
        </p:spPr>
        <p:txBody>
          <a:bodyPr/>
          <a:lstStyle/>
          <a:p>
            <a:endParaRPr lang="en-US"/>
          </a:p>
        </p:txBody>
      </p:sp>
      <p:sp>
        <p:nvSpPr>
          <p:cNvPr id="5" name="Text 3"/>
          <p:cNvSpPr/>
          <p:nvPr/>
        </p:nvSpPr>
        <p:spPr>
          <a:xfrm>
            <a:off x="457200" y="1005840"/>
            <a:ext cx="1005840" cy="292608"/>
          </a:xfrm>
          <a:prstGeom prst="rect">
            <a:avLst/>
          </a:prstGeom>
          <a:noFill/>
          <a:ln/>
        </p:spPr>
        <p:txBody>
          <a:bodyPr wrap="square" lIns="0" tIns="0" rIns="0" bIns="0" rtlCol="0" anchor="ctr"/>
          <a:lstStyle/>
          <a:p>
            <a:pPr marL="0" indent="0" algn="ctr">
              <a:buNone/>
            </a:pPr>
            <a:r>
              <a:rPr lang="en-US" sz="1100" b="1" kern="0" spc="200" dirty="0">
                <a:solidFill>
                  <a:srgbClr val="FFFFFF"/>
                </a:solidFill>
                <a:latin typeface="Calibri" pitchFamily="34" charset="0"/>
                <a:ea typeface="Calibri" pitchFamily="34" charset="-122"/>
                <a:cs typeface="Calibri" pitchFamily="34" charset="-120"/>
              </a:rPr>
              <a:t>DEMO</a:t>
            </a:r>
            <a:endParaRPr lang="en-US" sz="1100" dirty="0"/>
          </a:p>
        </p:txBody>
      </p:sp>
      <p:sp>
        <p:nvSpPr>
          <p:cNvPr id="6" name="Shape 4"/>
          <p:cNvSpPr/>
          <p:nvPr/>
        </p:nvSpPr>
        <p:spPr>
          <a:xfrm>
            <a:off x="548640" y="1435608"/>
            <a:ext cx="8046720" cy="1421130"/>
          </a:xfrm>
          <a:prstGeom prst="rect">
            <a:avLst/>
          </a:prstGeom>
          <a:solidFill>
            <a:srgbClr val="0F172A"/>
          </a:solidFill>
          <a:ln w="12700">
            <a:solidFill>
              <a:srgbClr val="0F172A"/>
            </a:solidFill>
            <a:prstDash val="solid"/>
          </a:ln>
        </p:spPr>
        <p:txBody>
          <a:bodyPr/>
          <a:lstStyle/>
          <a:p>
            <a:endParaRPr lang="en-US"/>
          </a:p>
        </p:txBody>
      </p:sp>
      <p:sp>
        <p:nvSpPr>
          <p:cNvPr id="7" name="Text 5"/>
          <p:cNvSpPr/>
          <p:nvPr/>
        </p:nvSpPr>
        <p:spPr>
          <a:xfrm>
            <a:off x="685800" y="1508760"/>
            <a:ext cx="7772400" cy="1274826"/>
          </a:xfrm>
          <a:prstGeom prst="rect">
            <a:avLst/>
          </a:prstGeom>
          <a:noFill/>
          <a:ln/>
        </p:spPr>
        <p:txBody>
          <a:bodyPr wrap="square" lIns="0" tIns="0" rIns="0" bIns="0" rtlCol="0" anchor="t"/>
          <a:lstStyle/>
          <a:p>
            <a:pPr marL="0" indent="0">
              <a:buNone/>
            </a:pPr>
            <a:r>
              <a:rPr lang="en-US" sz="1500" dirty="0">
                <a:solidFill>
                  <a:srgbClr val="E2E8F0"/>
                </a:solidFill>
                <a:latin typeface="Consolas" pitchFamily="34" charset="0"/>
                <a:ea typeface="Consolas" pitchFamily="34" charset="-122"/>
                <a:cs typeface="Consolas" pitchFamily="34" charset="-120"/>
              </a:rPr>
              <a:t>$ cat /etc/os-release      # dump file to screen</a:t>
            </a:r>
            <a:endParaRPr lang="en-US" sz="1500" dirty="0"/>
          </a:p>
          <a:p>
            <a:pPr marL="0" indent="0">
              <a:buNone/>
            </a:pPr>
            <a:r>
              <a:rPr lang="en-US" sz="1500" dirty="0">
                <a:solidFill>
                  <a:srgbClr val="E2E8F0"/>
                </a:solidFill>
                <a:latin typeface="Consolas" pitchFamily="34" charset="0"/>
                <a:ea typeface="Consolas" pitchFamily="34" charset="-122"/>
                <a:cs typeface="Consolas" pitchFamily="34" charset="-120"/>
              </a:rPr>
              <a:t>$ less /etc/services       # pager — q to quit</a:t>
            </a:r>
            <a:endParaRPr lang="en-US" sz="1500" dirty="0"/>
          </a:p>
          <a:p>
            <a:pPr marL="0" indent="0">
              <a:buNone/>
            </a:pPr>
            <a:r>
              <a:rPr lang="en-US" sz="1500" dirty="0">
                <a:solidFill>
                  <a:srgbClr val="E2E8F0"/>
                </a:solidFill>
                <a:latin typeface="Consolas" pitchFamily="34" charset="0"/>
                <a:ea typeface="Consolas" pitchFamily="34" charset="-122"/>
                <a:cs typeface="Consolas" pitchFamily="34" charset="-120"/>
              </a:rPr>
              <a:t>$ head /etc/services       # first 10 lines</a:t>
            </a:r>
            <a:endParaRPr lang="en-US" sz="1500" dirty="0"/>
          </a:p>
          <a:p>
            <a:pPr marL="0" indent="0">
              <a:buNone/>
            </a:pPr>
            <a:r>
              <a:rPr lang="en-US" sz="1500" dirty="0">
                <a:solidFill>
                  <a:srgbClr val="E2E8F0"/>
                </a:solidFill>
                <a:latin typeface="Consolas" pitchFamily="34" charset="0"/>
                <a:ea typeface="Consolas" pitchFamily="34" charset="-122"/>
                <a:cs typeface="Consolas" pitchFamily="34" charset="-120"/>
              </a:rPr>
              <a:t>$ tail /etc/services       # last 10 lines</a:t>
            </a:r>
            <a:endParaRPr lang="en-US" sz="1500" dirty="0"/>
          </a:p>
          <a:p>
            <a:pPr marL="0" indent="0">
              <a:buNone/>
            </a:pPr>
            <a:r>
              <a:rPr lang="en-US" sz="1500" dirty="0">
                <a:solidFill>
                  <a:srgbClr val="E2E8F0"/>
                </a:solidFill>
                <a:latin typeface="Consolas" pitchFamily="34" charset="0"/>
                <a:ea typeface="Consolas" pitchFamily="34" charset="-122"/>
                <a:cs typeface="Consolas" pitchFamily="34" charset="-120"/>
              </a:rPr>
              <a:t>$ head -n 3 /etc/services  # first 3 lines</a:t>
            </a:r>
            <a:endParaRPr lang="en-US" sz="1500" dirty="0"/>
          </a:p>
        </p:txBody>
      </p:sp>
      <p:sp>
        <p:nvSpPr>
          <p:cNvPr id="8" name="Shape 6"/>
          <p:cNvSpPr/>
          <p:nvPr/>
        </p:nvSpPr>
        <p:spPr>
          <a:xfrm>
            <a:off x="457200" y="2902458"/>
            <a:ext cx="1005840" cy="292608"/>
          </a:xfrm>
          <a:prstGeom prst="rect">
            <a:avLst/>
          </a:prstGeom>
          <a:solidFill>
            <a:srgbClr val="B45309"/>
          </a:solidFill>
          <a:ln w="12700">
            <a:solidFill>
              <a:srgbClr val="B45309"/>
            </a:solidFill>
            <a:prstDash val="solid"/>
          </a:ln>
        </p:spPr>
        <p:txBody>
          <a:bodyPr/>
          <a:lstStyle/>
          <a:p>
            <a:endParaRPr lang="en-US"/>
          </a:p>
        </p:txBody>
      </p:sp>
      <p:sp>
        <p:nvSpPr>
          <p:cNvPr id="9" name="Text 7"/>
          <p:cNvSpPr/>
          <p:nvPr/>
        </p:nvSpPr>
        <p:spPr>
          <a:xfrm>
            <a:off x="457200" y="2902458"/>
            <a:ext cx="1005840" cy="292608"/>
          </a:xfrm>
          <a:prstGeom prst="rect">
            <a:avLst/>
          </a:prstGeom>
          <a:noFill/>
          <a:ln/>
        </p:spPr>
        <p:txBody>
          <a:bodyPr wrap="square" lIns="0" tIns="0" rIns="0" bIns="0" rtlCol="0" anchor="ctr"/>
          <a:lstStyle/>
          <a:p>
            <a:pPr marL="0" indent="0" algn="ctr">
              <a:buNone/>
            </a:pPr>
            <a:r>
              <a:rPr lang="en-US" sz="1100" b="1" kern="0" spc="200" dirty="0">
                <a:solidFill>
                  <a:srgbClr val="FFFFFF"/>
                </a:solidFill>
                <a:latin typeface="Calibri" pitchFamily="34" charset="0"/>
                <a:ea typeface="Calibri" pitchFamily="34" charset="-122"/>
                <a:cs typeface="Calibri" pitchFamily="34" charset="-120"/>
              </a:rPr>
              <a:t>WATCH OUT</a:t>
            </a:r>
            <a:endParaRPr lang="en-US" sz="1100" dirty="0"/>
          </a:p>
        </p:txBody>
      </p:sp>
      <p:sp>
        <p:nvSpPr>
          <p:cNvPr id="10" name="Text 8"/>
          <p:cNvSpPr/>
          <p:nvPr/>
        </p:nvSpPr>
        <p:spPr>
          <a:xfrm>
            <a:off x="548640" y="3332226"/>
            <a:ext cx="8046720" cy="695960"/>
          </a:xfrm>
          <a:prstGeom prst="rect">
            <a:avLst/>
          </a:prstGeom>
          <a:solidFill>
            <a:srgbClr val="FFFFFF"/>
          </a:solidFill>
          <a:ln/>
        </p:spPr>
        <p:txBody>
          <a:bodyPr wrap="square" lIns="0" tIns="0" rIns="0" bIns="0" rtlCol="0" anchor="t"/>
          <a:lstStyle/>
          <a:p>
            <a:pPr marL="228600" indent="-228600">
              <a:spcAft>
                <a:spcPts val="600"/>
              </a:spcAft>
              <a:buSzPct val="100000"/>
              <a:buChar char="■"/>
            </a:pPr>
            <a:r>
              <a:rPr lang="en-US" sz="1400" dirty="0">
                <a:solidFill>
                  <a:srgbClr val="1E2761"/>
                </a:solidFill>
                <a:latin typeface="Consolas" pitchFamily="34" charset="0"/>
                <a:ea typeface="Consolas" pitchFamily="34" charset="-122"/>
                <a:cs typeface="Consolas" pitchFamily="34" charset="-120"/>
              </a:rPr>
              <a:t>less</a:t>
            </a:r>
            <a:r>
              <a:rPr lang="en-US" sz="1400" dirty="0">
                <a:solidFill>
                  <a:srgbClr val="1F2937"/>
                </a:solidFill>
                <a:latin typeface="Calibri" pitchFamily="34" charset="0"/>
                <a:ea typeface="Calibri" pitchFamily="34" charset="-122"/>
                <a:cs typeface="Calibri" pitchFamily="34" charset="-120"/>
              </a:rPr>
              <a:t> looks like it took over your terminal. It did. </a:t>
            </a:r>
            <a:r>
              <a:rPr lang="en-US" sz="1400" b="1" dirty="0">
                <a:solidFill>
                  <a:srgbClr val="1F2937"/>
                </a:solidFill>
                <a:latin typeface="Calibri" pitchFamily="34" charset="0"/>
                <a:ea typeface="Calibri" pitchFamily="34" charset="-122"/>
                <a:cs typeface="Calibri" pitchFamily="34" charset="-120"/>
              </a:rPr>
              <a:t>Press `q` to get out.</a:t>
            </a:r>
            <a:endParaRPr lang="en-US" sz="1400" dirty="0"/>
          </a:p>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In </a:t>
            </a:r>
            <a:r>
              <a:rPr lang="en-US" sz="1400" dirty="0">
                <a:solidFill>
                  <a:srgbClr val="1E2761"/>
                </a:solidFill>
                <a:latin typeface="Consolas" pitchFamily="34" charset="0"/>
                <a:ea typeface="Consolas" pitchFamily="34" charset="-122"/>
                <a:cs typeface="Consolas" pitchFamily="34" charset="-120"/>
              </a:rPr>
              <a:t>less</a:t>
            </a:r>
            <a:r>
              <a:rPr lang="en-US" sz="1400" dirty="0">
                <a:solidFill>
                  <a:srgbClr val="1F2937"/>
                </a:solidFill>
                <a:latin typeface="Calibri" pitchFamily="34" charset="0"/>
                <a:ea typeface="Calibri" pitchFamily="34" charset="-122"/>
                <a:cs typeface="Calibri" pitchFamily="34" charset="-120"/>
              </a:rPr>
              <a:t>: </a:t>
            </a:r>
            <a:r>
              <a:rPr lang="en-US" sz="1400" b="1" dirty="0">
                <a:solidFill>
                  <a:srgbClr val="1F2937"/>
                </a:solidFill>
                <a:latin typeface="Calibri" pitchFamily="34" charset="0"/>
                <a:ea typeface="Calibri" pitchFamily="34" charset="-122"/>
                <a:cs typeface="Calibri" pitchFamily="34" charset="-120"/>
              </a:rPr>
              <a:t>Space</a:t>
            </a:r>
            <a:r>
              <a:rPr lang="en-US" sz="1400" dirty="0">
                <a:solidFill>
                  <a:srgbClr val="1F2937"/>
                </a:solidFill>
                <a:latin typeface="Calibri" pitchFamily="34" charset="0"/>
                <a:ea typeface="Calibri" pitchFamily="34" charset="-122"/>
                <a:cs typeface="Calibri" pitchFamily="34" charset="-120"/>
              </a:rPr>
              <a:t> = next page, </a:t>
            </a:r>
            <a:r>
              <a:rPr lang="en-US" sz="1400" b="1" dirty="0">
                <a:solidFill>
                  <a:srgbClr val="1F2937"/>
                </a:solidFill>
                <a:latin typeface="Calibri" pitchFamily="34" charset="0"/>
                <a:ea typeface="Calibri" pitchFamily="34" charset="-122"/>
                <a:cs typeface="Calibri" pitchFamily="34" charset="-120"/>
              </a:rPr>
              <a:t>b</a:t>
            </a:r>
            <a:r>
              <a:rPr lang="en-US" sz="1400" dirty="0">
                <a:solidFill>
                  <a:srgbClr val="1F2937"/>
                </a:solidFill>
                <a:latin typeface="Calibri" pitchFamily="34" charset="0"/>
                <a:ea typeface="Calibri" pitchFamily="34" charset="-122"/>
                <a:cs typeface="Calibri" pitchFamily="34" charset="-120"/>
              </a:rPr>
              <a:t> = back, </a:t>
            </a:r>
            <a:r>
              <a:rPr lang="en-US" sz="1400" b="1" dirty="0">
                <a:solidFill>
                  <a:srgbClr val="1F2937"/>
                </a:solidFill>
                <a:latin typeface="Calibri" pitchFamily="34" charset="0"/>
                <a:ea typeface="Calibri" pitchFamily="34" charset="-122"/>
                <a:cs typeface="Calibri" pitchFamily="34" charset="-120"/>
              </a:rPr>
              <a:t>/word</a:t>
            </a:r>
            <a:r>
              <a:rPr lang="en-US" sz="1400" dirty="0">
                <a:solidFill>
                  <a:srgbClr val="1F2937"/>
                </a:solidFill>
                <a:latin typeface="Calibri" pitchFamily="34" charset="0"/>
                <a:ea typeface="Calibri" pitchFamily="34" charset="-122"/>
                <a:cs typeface="Calibri" pitchFamily="34" charset="-120"/>
              </a:rPr>
              <a:t> = search.</a:t>
            </a:r>
            <a:endParaRPr lang="en-US" sz="14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a:effectLst/>
      </p:bgPr>
    </p:bg>
    <p:spTree>
      <p:nvGrpSpPr>
        <p:cNvPr id="1" name=""/>
        <p:cNvGrpSpPr/>
        <p:nvPr/>
      </p:nvGrpSpPr>
      <p:grpSpPr>
        <a:xfrm>
          <a:off x="0" y="0"/>
          <a:ext cx="0" cy="0"/>
          <a:chOff x="0" y="0"/>
          <a:chExt cx="0" cy="0"/>
        </a:xfrm>
      </p:grpSpPr>
      <p:pic>
        <p:nvPicPr>
          <p:cNvPr id="9" name="Picture 8" descr="access-footer.jpg"/>
          <p:cNvPicPr>
            <a:picLocks noChangeAspect="1"/>
          </p:cNvPicPr>
          <p:nvPr/>
        </p:nvPicPr>
        <p:blipFill>
          <a:blip r:embed="rId3"/>
          <a:stretch>
            <a:fillRect/>
          </a:stretch>
        </p:blipFill>
        <p:spPr>
          <a:xfrm>
            <a:off x="0" y="0"/>
            <a:ext cx="9144000" cy="5143500"/>
          </a:xfrm>
          <a:prstGeom prst="rect">
            <a:avLst/>
          </a:prstGeom>
        </p:spPr>
      </p:pic>
      <p:sp>
        <p:nvSpPr>
          <p:cNvPr id="2" name="Text 0"/>
          <p:cNvSpPr/>
          <p:nvPr/>
        </p:nvSpPr>
        <p:spPr>
          <a:xfrm>
            <a:off x="457200" y="274320"/>
            <a:ext cx="8229600" cy="594360"/>
          </a:xfrm>
          <a:prstGeom prst="rect">
            <a:avLst/>
          </a:prstGeom>
          <a:solidFill>
            <a:srgbClr val="FFFFFF"/>
          </a:solidFill>
          <a:ln/>
        </p:spPr>
        <p:txBody>
          <a:bodyPr wrap="square" lIns="0" tIns="0" rIns="0" bIns="0" rtlCol="0" anchor="ctr"/>
          <a:lstStyle/>
          <a:p>
            <a:pPr marL="0" indent="0">
              <a:buNone/>
            </a:pPr>
            <a:r>
              <a:rPr lang="en-US" sz="2800" b="1" dirty="0">
                <a:solidFill>
                  <a:srgbClr val="1E2761"/>
                </a:solidFill>
                <a:latin typeface="Cambria" pitchFamily="34" charset="0"/>
                <a:ea typeface="Cambria" pitchFamily="34" charset="-122"/>
                <a:cs typeface="Cambria" pitchFamily="34" charset="-120"/>
              </a:rPr>
              <a:t>Copy, move, rename</a:t>
            </a:r>
            <a:endParaRPr lang="en-US" sz="2800" dirty="0"/>
          </a:p>
        </p:txBody>
      </p:sp>
      <p:sp>
        <p:nvSpPr>
          <p:cNvPr id="3" name="Shape 1"/>
          <p:cNvSpPr/>
          <p:nvPr/>
        </p:nvSpPr>
        <p:spPr>
          <a:xfrm>
            <a:off x="457200" y="868680"/>
            <a:ext cx="548640" cy="36576"/>
          </a:xfrm>
          <a:prstGeom prst="rect">
            <a:avLst/>
          </a:prstGeom>
          <a:solidFill>
            <a:srgbClr val="1E2761"/>
          </a:solidFill>
          <a:ln w="12700">
            <a:solidFill>
              <a:srgbClr val="1E2761"/>
            </a:solidFill>
            <a:prstDash val="solid"/>
          </a:ln>
        </p:spPr>
        <p:txBody>
          <a:bodyPr/>
          <a:lstStyle/>
          <a:p>
            <a:endParaRPr lang="en-US"/>
          </a:p>
        </p:txBody>
      </p:sp>
      <p:sp>
        <p:nvSpPr>
          <p:cNvPr id="4" name="Shape 2"/>
          <p:cNvSpPr/>
          <p:nvPr/>
        </p:nvSpPr>
        <p:spPr>
          <a:xfrm>
            <a:off x="457200" y="1005840"/>
            <a:ext cx="1005840" cy="292608"/>
          </a:xfrm>
          <a:prstGeom prst="rect">
            <a:avLst/>
          </a:prstGeom>
          <a:solidFill>
            <a:srgbClr val="0369A1"/>
          </a:solidFill>
          <a:ln w="12700">
            <a:solidFill>
              <a:srgbClr val="0369A1"/>
            </a:solidFill>
            <a:prstDash val="solid"/>
          </a:ln>
        </p:spPr>
        <p:txBody>
          <a:bodyPr/>
          <a:lstStyle/>
          <a:p>
            <a:endParaRPr lang="en-US"/>
          </a:p>
        </p:txBody>
      </p:sp>
      <p:sp>
        <p:nvSpPr>
          <p:cNvPr id="5" name="Text 3"/>
          <p:cNvSpPr/>
          <p:nvPr/>
        </p:nvSpPr>
        <p:spPr>
          <a:xfrm>
            <a:off x="457200" y="1005840"/>
            <a:ext cx="1005840" cy="292608"/>
          </a:xfrm>
          <a:prstGeom prst="rect">
            <a:avLst/>
          </a:prstGeom>
          <a:noFill/>
          <a:ln/>
        </p:spPr>
        <p:txBody>
          <a:bodyPr wrap="square" lIns="0" tIns="0" rIns="0" bIns="0" rtlCol="0" anchor="ctr"/>
          <a:lstStyle/>
          <a:p>
            <a:pPr marL="0" indent="0" algn="ctr">
              <a:buNone/>
            </a:pPr>
            <a:r>
              <a:rPr lang="en-US" sz="1100" b="1" kern="0" spc="200" dirty="0">
                <a:solidFill>
                  <a:srgbClr val="FFFFFF"/>
                </a:solidFill>
                <a:latin typeface="Calibri" pitchFamily="34" charset="0"/>
                <a:ea typeface="Calibri" pitchFamily="34" charset="-122"/>
                <a:cs typeface="Calibri" pitchFamily="34" charset="-120"/>
              </a:rPr>
              <a:t>DEMO</a:t>
            </a:r>
            <a:endParaRPr lang="en-US" sz="1100" dirty="0"/>
          </a:p>
        </p:txBody>
      </p:sp>
      <p:sp>
        <p:nvSpPr>
          <p:cNvPr id="6" name="Shape 4"/>
          <p:cNvSpPr/>
          <p:nvPr/>
        </p:nvSpPr>
        <p:spPr>
          <a:xfrm>
            <a:off x="548640" y="1435608"/>
            <a:ext cx="8046720" cy="925830"/>
          </a:xfrm>
          <a:prstGeom prst="rect">
            <a:avLst/>
          </a:prstGeom>
          <a:solidFill>
            <a:srgbClr val="0F172A"/>
          </a:solidFill>
          <a:ln w="12700">
            <a:solidFill>
              <a:srgbClr val="0F172A"/>
            </a:solidFill>
            <a:prstDash val="solid"/>
          </a:ln>
        </p:spPr>
        <p:txBody>
          <a:bodyPr/>
          <a:lstStyle/>
          <a:p>
            <a:endParaRPr lang="en-US"/>
          </a:p>
        </p:txBody>
      </p:sp>
      <p:sp>
        <p:nvSpPr>
          <p:cNvPr id="7" name="Text 5"/>
          <p:cNvSpPr/>
          <p:nvPr/>
        </p:nvSpPr>
        <p:spPr>
          <a:xfrm>
            <a:off x="685800" y="1508760"/>
            <a:ext cx="7772400" cy="779526"/>
          </a:xfrm>
          <a:prstGeom prst="rect">
            <a:avLst/>
          </a:prstGeom>
          <a:noFill/>
          <a:ln/>
        </p:spPr>
        <p:txBody>
          <a:bodyPr wrap="square" lIns="0" tIns="0" rIns="0" bIns="0" rtlCol="0" anchor="t"/>
          <a:lstStyle/>
          <a:p>
            <a:pPr marL="0" indent="0">
              <a:buNone/>
            </a:pPr>
            <a:r>
              <a:rPr lang="en-US" sz="1500" dirty="0">
                <a:solidFill>
                  <a:srgbClr val="E2E8F0"/>
                </a:solidFill>
                <a:latin typeface="Consolas" pitchFamily="34" charset="0"/>
                <a:ea typeface="Consolas" pitchFamily="34" charset="-122"/>
                <a:cs typeface="Consolas" pitchFamily="34" charset="-120"/>
              </a:rPr>
              <a:t>$ cp hello.txt hello-copy.txt          # cp source dest</a:t>
            </a:r>
            <a:endParaRPr lang="en-US" sz="1500" dirty="0"/>
          </a:p>
          <a:p>
            <a:pPr marL="0" indent="0">
              <a:buNone/>
            </a:pPr>
            <a:r>
              <a:rPr lang="en-US" sz="1500" dirty="0">
                <a:solidFill>
                  <a:srgbClr val="E2E8F0"/>
                </a:solidFill>
                <a:latin typeface="Consolas" pitchFamily="34" charset="0"/>
                <a:ea typeface="Consolas" pitchFamily="34" charset="-122"/>
                <a:cs typeface="Consolas" pitchFamily="34" charset="-120"/>
              </a:rPr>
              <a:t>$ mv hello-copy.txt notes/             # move into notes/</a:t>
            </a:r>
            <a:endParaRPr lang="en-US" sz="1500" dirty="0"/>
          </a:p>
          <a:p>
            <a:pPr marL="0" indent="0">
              <a:buNone/>
            </a:pPr>
            <a:r>
              <a:rPr lang="en-US" sz="1500" dirty="0">
                <a:solidFill>
                  <a:srgbClr val="E2E8F0"/>
                </a:solidFill>
                <a:latin typeface="Consolas" pitchFamily="34" charset="0"/>
                <a:ea typeface="Consolas" pitchFamily="34" charset="-122"/>
                <a:cs typeface="Consolas" pitchFamily="34" charset="-120"/>
              </a:rPr>
              <a:t>$ mv notes/hello-copy.txt notes/greeting.txt   # rename</a:t>
            </a:r>
            <a:endParaRPr lang="en-US" sz="1500" dirty="0"/>
          </a:p>
        </p:txBody>
      </p:sp>
      <p:sp>
        <p:nvSpPr>
          <p:cNvPr id="8" name="Text 6"/>
          <p:cNvSpPr/>
          <p:nvPr/>
        </p:nvSpPr>
        <p:spPr>
          <a:xfrm>
            <a:off x="548640" y="2407158"/>
            <a:ext cx="8046720" cy="767080"/>
          </a:xfrm>
          <a:prstGeom prst="rect">
            <a:avLst/>
          </a:prstGeom>
          <a:solidFill>
            <a:srgbClr val="FFFFFF"/>
          </a:solidFill>
          <a:ln/>
        </p:spPr>
        <p:txBody>
          <a:bodyPr wrap="square" lIns="0" tIns="0" rIns="0" bIns="0" rtlCol="0" anchor="t"/>
          <a:lstStyle/>
          <a:p>
            <a:pPr marL="228600" indent="-228600">
              <a:spcAft>
                <a:spcPts val="600"/>
              </a:spcAft>
              <a:buSzPct val="100000"/>
              <a:buChar char="■"/>
            </a:pPr>
            <a:r>
              <a:rPr lang="en-US" sz="1600" dirty="0">
                <a:solidFill>
                  <a:srgbClr val="1E2761"/>
                </a:solidFill>
                <a:latin typeface="Consolas" pitchFamily="34" charset="0"/>
                <a:ea typeface="Consolas" pitchFamily="34" charset="-122"/>
                <a:cs typeface="Consolas" pitchFamily="34" charset="-120"/>
              </a:rPr>
              <a:t>cp</a:t>
            </a:r>
            <a:r>
              <a:rPr lang="en-US" sz="1600" dirty="0">
                <a:solidFill>
                  <a:srgbClr val="1F2937"/>
                </a:solidFill>
                <a:latin typeface="Calibri" pitchFamily="34" charset="0"/>
                <a:ea typeface="Calibri" pitchFamily="34" charset="-122"/>
                <a:cs typeface="Calibri" pitchFamily="34" charset="-120"/>
              </a:rPr>
              <a:t> = </a:t>
            </a:r>
            <a:r>
              <a:rPr lang="en-US" sz="1600" b="1" dirty="0">
                <a:solidFill>
                  <a:srgbClr val="1F2937"/>
                </a:solidFill>
                <a:latin typeface="Calibri" pitchFamily="34" charset="0"/>
                <a:ea typeface="Calibri" pitchFamily="34" charset="-122"/>
                <a:cs typeface="Calibri" pitchFamily="34" charset="-120"/>
              </a:rPr>
              <a:t>copy</a:t>
            </a:r>
            <a:r>
              <a:rPr lang="en-US" sz="1600" dirty="0">
                <a:solidFill>
                  <a:srgbClr val="1F2937"/>
                </a:solidFill>
                <a:latin typeface="Calibri" pitchFamily="34" charset="0"/>
                <a:ea typeface="Calibri" pitchFamily="34" charset="-122"/>
                <a:cs typeface="Calibri" pitchFamily="34" charset="-120"/>
              </a:rPr>
              <a:t>.</a:t>
            </a:r>
            <a:endParaRPr lang="en-US" sz="1600" dirty="0"/>
          </a:p>
          <a:p>
            <a:pPr marL="228600" indent="-228600">
              <a:spcAft>
                <a:spcPts val="600"/>
              </a:spcAft>
              <a:buSzPct val="100000"/>
              <a:buChar char="■"/>
            </a:pPr>
            <a:r>
              <a:rPr lang="en-US" sz="1600" dirty="0">
                <a:solidFill>
                  <a:srgbClr val="1E2761"/>
                </a:solidFill>
                <a:latin typeface="Consolas" pitchFamily="34" charset="0"/>
                <a:ea typeface="Consolas" pitchFamily="34" charset="-122"/>
                <a:cs typeface="Consolas" pitchFamily="34" charset="-120"/>
              </a:rPr>
              <a:t>mv</a:t>
            </a:r>
            <a:r>
              <a:rPr lang="en-US" sz="1600" dirty="0">
                <a:solidFill>
                  <a:srgbClr val="1F2937"/>
                </a:solidFill>
                <a:latin typeface="Calibri" pitchFamily="34" charset="0"/>
                <a:ea typeface="Calibri" pitchFamily="34" charset="-122"/>
                <a:cs typeface="Calibri" pitchFamily="34" charset="-120"/>
              </a:rPr>
              <a:t> = </a:t>
            </a:r>
            <a:r>
              <a:rPr lang="en-US" sz="1600" b="1" dirty="0">
                <a:solidFill>
                  <a:srgbClr val="1F2937"/>
                </a:solidFill>
                <a:latin typeface="Calibri" pitchFamily="34" charset="0"/>
                <a:ea typeface="Calibri" pitchFamily="34" charset="-122"/>
                <a:cs typeface="Calibri" pitchFamily="34" charset="-120"/>
              </a:rPr>
              <a:t>move</a:t>
            </a:r>
            <a:r>
              <a:rPr lang="en-US" sz="1600" dirty="0">
                <a:solidFill>
                  <a:srgbClr val="1F2937"/>
                </a:solidFill>
                <a:latin typeface="Calibri" pitchFamily="34" charset="0"/>
                <a:ea typeface="Calibri" pitchFamily="34" charset="-122"/>
                <a:cs typeface="Calibri" pitchFamily="34" charset="-120"/>
              </a:rPr>
              <a:t> — and </a:t>
            </a:r>
            <a:r>
              <a:rPr lang="en-US" sz="1600" b="1" dirty="0">
                <a:solidFill>
                  <a:srgbClr val="1F2937"/>
                </a:solidFill>
                <a:latin typeface="Calibri" pitchFamily="34" charset="0"/>
                <a:ea typeface="Calibri" pitchFamily="34" charset="-122"/>
                <a:cs typeface="Calibri" pitchFamily="34" charset="-120"/>
              </a:rPr>
              <a:t>rename</a:t>
            </a:r>
            <a:r>
              <a:rPr lang="en-US" sz="1600" dirty="0">
                <a:solidFill>
                  <a:srgbClr val="1F2937"/>
                </a:solidFill>
                <a:latin typeface="Calibri" pitchFamily="34" charset="0"/>
                <a:ea typeface="Calibri" pitchFamily="34" charset="-122"/>
                <a:cs typeface="Calibri" pitchFamily="34" charset="-120"/>
              </a:rPr>
              <a:t>. There's no separate rename command.</a:t>
            </a:r>
            <a:endParaRPr lang="en-US" sz="16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a:effectLst/>
      </p:bgPr>
    </p:bg>
    <p:spTree>
      <p:nvGrpSpPr>
        <p:cNvPr id="1" name=""/>
        <p:cNvGrpSpPr/>
        <p:nvPr/>
      </p:nvGrpSpPr>
      <p:grpSpPr>
        <a:xfrm>
          <a:off x="0" y="0"/>
          <a:ext cx="0" cy="0"/>
          <a:chOff x="0" y="0"/>
          <a:chExt cx="0" cy="0"/>
        </a:xfrm>
      </p:grpSpPr>
      <p:pic>
        <p:nvPicPr>
          <p:cNvPr id="7" name="Picture 6" descr="access-footer.jpg"/>
          <p:cNvPicPr>
            <a:picLocks noChangeAspect="1"/>
          </p:cNvPicPr>
          <p:nvPr/>
        </p:nvPicPr>
        <p:blipFill>
          <a:blip r:embed="rId3"/>
          <a:stretch>
            <a:fillRect/>
          </a:stretch>
        </p:blipFill>
        <p:spPr>
          <a:xfrm>
            <a:off x="0" y="0"/>
            <a:ext cx="9144000" cy="5143500"/>
          </a:xfrm>
          <a:prstGeom prst="rect">
            <a:avLst/>
          </a:prstGeom>
        </p:spPr>
      </p:pic>
      <p:sp>
        <p:nvSpPr>
          <p:cNvPr id="2" name="Text 0"/>
          <p:cNvSpPr/>
          <p:nvPr/>
        </p:nvSpPr>
        <p:spPr>
          <a:xfrm>
            <a:off x="457200" y="274320"/>
            <a:ext cx="8229600" cy="594360"/>
          </a:xfrm>
          <a:prstGeom prst="rect">
            <a:avLst/>
          </a:prstGeom>
          <a:solidFill>
            <a:srgbClr val="FFFFFF"/>
          </a:solidFill>
          <a:ln/>
        </p:spPr>
        <p:txBody>
          <a:bodyPr wrap="square" lIns="0" tIns="0" rIns="0" bIns="0" rtlCol="0" anchor="ctr"/>
          <a:lstStyle/>
          <a:p>
            <a:pPr marL="0" indent="0">
              <a:buNone/>
            </a:pPr>
            <a:r>
              <a:rPr lang="en-US" sz="2800" b="1" dirty="0">
                <a:solidFill>
                  <a:srgbClr val="1E2761"/>
                </a:solidFill>
                <a:latin typeface="Cambria" pitchFamily="34" charset="0"/>
                <a:ea typeface="Cambria" pitchFamily="34" charset="-122"/>
                <a:cs typeface="Cambria" pitchFamily="34" charset="-120"/>
              </a:rPr>
              <a:t>Deleting  —  read this before you type</a:t>
            </a:r>
            <a:endParaRPr lang="en-US" sz="2800" dirty="0"/>
          </a:p>
        </p:txBody>
      </p:sp>
      <p:sp>
        <p:nvSpPr>
          <p:cNvPr id="3" name="Shape 1"/>
          <p:cNvSpPr/>
          <p:nvPr/>
        </p:nvSpPr>
        <p:spPr>
          <a:xfrm>
            <a:off x="457200" y="868680"/>
            <a:ext cx="548640" cy="36576"/>
          </a:xfrm>
          <a:prstGeom prst="rect">
            <a:avLst/>
          </a:prstGeom>
          <a:solidFill>
            <a:srgbClr val="1E2761"/>
          </a:solidFill>
          <a:ln w="12700">
            <a:solidFill>
              <a:srgbClr val="1E2761"/>
            </a:solidFill>
            <a:prstDash val="solid"/>
          </a:ln>
        </p:spPr>
        <p:txBody>
          <a:bodyPr/>
          <a:lstStyle/>
          <a:p>
            <a:endParaRPr lang="en-US"/>
          </a:p>
        </p:txBody>
      </p:sp>
      <p:sp>
        <p:nvSpPr>
          <p:cNvPr id="4" name="Shape 2"/>
          <p:cNvSpPr/>
          <p:nvPr/>
        </p:nvSpPr>
        <p:spPr>
          <a:xfrm>
            <a:off x="457200" y="1005840"/>
            <a:ext cx="1005840" cy="292608"/>
          </a:xfrm>
          <a:prstGeom prst="rect">
            <a:avLst/>
          </a:prstGeom>
          <a:solidFill>
            <a:srgbClr val="B45309"/>
          </a:solidFill>
          <a:ln w="12700">
            <a:solidFill>
              <a:srgbClr val="B45309"/>
            </a:solidFill>
            <a:prstDash val="solid"/>
          </a:ln>
        </p:spPr>
        <p:txBody>
          <a:bodyPr/>
          <a:lstStyle/>
          <a:p>
            <a:endParaRPr lang="en-US"/>
          </a:p>
        </p:txBody>
      </p:sp>
      <p:sp>
        <p:nvSpPr>
          <p:cNvPr id="5" name="Text 3"/>
          <p:cNvSpPr/>
          <p:nvPr/>
        </p:nvSpPr>
        <p:spPr>
          <a:xfrm>
            <a:off x="457200" y="1005840"/>
            <a:ext cx="1005840" cy="292608"/>
          </a:xfrm>
          <a:prstGeom prst="rect">
            <a:avLst/>
          </a:prstGeom>
          <a:noFill/>
          <a:ln/>
        </p:spPr>
        <p:txBody>
          <a:bodyPr wrap="square" lIns="0" tIns="0" rIns="0" bIns="0" rtlCol="0" anchor="ctr"/>
          <a:lstStyle/>
          <a:p>
            <a:pPr marL="0" indent="0" algn="ctr">
              <a:buNone/>
            </a:pPr>
            <a:r>
              <a:rPr lang="en-US" sz="1100" b="1" kern="0" spc="200" dirty="0">
                <a:solidFill>
                  <a:srgbClr val="FFFFFF"/>
                </a:solidFill>
                <a:latin typeface="Calibri" pitchFamily="34" charset="0"/>
                <a:ea typeface="Calibri" pitchFamily="34" charset="-122"/>
                <a:cs typeface="Calibri" pitchFamily="34" charset="-120"/>
              </a:rPr>
              <a:t>WATCH OUT</a:t>
            </a:r>
            <a:endParaRPr lang="en-US" sz="1100" dirty="0"/>
          </a:p>
        </p:txBody>
      </p:sp>
      <p:sp>
        <p:nvSpPr>
          <p:cNvPr id="6" name="Text 4"/>
          <p:cNvSpPr/>
          <p:nvPr/>
        </p:nvSpPr>
        <p:spPr>
          <a:xfrm>
            <a:off x="548640" y="1435608"/>
            <a:ext cx="8046720" cy="2369820"/>
          </a:xfrm>
          <a:prstGeom prst="rect">
            <a:avLst/>
          </a:prstGeom>
          <a:solidFill>
            <a:srgbClr val="FFFFFF"/>
          </a:solidFill>
          <a:ln/>
        </p:spPr>
        <p:txBody>
          <a:bodyPr wrap="square" lIns="0" tIns="0" rIns="0" bIns="0" rtlCol="0" anchor="t"/>
          <a:lstStyle/>
          <a:p>
            <a:pPr marL="228600" indent="-228600">
              <a:spcAft>
                <a:spcPts val="600"/>
              </a:spcAft>
              <a:buSzPct val="100000"/>
              <a:buChar char="■"/>
            </a:pPr>
            <a:r>
              <a:rPr lang="en-US" sz="1500" dirty="0">
                <a:solidFill>
                  <a:srgbClr val="1E2761"/>
                </a:solidFill>
                <a:latin typeface="Consolas" pitchFamily="34" charset="0"/>
                <a:ea typeface="Consolas" pitchFamily="34" charset="-122"/>
                <a:cs typeface="Consolas" pitchFamily="34" charset="-120"/>
              </a:rPr>
              <a:t>rm</a:t>
            </a:r>
            <a:r>
              <a:rPr lang="en-US" sz="1500" dirty="0">
                <a:solidFill>
                  <a:srgbClr val="1F2937"/>
                </a:solidFill>
                <a:latin typeface="Calibri" pitchFamily="34" charset="0"/>
                <a:ea typeface="Calibri" pitchFamily="34" charset="-122"/>
                <a:cs typeface="Calibri" pitchFamily="34" charset="-120"/>
              </a:rPr>
              <a:t> deletes files. </a:t>
            </a:r>
            <a:r>
              <a:rPr lang="en-US" sz="1500" b="1" dirty="0">
                <a:solidFill>
                  <a:srgbClr val="1F2937"/>
                </a:solidFill>
                <a:latin typeface="Calibri" pitchFamily="34" charset="0"/>
                <a:ea typeface="Calibri" pitchFamily="34" charset="-122"/>
                <a:cs typeface="Calibri" pitchFamily="34" charset="-120"/>
              </a:rPr>
              <a:t>Permanently.</a:t>
            </a:r>
            <a:r>
              <a:rPr lang="en-US" sz="1500" dirty="0">
                <a:solidFill>
                  <a:srgbClr val="1F2937"/>
                </a:solidFill>
                <a:latin typeface="Calibri" pitchFamily="34" charset="0"/>
                <a:ea typeface="Calibri" pitchFamily="34" charset="-122"/>
                <a:cs typeface="Calibri" pitchFamily="34" charset="-120"/>
              </a:rPr>
              <a:t> There is no Trash. There is no undo.</a:t>
            </a:r>
            <a:endParaRPr lang="en-US" sz="1500" dirty="0"/>
          </a:p>
          <a:p>
            <a:pPr marL="228600" indent="-228600">
              <a:spcAft>
                <a:spcPts val="600"/>
              </a:spcAft>
              <a:buSzPct val="100000"/>
              <a:buChar char="■"/>
            </a:pPr>
            <a:r>
              <a:rPr lang="en-US" sz="1500" dirty="0">
                <a:solidFill>
                  <a:srgbClr val="1E2761"/>
                </a:solidFill>
                <a:latin typeface="Consolas" pitchFamily="34" charset="0"/>
                <a:ea typeface="Consolas" pitchFamily="34" charset="-122"/>
                <a:cs typeface="Consolas" pitchFamily="34" charset="-120"/>
              </a:rPr>
              <a:t>rm -r</a:t>
            </a:r>
            <a:r>
              <a:rPr lang="en-US" sz="1500" dirty="0">
                <a:solidFill>
                  <a:srgbClr val="1F2937"/>
                </a:solidFill>
                <a:latin typeface="Calibri" pitchFamily="34" charset="0"/>
                <a:ea typeface="Calibri" pitchFamily="34" charset="-122"/>
                <a:cs typeface="Calibri" pitchFamily="34" charset="-120"/>
              </a:rPr>
              <a:t> deletes a directory and everything in it. </a:t>
            </a:r>
            <a:r>
              <a:rPr lang="en-US" sz="1500" b="1" dirty="0">
                <a:solidFill>
                  <a:srgbClr val="1F2937"/>
                </a:solidFill>
                <a:latin typeface="Calibri" pitchFamily="34" charset="0"/>
                <a:ea typeface="Calibri" pitchFamily="34" charset="-122"/>
                <a:cs typeface="Calibri" pitchFamily="34" charset="-120"/>
              </a:rPr>
              <a:t>Recursively.</a:t>
            </a:r>
            <a:endParaRPr lang="en-US" sz="1500" dirty="0"/>
          </a:p>
          <a:p>
            <a:pPr marL="228600" indent="-228600">
              <a:spcAft>
                <a:spcPts val="600"/>
              </a:spcAft>
              <a:buSzPct val="100000"/>
              <a:buChar char="■"/>
            </a:pPr>
            <a:r>
              <a:rPr lang="en-US" sz="1500" dirty="0">
                <a:solidFill>
                  <a:srgbClr val="1E2761"/>
                </a:solidFill>
                <a:latin typeface="Consolas" pitchFamily="34" charset="0"/>
                <a:ea typeface="Consolas" pitchFamily="34" charset="-122"/>
                <a:cs typeface="Consolas" pitchFamily="34" charset="-120"/>
              </a:rPr>
              <a:t>rm -rf</a:t>
            </a:r>
            <a:r>
              <a:rPr lang="en-US" sz="1500" dirty="0">
                <a:solidFill>
                  <a:srgbClr val="1F2937"/>
                </a:solidFill>
                <a:latin typeface="Calibri" pitchFamily="34" charset="0"/>
                <a:ea typeface="Calibri" pitchFamily="34" charset="-122"/>
                <a:cs typeface="Calibri" pitchFamily="34" charset="-120"/>
              </a:rPr>
              <a:t> deletes recursively and forcefully (no prompts).</a:t>
            </a:r>
            <a:endParaRPr lang="en-US" sz="1500" dirty="0"/>
          </a:p>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Most infamous typo in computing: </a:t>
            </a:r>
            <a:r>
              <a:rPr lang="en-US" sz="1500" dirty="0">
                <a:solidFill>
                  <a:srgbClr val="1E2761"/>
                </a:solidFill>
                <a:latin typeface="Consolas" pitchFamily="34" charset="0"/>
                <a:ea typeface="Consolas" pitchFamily="34" charset="-122"/>
                <a:cs typeface="Consolas" pitchFamily="34" charset="-120"/>
              </a:rPr>
              <a:t>rm -rf /</a:t>
            </a:r>
            <a:r>
              <a:rPr lang="en-US" sz="1500" dirty="0">
                <a:solidFill>
                  <a:srgbClr val="1F2937"/>
                </a:solidFill>
                <a:latin typeface="Calibri" pitchFamily="34" charset="0"/>
                <a:ea typeface="Calibri" pitchFamily="34" charset="-122"/>
                <a:cs typeface="Calibri" pitchFamily="34" charset="-120"/>
              </a:rPr>
              <a:t> — tries to delete the entire system.</a:t>
            </a:r>
            <a:endParaRPr lang="en-US" sz="1500" dirty="0"/>
          </a:p>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Close second: </a:t>
            </a:r>
            <a:r>
              <a:rPr lang="en-US" sz="1500" dirty="0">
                <a:solidFill>
                  <a:srgbClr val="1E2761"/>
                </a:solidFill>
                <a:latin typeface="Consolas" pitchFamily="34" charset="0"/>
                <a:ea typeface="Consolas" pitchFamily="34" charset="-122"/>
                <a:cs typeface="Consolas" pitchFamily="34" charset="-120"/>
              </a:rPr>
              <a:t>rm -rf ~</a:t>
            </a:r>
            <a:r>
              <a:rPr lang="en-US" sz="1500" dirty="0">
                <a:solidFill>
                  <a:srgbClr val="1F2937"/>
                </a:solidFill>
                <a:latin typeface="Calibri" pitchFamily="34" charset="0"/>
                <a:ea typeface="Calibri" pitchFamily="34" charset="-122"/>
                <a:cs typeface="Calibri" pitchFamily="34" charset="-120"/>
              </a:rPr>
              <a:t> — wipes your home directory.</a:t>
            </a:r>
            <a:endParaRPr lang="en-US" sz="1500" dirty="0"/>
          </a:p>
          <a:p>
            <a:pPr marL="228600" indent="-228600">
              <a:spcAft>
                <a:spcPts val="600"/>
              </a:spcAft>
              <a:buSzPct val="100000"/>
              <a:buChar char="■"/>
            </a:pPr>
            <a:r>
              <a:rPr lang="en-US" sz="1500" b="1" dirty="0">
                <a:solidFill>
                  <a:srgbClr val="1F2937"/>
                </a:solidFill>
                <a:latin typeface="Calibri" pitchFamily="34" charset="0"/>
                <a:ea typeface="Calibri" pitchFamily="34" charset="-122"/>
                <a:cs typeface="Calibri" pitchFamily="34" charset="-120"/>
              </a:rPr>
              <a:t>Always look at what you typed before pressing Enter. Especially with `rm`.</a:t>
            </a:r>
            <a:endParaRPr lang="en-US" sz="15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a:effectLst/>
      </p:bgPr>
    </p:bg>
    <p:spTree>
      <p:nvGrpSpPr>
        <p:cNvPr id="1" name=""/>
        <p:cNvGrpSpPr/>
        <p:nvPr/>
      </p:nvGrpSpPr>
      <p:grpSpPr>
        <a:xfrm>
          <a:off x="0" y="0"/>
          <a:ext cx="0" cy="0"/>
          <a:chOff x="0" y="0"/>
          <a:chExt cx="0" cy="0"/>
        </a:xfrm>
      </p:grpSpPr>
      <p:pic>
        <p:nvPicPr>
          <p:cNvPr id="11" name="Picture 10" descr="access-footer.jpg"/>
          <p:cNvPicPr>
            <a:picLocks noChangeAspect="1"/>
          </p:cNvPicPr>
          <p:nvPr/>
        </p:nvPicPr>
        <p:blipFill>
          <a:blip r:embed="rId3"/>
          <a:stretch>
            <a:fillRect/>
          </a:stretch>
        </p:blipFill>
        <p:spPr>
          <a:xfrm>
            <a:off x="0" y="0"/>
            <a:ext cx="9144000" cy="5143500"/>
          </a:xfrm>
          <a:prstGeom prst="rect">
            <a:avLst/>
          </a:prstGeom>
        </p:spPr>
      </p:pic>
      <p:sp>
        <p:nvSpPr>
          <p:cNvPr id="2" name="Text 0"/>
          <p:cNvSpPr/>
          <p:nvPr/>
        </p:nvSpPr>
        <p:spPr>
          <a:xfrm>
            <a:off x="457200" y="274320"/>
            <a:ext cx="8229600" cy="594360"/>
          </a:xfrm>
          <a:prstGeom prst="rect">
            <a:avLst/>
          </a:prstGeom>
          <a:solidFill>
            <a:srgbClr val="FFFFFF"/>
          </a:solidFill>
          <a:ln/>
        </p:spPr>
        <p:txBody>
          <a:bodyPr wrap="square" lIns="0" tIns="0" rIns="0" bIns="0" rtlCol="0" anchor="ctr"/>
          <a:lstStyle/>
          <a:p>
            <a:pPr marL="0" indent="0">
              <a:buNone/>
            </a:pPr>
            <a:r>
              <a:rPr lang="en-US" sz="2800" b="1" dirty="0">
                <a:solidFill>
                  <a:srgbClr val="1E2761"/>
                </a:solidFill>
                <a:latin typeface="Cambria" pitchFamily="34" charset="0"/>
                <a:ea typeface="Cambria" pitchFamily="34" charset="-122"/>
                <a:cs typeface="Cambria" pitchFamily="34" charset="-120"/>
              </a:rPr>
              <a:t>Deleting  —  carefully</a:t>
            </a:r>
            <a:endParaRPr lang="en-US" sz="2800" dirty="0"/>
          </a:p>
        </p:txBody>
      </p:sp>
      <p:sp>
        <p:nvSpPr>
          <p:cNvPr id="3" name="Shape 1"/>
          <p:cNvSpPr/>
          <p:nvPr/>
        </p:nvSpPr>
        <p:spPr>
          <a:xfrm>
            <a:off x="457200" y="868680"/>
            <a:ext cx="548640" cy="36576"/>
          </a:xfrm>
          <a:prstGeom prst="rect">
            <a:avLst/>
          </a:prstGeom>
          <a:solidFill>
            <a:srgbClr val="1E2761"/>
          </a:solidFill>
          <a:ln w="12700">
            <a:solidFill>
              <a:srgbClr val="1E2761"/>
            </a:solidFill>
            <a:prstDash val="solid"/>
          </a:ln>
        </p:spPr>
        <p:txBody>
          <a:bodyPr/>
          <a:lstStyle/>
          <a:p>
            <a:endParaRPr lang="en-US"/>
          </a:p>
        </p:txBody>
      </p:sp>
      <p:sp>
        <p:nvSpPr>
          <p:cNvPr id="4" name="Shape 2"/>
          <p:cNvSpPr/>
          <p:nvPr/>
        </p:nvSpPr>
        <p:spPr>
          <a:xfrm>
            <a:off x="457200" y="1005840"/>
            <a:ext cx="1005840" cy="292608"/>
          </a:xfrm>
          <a:prstGeom prst="rect">
            <a:avLst/>
          </a:prstGeom>
          <a:solidFill>
            <a:srgbClr val="0369A1"/>
          </a:solidFill>
          <a:ln w="12700">
            <a:solidFill>
              <a:srgbClr val="0369A1"/>
            </a:solidFill>
            <a:prstDash val="solid"/>
          </a:ln>
        </p:spPr>
        <p:txBody>
          <a:bodyPr/>
          <a:lstStyle/>
          <a:p>
            <a:endParaRPr lang="en-US"/>
          </a:p>
        </p:txBody>
      </p:sp>
      <p:sp>
        <p:nvSpPr>
          <p:cNvPr id="5" name="Text 3"/>
          <p:cNvSpPr/>
          <p:nvPr/>
        </p:nvSpPr>
        <p:spPr>
          <a:xfrm>
            <a:off x="457200" y="1005840"/>
            <a:ext cx="1005840" cy="292608"/>
          </a:xfrm>
          <a:prstGeom prst="rect">
            <a:avLst/>
          </a:prstGeom>
          <a:noFill/>
          <a:ln/>
        </p:spPr>
        <p:txBody>
          <a:bodyPr wrap="square" lIns="0" tIns="0" rIns="0" bIns="0" rtlCol="0" anchor="ctr"/>
          <a:lstStyle/>
          <a:p>
            <a:pPr marL="0" indent="0" algn="ctr">
              <a:buNone/>
            </a:pPr>
            <a:r>
              <a:rPr lang="en-US" sz="1100" b="1" kern="0" spc="200" dirty="0">
                <a:solidFill>
                  <a:srgbClr val="FFFFFF"/>
                </a:solidFill>
                <a:latin typeface="Calibri" pitchFamily="34" charset="0"/>
                <a:ea typeface="Calibri" pitchFamily="34" charset="-122"/>
                <a:cs typeface="Calibri" pitchFamily="34" charset="-120"/>
              </a:rPr>
              <a:t>DEMO</a:t>
            </a:r>
            <a:endParaRPr lang="en-US" sz="1100" dirty="0"/>
          </a:p>
        </p:txBody>
      </p:sp>
      <p:sp>
        <p:nvSpPr>
          <p:cNvPr id="6" name="Shape 4"/>
          <p:cNvSpPr/>
          <p:nvPr/>
        </p:nvSpPr>
        <p:spPr>
          <a:xfrm>
            <a:off x="548640" y="1435608"/>
            <a:ext cx="8046720" cy="1173480"/>
          </a:xfrm>
          <a:prstGeom prst="rect">
            <a:avLst/>
          </a:prstGeom>
          <a:solidFill>
            <a:srgbClr val="0F172A"/>
          </a:solidFill>
          <a:ln w="12700">
            <a:solidFill>
              <a:srgbClr val="0F172A"/>
            </a:solidFill>
            <a:prstDash val="solid"/>
          </a:ln>
        </p:spPr>
        <p:txBody>
          <a:bodyPr/>
          <a:lstStyle/>
          <a:p>
            <a:endParaRPr lang="en-US"/>
          </a:p>
        </p:txBody>
      </p:sp>
      <p:sp>
        <p:nvSpPr>
          <p:cNvPr id="7" name="Text 5"/>
          <p:cNvSpPr/>
          <p:nvPr/>
        </p:nvSpPr>
        <p:spPr>
          <a:xfrm>
            <a:off x="685800" y="1508760"/>
            <a:ext cx="7772400" cy="1027176"/>
          </a:xfrm>
          <a:prstGeom prst="rect">
            <a:avLst/>
          </a:prstGeom>
          <a:noFill/>
          <a:ln/>
        </p:spPr>
        <p:txBody>
          <a:bodyPr wrap="square" lIns="0" tIns="0" rIns="0" bIns="0" rtlCol="0" anchor="t"/>
          <a:lstStyle/>
          <a:p>
            <a:pPr marL="0" indent="0">
              <a:buNone/>
            </a:pPr>
            <a:r>
              <a:rPr lang="en-US" sz="1500" dirty="0">
                <a:solidFill>
                  <a:srgbClr val="E2E8F0"/>
                </a:solidFill>
                <a:latin typeface="Consolas" pitchFamily="34" charset="0"/>
                <a:ea typeface="Consolas" pitchFamily="34" charset="-122"/>
                <a:cs typeface="Consolas" pitchFamily="34" charset="-120"/>
              </a:rPr>
              <a:t>$ rm hello.txt          # gone</a:t>
            </a:r>
            <a:endParaRPr lang="en-US" sz="1500" dirty="0"/>
          </a:p>
          <a:p>
            <a:pPr marL="0" indent="0">
              <a:buNone/>
            </a:pPr>
            <a:r>
              <a:rPr lang="en-US" sz="1500" dirty="0">
                <a:solidFill>
                  <a:srgbClr val="E2E8F0"/>
                </a:solidFill>
                <a:latin typeface="Consolas" pitchFamily="34" charset="0"/>
                <a:ea typeface="Consolas" pitchFamily="34" charset="-122"/>
                <a:cs typeface="Consolas" pitchFamily="34" charset="-120"/>
              </a:rPr>
              <a:t>$ mkdir junk</a:t>
            </a:r>
            <a:endParaRPr lang="en-US" sz="1500" dirty="0"/>
          </a:p>
          <a:p>
            <a:pPr marL="0" indent="0">
              <a:buNone/>
            </a:pPr>
            <a:r>
              <a:rPr lang="en-US" sz="1500" dirty="0">
                <a:solidFill>
                  <a:srgbClr val="E2E8F0"/>
                </a:solidFill>
                <a:latin typeface="Consolas" pitchFamily="34" charset="0"/>
                <a:ea typeface="Consolas" pitchFamily="34" charset="-122"/>
                <a:cs typeface="Consolas" pitchFamily="34" charset="-120"/>
              </a:rPr>
              <a:t>$ touch junk/a junk/b junk/c</a:t>
            </a:r>
            <a:endParaRPr lang="en-US" sz="1500" dirty="0"/>
          </a:p>
          <a:p>
            <a:pPr marL="0" indent="0">
              <a:buNone/>
            </a:pPr>
            <a:r>
              <a:rPr lang="en-US" sz="1500" dirty="0">
                <a:solidFill>
                  <a:srgbClr val="E2E8F0"/>
                </a:solidFill>
                <a:latin typeface="Consolas" pitchFamily="34" charset="0"/>
                <a:ea typeface="Consolas" pitchFamily="34" charset="-122"/>
                <a:cs typeface="Consolas" pitchFamily="34" charset="-120"/>
              </a:rPr>
              <a:t>$ rm -r junk            # gone with everything inside</a:t>
            </a:r>
            <a:endParaRPr lang="en-US" sz="1500" dirty="0"/>
          </a:p>
        </p:txBody>
      </p:sp>
      <p:sp>
        <p:nvSpPr>
          <p:cNvPr id="8" name="Shape 6"/>
          <p:cNvSpPr/>
          <p:nvPr/>
        </p:nvSpPr>
        <p:spPr>
          <a:xfrm>
            <a:off x="457200" y="2654808"/>
            <a:ext cx="1005840" cy="292608"/>
          </a:xfrm>
          <a:prstGeom prst="rect">
            <a:avLst/>
          </a:prstGeom>
          <a:solidFill>
            <a:srgbClr val="B45309"/>
          </a:solidFill>
          <a:ln w="12700">
            <a:solidFill>
              <a:srgbClr val="B45309"/>
            </a:solidFill>
            <a:prstDash val="solid"/>
          </a:ln>
        </p:spPr>
        <p:txBody>
          <a:bodyPr/>
          <a:lstStyle/>
          <a:p>
            <a:endParaRPr lang="en-US"/>
          </a:p>
        </p:txBody>
      </p:sp>
      <p:sp>
        <p:nvSpPr>
          <p:cNvPr id="9" name="Text 7"/>
          <p:cNvSpPr/>
          <p:nvPr/>
        </p:nvSpPr>
        <p:spPr>
          <a:xfrm>
            <a:off x="457200" y="2654808"/>
            <a:ext cx="1005840" cy="292608"/>
          </a:xfrm>
          <a:prstGeom prst="rect">
            <a:avLst/>
          </a:prstGeom>
          <a:noFill/>
          <a:ln/>
        </p:spPr>
        <p:txBody>
          <a:bodyPr wrap="square" lIns="0" tIns="0" rIns="0" bIns="0" rtlCol="0" anchor="ctr"/>
          <a:lstStyle/>
          <a:p>
            <a:pPr marL="0" indent="0" algn="ctr">
              <a:buNone/>
            </a:pPr>
            <a:r>
              <a:rPr lang="en-US" sz="1100" b="1" kern="0" spc="200" dirty="0">
                <a:solidFill>
                  <a:srgbClr val="FFFFFF"/>
                </a:solidFill>
                <a:latin typeface="Calibri" pitchFamily="34" charset="0"/>
                <a:ea typeface="Calibri" pitchFamily="34" charset="-122"/>
                <a:cs typeface="Calibri" pitchFamily="34" charset="-120"/>
              </a:rPr>
              <a:t>WATCH OUT</a:t>
            </a:r>
            <a:endParaRPr lang="en-US" sz="1100" dirty="0"/>
          </a:p>
        </p:txBody>
      </p:sp>
      <p:sp>
        <p:nvSpPr>
          <p:cNvPr id="10" name="Text 8"/>
          <p:cNvSpPr/>
          <p:nvPr/>
        </p:nvSpPr>
        <p:spPr>
          <a:xfrm>
            <a:off x="548640" y="3084576"/>
            <a:ext cx="8046720" cy="695960"/>
          </a:xfrm>
          <a:prstGeom prst="rect">
            <a:avLst/>
          </a:prstGeom>
          <a:solidFill>
            <a:srgbClr val="FFFFFF"/>
          </a:solidFill>
          <a:ln/>
        </p:spPr>
        <p:txBody>
          <a:bodyPr wrap="square" lIns="0" tIns="0" rIns="0" bIns="0" rtlCol="0" anchor="t"/>
          <a:lstStyle/>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If you're unsure, run </a:t>
            </a:r>
            <a:r>
              <a:rPr lang="en-US" sz="1400" dirty="0">
                <a:solidFill>
                  <a:srgbClr val="1E2761"/>
                </a:solidFill>
                <a:latin typeface="Consolas" pitchFamily="34" charset="0"/>
                <a:ea typeface="Consolas" pitchFamily="34" charset="-122"/>
                <a:cs typeface="Consolas" pitchFamily="34" charset="-120"/>
              </a:rPr>
              <a:t>ls</a:t>
            </a:r>
            <a:r>
              <a:rPr lang="en-US" sz="1400" dirty="0">
                <a:solidFill>
                  <a:srgbClr val="1F2937"/>
                </a:solidFill>
                <a:latin typeface="Calibri" pitchFamily="34" charset="0"/>
                <a:ea typeface="Calibri" pitchFamily="34" charset="-122"/>
                <a:cs typeface="Calibri" pitchFamily="34" charset="-120"/>
              </a:rPr>
              <a:t> first to see what </a:t>
            </a:r>
            <a:r>
              <a:rPr lang="en-US" sz="1400" dirty="0">
                <a:solidFill>
                  <a:srgbClr val="1E2761"/>
                </a:solidFill>
                <a:latin typeface="Consolas" pitchFamily="34" charset="0"/>
                <a:ea typeface="Consolas" pitchFamily="34" charset="-122"/>
                <a:cs typeface="Consolas" pitchFamily="34" charset="-120"/>
              </a:rPr>
              <a:t>rm</a:t>
            </a:r>
            <a:r>
              <a:rPr lang="en-US" sz="1400" dirty="0">
                <a:solidFill>
                  <a:srgbClr val="1F2937"/>
                </a:solidFill>
                <a:latin typeface="Calibri" pitchFamily="34" charset="0"/>
                <a:ea typeface="Calibri" pitchFamily="34" charset="-122"/>
                <a:cs typeface="Calibri" pitchFamily="34" charset="-120"/>
              </a:rPr>
              <a:t> </a:t>
            </a:r>
            <a:r>
              <a:rPr lang="en-US" sz="1400" i="1" dirty="0">
                <a:solidFill>
                  <a:srgbClr val="1F2937"/>
                </a:solidFill>
                <a:latin typeface="Calibri" pitchFamily="34" charset="0"/>
                <a:ea typeface="Calibri" pitchFamily="34" charset="-122"/>
                <a:cs typeface="Calibri" pitchFamily="34" charset="-120"/>
              </a:rPr>
              <a:t>would</a:t>
            </a:r>
            <a:r>
              <a:rPr lang="en-US" sz="1400" dirty="0">
                <a:solidFill>
                  <a:srgbClr val="1F2937"/>
                </a:solidFill>
                <a:latin typeface="Calibri" pitchFamily="34" charset="0"/>
                <a:ea typeface="Calibri" pitchFamily="34" charset="-122"/>
                <a:cs typeface="Calibri" pitchFamily="34" charset="-120"/>
              </a:rPr>
              <a:t> affect.</a:t>
            </a:r>
            <a:endParaRPr lang="en-US" sz="1400" dirty="0"/>
          </a:p>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Or use </a:t>
            </a:r>
            <a:r>
              <a:rPr lang="en-US" sz="1400" dirty="0">
                <a:solidFill>
                  <a:srgbClr val="1E2761"/>
                </a:solidFill>
                <a:latin typeface="Consolas" pitchFamily="34" charset="0"/>
                <a:ea typeface="Consolas" pitchFamily="34" charset="-122"/>
                <a:cs typeface="Consolas" pitchFamily="34" charset="-120"/>
              </a:rPr>
              <a:t>rm -i</a:t>
            </a:r>
            <a:r>
              <a:rPr lang="en-US" sz="1400" dirty="0">
                <a:solidFill>
                  <a:srgbClr val="1F2937"/>
                </a:solidFill>
                <a:latin typeface="Calibri" pitchFamily="34" charset="0"/>
                <a:ea typeface="Calibri" pitchFamily="34" charset="-122"/>
                <a:cs typeface="Calibri" pitchFamily="34" charset="-120"/>
              </a:rPr>
              <a:t>, which asks before each delete.</a:t>
            </a:r>
            <a:endParaRPr lang="en-US" sz="14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a:effectLst/>
      </p:bgPr>
    </p:bg>
    <p:spTree>
      <p:nvGrpSpPr>
        <p:cNvPr id="1" name=""/>
        <p:cNvGrpSpPr/>
        <p:nvPr/>
      </p:nvGrpSpPr>
      <p:grpSpPr>
        <a:xfrm>
          <a:off x="0" y="0"/>
          <a:ext cx="0" cy="0"/>
          <a:chOff x="0" y="0"/>
          <a:chExt cx="0" cy="0"/>
        </a:xfrm>
      </p:grpSpPr>
      <p:pic>
        <p:nvPicPr>
          <p:cNvPr id="12" name="Picture 11" descr="access-footer.jpg"/>
          <p:cNvPicPr>
            <a:picLocks noChangeAspect="1"/>
          </p:cNvPicPr>
          <p:nvPr/>
        </p:nvPicPr>
        <p:blipFill>
          <a:blip r:embed="rId3"/>
          <a:stretch>
            <a:fillRect/>
          </a:stretch>
        </p:blipFill>
        <p:spPr>
          <a:xfrm>
            <a:off x="0" y="0"/>
            <a:ext cx="9144000" cy="5143500"/>
          </a:xfrm>
          <a:prstGeom prst="rect">
            <a:avLst/>
          </a:prstGeom>
        </p:spPr>
      </p:pic>
      <p:sp>
        <p:nvSpPr>
          <p:cNvPr id="2" name="Text 0"/>
          <p:cNvSpPr/>
          <p:nvPr/>
        </p:nvSpPr>
        <p:spPr>
          <a:xfrm>
            <a:off x="457200" y="274320"/>
            <a:ext cx="8229600" cy="594360"/>
          </a:xfrm>
          <a:prstGeom prst="rect">
            <a:avLst/>
          </a:prstGeom>
          <a:solidFill>
            <a:srgbClr val="FFFFFF"/>
          </a:solidFill>
          <a:ln/>
        </p:spPr>
        <p:txBody>
          <a:bodyPr wrap="square" lIns="0" tIns="0" rIns="0" bIns="0" rtlCol="0" anchor="ctr"/>
          <a:lstStyle/>
          <a:p>
            <a:pPr marL="0" indent="0">
              <a:buNone/>
            </a:pPr>
            <a:r>
              <a:rPr lang="en-US" sz="2800" b="1" dirty="0">
                <a:solidFill>
                  <a:srgbClr val="1E2761"/>
                </a:solidFill>
                <a:latin typeface="Cambria" pitchFamily="34" charset="0"/>
                <a:ea typeface="Cambria" pitchFamily="34" charset="-122"/>
                <a:cs typeface="Cambria" pitchFamily="34" charset="-120"/>
              </a:rPr>
              <a:t>Wildcards: matching many files at once</a:t>
            </a:r>
            <a:endParaRPr lang="en-US" sz="2800" dirty="0"/>
          </a:p>
        </p:txBody>
      </p:sp>
      <p:sp>
        <p:nvSpPr>
          <p:cNvPr id="3" name="Shape 1"/>
          <p:cNvSpPr/>
          <p:nvPr/>
        </p:nvSpPr>
        <p:spPr>
          <a:xfrm>
            <a:off x="457200" y="868680"/>
            <a:ext cx="548640" cy="36576"/>
          </a:xfrm>
          <a:prstGeom prst="rect">
            <a:avLst/>
          </a:prstGeom>
          <a:solidFill>
            <a:srgbClr val="1E2761"/>
          </a:solidFill>
          <a:ln w="12700">
            <a:solidFill>
              <a:srgbClr val="1E2761"/>
            </a:solidFill>
            <a:prstDash val="solid"/>
          </a:ln>
        </p:spPr>
        <p:txBody>
          <a:bodyPr/>
          <a:lstStyle/>
          <a:p>
            <a:endParaRPr lang="en-US"/>
          </a:p>
        </p:txBody>
      </p:sp>
      <p:sp>
        <p:nvSpPr>
          <p:cNvPr id="4" name="Shape 2"/>
          <p:cNvSpPr/>
          <p:nvPr/>
        </p:nvSpPr>
        <p:spPr>
          <a:xfrm>
            <a:off x="457200" y="1005840"/>
            <a:ext cx="1005840" cy="292608"/>
          </a:xfrm>
          <a:prstGeom prst="rect">
            <a:avLst/>
          </a:prstGeom>
          <a:solidFill>
            <a:srgbClr val="1E2761"/>
          </a:solidFill>
          <a:ln w="12700">
            <a:solidFill>
              <a:srgbClr val="1E2761"/>
            </a:solidFill>
            <a:prstDash val="solid"/>
          </a:ln>
        </p:spPr>
        <p:txBody>
          <a:bodyPr/>
          <a:lstStyle/>
          <a:p>
            <a:endParaRPr lang="en-US"/>
          </a:p>
        </p:txBody>
      </p:sp>
      <p:sp>
        <p:nvSpPr>
          <p:cNvPr id="5" name="Text 3"/>
          <p:cNvSpPr/>
          <p:nvPr/>
        </p:nvSpPr>
        <p:spPr>
          <a:xfrm>
            <a:off x="457200" y="1005840"/>
            <a:ext cx="1005840" cy="292608"/>
          </a:xfrm>
          <a:prstGeom prst="rect">
            <a:avLst/>
          </a:prstGeom>
          <a:noFill/>
          <a:ln/>
        </p:spPr>
        <p:txBody>
          <a:bodyPr wrap="square" lIns="0" tIns="0" rIns="0" bIns="0" rtlCol="0" anchor="ctr"/>
          <a:lstStyle/>
          <a:p>
            <a:pPr marL="0" indent="0" algn="ctr">
              <a:buNone/>
            </a:pPr>
            <a:r>
              <a:rPr lang="en-US" sz="1100" b="1" kern="0" spc="200" dirty="0">
                <a:solidFill>
                  <a:srgbClr val="FFFFFF"/>
                </a:solidFill>
                <a:latin typeface="Calibri" pitchFamily="34" charset="0"/>
                <a:ea typeface="Calibri" pitchFamily="34" charset="-122"/>
                <a:cs typeface="Calibri" pitchFamily="34" charset="-120"/>
              </a:rPr>
              <a:t>TALK</a:t>
            </a:r>
            <a:endParaRPr lang="en-US" sz="1100" dirty="0"/>
          </a:p>
        </p:txBody>
      </p:sp>
      <p:sp>
        <p:nvSpPr>
          <p:cNvPr id="6" name="Text 4"/>
          <p:cNvSpPr/>
          <p:nvPr/>
        </p:nvSpPr>
        <p:spPr>
          <a:xfrm>
            <a:off x="548640" y="1435608"/>
            <a:ext cx="8046720" cy="990600"/>
          </a:xfrm>
          <a:prstGeom prst="rect">
            <a:avLst/>
          </a:prstGeom>
          <a:solidFill>
            <a:srgbClr val="FFFFFF"/>
          </a:solidFill>
          <a:ln/>
        </p:spPr>
        <p:txBody>
          <a:bodyPr wrap="square" lIns="0" tIns="0" rIns="0" bIns="0" rtlCol="0" anchor="t"/>
          <a:lstStyle/>
          <a:p>
            <a:pPr marL="228600" indent="-228600">
              <a:spcAft>
                <a:spcPts val="600"/>
              </a:spcAft>
              <a:buSzPct val="100000"/>
              <a:buChar char="■"/>
            </a:pPr>
            <a:r>
              <a:rPr lang="en-US" sz="900" dirty="0">
                <a:solidFill>
                  <a:srgbClr val="1F2937"/>
                </a:solidFill>
                <a:latin typeface="Calibri" pitchFamily="34" charset="0"/>
                <a:ea typeface="Calibri" pitchFamily="34" charset="-122"/>
                <a:cs typeface="Calibri" pitchFamily="34" charset="-120"/>
              </a:rPr>
              <a:t>Two </a:t>
            </a:r>
            <a:r>
              <a:rPr lang="en-US" sz="900" b="1" dirty="0">
                <a:solidFill>
                  <a:srgbClr val="1F2937"/>
                </a:solidFill>
                <a:latin typeface="Calibri" pitchFamily="34" charset="0"/>
                <a:ea typeface="Calibri" pitchFamily="34" charset="-122"/>
                <a:cs typeface="Calibri" pitchFamily="34" charset="-120"/>
              </a:rPr>
              <a:t>wildcards</a:t>
            </a:r>
            <a:r>
              <a:rPr lang="en-US" sz="900" dirty="0">
                <a:solidFill>
                  <a:srgbClr val="1F2937"/>
                </a:solidFill>
                <a:latin typeface="Calibri" pitchFamily="34" charset="0"/>
                <a:ea typeface="Calibri" pitchFamily="34" charset="-122"/>
                <a:cs typeface="Calibri" pitchFamily="34" charset="-120"/>
              </a:rPr>
              <a:t> for matching filenames:</a:t>
            </a:r>
            <a:endParaRPr lang="en-US" sz="900" dirty="0"/>
          </a:p>
          <a:p>
            <a:pPr marL="457200" lvl="1" indent="-228600">
              <a:spcAft>
                <a:spcPts val="600"/>
              </a:spcAft>
              <a:buSzPct val="100000"/>
              <a:buChar char="■"/>
            </a:pPr>
            <a:r>
              <a:rPr lang="en-US" sz="900" dirty="0">
                <a:solidFill>
                  <a:srgbClr val="1E2761"/>
                </a:solidFill>
                <a:latin typeface="Consolas" pitchFamily="34" charset="0"/>
                <a:ea typeface="Consolas" pitchFamily="34" charset="-122"/>
                <a:cs typeface="Consolas" pitchFamily="34" charset="-120"/>
              </a:rPr>
              <a:t>*</a:t>
            </a:r>
            <a:r>
              <a:rPr lang="en-US" sz="900" dirty="0">
                <a:solidFill>
                  <a:srgbClr val="1F2937"/>
                </a:solidFill>
                <a:latin typeface="Calibri" pitchFamily="34" charset="0"/>
                <a:ea typeface="Calibri" pitchFamily="34" charset="-122"/>
                <a:cs typeface="Calibri" pitchFamily="34" charset="-120"/>
              </a:rPr>
              <a:t> — matches </a:t>
            </a:r>
            <a:r>
              <a:rPr lang="en-US" sz="900" b="1" dirty="0">
                <a:solidFill>
                  <a:srgbClr val="1F2937"/>
                </a:solidFill>
                <a:latin typeface="Calibri" pitchFamily="34" charset="0"/>
                <a:ea typeface="Calibri" pitchFamily="34" charset="-122"/>
                <a:cs typeface="Calibri" pitchFamily="34" charset="-120"/>
              </a:rPr>
              <a:t>any sequence</a:t>
            </a:r>
            <a:r>
              <a:rPr lang="en-US" sz="900" dirty="0">
                <a:solidFill>
                  <a:srgbClr val="1F2937"/>
                </a:solidFill>
                <a:latin typeface="Calibri" pitchFamily="34" charset="0"/>
                <a:ea typeface="Calibri" pitchFamily="34" charset="-122"/>
                <a:cs typeface="Calibri" pitchFamily="34" charset="-120"/>
              </a:rPr>
              <a:t> of characters (including nothing)</a:t>
            </a:r>
            <a:endParaRPr lang="en-US" sz="900" dirty="0"/>
          </a:p>
          <a:p>
            <a:pPr marL="457200" lvl="1" indent="-228600">
              <a:spcAft>
                <a:spcPts val="600"/>
              </a:spcAft>
              <a:buSzPct val="100000"/>
              <a:buChar char="■"/>
            </a:pPr>
            <a:r>
              <a:rPr lang="en-US" sz="900" dirty="0">
                <a:solidFill>
                  <a:srgbClr val="1E2761"/>
                </a:solidFill>
                <a:latin typeface="Consolas" pitchFamily="34" charset="0"/>
                <a:ea typeface="Consolas" pitchFamily="34" charset="-122"/>
                <a:cs typeface="Consolas" pitchFamily="34" charset="-120"/>
              </a:rPr>
              <a:t>?</a:t>
            </a:r>
            <a:r>
              <a:rPr lang="en-US" sz="900" dirty="0">
                <a:solidFill>
                  <a:srgbClr val="1F2937"/>
                </a:solidFill>
                <a:latin typeface="Calibri" pitchFamily="34" charset="0"/>
                <a:ea typeface="Calibri" pitchFamily="34" charset="-122"/>
                <a:cs typeface="Calibri" pitchFamily="34" charset="-120"/>
              </a:rPr>
              <a:t> — matches </a:t>
            </a:r>
            <a:r>
              <a:rPr lang="en-US" sz="900" b="1" dirty="0">
                <a:solidFill>
                  <a:srgbClr val="1F2937"/>
                </a:solidFill>
                <a:latin typeface="Calibri" pitchFamily="34" charset="0"/>
                <a:ea typeface="Calibri" pitchFamily="34" charset="-122"/>
                <a:cs typeface="Calibri" pitchFamily="34" charset="-120"/>
              </a:rPr>
              <a:t>exactly one</a:t>
            </a:r>
            <a:r>
              <a:rPr lang="en-US" sz="900" dirty="0">
                <a:solidFill>
                  <a:srgbClr val="1F2937"/>
                </a:solidFill>
                <a:latin typeface="Calibri" pitchFamily="34" charset="0"/>
                <a:ea typeface="Calibri" pitchFamily="34" charset="-122"/>
                <a:cs typeface="Calibri" pitchFamily="34" charset="-120"/>
              </a:rPr>
              <a:t> character</a:t>
            </a:r>
            <a:endParaRPr lang="en-US" sz="900" dirty="0"/>
          </a:p>
          <a:p>
            <a:pPr marL="228600" indent="-228600">
              <a:spcAft>
                <a:spcPts val="600"/>
              </a:spcAft>
              <a:buSzPct val="100000"/>
              <a:buChar char="■"/>
            </a:pPr>
            <a:r>
              <a:rPr lang="en-US" sz="900" dirty="0">
                <a:solidFill>
                  <a:srgbClr val="1F2937"/>
                </a:solidFill>
                <a:latin typeface="Calibri" pitchFamily="34" charset="0"/>
                <a:ea typeface="Calibri" pitchFamily="34" charset="-122"/>
                <a:cs typeface="Calibri" pitchFamily="34" charset="-120"/>
              </a:rPr>
              <a:t>The shell </a:t>
            </a:r>
            <a:r>
              <a:rPr lang="en-US" sz="900" b="1" dirty="0">
                <a:solidFill>
                  <a:srgbClr val="1F2937"/>
                </a:solidFill>
                <a:latin typeface="Calibri" pitchFamily="34" charset="0"/>
                <a:ea typeface="Calibri" pitchFamily="34" charset="-122"/>
                <a:cs typeface="Calibri" pitchFamily="34" charset="-120"/>
              </a:rPr>
              <a:t>expands</a:t>
            </a:r>
            <a:r>
              <a:rPr lang="en-US" sz="900" dirty="0">
                <a:solidFill>
                  <a:srgbClr val="1F2937"/>
                </a:solidFill>
                <a:latin typeface="Calibri" pitchFamily="34" charset="0"/>
                <a:ea typeface="Calibri" pitchFamily="34" charset="-122"/>
                <a:cs typeface="Calibri" pitchFamily="34" charset="-120"/>
              </a:rPr>
              <a:t> these </a:t>
            </a:r>
            <a:r>
              <a:rPr lang="en-US" sz="900" i="1" dirty="0">
                <a:solidFill>
                  <a:srgbClr val="1F2937"/>
                </a:solidFill>
                <a:latin typeface="Calibri" pitchFamily="34" charset="0"/>
                <a:ea typeface="Calibri" pitchFamily="34" charset="-122"/>
                <a:cs typeface="Calibri" pitchFamily="34" charset="-120"/>
              </a:rPr>
              <a:t>before</a:t>
            </a:r>
            <a:r>
              <a:rPr lang="en-US" sz="900" dirty="0">
                <a:solidFill>
                  <a:srgbClr val="1F2937"/>
                </a:solidFill>
                <a:latin typeface="Calibri" pitchFamily="34" charset="0"/>
                <a:ea typeface="Calibri" pitchFamily="34" charset="-122"/>
                <a:cs typeface="Calibri" pitchFamily="34" charset="-120"/>
              </a:rPr>
              <a:t> the command sees them — the command just gets the list of matching filenames.</a:t>
            </a:r>
            <a:endParaRPr lang="en-US" sz="900" dirty="0"/>
          </a:p>
        </p:txBody>
      </p:sp>
      <p:sp>
        <p:nvSpPr>
          <p:cNvPr id="7" name="Shape 5"/>
          <p:cNvSpPr/>
          <p:nvPr/>
        </p:nvSpPr>
        <p:spPr>
          <a:xfrm>
            <a:off x="457200" y="2471928"/>
            <a:ext cx="1005840" cy="292608"/>
          </a:xfrm>
          <a:prstGeom prst="rect">
            <a:avLst/>
          </a:prstGeom>
          <a:solidFill>
            <a:srgbClr val="0369A1"/>
          </a:solidFill>
          <a:ln w="12700">
            <a:solidFill>
              <a:srgbClr val="0369A1"/>
            </a:solidFill>
            <a:prstDash val="solid"/>
          </a:ln>
        </p:spPr>
        <p:txBody>
          <a:bodyPr/>
          <a:lstStyle/>
          <a:p>
            <a:endParaRPr lang="en-US"/>
          </a:p>
        </p:txBody>
      </p:sp>
      <p:sp>
        <p:nvSpPr>
          <p:cNvPr id="8" name="Text 6"/>
          <p:cNvSpPr/>
          <p:nvPr/>
        </p:nvSpPr>
        <p:spPr>
          <a:xfrm>
            <a:off x="457200" y="2471928"/>
            <a:ext cx="1005840" cy="292608"/>
          </a:xfrm>
          <a:prstGeom prst="rect">
            <a:avLst/>
          </a:prstGeom>
          <a:noFill/>
          <a:ln/>
        </p:spPr>
        <p:txBody>
          <a:bodyPr wrap="square" lIns="0" tIns="0" rIns="0" bIns="0" rtlCol="0" anchor="ctr"/>
          <a:lstStyle/>
          <a:p>
            <a:pPr marL="0" indent="0" algn="ctr">
              <a:buNone/>
            </a:pPr>
            <a:r>
              <a:rPr lang="en-US" sz="1100" b="1" kern="0" spc="200" dirty="0">
                <a:solidFill>
                  <a:srgbClr val="FFFFFF"/>
                </a:solidFill>
                <a:latin typeface="Calibri" pitchFamily="34" charset="0"/>
                <a:ea typeface="Calibri" pitchFamily="34" charset="-122"/>
                <a:cs typeface="Calibri" pitchFamily="34" charset="-120"/>
              </a:rPr>
              <a:t>DEMO</a:t>
            </a:r>
            <a:endParaRPr lang="en-US" sz="1100" dirty="0"/>
          </a:p>
        </p:txBody>
      </p:sp>
      <p:sp>
        <p:nvSpPr>
          <p:cNvPr id="9" name="Shape 7"/>
          <p:cNvSpPr/>
          <p:nvPr/>
        </p:nvSpPr>
        <p:spPr>
          <a:xfrm>
            <a:off x="548640" y="2901696"/>
            <a:ext cx="8046720" cy="1338580"/>
          </a:xfrm>
          <a:prstGeom prst="rect">
            <a:avLst/>
          </a:prstGeom>
          <a:solidFill>
            <a:srgbClr val="0F172A"/>
          </a:solidFill>
          <a:ln w="12700">
            <a:solidFill>
              <a:srgbClr val="0F172A"/>
            </a:solidFill>
            <a:prstDash val="solid"/>
          </a:ln>
        </p:spPr>
        <p:txBody>
          <a:bodyPr/>
          <a:lstStyle/>
          <a:p>
            <a:endParaRPr lang="en-US"/>
          </a:p>
        </p:txBody>
      </p:sp>
      <p:sp>
        <p:nvSpPr>
          <p:cNvPr id="10" name="Text 8"/>
          <p:cNvSpPr/>
          <p:nvPr/>
        </p:nvSpPr>
        <p:spPr>
          <a:xfrm>
            <a:off x="685800" y="2974848"/>
            <a:ext cx="7772400" cy="1192276"/>
          </a:xfrm>
          <a:prstGeom prst="rect">
            <a:avLst/>
          </a:prstGeom>
          <a:noFill/>
          <a:ln/>
        </p:spPr>
        <p:txBody>
          <a:bodyPr wrap="square" lIns="0" tIns="0" rIns="0" bIns="0" rtlCol="0" anchor="t"/>
          <a:lstStyle/>
          <a:p>
            <a:pPr marL="0" indent="0">
              <a:buNone/>
            </a:pPr>
            <a:r>
              <a:rPr lang="en-US" sz="1000" dirty="0">
                <a:solidFill>
                  <a:srgbClr val="E2E8F0"/>
                </a:solidFill>
                <a:latin typeface="Consolas" pitchFamily="34" charset="0"/>
                <a:ea typeface="Consolas" pitchFamily="34" charset="-122"/>
                <a:cs typeface="Consolas" pitchFamily="34" charset="-120"/>
              </a:rPr>
              <a:t>$ cd ~/workshop</a:t>
            </a:r>
            <a:endParaRPr lang="en-US" sz="1000" dirty="0"/>
          </a:p>
          <a:p>
            <a:pPr marL="0" indent="0">
              <a:buNone/>
            </a:pPr>
            <a:r>
              <a:rPr lang="en-US" sz="1000" dirty="0">
                <a:solidFill>
                  <a:srgbClr val="E2E8F0"/>
                </a:solidFill>
                <a:latin typeface="Consolas" pitchFamily="34" charset="0"/>
                <a:ea typeface="Consolas" pitchFamily="34" charset="-122"/>
                <a:cs typeface="Consolas" pitchFamily="34" charset="-120"/>
              </a:rPr>
              <a:t>$ touch a.txt b.txt c.log readme.md</a:t>
            </a:r>
            <a:endParaRPr lang="en-US" sz="1000" dirty="0"/>
          </a:p>
          <a:p>
            <a:pPr marL="0" indent="0">
              <a:buNone/>
            </a:pPr>
            <a:r>
              <a:rPr lang="en-US" sz="1000" dirty="0">
                <a:solidFill>
                  <a:srgbClr val="E2E8F0"/>
                </a:solidFill>
                <a:latin typeface="Consolas" pitchFamily="34" charset="0"/>
                <a:ea typeface="Consolas" pitchFamily="34" charset="-122"/>
                <a:cs typeface="Consolas" pitchFamily="34" charset="-120"/>
              </a:rPr>
              <a:t>$ ls *.txt        # a.txt  b.txt</a:t>
            </a:r>
            <a:endParaRPr lang="en-US" sz="1000" dirty="0"/>
          </a:p>
          <a:p>
            <a:pPr marL="0" indent="0">
              <a:buNone/>
            </a:pPr>
            <a:r>
              <a:rPr lang="en-US" sz="1000" dirty="0">
                <a:solidFill>
                  <a:srgbClr val="E2E8F0"/>
                </a:solidFill>
                <a:latin typeface="Consolas" pitchFamily="34" charset="0"/>
                <a:ea typeface="Consolas" pitchFamily="34" charset="-122"/>
                <a:cs typeface="Consolas" pitchFamily="34" charset="-120"/>
              </a:rPr>
              <a:t>$ ls *.log        # c.log</a:t>
            </a:r>
            <a:endParaRPr lang="en-US" sz="1000" dirty="0"/>
          </a:p>
          <a:p>
            <a:pPr marL="0" indent="0">
              <a:buNone/>
            </a:pPr>
            <a:r>
              <a:rPr lang="en-US" sz="1000" dirty="0">
                <a:solidFill>
                  <a:srgbClr val="E2E8F0"/>
                </a:solidFill>
                <a:latin typeface="Consolas" pitchFamily="34" charset="0"/>
                <a:ea typeface="Consolas" pitchFamily="34" charset="-122"/>
                <a:cs typeface="Consolas" pitchFamily="34" charset="-120"/>
              </a:rPr>
              <a:t>$ ls ?.txt        # a.txt  b.txt   (one char + .txt)</a:t>
            </a:r>
            <a:endParaRPr lang="en-US" sz="1000" dirty="0"/>
          </a:p>
          <a:p>
            <a:pPr marL="0" indent="0">
              <a:buNone/>
            </a:pPr>
            <a:r>
              <a:rPr lang="en-US" sz="1000" dirty="0">
                <a:solidFill>
                  <a:srgbClr val="E2E8F0"/>
                </a:solidFill>
                <a:latin typeface="Consolas" pitchFamily="34" charset="0"/>
                <a:ea typeface="Consolas" pitchFamily="34" charset="-122"/>
                <a:cs typeface="Consolas" pitchFamily="34" charset="-120"/>
              </a:rPr>
              <a:t>$ ls *            # everything</a:t>
            </a:r>
            <a:endParaRPr lang="en-US" sz="1000" dirty="0"/>
          </a:p>
          <a:p>
            <a:pPr marL="0" indent="0">
              <a:buNone/>
            </a:pPr>
            <a:r>
              <a:rPr lang="en-US" sz="1000" dirty="0">
                <a:solidFill>
                  <a:srgbClr val="E2E8F0"/>
                </a:solidFill>
                <a:latin typeface="Consolas" pitchFamily="34" charset="0"/>
                <a:ea typeface="Consolas" pitchFamily="34" charset="-122"/>
                <a:cs typeface="Consolas" pitchFamily="34" charset="-120"/>
              </a:rPr>
              <a:t>$ echo *.txt      # see what the shell expands * into</a:t>
            </a:r>
            <a:endParaRPr lang="en-US" sz="1000" dirty="0"/>
          </a:p>
        </p:txBody>
      </p:sp>
      <p:sp>
        <p:nvSpPr>
          <p:cNvPr id="11" name="Text 9"/>
          <p:cNvSpPr/>
          <p:nvPr/>
        </p:nvSpPr>
        <p:spPr>
          <a:xfrm>
            <a:off x="548640" y="4285996"/>
            <a:ext cx="8046720" cy="807720"/>
          </a:xfrm>
          <a:prstGeom prst="rect">
            <a:avLst/>
          </a:prstGeom>
          <a:solidFill>
            <a:srgbClr val="FFFFFF"/>
          </a:solidFill>
          <a:ln/>
        </p:spPr>
        <p:txBody>
          <a:bodyPr wrap="square" lIns="0" tIns="0" rIns="0" bIns="0" rtlCol="0" anchor="t"/>
          <a:lstStyle/>
          <a:p>
            <a:pPr marL="228600" indent="-228600">
              <a:spcAft>
                <a:spcPts val="600"/>
              </a:spcAft>
              <a:buSzPct val="100000"/>
              <a:buChar char="■"/>
            </a:pPr>
            <a:r>
              <a:rPr lang="en-US" sz="1000" dirty="0">
                <a:solidFill>
                  <a:srgbClr val="1F2937"/>
                </a:solidFill>
                <a:latin typeface="Calibri" pitchFamily="34" charset="0"/>
                <a:ea typeface="Calibri" pitchFamily="34" charset="-122"/>
                <a:cs typeface="Calibri" pitchFamily="34" charset="-120"/>
              </a:rPr>
              <a:t>Works with </a:t>
            </a:r>
            <a:r>
              <a:rPr lang="en-US" sz="1000" dirty="0">
                <a:solidFill>
                  <a:srgbClr val="1E2761"/>
                </a:solidFill>
                <a:latin typeface="Consolas" pitchFamily="34" charset="0"/>
                <a:ea typeface="Consolas" pitchFamily="34" charset="-122"/>
                <a:cs typeface="Consolas" pitchFamily="34" charset="-120"/>
              </a:rPr>
              <a:t>ls</a:t>
            </a:r>
            <a:r>
              <a:rPr lang="en-US" sz="1000" dirty="0">
                <a:solidFill>
                  <a:srgbClr val="1F2937"/>
                </a:solidFill>
                <a:latin typeface="Calibri" pitchFamily="34" charset="0"/>
                <a:ea typeface="Calibri" pitchFamily="34" charset="-122"/>
                <a:cs typeface="Calibri" pitchFamily="34" charset="-120"/>
              </a:rPr>
              <a:t>, </a:t>
            </a:r>
            <a:r>
              <a:rPr lang="en-US" sz="1000" dirty="0">
                <a:solidFill>
                  <a:srgbClr val="1E2761"/>
                </a:solidFill>
                <a:latin typeface="Consolas" pitchFamily="34" charset="0"/>
                <a:ea typeface="Consolas" pitchFamily="34" charset="-122"/>
                <a:cs typeface="Consolas" pitchFamily="34" charset="-120"/>
              </a:rPr>
              <a:t>cp</a:t>
            </a:r>
            <a:r>
              <a:rPr lang="en-US" sz="1000" dirty="0">
                <a:solidFill>
                  <a:srgbClr val="1F2937"/>
                </a:solidFill>
                <a:latin typeface="Calibri" pitchFamily="34" charset="0"/>
                <a:ea typeface="Calibri" pitchFamily="34" charset="-122"/>
                <a:cs typeface="Calibri" pitchFamily="34" charset="-120"/>
              </a:rPr>
              <a:t>, </a:t>
            </a:r>
            <a:r>
              <a:rPr lang="en-US" sz="1000" dirty="0">
                <a:solidFill>
                  <a:srgbClr val="1E2761"/>
                </a:solidFill>
                <a:latin typeface="Consolas" pitchFamily="34" charset="0"/>
                <a:ea typeface="Consolas" pitchFamily="34" charset="-122"/>
                <a:cs typeface="Consolas" pitchFamily="34" charset="-120"/>
              </a:rPr>
              <a:t>mv</a:t>
            </a:r>
            <a:r>
              <a:rPr lang="en-US" sz="1000" dirty="0">
                <a:solidFill>
                  <a:srgbClr val="1F2937"/>
                </a:solidFill>
                <a:latin typeface="Calibri" pitchFamily="34" charset="0"/>
                <a:ea typeface="Calibri" pitchFamily="34" charset="-122"/>
                <a:cs typeface="Calibri" pitchFamily="34" charset="-120"/>
              </a:rPr>
              <a:t>, </a:t>
            </a:r>
            <a:r>
              <a:rPr lang="en-US" sz="1000" dirty="0">
                <a:solidFill>
                  <a:srgbClr val="1E2761"/>
                </a:solidFill>
                <a:latin typeface="Consolas" pitchFamily="34" charset="0"/>
                <a:ea typeface="Consolas" pitchFamily="34" charset="-122"/>
                <a:cs typeface="Consolas" pitchFamily="34" charset="-120"/>
              </a:rPr>
              <a:t>rm</a:t>
            </a:r>
            <a:r>
              <a:rPr lang="en-US" sz="1000" dirty="0">
                <a:solidFill>
                  <a:srgbClr val="1F2937"/>
                </a:solidFill>
                <a:latin typeface="Calibri" pitchFamily="34" charset="0"/>
                <a:ea typeface="Calibri" pitchFamily="34" charset="-122"/>
                <a:cs typeface="Calibri" pitchFamily="34" charset="-120"/>
              </a:rPr>
              <a:t>, </a:t>
            </a:r>
            <a:r>
              <a:rPr lang="en-US" sz="1000" dirty="0">
                <a:solidFill>
                  <a:srgbClr val="1E2761"/>
                </a:solidFill>
                <a:latin typeface="Consolas" pitchFamily="34" charset="0"/>
                <a:ea typeface="Consolas" pitchFamily="34" charset="-122"/>
                <a:cs typeface="Consolas" pitchFamily="34" charset="-120"/>
              </a:rPr>
              <a:t>cat</a:t>
            </a:r>
            <a:r>
              <a:rPr lang="en-US" sz="1000" dirty="0">
                <a:solidFill>
                  <a:srgbClr val="1F2937"/>
                </a:solidFill>
                <a:latin typeface="Calibri" pitchFamily="34" charset="0"/>
                <a:ea typeface="Calibri" pitchFamily="34" charset="-122"/>
                <a:cs typeface="Calibri" pitchFamily="34" charset="-120"/>
              </a:rPr>
              <a:t>, </a:t>
            </a:r>
            <a:r>
              <a:rPr lang="en-US" sz="1000" dirty="0">
                <a:solidFill>
                  <a:srgbClr val="1E2761"/>
                </a:solidFill>
                <a:latin typeface="Consolas" pitchFamily="34" charset="0"/>
                <a:ea typeface="Consolas" pitchFamily="34" charset="-122"/>
                <a:cs typeface="Consolas" pitchFamily="34" charset="-120"/>
              </a:rPr>
              <a:t>grep</a:t>
            </a:r>
            <a:r>
              <a:rPr lang="en-US" sz="1000" dirty="0">
                <a:solidFill>
                  <a:srgbClr val="1F2937"/>
                </a:solidFill>
                <a:latin typeface="Calibri" pitchFamily="34" charset="0"/>
                <a:ea typeface="Calibri" pitchFamily="34" charset="-122"/>
                <a:cs typeface="Calibri" pitchFamily="34" charset="-120"/>
              </a:rPr>
              <a:t>, … most filename-taking commands.</a:t>
            </a:r>
            <a:endParaRPr lang="en-US" sz="1000" dirty="0"/>
          </a:p>
          <a:p>
            <a:pPr marL="228600" indent="-228600">
              <a:spcAft>
                <a:spcPts val="600"/>
              </a:spcAft>
              <a:buSzPct val="100000"/>
              <a:buChar char="■"/>
            </a:pPr>
            <a:r>
              <a:rPr lang="en-US" sz="1000" dirty="0">
                <a:solidFill>
                  <a:srgbClr val="1E2761"/>
                </a:solidFill>
                <a:latin typeface="Consolas" pitchFamily="34" charset="0"/>
                <a:ea typeface="Consolas" pitchFamily="34" charset="-122"/>
                <a:cs typeface="Consolas" pitchFamily="34" charset="-120"/>
              </a:rPr>
              <a:t>rm *.tmp</a:t>
            </a:r>
            <a:r>
              <a:rPr lang="en-US" sz="1000" dirty="0">
                <a:solidFill>
                  <a:srgbClr val="1F2937"/>
                </a:solidFill>
                <a:latin typeface="Calibri" pitchFamily="34" charset="0"/>
                <a:ea typeface="Calibri" pitchFamily="34" charset="-122"/>
                <a:cs typeface="Calibri" pitchFamily="34" charset="-120"/>
              </a:rPr>
              <a:t> deletes every </a:t>
            </a:r>
            <a:r>
              <a:rPr lang="en-US" sz="1000" dirty="0">
                <a:solidFill>
                  <a:srgbClr val="1E2761"/>
                </a:solidFill>
                <a:latin typeface="Consolas" pitchFamily="34" charset="0"/>
                <a:ea typeface="Consolas" pitchFamily="34" charset="-122"/>
                <a:cs typeface="Consolas" pitchFamily="34" charset="-120"/>
              </a:rPr>
              <a:t>.tmp</a:t>
            </a:r>
            <a:r>
              <a:rPr lang="en-US" sz="1000" dirty="0">
                <a:solidFill>
                  <a:srgbClr val="1F2937"/>
                </a:solidFill>
                <a:latin typeface="Calibri" pitchFamily="34" charset="0"/>
                <a:ea typeface="Calibri" pitchFamily="34" charset="-122"/>
                <a:cs typeface="Calibri" pitchFamily="34" charset="-120"/>
              </a:rPr>
              <a:t> file in this directory — pairs with the </a:t>
            </a:r>
            <a:r>
              <a:rPr lang="en-US" sz="1000" b="1" dirty="0">
                <a:solidFill>
                  <a:srgbClr val="1F2937"/>
                </a:solidFill>
                <a:latin typeface="Calibri" pitchFamily="34" charset="0"/>
                <a:ea typeface="Calibri" pitchFamily="34" charset="-122"/>
                <a:cs typeface="Calibri" pitchFamily="34" charset="-120"/>
              </a:rPr>
              <a:t>"look before you press Enter"</a:t>
            </a:r>
            <a:r>
              <a:rPr lang="en-US" sz="1000" dirty="0">
                <a:solidFill>
                  <a:srgbClr val="1F2937"/>
                </a:solidFill>
                <a:latin typeface="Calibri" pitchFamily="34" charset="0"/>
                <a:ea typeface="Calibri" pitchFamily="34" charset="-122"/>
                <a:cs typeface="Calibri" pitchFamily="34" charset="-120"/>
              </a:rPr>
              <a:t> rule.</a:t>
            </a:r>
            <a:endParaRPr lang="en-US" sz="1000" dirty="0"/>
          </a:p>
          <a:p>
            <a:pPr marL="228600" indent="-228600">
              <a:spcAft>
                <a:spcPts val="600"/>
              </a:spcAft>
              <a:buSzPct val="100000"/>
              <a:buChar char="■"/>
            </a:pPr>
            <a:r>
              <a:rPr lang="en-US" sz="1000" dirty="0">
                <a:solidFill>
                  <a:srgbClr val="1F2937"/>
                </a:solidFill>
                <a:latin typeface="Calibri" pitchFamily="34" charset="0"/>
                <a:ea typeface="Calibri" pitchFamily="34" charset="-122"/>
                <a:cs typeface="Calibri" pitchFamily="34" charset="-120"/>
              </a:rPr>
              <a:t>If nothing matches, you'll get an error or the literal </a:t>
            </a:r>
            <a:r>
              <a:rPr lang="en-US" sz="1000" dirty="0">
                <a:solidFill>
                  <a:srgbClr val="1E2761"/>
                </a:solidFill>
                <a:latin typeface="Consolas" pitchFamily="34" charset="0"/>
                <a:ea typeface="Consolas" pitchFamily="34" charset="-122"/>
                <a:cs typeface="Consolas" pitchFamily="34" charset="-120"/>
              </a:rPr>
              <a:t>*</a:t>
            </a:r>
            <a:r>
              <a:rPr lang="en-US" sz="1000" dirty="0">
                <a:solidFill>
                  <a:srgbClr val="1F2937"/>
                </a:solidFill>
                <a:latin typeface="Calibri" pitchFamily="34" charset="0"/>
                <a:ea typeface="Calibri" pitchFamily="34" charset="-122"/>
                <a:cs typeface="Calibri" pitchFamily="34" charset="-120"/>
              </a:rPr>
              <a:t> passed through. </a:t>
            </a:r>
            <a:r>
              <a:rPr lang="en-US" sz="1000" b="1" dirty="0">
                <a:solidFill>
                  <a:srgbClr val="1F2937"/>
                </a:solidFill>
                <a:latin typeface="Calibri" pitchFamily="34" charset="0"/>
                <a:ea typeface="Calibri" pitchFamily="34" charset="-122"/>
                <a:cs typeface="Calibri" pitchFamily="34" charset="-120"/>
              </a:rPr>
              <a:t>Run `ls &lt;pattern&gt;` first</a:t>
            </a:r>
            <a:r>
              <a:rPr lang="en-US" sz="1000" dirty="0">
                <a:solidFill>
                  <a:srgbClr val="1F2937"/>
                </a:solidFill>
                <a:latin typeface="Calibri" pitchFamily="34" charset="0"/>
                <a:ea typeface="Calibri" pitchFamily="34" charset="-122"/>
                <a:cs typeface="Calibri" pitchFamily="34" charset="-120"/>
              </a:rPr>
              <a:t> if unsure.</a:t>
            </a:r>
            <a:endParaRPr lang="en-US" sz="10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a:effectLst/>
      </p:bgPr>
    </p:bg>
    <p:spTree>
      <p:nvGrpSpPr>
        <p:cNvPr id="1" name=""/>
        <p:cNvGrpSpPr/>
        <p:nvPr/>
      </p:nvGrpSpPr>
      <p:grpSpPr>
        <a:xfrm>
          <a:off x="0" y="0"/>
          <a:ext cx="0" cy="0"/>
          <a:chOff x="0" y="0"/>
          <a:chExt cx="0" cy="0"/>
        </a:xfrm>
      </p:grpSpPr>
      <p:pic>
        <p:nvPicPr>
          <p:cNvPr id="7" name="Picture 6" descr="access-footer.jpg"/>
          <p:cNvPicPr>
            <a:picLocks noChangeAspect="1"/>
          </p:cNvPicPr>
          <p:nvPr/>
        </p:nvPicPr>
        <p:blipFill>
          <a:blip r:embed="rId3"/>
          <a:stretch>
            <a:fillRect/>
          </a:stretch>
        </p:blipFill>
        <p:spPr>
          <a:xfrm>
            <a:off x="0" y="0"/>
            <a:ext cx="9144000" cy="5143500"/>
          </a:xfrm>
          <a:prstGeom prst="rect">
            <a:avLst/>
          </a:prstGeom>
        </p:spPr>
      </p:pic>
      <p:sp>
        <p:nvSpPr>
          <p:cNvPr id="2" name="Text 0"/>
          <p:cNvSpPr/>
          <p:nvPr/>
        </p:nvSpPr>
        <p:spPr>
          <a:xfrm>
            <a:off x="457200" y="274320"/>
            <a:ext cx="8229600" cy="594360"/>
          </a:xfrm>
          <a:prstGeom prst="rect">
            <a:avLst/>
          </a:prstGeom>
          <a:solidFill>
            <a:srgbClr val="FFFFFF"/>
          </a:solidFill>
          <a:ln/>
        </p:spPr>
        <p:txBody>
          <a:bodyPr wrap="square" lIns="0" tIns="0" rIns="0" bIns="0" rtlCol="0" anchor="ctr"/>
          <a:lstStyle/>
          <a:p>
            <a:pPr marL="0" indent="0">
              <a:buNone/>
            </a:pPr>
            <a:r>
              <a:rPr lang="en-US" sz="2800" b="1" dirty="0">
                <a:solidFill>
                  <a:srgbClr val="1E2761"/>
                </a:solidFill>
                <a:latin typeface="Cambria" pitchFamily="34" charset="0"/>
                <a:ea typeface="Cambria" pitchFamily="34" charset="-122"/>
                <a:cs typeface="Cambria" pitchFamily="34" charset="-120"/>
              </a:rPr>
              <a:t>Hands-on: a small file workout</a:t>
            </a:r>
            <a:endParaRPr lang="en-US" sz="2800" dirty="0"/>
          </a:p>
        </p:txBody>
      </p:sp>
      <p:sp>
        <p:nvSpPr>
          <p:cNvPr id="3" name="Shape 1"/>
          <p:cNvSpPr/>
          <p:nvPr/>
        </p:nvSpPr>
        <p:spPr>
          <a:xfrm>
            <a:off x="457200" y="868680"/>
            <a:ext cx="548640" cy="36576"/>
          </a:xfrm>
          <a:prstGeom prst="rect">
            <a:avLst/>
          </a:prstGeom>
          <a:solidFill>
            <a:srgbClr val="1E2761"/>
          </a:solidFill>
          <a:ln w="12700">
            <a:solidFill>
              <a:srgbClr val="1E2761"/>
            </a:solidFill>
            <a:prstDash val="solid"/>
          </a:ln>
        </p:spPr>
        <p:txBody>
          <a:bodyPr/>
          <a:lstStyle/>
          <a:p>
            <a:endParaRPr lang="en-US"/>
          </a:p>
        </p:txBody>
      </p:sp>
      <p:sp>
        <p:nvSpPr>
          <p:cNvPr id="4" name="Shape 2"/>
          <p:cNvSpPr/>
          <p:nvPr/>
        </p:nvSpPr>
        <p:spPr>
          <a:xfrm>
            <a:off x="457200" y="1005840"/>
            <a:ext cx="1005840" cy="292608"/>
          </a:xfrm>
          <a:prstGeom prst="rect">
            <a:avLst/>
          </a:prstGeom>
          <a:solidFill>
            <a:srgbClr val="047857"/>
          </a:solidFill>
          <a:ln w="12700">
            <a:solidFill>
              <a:srgbClr val="047857"/>
            </a:solidFill>
            <a:prstDash val="solid"/>
          </a:ln>
        </p:spPr>
        <p:txBody>
          <a:bodyPr/>
          <a:lstStyle/>
          <a:p>
            <a:endParaRPr lang="en-US"/>
          </a:p>
        </p:txBody>
      </p:sp>
      <p:sp>
        <p:nvSpPr>
          <p:cNvPr id="5" name="Text 3"/>
          <p:cNvSpPr/>
          <p:nvPr/>
        </p:nvSpPr>
        <p:spPr>
          <a:xfrm>
            <a:off x="457200" y="1005840"/>
            <a:ext cx="1005840" cy="292608"/>
          </a:xfrm>
          <a:prstGeom prst="rect">
            <a:avLst/>
          </a:prstGeom>
          <a:noFill/>
          <a:ln/>
        </p:spPr>
        <p:txBody>
          <a:bodyPr wrap="square" lIns="0" tIns="0" rIns="0" bIns="0" rtlCol="0" anchor="ctr"/>
          <a:lstStyle/>
          <a:p>
            <a:pPr marL="0" indent="0" algn="ctr">
              <a:buNone/>
            </a:pPr>
            <a:r>
              <a:rPr lang="en-US" sz="1100" b="1" kern="0" spc="200" dirty="0">
                <a:solidFill>
                  <a:srgbClr val="FFFFFF"/>
                </a:solidFill>
                <a:latin typeface="Calibri" pitchFamily="34" charset="0"/>
                <a:ea typeface="Calibri" pitchFamily="34" charset="-122"/>
                <a:cs typeface="Calibri" pitchFamily="34" charset="-120"/>
              </a:rPr>
              <a:t>EXERCISE</a:t>
            </a:r>
            <a:endParaRPr lang="en-US" sz="1100" dirty="0"/>
          </a:p>
        </p:txBody>
      </p:sp>
      <p:sp>
        <p:nvSpPr>
          <p:cNvPr id="6" name="Text 4"/>
          <p:cNvSpPr/>
          <p:nvPr/>
        </p:nvSpPr>
        <p:spPr>
          <a:xfrm>
            <a:off x="548640" y="1435608"/>
            <a:ext cx="8046720" cy="2646680"/>
          </a:xfrm>
          <a:prstGeom prst="rect">
            <a:avLst/>
          </a:prstGeom>
          <a:solidFill>
            <a:srgbClr val="FFFFFF"/>
          </a:solidFill>
          <a:ln/>
        </p:spPr>
        <p:txBody>
          <a:bodyPr wrap="square" lIns="0" tIns="0" rIns="0" bIns="0" rtlCol="0" anchor="t"/>
          <a:lstStyle/>
          <a:p>
            <a:pPr marL="279400" indent="-279400">
              <a:spcAft>
                <a:spcPts val="600"/>
              </a:spcAft>
              <a:buSzPct val="100000"/>
              <a:buFont typeface="+mj-lt"/>
              <a:buAutoNum type="arabicPeriod"/>
            </a:pPr>
            <a:r>
              <a:rPr lang="en-US" sz="1400" dirty="0">
                <a:solidFill>
                  <a:srgbClr val="1F2937"/>
                </a:solidFill>
                <a:latin typeface="Calibri" pitchFamily="34" charset="0"/>
                <a:ea typeface="Calibri" pitchFamily="34" charset="-122"/>
                <a:cs typeface="Calibri" pitchFamily="34" charset="-120"/>
              </a:rPr>
              <a:t>Go to your home directory.</a:t>
            </a:r>
            <a:endParaRPr lang="en-US" sz="1400" dirty="0"/>
          </a:p>
          <a:p>
            <a:pPr marL="279400" indent="-279400">
              <a:spcAft>
                <a:spcPts val="600"/>
              </a:spcAft>
              <a:buSzPct val="100000"/>
              <a:buFont typeface="+mj-lt"/>
              <a:buAutoNum type="arabicPeriod"/>
            </a:pPr>
            <a:r>
              <a:rPr lang="en-US" sz="1400" dirty="0">
                <a:solidFill>
                  <a:srgbClr val="1F2937"/>
                </a:solidFill>
                <a:latin typeface="Calibri" pitchFamily="34" charset="0"/>
                <a:ea typeface="Calibri" pitchFamily="34" charset="-122"/>
                <a:cs typeface="Calibri" pitchFamily="34" charset="-120"/>
              </a:rPr>
              <a:t>Make a directory called </a:t>
            </a:r>
            <a:r>
              <a:rPr lang="en-US" sz="1400" dirty="0">
                <a:solidFill>
                  <a:srgbClr val="1E2761"/>
                </a:solidFill>
                <a:latin typeface="Consolas" pitchFamily="34" charset="0"/>
                <a:ea typeface="Consolas" pitchFamily="34" charset="-122"/>
                <a:cs typeface="Consolas" pitchFamily="34" charset="-120"/>
              </a:rPr>
              <a:t>lab</a:t>
            </a:r>
            <a:r>
              <a:rPr lang="en-US" sz="1400" dirty="0">
                <a:solidFill>
                  <a:srgbClr val="1F2937"/>
                </a:solidFill>
                <a:latin typeface="Calibri" pitchFamily="34" charset="0"/>
                <a:ea typeface="Calibri" pitchFamily="34" charset="-122"/>
                <a:cs typeface="Calibri" pitchFamily="34" charset="-120"/>
              </a:rPr>
              <a:t>.</a:t>
            </a:r>
            <a:endParaRPr lang="en-US" sz="1400" dirty="0"/>
          </a:p>
          <a:p>
            <a:pPr marL="279400" indent="-279400">
              <a:spcAft>
                <a:spcPts val="600"/>
              </a:spcAft>
              <a:buSzPct val="100000"/>
              <a:buFont typeface="+mj-lt"/>
              <a:buAutoNum type="arabicPeriod"/>
            </a:pPr>
            <a:r>
              <a:rPr lang="en-US" sz="1400" dirty="0">
                <a:solidFill>
                  <a:srgbClr val="1F2937"/>
                </a:solidFill>
                <a:latin typeface="Calibri" pitchFamily="34" charset="0"/>
                <a:ea typeface="Calibri" pitchFamily="34" charset="-122"/>
                <a:cs typeface="Calibri" pitchFamily="34" charset="-120"/>
              </a:rPr>
              <a:t>Inside </a:t>
            </a:r>
            <a:r>
              <a:rPr lang="en-US" sz="1400" dirty="0">
                <a:solidFill>
                  <a:srgbClr val="1E2761"/>
                </a:solidFill>
                <a:latin typeface="Consolas" pitchFamily="34" charset="0"/>
                <a:ea typeface="Consolas" pitchFamily="34" charset="-122"/>
                <a:cs typeface="Consolas" pitchFamily="34" charset="-120"/>
              </a:rPr>
              <a:t>lab</a:t>
            </a:r>
            <a:r>
              <a:rPr lang="en-US" sz="1400" dirty="0">
                <a:solidFill>
                  <a:srgbClr val="1F2937"/>
                </a:solidFill>
                <a:latin typeface="Calibri" pitchFamily="34" charset="0"/>
                <a:ea typeface="Calibri" pitchFamily="34" charset="-122"/>
                <a:cs typeface="Calibri" pitchFamily="34" charset="-120"/>
              </a:rPr>
              <a:t>, make three directories: </a:t>
            </a:r>
            <a:r>
              <a:rPr lang="en-US" sz="1400" dirty="0">
                <a:solidFill>
                  <a:srgbClr val="1E2761"/>
                </a:solidFill>
                <a:latin typeface="Consolas" pitchFamily="34" charset="0"/>
                <a:ea typeface="Consolas" pitchFamily="34" charset="-122"/>
                <a:cs typeface="Consolas" pitchFamily="34" charset="-120"/>
              </a:rPr>
              <a:t>morning</a:t>
            </a:r>
            <a:r>
              <a:rPr lang="en-US" sz="1400" dirty="0">
                <a:solidFill>
                  <a:srgbClr val="1F2937"/>
                </a:solidFill>
                <a:latin typeface="Calibri" pitchFamily="34" charset="0"/>
                <a:ea typeface="Calibri" pitchFamily="34" charset="-122"/>
                <a:cs typeface="Calibri" pitchFamily="34" charset="-120"/>
              </a:rPr>
              <a:t>, </a:t>
            </a:r>
            <a:r>
              <a:rPr lang="en-US" sz="1400" dirty="0">
                <a:solidFill>
                  <a:srgbClr val="1E2761"/>
                </a:solidFill>
                <a:latin typeface="Consolas" pitchFamily="34" charset="0"/>
                <a:ea typeface="Consolas" pitchFamily="34" charset="-122"/>
                <a:cs typeface="Consolas" pitchFamily="34" charset="-120"/>
              </a:rPr>
              <a:t>afternoon</a:t>
            </a:r>
            <a:r>
              <a:rPr lang="en-US" sz="1400" dirty="0">
                <a:solidFill>
                  <a:srgbClr val="1F2937"/>
                </a:solidFill>
                <a:latin typeface="Calibri" pitchFamily="34" charset="0"/>
                <a:ea typeface="Calibri" pitchFamily="34" charset="-122"/>
                <a:cs typeface="Calibri" pitchFamily="34" charset="-120"/>
              </a:rPr>
              <a:t>, </a:t>
            </a:r>
            <a:r>
              <a:rPr lang="en-US" sz="1400" dirty="0">
                <a:solidFill>
                  <a:srgbClr val="1E2761"/>
                </a:solidFill>
                <a:latin typeface="Consolas" pitchFamily="34" charset="0"/>
                <a:ea typeface="Consolas" pitchFamily="34" charset="-122"/>
                <a:cs typeface="Consolas" pitchFamily="34" charset="-120"/>
              </a:rPr>
              <a:t>evening</a:t>
            </a:r>
            <a:r>
              <a:rPr lang="en-US" sz="1400" dirty="0">
                <a:solidFill>
                  <a:srgbClr val="1F2937"/>
                </a:solidFill>
                <a:latin typeface="Calibri" pitchFamily="34" charset="0"/>
                <a:ea typeface="Calibri" pitchFamily="34" charset="-122"/>
                <a:cs typeface="Calibri" pitchFamily="34" charset="-120"/>
              </a:rPr>
              <a:t>.</a:t>
            </a:r>
            <a:endParaRPr lang="en-US" sz="1400" dirty="0"/>
          </a:p>
          <a:p>
            <a:pPr marL="279400" indent="-279400">
              <a:spcAft>
                <a:spcPts val="600"/>
              </a:spcAft>
              <a:buSzPct val="100000"/>
              <a:buFont typeface="+mj-lt"/>
              <a:buAutoNum type="arabicPeriod"/>
            </a:pPr>
            <a:r>
              <a:rPr lang="en-US" sz="1400" dirty="0">
                <a:solidFill>
                  <a:srgbClr val="1F2937"/>
                </a:solidFill>
                <a:latin typeface="Calibri" pitchFamily="34" charset="0"/>
                <a:ea typeface="Calibri" pitchFamily="34" charset="-122"/>
                <a:cs typeface="Calibri" pitchFamily="34" charset="-120"/>
              </a:rPr>
              <a:t>In </a:t>
            </a:r>
            <a:r>
              <a:rPr lang="en-US" sz="1400" dirty="0">
                <a:solidFill>
                  <a:srgbClr val="1E2761"/>
                </a:solidFill>
                <a:latin typeface="Consolas" pitchFamily="34" charset="0"/>
                <a:ea typeface="Consolas" pitchFamily="34" charset="-122"/>
                <a:cs typeface="Consolas" pitchFamily="34" charset="-120"/>
              </a:rPr>
              <a:t>morning</a:t>
            </a:r>
            <a:r>
              <a:rPr lang="en-US" sz="1400" dirty="0">
                <a:solidFill>
                  <a:srgbClr val="1F2937"/>
                </a:solidFill>
                <a:latin typeface="Calibri" pitchFamily="34" charset="0"/>
                <a:ea typeface="Calibri" pitchFamily="34" charset="-122"/>
                <a:cs typeface="Calibri" pitchFamily="34" charset="-120"/>
              </a:rPr>
              <a:t>, create a file called </a:t>
            </a:r>
            <a:r>
              <a:rPr lang="en-US" sz="1400" dirty="0">
                <a:solidFill>
                  <a:srgbClr val="1E2761"/>
                </a:solidFill>
                <a:latin typeface="Consolas" pitchFamily="34" charset="0"/>
                <a:ea typeface="Consolas" pitchFamily="34" charset="-122"/>
                <a:cs typeface="Consolas" pitchFamily="34" charset="-120"/>
              </a:rPr>
              <a:t>breakfast.txt</a:t>
            </a:r>
            <a:r>
              <a:rPr lang="en-US" sz="1400" dirty="0">
                <a:solidFill>
                  <a:srgbClr val="1F2937"/>
                </a:solidFill>
                <a:latin typeface="Calibri" pitchFamily="34" charset="0"/>
                <a:ea typeface="Calibri" pitchFamily="34" charset="-122"/>
                <a:cs typeface="Calibri" pitchFamily="34" charset="-120"/>
              </a:rPr>
              <a:t>.</a:t>
            </a:r>
            <a:endParaRPr lang="en-US" sz="1400" dirty="0"/>
          </a:p>
          <a:p>
            <a:pPr marL="279400" indent="-279400">
              <a:spcAft>
                <a:spcPts val="600"/>
              </a:spcAft>
              <a:buSzPct val="100000"/>
              <a:buFont typeface="+mj-lt"/>
              <a:buAutoNum type="arabicPeriod"/>
            </a:pPr>
            <a:r>
              <a:rPr lang="en-US" sz="1400" dirty="0">
                <a:solidFill>
                  <a:srgbClr val="1F2937"/>
                </a:solidFill>
                <a:latin typeface="Calibri" pitchFamily="34" charset="0"/>
                <a:ea typeface="Calibri" pitchFamily="34" charset="-122"/>
                <a:cs typeface="Calibri" pitchFamily="34" charset="-120"/>
              </a:rPr>
              <a:t>Copy </a:t>
            </a:r>
            <a:r>
              <a:rPr lang="en-US" sz="1400" dirty="0">
                <a:solidFill>
                  <a:srgbClr val="1E2761"/>
                </a:solidFill>
                <a:latin typeface="Consolas" pitchFamily="34" charset="0"/>
                <a:ea typeface="Consolas" pitchFamily="34" charset="-122"/>
                <a:cs typeface="Consolas" pitchFamily="34" charset="-120"/>
              </a:rPr>
              <a:t>breakfast.txt</a:t>
            </a:r>
            <a:r>
              <a:rPr lang="en-US" sz="1400" dirty="0">
                <a:solidFill>
                  <a:srgbClr val="1F2937"/>
                </a:solidFill>
                <a:latin typeface="Calibri" pitchFamily="34" charset="0"/>
                <a:ea typeface="Calibri" pitchFamily="34" charset="-122"/>
                <a:cs typeface="Calibri" pitchFamily="34" charset="-120"/>
              </a:rPr>
              <a:t> into </a:t>
            </a:r>
            <a:r>
              <a:rPr lang="en-US" sz="1400" dirty="0">
                <a:solidFill>
                  <a:srgbClr val="1E2761"/>
                </a:solidFill>
                <a:latin typeface="Consolas" pitchFamily="34" charset="0"/>
                <a:ea typeface="Consolas" pitchFamily="34" charset="-122"/>
                <a:cs typeface="Consolas" pitchFamily="34" charset="-120"/>
              </a:rPr>
              <a:t>afternoon</a:t>
            </a:r>
            <a:r>
              <a:rPr lang="en-US" sz="1400" dirty="0">
                <a:solidFill>
                  <a:srgbClr val="1F2937"/>
                </a:solidFill>
                <a:latin typeface="Calibri" pitchFamily="34" charset="0"/>
                <a:ea typeface="Calibri" pitchFamily="34" charset="-122"/>
                <a:cs typeface="Calibri" pitchFamily="34" charset="-120"/>
              </a:rPr>
              <a:t>, renaming it to </a:t>
            </a:r>
            <a:r>
              <a:rPr lang="en-US" sz="1400" dirty="0">
                <a:solidFill>
                  <a:srgbClr val="1E2761"/>
                </a:solidFill>
                <a:latin typeface="Consolas" pitchFamily="34" charset="0"/>
                <a:ea typeface="Consolas" pitchFamily="34" charset="-122"/>
                <a:cs typeface="Consolas" pitchFamily="34" charset="-120"/>
              </a:rPr>
              <a:t>lunch.txt</a:t>
            </a:r>
            <a:r>
              <a:rPr lang="en-US" sz="1400" dirty="0">
                <a:solidFill>
                  <a:srgbClr val="1F2937"/>
                </a:solidFill>
                <a:latin typeface="Calibri" pitchFamily="34" charset="0"/>
                <a:ea typeface="Calibri" pitchFamily="34" charset="-122"/>
                <a:cs typeface="Calibri" pitchFamily="34" charset="-120"/>
              </a:rPr>
              <a:t>.</a:t>
            </a:r>
            <a:endParaRPr lang="en-US" sz="1400" dirty="0"/>
          </a:p>
          <a:p>
            <a:pPr marL="279400" indent="-279400">
              <a:spcAft>
                <a:spcPts val="600"/>
              </a:spcAft>
              <a:buSzPct val="100000"/>
              <a:buFont typeface="+mj-lt"/>
              <a:buAutoNum type="arabicPeriod"/>
            </a:pPr>
            <a:r>
              <a:rPr lang="en-US" sz="1400" dirty="0">
                <a:solidFill>
                  <a:srgbClr val="1F2937"/>
                </a:solidFill>
                <a:latin typeface="Calibri" pitchFamily="34" charset="0"/>
                <a:ea typeface="Calibri" pitchFamily="34" charset="-122"/>
                <a:cs typeface="Calibri" pitchFamily="34" charset="-120"/>
              </a:rPr>
              <a:t>Move </a:t>
            </a:r>
            <a:r>
              <a:rPr lang="en-US" sz="1400" dirty="0">
                <a:solidFill>
                  <a:srgbClr val="1E2761"/>
                </a:solidFill>
                <a:latin typeface="Consolas" pitchFamily="34" charset="0"/>
                <a:ea typeface="Consolas" pitchFamily="34" charset="-122"/>
                <a:cs typeface="Consolas" pitchFamily="34" charset="-120"/>
              </a:rPr>
              <a:t>lunch.txt</a:t>
            </a:r>
            <a:r>
              <a:rPr lang="en-US" sz="1400" dirty="0">
                <a:solidFill>
                  <a:srgbClr val="1F2937"/>
                </a:solidFill>
                <a:latin typeface="Calibri" pitchFamily="34" charset="0"/>
                <a:ea typeface="Calibri" pitchFamily="34" charset="-122"/>
                <a:cs typeface="Calibri" pitchFamily="34" charset="-120"/>
              </a:rPr>
              <a:t> from </a:t>
            </a:r>
            <a:r>
              <a:rPr lang="en-US" sz="1400" dirty="0">
                <a:solidFill>
                  <a:srgbClr val="1E2761"/>
                </a:solidFill>
                <a:latin typeface="Consolas" pitchFamily="34" charset="0"/>
                <a:ea typeface="Consolas" pitchFamily="34" charset="-122"/>
                <a:cs typeface="Consolas" pitchFamily="34" charset="-120"/>
              </a:rPr>
              <a:t>afternoon</a:t>
            </a:r>
            <a:r>
              <a:rPr lang="en-US" sz="1400" dirty="0">
                <a:solidFill>
                  <a:srgbClr val="1F2937"/>
                </a:solidFill>
                <a:latin typeface="Calibri" pitchFamily="34" charset="0"/>
                <a:ea typeface="Calibri" pitchFamily="34" charset="-122"/>
                <a:cs typeface="Calibri" pitchFamily="34" charset="-120"/>
              </a:rPr>
              <a:t> into </a:t>
            </a:r>
            <a:r>
              <a:rPr lang="en-US" sz="1400" dirty="0">
                <a:solidFill>
                  <a:srgbClr val="1E2761"/>
                </a:solidFill>
                <a:latin typeface="Consolas" pitchFamily="34" charset="0"/>
                <a:ea typeface="Consolas" pitchFamily="34" charset="-122"/>
                <a:cs typeface="Consolas" pitchFamily="34" charset="-120"/>
              </a:rPr>
              <a:t>evening</a:t>
            </a:r>
            <a:r>
              <a:rPr lang="en-US" sz="1400" dirty="0">
                <a:solidFill>
                  <a:srgbClr val="1F2937"/>
                </a:solidFill>
                <a:latin typeface="Calibri" pitchFamily="34" charset="0"/>
                <a:ea typeface="Calibri" pitchFamily="34" charset="-122"/>
                <a:cs typeface="Calibri" pitchFamily="34" charset="-120"/>
              </a:rPr>
              <a:t>, renaming it to </a:t>
            </a:r>
            <a:r>
              <a:rPr lang="en-US" sz="1400" dirty="0">
                <a:solidFill>
                  <a:srgbClr val="1E2761"/>
                </a:solidFill>
                <a:latin typeface="Consolas" pitchFamily="34" charset="0"/>
                <a:ea typeface="Consolas" pitchFamily="34" charset="-122"/>
                <a:cs typeface="Consolas" pitchFamily="34" charset="-120"/>
              </a:rPr>
              <a:t>dinner.txt</a:t>
            </a:r>
            <a:r>
              <a:rPr lang="en-US" sz="1400" dirty="0">
                <a:solidFill>
                  <a:srgbClr val="1F2937"/>
                </a:solidFill>
                <a:latin typeface="Calibri" pitchFamily="34" charset="0"/>
                <a:ea typeface="Calibri" pitchFamily="34" charset="-122"/>
                <a:cs typeface="Calibri" pitchFamily="34" charset="-120"/>
              </a:rPr>
              <a:t>.</a:t>
            </a:r>
            <a:endParaRPr lang="en-US" sz="1400" dirty="0"/>
          </a:p>
          <a:p>
            <a:pPr marL="279400" indent="-279400">
              <a:spcAft>
                <a:spcPts val="600"/>
              </a:spcAft>
              <a:buSzPct val="100000"/>
              <a:buFont typeface="+mj-lt"/>
              <a:buAutoNum type="arabicPeriod"/>
            </a:pPr>
            <a:r>
              <a:rPr lang="en-US" sz="1400" dirty="0">
                <a:solidFill>
                  <a:srgbClr val="1F2937"/>
                </a:solidFill>
                <a:latin typeface="Calibri" pitchFamily="34" charset="0"/>
                <a:ea typeface="Calibri" pitchFamily="34" charset="-122"/>
                <a:cs typeface="Calibri" pitchFamily="34" charset="-120"/>
              </a:rPr>
              <a:t>List </a:t>
            </a:r>
            <a:r>
              <a:rPr lang="en-US" sz="1400" dirty="0">
                <a:solidFill>
                  <a:srgbClr val="1E2761"/>
                </a:solidFill>
                <a:latin typeface="Consolas" pitchFamily="34" charset="0"/>
                <a:ea typeface="Consolas" pitchFamily="34" charset="-122"/>
                <a:cs typeface="Consolas" pitchFamily="34" charset="-120"/>
              </a:rPr>
              <a:t>lab</a:t>
            </a:r>
            <a:r>
              <a:rPr lang="en-US" sz="1400" dirty="0">
                <a:solidFill>
                  <a:srgbClr val="1F2937"/>
                </a:solidFill>
                <a:latin typeface="Calibri" pitchFamily="34" charset="0"/>
                <a:ea typeface="Calibri" pitchFamily="34" charset="-122"/>
                <a:cs typeface="Calibri" pitchFamily="34" charset="-120"/>
              </a:rPr>
              <a:t> recursively: </a:t>
            </a:r>
            <a:r>
              <a:rPr lang="en-US" sz="1400" dirty="0">
                <a:solidFill>
                  <a:srgbClr val="1E2761"/>
                </a:solidFill>
                <a:latin typeface="Consolas" pitchFamily="34" charset="0"/>
                <a:ea typeface="Consolas" pitchFamily="34" charset="-122"/>
                <a:cs typeface="Consolas" pitchFamily="34" charset="-120"/>
              </a:rPr>
              <a:t>ls -R lab</a:t>
            </a:r>
            <a:r>
              <a:rPr lang="en-US" sz="1400" dirty="0">
                <a:solidFill>
                  <a:srgbClr val="1F2937"/>
                </a:solidFill>
                <a:latin typeface="Calibri" pitchFamily="34" charset="0"/>
                <a:ea typeface="Calibri" pitchFamily="34" charset="-122"/>
                <a:cs typeface="Calibri" pitchFamily="34" charset="-120"/>
              </a:rPr>
              <a:t>.</a:t>
            </a:r>
            <a:endParaRPr lang="en-US" sz="1400" dirty="0"/>
          </a:p>
          <a:p>
            <a:pPr marL="279400" indent="-279400">
              <a:spcAft>
                <a:spcPts val="600"/>
              </a:spcAft>
              <a:buSzPct val="100000"/>
              <a:buFont typeface="+mj-lt"/>
              <a:buAutoNum type="arabicPeriod"/>
            </a:pPr>
            <a:r>
              <a:rPr lang="en-US" sz="1400" dirty="0">
                <a:solidFill>
                  <a:srgbClr val="1F2937"/>
                </a:solidFill>
                <a:latin typeface="Calibri" pitchFamily="34" charset="0"/>
                <a:ea typeface="Calibri" pitchFamily="34" charset="-122"/>
                <a:cs typeface="Calibri" pitchFamily="34" charset="-120"/>
              </a:rPr>
              <a:t>Delete the whole </a:t>
            </a:r>
            <a:r>
              <a:rPr lang="en-US" sz="1400" dirty="0">
                <a:solidFill>
                  <a:srgbClr val="1E2761"/>
                </a:solidFill>
                <a:latin typeface="Consolas" pitchFamily="34" charset="0"/>
                <a:ea typeface="Consolas" pitchFamily="34" charset="-122"/>
                <a:cs typeface="Consolas" pitchFamily="34" charset="-120"/>
              </a:rPr>
              <a:t>lab</a:t>
            </a:r>
            <a:r>
              <a:rPr lang="en-US" sz="1400" dirty="0">
                <a:solidFill>
                  <a:srgbClr val="1F2937"/>
                </a:solidFill>
                <a:latin typeface="Calibri" pitchFamily="34" charset="0"/>
                <a:ea typeface="Calibri" pitchFamily="34" charset="-122"/>
                <a:cs typeface="Calibri" pitchFamily="34" charset="-120"/>
              </a:rPr>
              <a:t> directory.</a:t>
            </a:r>
            <a:endParaRPr lang="en-US" sz="14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0">
            <a:extLst>
              <a:ext uri="{FF2B5EF4-FFF2-40B4-BE49-F238E27FC236}">
                <a16:creationId xmlns:a16="http://schemas.microsoft.com/office/drawing/2014/main" id="{C4F308D0-E16C-4CC5-260F-E28847C8B2B2}"/>
              </a:ext>
            </a:extLst>
          </p:cNvPr>
          <p:cNvSpPr/>
          <p:nvPr/>
        </p:nvSpPr>
        <p:spPr>
          <a:xfrm>
            <a:off x="548640" y="1280160"/>
            <a:ext cx="8046720" cy="457200"/>
          </a:xfrm>
          <a:prstGeom prst="rect">
            <a:avLst/>
          </a:prstGeom>
          <a:noFill/>
          <a:ln/>
        </p:spPr>
        <p:txBody>
          <a:bodyPr wrap="square" lIns="0" tIns="0" rIns="0" bIns="0" rtlCol="0" anchor="ctr"/>
          <a:lstStyle/>
          <a:p>
            <a:pPr marL="0" indent="0">
              <a:buNone/>
            </a:pPr>
            <a:r>
              <a:rPr lang="en-US" sz="1600" b="1" kern="0" spc="800" dirty="0">
                <a:latin typeface="Calibri" pitchFamily="34" charset="0"/>
                <a:ea typeface="Calibri" pitchFamily="34" charset="-122"/>
                <a:cs typeface="Calibri" pitchFamily="34" charset="-120"/>
              </a:rPr>
              <a:t>BLOCK 5</a:t>
            </a:r>
            <a:endParaRPr lang="en-US" sz="1600" dirty="0"/>
          </a:p>
        </p:txBody>
      </p:sp>
      <p:sp>
        <p:nvSpPr>
          <p:cNvPr id="4" name="Text 1">
            <a:extLst>
              <a:ext uri="{FF2B5EF4-FFF2-40B4-BE49-F238E27FC236}">
                <a16:creationId xmlns:a16="http://schemas.microsoft.com/office/drawing/2014/main" id="{39AB9CA9-4368-8FE5-AD42-55EA850B62AF}"/>
              </a:ext>
            </a:extLst>
          </p:cNvPr>
          <p:cNvSpPr/>
          <p:nvPr/>
        </p:nvSpPr>
        <p:spPr>
          <a:xfrm>
            <a:off x="548640" y="1783080"/>
            <a:ext cx="8046720" cy="1463040"/>
          </a:xfrm>
          <a:prstGeom prst="rect">
            <a:avLst/>
          </a:prstGeom>
          <a:noFill/>
          <a:ln/>
        </p:spPr>
        <p:txBody>
          <a:bodyPr wrap="square" lIns="0" tIns="0" rIns="0" bIns="0" rtlCol="0" anchor="t"/>
          <a:lstStyle/>
          <a:p>
            <a:pPr marL="0" indent="0">
              <a:buNone/>
            </a:pPr>
            <a:r>
              <a:rPr lang="en-US" sz="4000" b="1" dirty="0">
                <a:latin typeface="Cambria" pitchFamily="34" charset="0"/>
                <a:ea typeface="Cambria" pitchFamily="34" charset="-122"/>
                <a:cs typeface="Cambria" pitchFamily="34" charset="-120"/>
              </a:rPr>
              <a:t>Getting help</a:t>
            </a:r>
            <a:endParaRPr lang="en-US" sz="4000" dirty="0"/>
          </a:p>
        </p:txBody>
      </p:sp>
    </p:spTree>
    <p:extLst>
      <p:ext uri="{BB962C8B-B14F-4D97-AF65-F5344CB8AC3E}">
        <p14:creationId xmlns:p14="http://schemas.microsoft.com/office/powerpoint/2010/main" val="295695170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a:effectLst/>
      </p:bgPr>
    </p:bg>
    <p:spTree>
      <p:nvGrpSpPr>
        <p:cNvPr id="1" name=""/>
        <p:cNvGrpSpPr/>
        <p:nvPr/>
      </p:nvGrpSpPr>
      <p:grpSpPr>
        <a:xfrm>
          <a:off x="0" y="0"/>
          <a:ext cx="0" cy="0"/>
          <a:chOff x="0" y="0"/>
          <a:chExt cx="0" cy="0"/>
        </a:xfrm>
      </p:grpSpPr>
      <p:pic>
        <p:nvPicPr>
          <p:cNvPr id="7" name="Picture 6" descr="access-footer.jpg"/>
          <p:cNvPicPr>
            <a:picLocks noChangeAspect="1"/>
          </p:cNvPicPr>
          <p:nvPr/>
        </p:nvPicPr>
        <p:blipFill>
          <a:blip r:embed="rId3"/>
          <a:stretch>
            <a:fillRect/>
          </a:stretch>
        </p:blipFill>
        <p:spPr>
          <a:xfrm>
            <a:off x="0" y="0"/>
            <a:ext cx="9144000" cy="5143500"/>
          </a:xfrm>
          <a:prstGeom prst="rect">
            <a:avLst/>
          </a:prstGeom>
        </p:spPr>
      </p:pic>
      <p:sp>
        <p:nvSpPr>
          <p:cNvPr id="2" name="Text 0"/>
          <p:cNvSpPr/>
          <p:nvPr/>
        </p:nvSpPr>
        <p:spPr>
          <a:xfrm>
            <a:off x="457200" y="274320"/>
            <a:ext cx="8229600" cy="594360"/>
          </a:xfrm>
          <a:prstGeom prst="rect">
            <a:avLst/>
          </a:prstGeom>
          <a:solidFill>
            <a:srgbClr val="FFFFFF"/>
          </a:solidFill>
          <a:ln/>
        </p:spPr>
        <p:txBody>
          <a:bodyPr wrap="square" lIns="0" tIns="0" rIns="0" bIns="0" rtlCol="0" anchor="ctr"/>
          <a:lstStyle/>
          <a:p>
            <a:pPr marL="0" indent="0">
              <a:buNone/>
            </a:pPr>
            <a:r>
              <a:rPr lang="en-US" sz="2800" b="1" dirty="0">
                <a:solidFill>
                  <a:srgbClr val="1E2761"/>
                </a:solidFill>
                <a:latin typeface="Cambria" pitchFamily="34" charset="0"/>
                <a:ea typeface="Cambria" pitchFamily="34" charset="-122"/>
                <a:cs typeface="Cambria" pitchFamily="34" charset="-120"/>
              </a:rPr>
              <a:t>You will not remember all of this. Nobody does.</a:t>
            </a:r>
            <a:endParaRPr lang="en-US" sz="2800" dirty="0"/>
          </a:p>
        </p:txBody>
      </p:sp>
      <p:sp>
        <p:nvSpPr>
          <p:cNvPr id="3" name="Shape 1"/>
          <p:cNvSpPr/>
          <p:nvPr/>
        </p:nvSpPr>
        <p:spPr>
          <a:xfrm>
            <a:off x="457200" y="868680"/>
            <a:ext cx="548640" cy="36576"/>
          </a:xfrm>
          <a:prstGeom prst="rect">
            <a:avLst/>
          </a:prstGeom>
          <a:solidFill>
            <a:srgbClr val="1E2761"/>
          </a:solidFill>
          <a:ln w="12700">
            <a:solidFill>
              <a:srgbClr val="1E2761"/>
            </a:solidFill>
            <a:prstDash val="solid"/>
          </a:ln>
        </p:spPr>
        <p:txBody>
          <a:bodyPr/>
          <a:lstStyle/>
          <a:p>
            <a:endParaRPr lang="en-US"/>
          </a:p>
        </p:txBody>
      </p:sp>
      <p:sp>
        <p:nvSpPr>
          <p:cNvPr id="4" name="Shape 2"/>
          <p:cNvSpPr/>
          <p:nvPr/>
        </p:nvSpPr>
        <p:spPr>
          <a:xfrm>
            <a:off x="457200" y="1005840"/>
            <a:ext cx="1005840" cy="292608"/>
          </a:xfrm>
          <a:prstGeom prst="rect">
            <a:avLst/>
          </a:prstGeom>
          <a:solidFill>
            <a:srgbClr val="1E2761"/>
          </a:solidFill>
          <a:ln w="12700">
            <a:solidFill>
              <a:srgbClr val="1E2761"/>
            </a:solidFill>
            <a:prstDash val="solid"/>
          </a:ln>
        </p:spPr>
        <p:txBody>
          <a:bodyPr/>
          <a:lstStyle/>
          <a:p>
            <a:endParaRPr lang="en-US"/>
          </a:p>
        </p:txBody>
      </p:sp>
      <p:sp>
        <p:nvSpPr>
          <p:cNvPr id="5" name="Text 3"/>
          <p:cNvSpPr/>
          <p:nvPr/>
        </p:nvSpPr>
        <p:spPr>
          <a:xfrm>
            <a:off x="457200" y="1005840"/>
            <a:ext cx="1005840" cy="292608"/>
          </a:xfrm>
          <a:prstGeom prst="rect">
            <a:avLst/>
          </a:prstGeom>
          <a:noFill/>
          <a:ln/>
        </p:spPr>
        <p:txBody>
          <a:bodyPr wrap="square" lIns="0" tIns="0" rIns="0" bIns="0" rtlCol="0" anchor="ctr"/>
          <a:lstStyle/>
          <a:p>
            <a:pPr marL="0" indent="0" algn="ctr">
              <a:buNone/>
            </a:pPr>
            <a:r>
              <a:rPr lang="en-US" sz="1100" b="1" kern="0" spc="200" dirty="0">
                <a:solidFill>
                  <a:srgbClr val="FFFFFF"/>
                </a:solidFill>
                <a:latin typeface="Calibri" pitchFamily="34" charset="0"/>
                <a:ea typeface="Calibri" pitchFamily="34" charset="-122"/>
                <a:cs typeface="Calibri" pitchFamily="34" charset="-120"/>
              </a:rPr>
              <a:t>TALK</a:t>
            </a:r>
            <a:endParaRPr lang="en-US" sz="1100" dirty="0"/>
          </a:p>
        </p:txBody>
      </p:sp>
      <p:sp>
        <p:nvSpPr>
          <p:cNvPr id="6" name="Text 4"/>
          <p:cNvSpPr/>
          <p:nvPr/>
        </p:nvSpPr>
        <p:spPr>
          <a:xfrm>
            <a:off x="548640" y="1435608"/>
            <a:ext cx="8046720" cy="1488440"/>
          </a:xfrm>
          <a:prstGeom prst="rect">
            <a:avLst/>
          </a:prstGeom>
          <a:solidFill>
            <a:srgbClr val="FFFFFF"/>
          </a:solidFill>
          <a:ln/>
        </p:spPr>
        <p:txBody>
          <a:bodyPr wrap="square" lIns="0" tIns="0" rIns="0" bIns="0" rtlCol="0" anchor="t"/>
          <a:lstStyle/>
          <a:p>
            <a:pPr marL="228600" indent="-228600">
              <a:spcAft>
                <a:spcPts val="600"/>
              </a:spcAft>
              <a:buSzPct val="100000"/>
              <a:buChar char="■"/>
            </a:pPr>
            <a:r>
              <a:rPr lang="en-US" sz="1600" dirty="0">
                <a:solidFill>
                  <a:srgbClr val="1F2937"/>
                </a:solidFill>
                <a:latin typeface="Calibri" pitchFamily="34" charset="0"/>
                <a:ea typeface="Calibri" pitchFamily="34" charset="-122"/>
                <a:cs typeface="Calibri" pitchFamily="34" charset="-120"/>
              </a:rPr>
              <a:t>Working in Linux is </a:t>
            </a:r>
            <a:r>
              <a:rPr lang="en-US" sz="1600" b="1" dirty="0">
                <a:solidFill>
                  <a:srgbClr val="1F2937"/>
                </a:solidFill>
                <a:latin typeface="Calibri" pitchFamily="34" charset="0"/>
                <a:ea typeface="Calibri" pitchFamily="34" charset="-122"/>
                <a:cs typeface="Calibri" pitchFamily="34" charset="-120"/>
              </a:rPr>
              <a:t>not about memorizing commands</a:t>
            </a:r>
            <a:r>
              <a:rPr lang="en-US" sz="1600" dirty="0">
                <a:solidFill>
                  <a:srgbClr val="1F2937"/>
                </a:solidFill>
                <a:latin typeface="Calibri" pitchFamily="34" charset="0"/>
                <a:ea typeface="Calibri" pitchFamily="34" charset="-122"/>
                <a:cs typeface="Calibri" pitchFamily="34" charset="-120"/>
              </a:rPr>
              <a:t>.</a:t>
            </a:r>
            <a:endParaRPr lang="en-US" sz="1600" dirty="0"/>
          </a:p>
          <a:p>
            <a:pPr marL="228600" indent="-228600">
              <a:spcAft>
                <a:spcPts val="600"/>
              </a:spcAft>
              <a:buSzPct val="100000"/>
              <a:buChar char="■"/>
            </a:pPr>
            <a:r>
              <a:rPr lang="en-US" sz="1600" dirty="0">
                <a:solidFill>
                  <a:srgbClr val="1F2937"/>
                </a:solidFill>
                <a:latin typeface="Calibri" pitchFamily="34" charset="0"/>
                <a:ea typeface="Calibri" pitchFamily="34" charset="-122"/>
                <a:cs typeface="Calibri" pitchFamily="34" charset="-120"/>
              </a:rPr>
              <a:t>It's about knowing </a:t>
            </a:r>
            <a:r>
              <a:rPr lang="en-US" sz="1600" b="1" dirty="0">
                <a:solidFill>
                  <a:srgbClr val="1F2937"/>
                </a:solidFill>
                <a:latin typeface="Calibri" pitchFamily="34" charset="0"/>
                <a:ea typeface="Calibri" pitchFamily="34" charset="-122"/>
                <a:cs typeface="Calibri" pitchFamily="34" charset="-120"/>
              </a:rPr>
              <a:t>how to look things up fast</a:t>
            </a:r>
            <a:r>
              <a:rPr lang="en-US" sz="1600" dirty="0">
                <a:solidFill>
                  <a:srgbClr val="1F2937"/>
                </a:solidFill>
                <a:latin typeface="Calibri" pitchFamily="34" charset="0"/>
                <a:ea typeface="Calibri" pitchFamily="34" charset="-122"/>
                <a:cs typeface="Calibri" pitchFamily="34" charset="-120"/>
              </a:rPr>
              <a:t>.</a:t>
            </a:r>
            <a:endParaRPr lang="en-US" sz="1600" dirty="0"/>
          </a:p>
          <a:p>
            <a:pPr marL="228600" indent="-228600">
              <a:spcAft>
                <a:spcPts val="600"/>
              </a:spcAft>
              <a:buSzPct val="100000"/>
              <a:buChar char="■"/>
            </a:pPr>
            <a:r>
              <a:rPr lang="en-US" sz="1600" dirty="0">
                <a:solidFill>
                  <a:srgbClr val="1F2937"/>
                </a:solidFill>
                <a:latin typeface="Calibri" pitchFamily="34" charset="0"/>
                <a:ea typeface="Calibri" pitchFamily="34" charset="-122"/>
                <a:cs typeface="Calibri" pitchFamily="34" charset="-120"/>
              </a:rPr>
              <a:t>Four tools, in order of usefulness for beginners:</a:t>
            </a:r>
            <a:endParaRPr lang="en-US" sz="1600" dirty="0"/>
          </a:p>
          <a:p>
            <a:pPr marL="457200" lvl="1" indent="-228600">
              <a:spcAft>
                <a:spcPts val="600"/>
              </a:spcAft>
              <a:buSzPct val="100000"/>
              <a:buChar char="■"/>
            </a:pPr>
            <a:r>
              <a:rPr lang="en-US" sz="1600" dirty="0">
                <a:solidFill>
                  <a:srgbClr val="1E2761"/>
                </a:solidFill>
                <a:latin typeface="Consolas" pitchFamily="34" charset="0"/>
                <a:ea typeface="Consolas" pitchFamily="34" charset="-122"/>
                <a:cs typeface="Consolas" pitchFamily="34" charset="-120"/>
              </a:rPr>
              <a:t>--help</a:t>
            </a:r>
            <a:r>
              <a:rPr lang="en-US" sz="1600" dirty="0">
                <a:solidFill>
                  <a:srgbClr val="1F2937"/>
                </a:solidFill>
                <a:latin typeface="Calibri" pitchFamily="34" charset="0"/>
                <a:ea typeface="Calibri" pitchFamily="34" charset="-122"/>
                <a:cs typeface="Calibri" pitchFamily="34" charset="-120"/>
              </a:rPr>
              <a:t>  →  </a:t>
            </a:r>
            <a:r>
              <a:rPr lang="en-US" sz="1600" dirty="0">
                <a:solidFill>
                  <a:srgbClr val="1E2761"/>
                </a:solidFill>
                <a:latin typeface="Consolas" pitchFamily="34" charset="0"/>
                <a:ea typeface="Consolas" pitchFamily="34" charset="-122"/>
                <a:cs typeface="Consolas" pitchFamily="34" charset="-120"/>
              </a:rPr>
              <a:t>man</a:t>
            </a:r>
            <a:r>
              <a:rPr lang="en-US" sz="1600" dirty="0">
                <a:solidFill>
                  <a:srgbClr val="1F2937"/>
                </a:solidFill>
                <a:latin typeface="Calibri" pitchFamily="34" charset="0"/>
                <a:ea typeface="Calibri" pitchFamily="34" charset="-122"/>
                <a:cs typeface="Calibri" pitchFamily="34" charset="-120"/>
              </a:rPr>
              <a:t>  →  </a:t>
            </a:r>
            <a:r>
              <a:rPr lang="en-US" sz="1600" dirty="0">
                <a:solidFill>
                  <a:srgbClr val="1E2761"/>
                </a:solidFill>
                <a:latin typeface="Consolas" pitchFamily="34" charset="0"/>
                <a:ea typeface="Consolas" pitchFamily="34" charset="-122"/>
                <a:cs typeface="Consolas" pitchFamily="34" charset="-120"/>
              </a:rPr>
              <a:t>which</a:t>
            </a:r>
            <a:r>
              <a:rPr lang="en-US" sz="1600" dirty="0">
                <a:solidFill>
                  <a:srgbClr val="1F2937"/>
                </a:solidFill>
                <a:latin typeface="Calibri" pitchFamily="34" charset="0"/>
                <a:ea typeface="Calibri" pitchFamily="34" charset="-122"/>
                <a:cs typeface="Calibri" pitchFamily="34" charset="-120"/>
              </a:rPr>
              <a:t>  →  </a:t>
            </a:r>
            <a:r>
              <a:rPr lang="en-US" sz="1600" dirty="0">
                <a:solidFill>
                  <a:srgbClr val="1E2761"/>
                </a:solidFill>
                <a:latin typeface="Consolas" pitchFamily="34" charset="0"/>
                <a:ea typeface="Consolas" pitchFamily="34" charset="-122"/>
                <a:cs typeface="Consolas" pitchFamily="34" charset="-120"/>
              </a:rPr>
              <a:t>apropos</a:t>
            </a:r>
            <a:endParaRPr lang="en-US" sz="16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a:effectLst/>
      </p:bgPr>
    </p:bg>
    <p:spTree>
      <p:nvGrpSpPr>
        <p:cNvPr id="1" name=""/>
        <p:cNvGrpSpPr/>
        <p:nvPr/>
      </p:nvGrpSpPr>
      <p:grpSpPr>
        <a:xfrm>
          <a:off x="0" y="0"/>
          <a:ext cx="0" cy="0"/>
          <a:chOff x="0" y="0"/>
          <a:chExt cx="0" cy="0"/>
        </a:xfrm>
      </p:grpSpPr>
      <p:pic>
        <p:nvPicPr>
          <p:cNvPr id="9" name="Picture 8" descr="access-footer.jpg"/>
          <p:cNvPicPr>
            <a:picLocks noChangeAspect="1"/>
          </p:cNvPicPr>
          <p:nvPr/>
        </p:nvPicPr>
        <p:blipFill>
          <a:blip r:embed="rId3"/>
          <a:stretch>
            <a:fillRect/>
          </a:stretch>
        </p:blipFill>
        <p:spPr>
          <a:xfrm>
            <a:off x="0" y="0"/>
            <a:ext cx="9144000" cy="5143500"/>
          </a:xfrm>
          <a:prstGeom prst="rect">
            <a:avLst/>
          </a:prstGeom>
        </p:spPr>
      </p:pic>
      <p:sp>
        <p:nvSpPr>
          <p:cNvPr id="2" name="Text 0"/>
          <p:cNvSpPr/>
          <p:nvPr/>
        </p:nvSpPr>
        <p:spPr>
          <a:xfrm>
            <a:off x="457200" y="274320"/>
            <a:ext cx="8229600" cy="594360"/>
          </a:xfrm>
          <a:prstGeom prst="rect">
            <a:avLst/>
          </a:prstGeom>
          <a:solidFill>
            <a:srgbClr val="FFFFFF"/>
          </a:solidFill>
          <a:ln/>
        </p:spPr>
        <p:txBody>
          <a:bodyPr wrap="square" lIns="0" tIns="0" rIns="0" bIns="0" rtlCol="0" anchor="ctr"/>
          <a:lstStyle/>
          <a:p>
            <a:pPr marL="0" indent="0">
              <a:buNone/>
            </a:pPr>
            <a:r>
              <a:rPr lang="en-US" sz="2800" b="1" dirty="0">
                <a:solidFill>
                  <a:srgbClr val="1E2761"/>
                </a:solidFill>
                <a:latin typeface="Cambria" pitchFamily="34" charset="0"/>
                <a:ea typeface="Cambria" pitchFamily="34" charset="-122"/>
                <a:cs typeface="Cambria" pitchFamily="34" charset="-120"/>
              </a:rPr>
              <a:t>--help  —  the quickest answer</a:t>
            </a:r>
            <a:endParaRPr lang="en-US" sz="2800" dirty="0"/>
          </a:p>
        </p:txBody>
      </p:sp>
      <p:sp>
        <p:nvSpPr>
          <p:cNvPr id="3" name="Shape 1"/>
          <p:cNvSpPr/>
          <p:nvPr/>
        </p:nvSpPr>
        <p:spPr>
          <a:xfrm>
            <a:off x="457200" y="868680"/>
            <a:ext cx="548640" cy="36576"/>
          </a:xfrm>
          <a:prstGeom prst="rect">
            <a:avLst/>
          </a:prstGeom>
          <a:solidFill>
            <a:srgbClr val="1E2761"/>
          </a:solidFill>
          <a:ln w="12700">
            <a:solidFill>
              <a:srgbClr val="1E2761"/>
            </a:solidFill>
            <a:prstDash val="solid"/>
          </a:ln>
        </p:spPr>
        <p:txBody>
          <a:bodyPr/>
          <a:lstStyle/>
          <a:p>
            <a:endParaRPr lang="en-US"/>
          </a:p>
        </p:txBody>
      </p:sp>
      <p:sp>
        <p:nvSpPr>
          <p:cNvPr id="4" name="Shape 2"/>
          <p:cNvSpPr/>
          <p:nvPr/>
        </p:nvSpPr>
        <p:spPr>
          <a:xfrm>
            <a:off x="457200" y="1005840"/>
            <a:ext cx="1005840" cy="292608"/>
          </a:xfrm>
          <a:prstGeom prst="rect">
            <a:avLst/>
          </a:prstGeom>
          <a:solidFill>
            <a:srgbClr val="0369A1"/>
          </a:solidFill>
          <a:ln w="12700">
            <a:solidFill>
              <a:srgbClr val="0369A1"/>
            </a:solidFill>
            <a:prstDash val="solid"/>
          </a:ln>
        </p:spPr>
        <p:txBody>
          <a:bodyPr/>
          <a:lstStyle/>
          <a:p>
            <a:endParaRPr lang="en-US"/>
          </a:p>
        </p:txBody>
      </p:sp>
      <p:sp>
        <p:nvSpPr>
          <p:cNvPr id="5" name="Text 3"/>
          <p:cNvSpPr/>
          <p:nvPr/>
        </p:nvSpPr>
        <p:spPr>
          <a:xfrm>
            <a:off x="457200" y="1005840"/>
            <a:ext cx="1005840" cy="292608"/>
          </a:xfrm>
          <a:prstGeom prst="rect">
            <a:avLst/>
          </a:prstGeom>
          <a:noFill/>
          <a:ln/>
        </p:spPr>
        <p:txBody>
          <a:bodyPr wrap="square" lIns="0" tIns="0" rIns="0" bIns="0" rtlCol="0" anchor="ctr"/>
          <a:lstStyle/>
          <a:p>
            <a:pPr marL="0" indent="0" algn="ctr">
              <a:buNone/>
            </a:pPr>
            <a:r>
              <a:rPr lang="en-US" sz="1100" b="1" kern="0" spc="200" dirty="0">
                <a:solidFill>
                  <a:srgbClr val="FFFFFF"/>
                </a:solidFill>
                <a:latin typeface="Calibri" pitchFamily="34" charset="0"/>
                <a:ea typeface="Calibri" pitchFamily="34" charset="-122"/>
                <a:cs typeface="Calibri" pitchFamily="34" charset="-120"/>
              </a:rPr>
              <a:t>DEMO</a:t>
            </a:r>
            <a:endParaRPr lang="en-US" sz="1100" dirty="0"/>
          </a:p>
        </p:txBody>
      </p:sp>
      <p:sp>
        <p:nvSpPr>
          <p:cNvPr id="6" name="Shape 4"/>
          <p:cNvSpPr/>
          <p:nvPr/>
        </p:nvSpPr>
        <p:spPr>
          <a:xfrm>
            <a:off x="548640" y="1435608"/>
            <a:ext cx="8046720" cy="678180"/>
          </a:xfrm>
          <a:prstGeom prst="rect">
            <a:avLst/>
          </a:prstGeom>
          <a:solidFill>
            <a:srgbClr val="0F172A"/>
          </a:solidFill>
          <a:ln w="12700">
            <a:solidFill>
              <a:srgbClr val="0F172A"/>
            </a:solidFill>
            <a:prstDash val="solid"/>
          </a:ln>
        </p:spPr>
        <p:txBody>
          <a:bodyPr/>
          <a:lstStyle/>
          <a:p>
            <a:endParaRPr lang="en-US"/>
          </a:p>
        </p:txBody>
      </p:sp>
      <p:sp>
        <p:nvSpPr>
          <p:cNvPr id="7" name="Text 5"/>
          <p:cNvSpPr/>
          <p:nvPr/>
        </p:nvSpPr>
        <p:spPr>
          <a:xfrm>
            <a:off x="685800" y="1508760"/>
            <a:ext cx="7772400" cy="531876"/>
          </a:xfrm>
          <a:prstGeom prst="rect">
            <a:avLst/>
          </a:prstGeom>
          <a:noFill/>
          <a:ln/>
        </p:spPr>
        <p:txBody>
          <a:bodyPr wrap="square" lIns="0" tIns="0" rIns="0" bIns="0" rtlCol="0" anchor="t"/>
          <a:lstStyle/>
          <a:p>
            <a:pPr marL="0" indent="0">
              <a:buNone/>
            </a:pPr>
            <a:r>
              <a:rPr lang="en-US" sz="1500" dirty="0">
                <a:solidFill>
                  <a:srgbClr val="E2E8F0"/>
                </a:solidFill>
                <a:latin typeface="Consolas" pitchFamily="34" charset="0"/>
                <a:ea typeface="Consolas" pitchFamily="34" charset="-122"/>
                <a:cs typeface="Consolas" pitchFamily="34" charset="-120"/>
              </a:rPr>
              <a:t>$ ls --help</a:t>
            </a:r>
            <a:endParaRPr lang="en-US" sz="1500" dirty="0"/>
          </a:p>
          <a:p>
            <a:pPr marL="0" indent="0">
              <a:buNone/>
            </a:pPr>
            <a:r>
              <a:rPr lang="en-US" sz="1500" dirty="0">
                <a:solidFill>
                  <a:srgbClr val="E2E8F0"/>
                </a:solidFill>
                <a:latin typeface="Consolas" pitchFamily="34" charset="0"/>
                <a:ea typeface="Consolas" pitchFamily="34" charset="-122"/>
                <a:cs typeface="Consolas" pitchFamily="34" charset="-120"/>
              </a:rPr>
              <a:t>$ mkdir --help</a:t>
            </a:r>
            <a:endParaRPr lang="en-US" sz="1500" dirty="0"/>
          </a:p>
        </p:txBody>
      </p:sp>
      <p:sp>
        <p:nvSpPr>
          <p:cNvPr id="8" name="Text 6"/>
          <p:cNvSpPr/>
          <p:nvPr/>
        </p:nvSpPr>
        <p:spPr>
          <a:xfrm>
            <a:off x="548640" y="2159508"/>
            <a:ext cx="8046720" cy="767080"/>
          </a:xfrm>
          <a:prstGeom prst="rect">
            <a:avLst/>
          </a:prstGeom>
          <a:solidFill>
            <a:srgbClr val="FFFFFF"/>
          </a:solidFill>
          <a:ln/>
        </p:spPr>
        <p:txBody>
          <a:bodyPr wrap="square" lIns="0" tIns="0" rIns="0" bIns="0" rtlCol="0" anchor="t"/>
          <a:lstStyle/>
          <a:p>
            <a:pPr marL="228600" indent="-228600">
              <a:spcAft>
                <a:spcPts val="600"/>
              </a:spcAft>
              <a:buSzPct val="100000"/>
              <a:buChar char="■"/>
            </a:pPr>
            <a:r>
              <a:rPr lang="en-US" sz="1600" dirty="0">
                <a:solidFill>
                  <a:srgbClr val="1F2937"/>
                </a:solidFill>
                <a:latin typeface="Calibri" pitchFamily="34" charset="0"/>
                <a:ea typeface="Calibri" pitchFamily="34" charset="-122"/>
                <a:cs typeface="Calibri" pitchFamily="34" charset="-120"/>
              </a:rPr>
              <a:t>Most commands accept </a:t>
            </a:r>
            <a:r>
              <a:rPr lang="en-US" sz="1600" dirty="0">
                <a:solidFill>
                  <a:srgbClr val="1E2761"/>
                </a:solidFill>
                <a:latin typeface="Consolas" pitchFamily="34" charset="0"/>
                <a:ea typeface="Consolas" pitchFamily="34" charset="-122"/>
                <a:cs typeface="Consolas" pitchFamily="34" charset="-120"/>
              </a:rPr>
              <a:t>--help</a:t>
            </a:r>
            <a:r>
              <a:rPr lang="en-US" sz="1600" dirty="0">
                <a:solidFill>
                  <a:srgbClr val="1F2937"/>
                </a:solidFill>
                <a:latin typeface="Calibri" pitchFamily="34" charset="0"/>
                <a:ea typeface="Calibri" pitchFamily="34" charset="-122"/>
                <a:cs typeface="Calibri" pitchFamily="34" charset="-120"/>
              </a:rPr>
              <a:t> and print a short usage summary.</a:t>
            </a:r>
            <a:endParaRPr lang="en-US" sz="1600" dirty="0"/>
          </a:p>
          <a:p>
            <a:pPr marL="228600" indent="-228600">
              <a:spcAft>
                <a:spcPts val="600"/>
              </a:spcAft>
              <a:buSzPct val="100000"/>
              <a:buChar char="■"/>
            </a:pPr>
            <a:r>
              <a:rPr lang="en-US" sz="1600" b="1" dirty="0">
                <a:solidFill>
                  <a:srgbClr val="1F2937"/>
                </a:solidFill>
                <a:latin typeface="Calibri" pitchFamily="34" charset="0"/>
                <a:ea typeface="Calibri" pitchFamily="34" charset="-122"/>
                <a:cs typeface="Calibri" pitchFamily="34" charset="-120"/>
              </a:rPr>
              <a:t>Often this is all you need.</a:t>
            </a:r>
            <a:endParaRPr lang="en-US" sz="16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a:effectLst/>
      </p:bgPr>
    </p:bg>
    <p:spTree>
      <p:nvGrpSpPr>
        <p:cNvPr id="1" name=""/>
        <p:cNvGrpSpPr/>
        <p:nvPr/>
      </p:nvGrpSpPr>
      <p:grpSpPr>
        <a:xfrm>
          <a:off x="0" y="0"/>
          <a:ext cx="0" cy="0"/>
          <a:chOff x="0" y="0"/>
          <a:chExt cx="0" cy="0"/>
        </a:xfrm>
      </p:grpSpPr>
      <p:pic>
        <p:nvPicPr>
          <p:cNvPr id="12" name="Picture 11" descr="access-footer.jpg"/>
          <p:cNvPicPr>
            <a:picLocks noChangeAspect="1"/>
          </p:cNvPicPr>
          <p:nvPr/>
        </p:nvPicPr>
        <p:blipFill>
          <a:blip r:embed="rId3"/>
          <a:stretch>
            <a:fillRect/>
          </a:stretch>
        </p:blipFill>
        <p:spPr>
          <a:xfrm>
            <a:off x="0" y="0"/>
            <a:ext cx="9144000" cy="5143500"/>
          </a:xfrm>
          <a:prstGeom prst="rect">
            <a:avLst/>
          </a:prstGeom>
        </p:spPr>
      </p:pic>
      <p:sp>
        <p:nvSpPr>
          <p:cNvPr id="2" name="Text 0"/>
          <p:cNvSpPr/>
          <p:nvPr/>
        </p:nvSpPr>
        <p:spPr>
          <a:xfrm>
            <a:off x="457200" y="274320"/>
            <a:ext cx="8229600" cy="594360"/>
          </a:xfrm>
          <a:prstGeom prst="rect">
            <a:avLst/>
          </a:prstGeom>
          <a:solidFill>
            <a:srgbClr val="FFFFFF"/>
          </a:solidFill>
          <a:ln/>
        </p:spPr>
        <p:txBody>
          <a:bodyPr wrap="square" lIns="0" tIns="0" rIns="0" bIns="0" rtlCol="0" anchor="ctr"/>
          <a:lstStyle/>
          <a:p>
            <a:pPr marL="0" indent="0">
              <a:buNone/>
            </a:pPr>
            <a:r>
              <a:rPr lang="en-US" sz="2800" b="1" dirty="0">
                <a:solidFill>
                  <a:srgbClr val="1E2761"/>
                </a:solidFill>
                <a:latin typeface="Cambria" pitchFamily="34" charset="0"/>
                <a:ea typeface="Cambria" pitchFamily="34" charset="-122"/>
                <a:cs typeface="Cambria" pitchFamily="34" charset="-120"/>
              </a:rPr>
              <a:t>man  —  the full manual</a:t>
            </a:r>
            <a:endParaRPr lang="en-US" sz="2800" dirty="0"/>
          </a:p>
        </p:txBody>
      </p:sp>
      <p:sp>
        <p:nvSpPr>
          <p:cNvPr id="3" name="Shape 1"/>
          <p:cNvSpPr/>
          <p:nvPr/>
        </p:nvSpPr>
        <p:spPr>
          <a:xfrm>
            <a:off x="457200" y="868680"/>
            <a:ext cx="548640" cy="36576"/>
          </a:xfrm>
          <a:prstGeom prst="rect">
            <a:avLst/>
          </a:prstGeom>
          <a:solidFill>
            <a:srgbClr val="1E2761"/>
          </a:solidFill>
          <a:ln w="12700">
            <a:solidFill>
              <a:srgbClr val="1E2761"/>
            </a:solidFill>
            <a:prstDash val="solid"/>
          </a:ln>
        </p:spPr>
        <p:txBody>
          <a:bodyPr/>
          <a:lstStyle/>
          <a:p>
            <a:endParaRPr lang="en-US"/>
          </a:p>
        </p:txBody>
      </p:sp>
      <p:sp>
        <p:nvSpPr>
          <p:cNvPr id="4" name="Shape 2"/>
          <p:cNvSpPr/>
          <p:nvPr/>
        </p:nvSpPr>
        <p:spPr>
          <a:xfrm>
            <a:off x="457200" y="1005840"/>
            <a:ext cx="1005840" cy="292608"/>
          </a:xfrm>
          <a:prstGeom prst="rect">
            <a:avLst/>
          </a:prstGeom>
          <a:solidFill>
            <a:srgbClr val="0369A1"/>
          </a:solidFill>
          <a:ln w="12700">
            <a:solidFill>
              <a:srgbClr val="0369A1"/>
            </a:solidFill>
            <a:prstDash val="solid"/>
          </a:ln>
        </p:spPr>
        <p:txBody>
          <a:bodyPr/>
          <a:lstStyle/>
          <a:p>
            <a:endParaRPr lang="en-US"/>
          </a:p>
        </p:txBody>
      </p:sp>
      <p:sp>
        <p:nvSpPr>
          <p:cNvPr id="5" name="Text 3"/>
          <p:cNvSpPr/>
          <p:nvPr/>
        </p:nvSpPr>
        <p:spPr>
          <a:xfrm>
            <a:off x="457200" y="1005840"/>
            <a:ext cx="1005840" cy="292608"/>
          </a:xfrm>
          <a:prstGeom prst="rect">
            <a:avLst/>
          </a:prstGeom>
          <a:noFill/>
          <a:ln/>
        </p:spPr>
        <p:txBody>
          <a:bodyPr wrap="square" lIns="0" tIns="0" rIns="0" bIns="0" rtlCol="0" anchor="ctr"/>
          <a:lstStyle/>
          <a:p>
            <a:pPr marL="0" indent="0" algn="ctr">
              <a:buNone/>
            </a:pPr>
            <a:r>
              <a:rPr lang="en-US" sz="1100" b="1" kern="0" spc="200" dirty="0">
                <a:solidFill>
                  <a:srgbClr val="FFFFFF"/>
                </a:solidFill>
                <a:latin typeface="Calibri" pitchFamily="34" charset="0"/>
                <a:ea typeface="Calibri" pitchFamily="34" charset="-122"/>
                <a:cs typeface="Calibri" pitchFamily="34" charset="-120"/>
              </a:rPr>
              <a:t>DEMO</a:t>
            </a:r>
            <a:endParaRPr lang="en-US" sz="1100" dirty="0"/>
          </a:p>
        </p:txBody>
      </p:sp>
      <p:sp>
        <p:nvSpPr>
          <p:cNvPr id="6" name="Shape 4"/>
          <p:cNvSpPr/>
          <p:nvPr/>
        </p:nvSpPr>
        <p:spPr>
          <a:xfrm>
            <a:off x="548640" y="1435608"/>
            <a:ext cx="8046720" cy="430530"/>
          </a:xfrm>
          <a:prstGeom prst="rect">
            <a:avLst/>
          </a:prstGeom>
          <a:solidFill>
            <a:srgbClr val="0F172A"/>
          </a:solidFill>
          <a:ln w="12700">
            <a:solidFill>
              <a:srgbClr val="0F172A"/>
            </a:solidFill>
            <a:prstDash val="solid"/>
          </a:ln>
        </p:spPr>
        <p:txBody>
          <a:bodyPr/>
          <a:lstStyle/>
          <a:p>
            <a:endParaRPr lang="en-US"/>
          </a:p>
        </p:txBody>
      </p:sp>
      <p:sp>
        <p:nvSpPr>
          <p:cNvPr id="7" name="Text 5"/>
          <p:cNvSpPr/>
          <p:nvPr/>
        </p:nvSpPr>
        <p:spPr>
          <a:xfrm>
            <a:off x="685800" y="1508760"/>
            <a:ext cx="7772400" cy="284226"/>
          </a:xfrm>
          <a:prstGeom prst="rect">
            <a:avLst/>
          </a:prstGeom>
          <a:noFill/>
          <a:ln/>
        </p:spPr>
        <p:txBody>
          <a:bodyPr wrap="square" lIns="0" tIns="0" rIns="0" bIns="0" rtlCol="0" anchor="t"/>
          <a:lstStyle/>
          <a:p>
            <a:pPr marL="0" indent="0">
              <a:buNone/>
            </a:pPr>
            <a:r>
              <a:rPr lang="en-US" sz="1500" dirty="0">
                <a:solidFill>
                  <a:srgbClr val="E2E8F0"/>
                </a:solidFill>
                <a:latin typeface="Consolas" pitchFamily="34" charset="0"/>
                <a:ea typeface="Consolas" pitchFamily="34" charset="-122"/>
                <a:cs typeface="Consolas" pitchFamily="34" charset="-120"/>
              </a:rPr>
              <a:t>$ man ls</a:t>
            </a:r>
            <a:endParaRPr lang="en-US" sz="1500" dirty="0"/>
          </a:p>
        </p:txBody>
      </p:sp>
      <p:sp>
        <p:nvSpPr>
          <p:cNvPr id="8" name="Text 6"/>
          <p:cNvSpPr/>
          <p:nvPr/>
        </p:nvSpPr>
        <p:spPr>
          <a:xfrm>
            <a:off x="548640" y="1911858"/>
            <a:ext cx="8046720" cy="767080"/>
          </a:xfrm>
          <a:prstGeom prst="rect">
            <a:avLst/>
          </a:prstGeom>
          <a:solidFill>
            <a:srgbClr val="FFFFFF"/>
          </a:solidFill>
          <a:ln/>
        </p:spPr>
        <p:txBody>
          <a:bodyPr wrap="square" lIns="0" tIns="0" rIns="0" bIns="0" rtlCol="0" anchor="t"/>
          <a:lstStyle/>
          <a:p>
            <a:pPr marL="228600" indent="-228600">
              <a:spcAft>
                <a:spcPts val="600"/>
              </a:spcAft>
              <a:buSzPct val="100000"/>
              <a:buChar char="■"/>
            </a:pPr>
            <a:r>
              <a:rPr lang="en-US" sz="1600" dirty="0">
                <a:solidFill>
                  <a:srgbClr val="1F2937"/>
                </a:solidFill>
                <a:latin typeface="Calibri" pitchFamily="34" charset="0"/>
                <a:ea typeface="Calibri" pitchFamily="34" charset="-122"/>
                <a:cs typeface="Calibri" pitchFamily="34" charset="-120"/>
              </a:rPr>
              <a:t>Opens the full manual page. Uses the same pager as </a:t>
            </a:r>
            <a:r>
              <a:rPr lang="en-US" sz="1600" dirty="0">
                <a:solidFill>
                  <a:srgbClr val="1E2761"/>
                </a:solidFill>
                <a:latin typeface="Consolas" pitchFamily="34" charset="0"/>
                <a:ea typeface="Consolas" pitchFamily="34" charset="-122"/>
                <a:cs typeface="Consolas" pitchFamily="34" charset="-120"/>
              </a:rPr>
              <a:t>less</a:t>
            </a:r>
            <a:r>
              <a:rPr lang="en-US" sz="1600" dirty="0">
                <a:solidFill>
                  <a:srgbClr val="1F2937"/>
                </a:solidFill>
                <a:latin typeface="Calibri" pitchFamily="34" charset="0"/>
                <a:ea typeface="Calibri" pitchFamily="34" charset="-122"/>
                <a:cs typeface="Calibri" pitchFamily="34" charset="-120"/>
              </a:rPr>
              <a:t>:</a:t>
            </a:r>
            <a:endParaRPr lang="en-US" sz="1600" dirty="0"/>
          </a:p>
          <a:p>
            <a:pPr marL="457200" lvl="1" indent="-228600">
              <a:spcAft>
                <a:spcPts val="600"/>
              </a:spcAft>
              <a:buSzPct val="100000"/>
              <a:buChar char="■"/>
            </a:pPr>
            <a:r>
              <a:rPr lang="en-US" sz="1600" b="1" dirty="0">
                <a:solidFill>
                  <a:srgbClr val="1F2937"/>
                </a:solidFill>
                <a:latin typeface="Calibri" pitchFamily="34" charset="0"/>
                <a:ea typeface="Calibri" pitchFamily="34" charset="-122"/>
                <a:cs typeface="Calibri" pitchFamily="34" charset="-120"/>
              </a:rPr>
              <a:t>Space</a:t>
            </a:r>
            <a:r>
              <a:rPr lang="en-US" sz="1600" dirty="0">
                <a:solidFill>
                  <a:srgbClr val="1F2937"/>
                </a:solidFill>
                <a:latin typeface="Calibri" pitchFamily="34" charset="0"/>
                <a:ea typeface="Calibri" pitchFamily="34" charset="-122"/>
                <a:cs typeface="Calibri" pitchFamily="34" charset="-120"/>
              </a:rPr>
              <a:t> — next page    </a:t>
            </a:r>
            <a:r>
              <a:rPr lang="en-US" sz="1600" b="1" dirty="0">
                <a:solidFill>
                  <a:srgbClr val="1F2937"/>
                </a:solidFill>
                <a:latin typeface="Calibri" pitchFamily="34" charset="0"/>
                <a:ea typeface="Calibri" pitchFamily="34" charset="-122"/>
                <a:cs typeface="Calibri" pitchFamily="34" charset="-120"/>
              </a:rPr>
              <a:t>/word</a:t>
            </a:r>
            <a:r>
              <a:rPr lang="en-US" sz="1600" dirty="0">
                <a:solidFill>
                  <a:srgbClr val="1F2937"/>
                </a:solidFill>
                <a:latin typeface="Calibri" pitchFamily="34" charset="0"/>
                <a:ea typeface="Calibri" pitchFamily="34" charset="-122"/>
                <a:cs typeface="Calibri" pitchFamily="34" charset="-120"/>
              </a:rPr>
              <a:t> — search    </a:t>
            </a:r>
            <a:r>
              <a:rPr lang="en-US" sz="1600" b="1" dirty="0">
                <a:solidFill>
                  <a:srgbClr val="1F2937"/>
                </a:solidFill>
                <a:latin typeface="Calibri" pitchFamily="34" charset="0"/>
                <a:ea typeface="Calibri" pitchFamily="34" charset="-122"/>
                <a:cs typeface="Calibri" pitchFamily="34" charset="-120"/>
              </a:rPr>
              <a:t>q</a:t>
            </a:r>
            <a:r>
              <a:rPr lang="en-US" sz="1600" dirty="0">
                <a:solidFill>
                  <a:srgbClr val="1F2937"/>
                </a:solidFill>
                <a:latin typeface="Calibri" pitchFamily="34" charset="0"/>
                <a:ea typeface="Calibri" pitchFamily="34" charset="-122"/>
                <a:cs typeface="Calibri" pitchFamily="34" charset="-120"/>
              </a:rPr>
              <a:t> — quit</a:t>
            </a:r>
            <a:endParaRPr lang="en-US" sz="1600" dirty="0"/>
          </a:p>
        </p:txBody>
      </p:sp>
      <p:sp>
        <p:nvSpPr>
          <p:cNvPr id="9" name="Shape 7"/>
          <p:cNvSpPr/>
          <p:nvPr/>
        </p:nvSpPr>
        <p:spPr>
          <a:xfrm>
            <a:off x="457200" y="2724658"/>
            <a:ext cx="1005840" cy="292608"/>
          </a:xfrm>
          <a:prstGeom prst="rect">
            <a:avLst/>
          </a:prstGeom>
          <a:solidFill>
            <a:srgbClr val="B45309"/>
          </a:solidFill>
          <a:ln w="12700">
            <a:solidFill>
              <a:srgbClr val="B45309"/>
            </a:solidFill>
            <a:prstDash val="solid"/>
          </a:ln>
        </p:spPr>
        <p:txBody>
          <a:bodyPr/>
          <a:lstStyle/>
          <a:p>
            <a:endParaRPr lang="en-US"/>
          </a:p>
        </p:txBody>
      </p:sp>
      <p:sp>
        <p:nvSpPr>
          <p:cNvPr id="10" name="Text 8"/>
          <p:cNvSpPr/>
          <p:nvPr/>
        </p:nvSpPr>
        <p:spPr>
          <a:xfrm>
            <a:off x="457200" y="2724658"/>
            <a:ext cx="1005840" cy="292608"/>
          </a:xfrm>
          <a:prstGeom prst="rect">
            <a:avLst/>
          </a:prstGeom>
          <a:noFill/>
          <a:ln/>
        </p:spPr>
        <p:txBody>
          <a:bodyPr wrap="square" lIns="0" tIns="0" rIns="0" bIns="0" rtlCol="0" anchor="ctr"/>
          <a:lstStyle/>
          <a:p>
            <a:pPr marL="0" indent="0" algn="ctr">
              <a:buNone/>
            </a:pPr>
            <a:r>
              <a:rPr lang="en-US" sz="1100" b="1" kern="0" spc="200" dirty="0">
                <a:solidFill>
                  <a:srgbClr val="FFFFFF"/>
                </a:solidFill>
                <a:latin typeface="Calibri" pitchFamily="34" charset="0"/>
                <a:ea typeface="Calibri" pitchFamily="34" charset="-122"/>
                <a:cs typeface="Calibri" pitchFamily="34" charset="-120"/>
              </a:rPr>
              <a:t>WATCH OUT</a:t>
            </a:r>
            <a:endParaRPr lang="en-US" sz="1100" dirty="0"/>
          </a:p>
        </p:txBody>
      </p:sp>
      <p:sp>
        <p:nvSpPr>
          <p:cNvPr id="11" name="Text 9"/>
          <p:cNvSpPr/>
          <p:nvPr/>
        </p:nvSpPr>
        <p:spPr>
          <a:xfrm>
            <a:off x="548640" y="3154426"/>
            <a:ext cx="8046720" cy="944880"/>
          </a:xfrm>
          <a:prstGeom prst="rect">
            <a:avLst/>
          </a:prstGeom>
          <a:solidFill>
            <a:srgbClr val="FFFFFF"/>
          </a:solidFill>
          <a:ln/>
        </p:spPr>
        <p:txBody>
          <a:bodyPr wrap="square" lIns="0" tIns="0" rIns="0" bIns="0" rtlCol="0" anchor="t"/>
          <a:lstStyle/>
          <a:p>
            <a:pPr marL="228600" indent="-228600">
              <a:spcAft>
                <a:spcPts val="600"/>
              </a:spcAft>
              <a:buSzPct val="100000"/>
              <a:buChar char="■"/>
            </a:pPr>
            <a:r>
              <a:rPr lang="en-US" sz="1400" dirty="0">
                <a:solidFill>
                  <a:srgbClr val="1E2761"/>
                </a:solidFill>
                <a:latin typeface="Consolas" pitchFamily="34" charset="0"/>
                <a:ea typeface="Consolas" pitchFamily="34" charset="-122"/>
                <a:cs typeface="Consolas" pitchFamily="34" charset="-120"/>
              </a:rPr>
              <a:t>man</a:t>
            </a:r>
            <a:r>
              <a:rPr lang="en-US" sz="1400" dirty="0">
                <a:solidFill>
                  <a:srgbClr val="1F2937"/>
                </a:solidFill>
                <a:latin typeface="Calibri" pitchFamily="34" charset="0"/>
                <a:ea typeface="Calibri" pitchFamily="34" charset="-122"/>
                <a:cs typeface="Calibri" pitchFamily="34" charset="-120"/>
              </a:rPr>
              <a:t> pages are dense and written for people who mostly understand the command already.</a:t>
            </a:r>
            <a:endParaRPr lang="en-US" sz="1400" dirty="0"/>
          </a:p>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Start with </a:t>
            </a:r>
            <a:r>
              <a:rPr lang="en-US" sz="1400" dirty="0">
                <a:solidFill>
                  <a:srgbClr val="1E2761"/>
                </a:solidFill>
                <a:latin typeface="Consolas" pitchFamily="34" charset="0"/>
                <a:ea typeface="Consolas" pitchFamily="34" charset="-122"/>
                <a:cs typeface="Consolas" pitchFamily="34" charset="-120"/>
              </a:rPr>
              <a:t>--help</a:t>
            </a:r>
            <a:r>
              <a:rPr lang="en-US" sz="1400" dirty="0">
                <a:solidFill>
                  <a:srgbClr val="1F2937"/>
                </a:solidFill>
                <a:latin typeface="Calibri" pitchFamily="34" charset="0"/>
                <a:ea typeface="Calibri" pitchFamily="34" charset="-122"/>
                <a:cs typeface="Calibri" pitchFamily="34" charset="-120"/>
              </a:rPr>
              <a:t>; reach for </a:t>
            </a:r>
            <a:r>
              <a:rPr lang="en-US" sz="1400" dirty="0">
                <a:solidFill>
                  <a:srgbClr val="1E2761"/>
                </a:solidFill>
                <a:latin typeface="Consolas" pitchFamily="34" charset="0"/>
                <a:ea typeface="Consolas" pitchFamily="34" charset="-122"/>
                <a:cs typeface="Consolas" pitchFamily="34" charset="-120"/>
              </a:rPr>
              <a:t>man</a:t>
            </a:r>
            <a:r>
              <a:rPr lang="en-US" sz="1400" dirty="0">
                <a:solidFill>
                  <a:srgbClr val="1F2937"/>
                </a:solidFill>
                <a:latin typeface="Calibri" pitchFamily="34" charset="0"/>
                <a:ea typeface="Calibri" pitchFamily="34" charset="-122"/>
                <a:cs typeface="Calibri" pitchFamily="34" charset="-120"/>
              </a:rPr>
              <a:t> when you need the full detail.</a:t>
            </a:r>
            <a:endParaRPr lang="en-US" sz="14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a:effectLst/>
      </p:bgPr>
    </p:bg>
    <p:spTree>
      <p:nvGrpSpPr>
        <p:cNvPr id="1" name=""/>
        <p:cNvGrpSpPr/>
        <p:nvPr/>
      </p:nvGrpSpPr>
      <p:grpSpPr>
        <a:xfrm>
          <a:off x="0" y="0"/>
          <a:ext cx="0" cy="0"/>
          <a:chOff x="0" y="0"/>
          <a:chExt cx="0" cy="0"/>
        </a:xfrm>
      </p:grpSpPr>
      <p:pic>
        <p:nvPicPr>
          <p:cNvPr id="10" name="Picture 9" descr="access-footer.jpg"/>
          <p:cNvPicPr>
            <a:picLocks noChangeAspect="1"/>
          </p:cNvPicPr>
          <p:nvPr/>
        </p:nvPicPr>
        <p:blipFill>
          <a:blip r:embed="rId3"/>
          <a:stretch>
            <a:fillRect/>
          </a:stretch>
        </p:blipFill>
        <p:spPr>
          <a:xfrm>
            <a:off x="0" y="0"/>
            <a:ext cx="9144000" cy="5143500"/>
          </a:xfrm>
          <a:prstGeom prst="rect">
            <a:avLst/>
          </a:prstGeom>
        </p:spPr>
      </p:pic>
      <p:sp>
        <p:nvSpPr>
          <p:cNvPr id="2" name="Text 0"/>
          <p:cNvSpPr/>
          <p:nvPr/>
        </p:nvSpPr>
        <p:spPr>
          <a:xfrm>
            <a:off x="457200" y="274320"/>
            <a:ext cx="8229600" cy="594360"/>
          </a:xfrm>
          <a:prstGeom prst="rect">
            <a:avLst/>
          </a:prstGeom>
          <a:solidFill>
            <a:srgbClr val="FFFFFF"/>
          </a:solidFill>
          <a:ln/>
        </p:spPr>
        <p:txBody>
          <a:bodyPr wrap="square" lIns="0" tIns="0" rIns="0" bIns="0" rtlCol="0" anchor="ctr"/>
          <a:lstStyle/>
          <a:p>
            <a:pPr marL="0" indent="0">
              <a:buNone/>
            </a:pPr>
            <a:r>
              <a:rPr lang="en-US" sz="2800" b="1" dirty="0">
                <a:solidFill>
                  <a:srgbClr val="1E2761"/>
                </a:solidFill>
                <a:latin typeface="Cambria" pitchFamily="34" charset="0"/>
                <a:ea typeface="Cambria" pitchFamily="34" charset="-122"/>
                <a:cs typeface="Cambria" pitchFamily="34" charset="-120"/>
              </a:rPr>
              <a:t>Pattern check</a:t>
            </a:r>
            <a:endParaRPr lang="en-US" sz="2800" dirty="0"/>
          </a:p>
        </p:txBody>
      </p:sp>
      <p:sp>
        <p:nvSpPr>
          <p:cNvPr id="3" name="Shape 1"/>
          <p:cNvSpPr/>
          <p:nvPr/>
        </p:nvSpPr>
        <p:spPr>
          <a:xfrm>
            <a:off x="457200" y="868680"/>
            <a:ext cx="548640" cy="36576"/>
          </a:xfrm>
          <a:prstGeom prst="rect">
            <a:avLst/>
          </a:prstGeom>
          <a:solidFill>
            <a:srgbClr val="1E2761"/>
          </a:solidFill>
          <a:ln w="12700">
            <a:solidFill>
              <a:srgbClr val="1E2761"/>
            </a:solidFill>
            <a:prstDash val="solid"/>
          </a:ln>
        </p:spPr>
        <p:txBody>
          <a:bodyPr/>
          <a:lstStyle/>
          <a:p>
            <a:endParaRPr lang="en-US"/>
          </a:p>
        </p:txBody>
      </p:sp>
      <p:sp>
        <p:nvSpPr>
          <p:cNvPr id="4" name="Shape 2"/>
          <p:cNvSpPr/>
          <p:nvPr/>
        </p:nvSpPr>
        <p:spPr>
          <a:xfrm>
            <a:off x="457200" y="1005840"/>
            <a:ext cx="1005840" cy="292608"/>
          </a:xfrm>
          <a:prstGeom prst="rect">
            <a:avLst/>
          </a:prstGeom>
          <a:solidFill>
            <a:srgbClr val="1E2761"/>
          </a:solidFill>
          <a:ln w="12700">
            <a:solidFill>
              <a:srgbClr val="1E2761"/>
            </a:solidFill>
            <a:prstDash val="solid"/>
          </a:ln>
        </p:spPr>
        <p:txBody>
          <a:bodyPr/>
          <a:lstStyle/>
          <a:p>
            <a:endParaRPr lang="en-US"/>
          </a:p>
        </p:txBody>
      </p:sp>
      <p:sp>
        <p:nvSpPr>
          <p:cNvPr id="5" name="Text 3"/>
          <p:cNvSpPr/>
          <p:nvPr/>
        </p:nvSpPr>
        <p:spPr>
          <a:xfrm>
            <a:off x="457200" y="1005840"/>
            <a:ext cx="1005840" cy="292608"/>
          </a:xfrm>
          <a:prstGeom prst="rect">
            <a:avLst/>
          </a:prstGeom>
          <a:noFill/>
          <a:ln/>
        </p:spPr>
        <p:txBody>
          <a:bodyPr wrap="square" lIns="0" tIns="0" rIns="0" bIns="0" rtlCol="0" anchor="ctr"/>
          <a:lstStyle/>
          <a:p>
            <a:pPr marL="0" indent="0" algn="ctr">
              <a:buNone/>
            </a:pPr>
            <a:r>
              <a:rPr lang="en-US" sz="1100" b="1" kern="0" spc="200" dirty="0">
                <a:solidFill>
                  <a:srgbClr val="FFFFFF"/>
                </a:solidFill>
                <a:latin typeface="Calibri" pitchFamily="34" charset="0"/>
                <a:ea typeface="Calibri" pitchFamily="34" charset="-122"/>
                <a:cs typeface="Calibri" pitchFamily="34" charset="-120"/>
              </a:rPr>
              <a:t>TALK</a:t>
            </a:r>
            <a:endParaRPr lang="en-US" sz="1100" dirty="0"/>
          </a:p>
        </p:txBody>
      </p:sp>
      <p:sp>
        <p:nvSpPr>
          <p:cNvPr id="6" name="Shape 4"/>
          <p:cNvSpPr/>
          <p:nvPr/>
        </p:nvSpPr>
        <p:spPr>
          <a:xfrm>
            <a:off x="548640" y="1435608"/>
            <a:ext cx="8046720" cy="546100"/>
          </a:xfrm>
          <a:prstGeom prst="rect">
            <a:avLst/>
          </a:prstGeom>
          <a:solidFill>
            <a:srgbClr val="0F172A"/>
          </a:solidFill>
          <a:ln w="12700">
            <a:solidFill>
              <a:srgbClr val="0F172A"/>
            </a:solidFill>
            <a:prstDash val="solid"/>
          </a:ln>
        </p:spPr>
        <p:txBody>
          <a:bodyPr/>
          <a:lstStyle/>
          <a:p>
            <a:endParaRPr lang="en-US"/>
          </a:p>
        </p:txBody>
      </p:sp>
      <p:sp>
        <p:nvSpPr>
          <p:cNvPr id="7" name="Text 5"/>
          <p:cNvSpPr/>
          <p:nvPr/>
        </p:nvSpPr>
        <p:spPr>
          <a:xfrm>
            <a:off x="685800" y="1508760"/>
            <a:ext cx="7772400" cy="399796"/>
          </a:xfrm>
          <a:prstGeom prst="rect">
            <a:avLst/>
          </a:prstGeom>
          <a:noFill/>
          <a:ln/>
        </p:spPr>
        <p:txBody>
          <a:bodyPr wrap="square" lIns="0" tIns="0" rIns="0" bIns="0" rtlCol="0" anchor="t"/>
          <a:lstStyle/>
          <a:p>
            <a:pPr marL="0" indent="0">
              <a:buNone/>
            </a:pPr>
            <a:r>
              <a:rPr lang="en-US" sz="2200" dirty="0">
                <a:solidFill>
                  <a:srgbClr val="E2E8F0"/>
                </a:solidFill>
                <a:latin typeface="Consolas" pitchFamily="34" charset="0"/>
                <a:ea typeface="Consolas" pitchFamily="34" charset="-122"/>
                <a:cs typeface="Consolas" pitchFamily="34" charset="-120"/>
              </a:rPr>
              <a:t>$ ls -la /etc</a:t>
            </a:r>
            <a:endParaRPr lang="en-US" sz="2200" dirty="0"/>
          </a:p>
        </p:txBody>
      </p:sp>
      <p:sp>
        <p:nvSpPr>
          <p:cNvPr id="8" name="Text 6"/>
          <p:cNvSpPr/>
          <p:nvPr/>
        </p:nvSpPr>
        <p:spPr>
          <a:xfrm>
            <a:off x="548640" y="2027428"/>
            <a:ext cx="8046720" cy="1127760"/>
          </a:xfrm>
          <a:prstGeom prst="rect">
            <a:avLst/>
          </a:prstGeom>
          <a:solidFill>
            <a:srgbClr val="FFFFFF"/>
          </a:solidFill>
          <a:ln/>
        </p:spPr>
        <p:txBody>
          <a:bodyPr wrap="square" lIns="0" tIns="0" rIns="0" bIns="0" rtlCol="0" anchor="t"/>
          <a:lstStyle/>
          <a:p>
            <a:pPr marL="228600" indent="-228600">
              <a:spcAft>
                <a:spcPts val="600"/>
              </a:spcAft>
              <a:buSzPct val="100000"/>
              <a:buChar char="■"/>
            </a:pPr>
            <a:r>
              <a:rPr lang="en-US" sz="1600" dirty="0">
                <a:solidFill>
                  <a:srgbClr val="1F2937"/>
                </a:solidFill>
                <a:latin typeface="Calibri" pitchFamily="34" charset="0"/>
                <a:ea typeface="Calibri" pitchFamily="34" charset="-122"/>
                <a:cs typeface="Calibri" pitchFamily="34" charset="-120"/>
              </a:rPr>
              <a:t>Verb: ____</a:t>
            </a:r>
            <a:endParaRPr lang="en-US" sz="1600" dirty="0"/>
          </a:p>
          <a:p>
            <a:pPr marL="228600" indent="-228600">
              <a:spcAft>
                <a:spcPts val="600"/>
              </a:spcAft>
              <a:buSzPct val="100000"/>
              <a:buChar char="■"/>
            </a:pPr>
            <a:r>
              <a:rPr lang="en-US" sz="1600" dirty="0">
                <a:solidFill>
                  <a:srgbClr val="1F2937"/>
                </a:solidFill>
                <a:latin typeface="Calibri" pitchFamily="34" charset="0"/>
                <a:ea typeface="Calibri" pitchFamily="34" charset="-122"/>
                <a:cs typeface="Calibri" pitchFamily="34" charset="-120"/>
              </a:rPr>
              <a:t>Flags: ____</a:t>
            </a:r>
            <a:endParaRPr lang="en-US" sz="1600" dirty="0"/>
          </a:p>
          <a:p>
            <a:pPr marL="228600" indent="-228600">
              <a:spcAft>
                <a:spcPts val="600"/>
              </a:spcAft>
              <a:buSzPct val="100000"/>
              <a:buChar char="■"/>
            </a:pPr>
            <a:r>
              <a:rPr lang="en-US" sz="1600" dirty="0">
                <a:solidFill>
                  <a:srgbClr val="1F2937"/>
                </a:solidFill>
                <a:latin typeface="Calibri" pitchFamily="34" charset="0"/>
                <a:ea typeface="Calibri" pitchFamily="34" charset="-122"/>
                <a:cs typeface="Calibri" pitchFamily="34" charset="-120"/>
              </a:rPr>
              <a:t>Nouns: ____</a:t>
            </a:r>
            <a:endParaRPr lang="en-US" sz="1600" dirty="0"/>
          </a:p>
        </p:txBody>
      </p:sp>
      <p:sp>
        <p:nvSpPr>
          <p:cNvPr id="9" name="Text 7"/>
          <p:cNvSpPr/>
          <p:nvPr/>
        </p:nvSpPr>
        <p:spPr>
          <a:xfrm>
            <a:off x="548640" y="3200908"/>
            <a:ext cx="8046720" cy="276860"/>
          </a:xfrm>
          <a:prstGeom prst="rect">
            <a:avLst/>
          </a:prstGeom>
          <a:solidFill>
            <a:srgbClr val="FFFFFF"/>
          </a:solidFill>
          <a:ln/>
        </p:spPr>
        <p:txBody>
          <a:bodyPr wrap="square" rtlCol="0" anchor="t"/>
          <a:lstStyle/>
          <a:p>
            <a:pPr marL="0" indent="0">
              <a:buNone/>
            </a:pPr>
            <a:r>
              <a:rPr lang="en-US" sz="1300" i="1" dirty="0">
                <a:solidFill>
                  <a:srgbClr val="475569"/>
                </a:solidFill>
                <a:latin typeface="Calibri" pitchFamily="34" charset="0"/>
                <a:ea typeface="Calibri" pitchFamily="34" charset="-122"/>
                <a:cs typeface="Calibri" pitchFamily="34" charset="-120"/>
              </a:rPr>
              <a:t>(Wait for the room: </a:t>
            </a:r>
            <a:r>
              <a:rPr lang="en-US" sz="1300" i="1" dirty="0">
                <a:solidFill>
                  <a:srgbClr val="1E2761"/>
                </a:solidFill>
                <a:latin typeface="Consolas" pitchFamily="34" charset="0"/>
                <a:ea typeface="Consolas" pitchFamily="34" charset="-122"/>
                <a:cs typeface="Consolas" pitchFamily="34" charset="-120"/>
              </a:rPr>
              <a:t>ls</a:t>
            </a:r>
            <a:r>
              <a:rPr lang="en-US" sz="1300" i="1" dirty="0">
                <a:solidFill>
                  <a:srgbClr val="475569"/>
                </a:solidFill>
                <a:latin typeface="Calibri" pitchFamily="34" charset="0"/>
                <a:ea typeface="Calibri" pitchFamily="34" charset="-122"/>
                <a:cs typeface="Calibri" pitchFamily="34" charset="-120"/>
              </a:rPr>
              <a:t>, </a:t>
            </a:r>
            <a:r>
              <a:rPr lang="en-US" sz="1300" i="1" dirty="0">
                <a:solidFill>
                  <a:srgbClr val="1E2761"/>
                </a:solidFill>
                <a:latin typeface="Consolas" pitchFamily="34" charset="0"/>
                <a:ea typeface="Consolas" pitchFamily="34" charset="-122"/>
                <a:cs typeface="Consolas" pitchFamily="34" charset="-120"/>
              </a:rPr>
              <a:t>-l</a:t>
            </a:r>
            <a:r>
              <a:rPr lang="en-US" sz="1300" i="1" dirty="0">
                <a:solidFill>
                  <a:srgbClr val="475569"/>
                </a:solidFill>
                <a:latin typeface="Calibri" pitchFamily="34" charset="0"/>
                <a:ea typeface="Calibri" pitchFamily="34" charset="-122"/>
                <a:cs typeface="Calibri" pitchFamily="34" charset="-120"/>
              </a:rPr>
              <a:t> and </a:t>
            </a:r>
            <a:r>
              <a:rPr lang="en-US" sz="1300" i="1" dirty="0">
                <a:solidFill>
                  <a:srgbClr val="1E2761"/>
                </a:solidFill>
                <a:latin typeface="Consolas" pitchFamily="34" charset="0"/>
                <a:ea typeface="Consolas" pitchFamily="34" charset="-122"/>
                <a:cs typeface="Consolas" pitchFamily="34" charset="-120"/>
              </a:rPr>
              <a:t>-a</a:t>
            </a:r>
            <a:r>
              <a:rPr lang="en-US" sz="1300" i="1" dirty="0">
                <a:solidFill>
                  <a:srgbClr val="475569"/>
                </a:solidFill>
                <a:latin typeface="Calibri" pitchFamily="34" charset="0"/>
                <a:ea typeface="Calibri" pitchFamily="34" charset="-122"/>
                <a:cs typeface="Calibri" pitchFamily="34" charset="-120"/>
              </a:rPr>
              <a:t>, </a:t>
            </a:r>
            <a:r>
              <a:rPr lang="en-US" sz="1300" i="1" dirty="0">
                <a:solidFill>
                  <a:srgbClr val="1E2761"/>
                </a:solidFill>
                <a:latin typeface="Consolas" pitchFamily="34" charset="0"/>
                <a:ea typeface="Consolas" pitchFamily="34" charset="-122"/>
                <a:cs typeface="Consolas" pitchFamily="34" charset="-120"/>
              </a:rPr>
              <a:t>/etc</a:t>
            </a:r>
            <a:r>
              <a:rPr lang="en-US" sz="1300" i="1" dirty="0">
                <a:solidFill>
                  <a:srgbClr val="475569"/>
                </a:solidFill>
                <a:latin typeface="Calibri" pitchFamily="34" charset="0"/>
                <a:ea typeface="Calibri" pitchFamily="34" charset="-122"/>
                <a:cs typeface="Calibri" pitchFamily="34" charset="-120"/>
              </a:rPr>
              <a:t>.) Every command today follows this shape.</a:t>
            </a:r>
            <a:endParaRPr lang="en-US" sz="13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0">
            <a:extLst>
              <a:ext uri="{FF2B5EF4-FFF2-40B4-BE49-F238E27FC236}">
                <a16:creationId xmlns:a16="http://schemas.microsoft.com/office/drawing/2014/main" id="{C4F308D0-E16C-4CC5-260F-E28847C8B2B2}"/>
              </a:ext>
            </a:extLst>
          </p:cNvPr>
          <p:cNvSpPr/>
          <p:nvPr/>
        </p:nvSpPr>
        <p:spPr>
          <a:xfrm>
            <a:off x="548640" y="1280160"/>
            <a:ext cx="8046720" cy="457200"/>
          </a:xfrm>
          <a:prstGeom prst="rect">
            <a:avLst/>
          </a:prstGeom>
          <a:noFill/>
          <a:ln/>
        </p:spPr>
        <p:txBody>
          <a:bodyPr wrap="square" lIns="0" tIns="0" rIns="0" bIns="0" rtlCol="0" anchor="ctr"/>
          <a:lstStyle/>
          <a:p>
            <a:pPr marL="0" indent="0">
              <a:buNone/>
            </a:pPr>
            <a:r>
              <a:rPr lang="en-US" sz="1600" b="1" kern="0" spc="800" dirty="0">
                <a:latin typeface="Calibri" pitchFamily="34" charset="0"/>
                <a:ea typeface="Calibri" pitchFamily="34" charset="-122"/>
                <a:cs typeface="Calibri" pitchFamily="34" charset="-120"/>
              </a:rPr>
              <a:t>BLOCK 6</a:t>
            </a:r>
            <a:endParaRPr lang="en-US" sz="1600" dirty="0"/>
          </a:p>
        </p:txBody>
      </p:sp>
      <p:sp>
        <p:nvSpPr>
          <p:cNvPr id="4" name="Text 1">
            <a:extLst>
              <a:ext uri="{FF2B5EF4-FFF2-40B4-BE49-F238E27FC236}">
                <a16:creationId xmlns:a16="http://schemas.microsoft.com/office/drawing/2014/main" id="{39AB9CA9-4368-8FE5-AD42-55EA850B62AF}"/>
              </a:ext>
            </a:extLst>
          </p:cNvPr>
          <p:cNvSpPr/>
          <p:nvPr/>
        </p:nvSpPr>
        <p:spPr>
          <a:xfrm>
            <a:off x="548640" y="1783080"/>
            <a:ext cx="8046720" cy="1463040"/>
          </a:xfrm>
          <a:prstGeom prst="rect">
            <a:avLst/>
          </a:prstGeom>
          <a:noFill/>
          <a:ln/>
        </p:spPr>
        <p:txBody>
          <a:bodyPr wrap="square" lIns="0" tIns="0" rIns="0" bIns="0" rtlCol="0" anchor="t"/>
          <a:lstStyle/>
          <a:p>
            <a:pPr marL="0" indent="0">
              <a:buNone/>
            </a:pPr>
            <a:r>
              <a:rPr lang="en-US" sz="4000" b="1" dirty="0">
                <a:latin typeface="Cambria" pitchFamily="34" charset="0"/>
                <a:ea typeface="Cambria" pitchFamily="34" charset="-122"/>
                <a:cs typeface="Cambria" pitchFamily="34" charset="-120"/>
              </a:rPr>
              <a:t>Editing files</a:t>
            </a:r>
            <a:endParaRPr lang="en-US" sz="4000" dirty="0"/>
          </a:p>
        </p:txBody>
      </p:sp>
    </p:spTree>
    <p:extLst>
      <p:ext uri="{BB962C8B-B14F-4D97-AF65-F5344CB8AC3E}">
        <p14:creationId xmlns:p14="http://schemas.microsoft.com/office/powerpoint/2010/main" val="295695170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a:effectLst/>
      </p:bgPr>
    </p:bg>
    <p:spTree>
      <p:nvGrpSpPr>
        <p:cNvPr id="1" name=""/>
        <p:cNvGrpSpPr/>
        <p:nvPr/>
      </p:nvGrpSpPr>
      <p:grpSpPr>
        <a:xfrm>
          <a:off x="0" y="0"/>
          <a:ext cx="0" cy="0"/>
          <a:chOff x="0" y="0"/>
          <a:chExt cx="0" cy="0"/>
        </a:xfrm>
      </p:grpSpPr>
      <p:pic>
        <p:nvPicPr>
          <p:cNvPr id="7" name="Picture 6" descr="access-footer.jpg"/>
          <p:cNvPicPr>
            <a:picLocks noChangeAspect="1"/>
          </p:cNvPicPr>
          <p:nvPr/>
        </p:nvPicPr>
        <p:blipFill>
          <a:blip r:embed="rId3"/>
          <a:stretch>
            <a:fillRect/>
          </a:stretch>
        </p:blipFill>
        <p:spPr>
          <a:xfrm>
            <a:off x="0" y="0"/>
            <a:ext cx="9144000" cy="5143500"/>
          </a:xfrm>
          <a:prstGeom prst="rect">
            <a:avLst/>
          </a:prstGeom>
        </p:spPr>
      </p:pic>
      <p:sp>
        <p:nvSpPr>
          <p:cNvPr id="2" name="Text 0"/>
          <p:cNvSpPr/>
          <p:nvPr/>
        </p:nvSpPr>
        <p:spPr>
          <a:xfrm>
            <a:off x="457200" y="274320"/>
            <a:ext cx="8229600" cy="594360"/>
          </a:xfrm>
          <a:prstGeom prst="rect">
            <a:avLst/>
          </a:prstGeom>
          <a:solidFill>
            <a:srgbClr val="FFFFFF"/>
          </a:solidFill>
          <a:ln/>
        </p:spPr>
        <p:txBody>
          <a:bodyPr wrap="square" lIns="0" tIns="0" rIns="0" bIns="0" rtlCol="0" anchor="ctr"/>
          <a:lstStyle/>
          <a:p>
            <a:pPr marL="0" indent="0">
              <a:buNone/>
            </a:pPr>
            <a:r>
              <a:rPr lang="en-US" sz="2800" b="1" dirty="0">
                <a:solidFill>
                  <a:srgbClr val="1E2761"/>
                </a:solidFill>
                <a:latin typeface="Cambria" pitchFamily="34" charset="0"/>
                <a:ea typeface="Cambria" pitchFamily="34" charset="-122"/>
                <a:cs typeface="Cambria" pitchFamily="34" charset="-120"/>
              </a:rPr>
              <a:t>Two ways to edit, and why you need both</a:t>
            </a:r>
            <a:endParaRPr lang="en-US" sz="2800" dirty="0"/>
          </a:p>
        </p:txBody>
      </p:sp>
      <p:sp>
        <p:nvSpPr>
          <p:cNvPr id="3" name="Shape 1"/>
          <p:cNvSpPr/>
          <p:nvPr/>
        </p:nvSpPr>
        <p:spPr>
          <a:xfrm>
            <a:off x="457200" y="868680"/>
            <a:ext cx="548640" cy="36576"/>
          </a:xfrm>
          <a:prstGeom prst="rect">
            <a:avLst/>
          </a:prstGeom>
          <a:solidFill>
            <a:srgbClr val="1E2761"/>
          </a:solidFill>
          <a:ln w="12700">
            <a:solidFill>
              <a:srgbClr val="1E2761"/>
            </a:solidFill>
            <a:prstDash val="solid"/>
          </a:ln>
        </p:spPr>
        <p:txBody>
          <a:bodyPr/>
          <a:lstStyle/>
          <a:p>
            <a:endParaRPr lang="en-US"/>
          </a:p>
        </p:txBody>
      </p:sp>
      <p:sp>
        <p:nvSpPr>
          <p:cNvPr id="4" name="Shape 2"/>
          <p:cNvSpPr/>
          <p:nvPr/>
        </p:nvSpPr>
        <p:spPr>
          <a:xfrm>
            <a:off x="457200" y="1005840"/>
            <a:ext cx="1005840" cy="292608"/>
          </a:xfrm>
          <a:prstGeom prst="rect">
            <a:avLst/>
          </a:prstGeom>
          <a:solidFill>
            <a:srgbClr val="1E2761"/>
          </a:solidFill>
          <a:ln w="12700">
            <a:solidFill>
              <a:srgbClr val="1E2761"/>
            </a:solidFill>
            <a:prstDash val="solid"/>
          </a:ln>
        </p:spPr>
        <p:txBody>
          <a:bodyPr/>
          <a:lstStyle/>
          <a:p>
            <a:endParaRPr lang="en-US"/>
          </a:p>
        </p:txBody>
      </p:sp>
      <p:sp>
        <p:nvSpPr>
          <p:cNvPr id="5" name="Text 3"/>
          <p:cNvSpPr/>
          <p:nvPr/>
        </p:nvSpPr>
        <p:spPr>
          <a:xfrm>
            <a:off x="457200" y="1005840"/>
            <a:ext cx="1005840" cy="292608"/>
          </a:xfrm>
          <a:prstGeom prst="rect">
            <a:avLst/>
          </a:prstGeom>
          <a:noFill/>
          <a:ln/>
        </p:spPr>
        <p:txBody>
          <a:bodyPr wrap="square" lIns="0" tIns="0" rIns="0" bIns="0" rtlCol="0" anchor="ctr"/>
          <a:lstStyle/>
          <a:p>
            <a:pPr marL="0" indent="0" algn="ctr">
              <a:buNone/>
            </a:pPr>
            <a:r>
              <a:rPr lang="en-US" sz="1100" b="1" kern="0" spc="200" dirty="0">
                <a:solidFill>
                  <a:srgbClr val="FFFFFF"/>
                </a:solidFill>
                <a:latin typeface="Calibri" pitchFamily="34" charset="0"/>
                <a:ea typeface="Calibri" pitchFamily="34" charset="-122"/>
                <a:cs typeface="Calibri" pitchFamily="34" charset="-120"/>
              </a:rPr>
              <a:t>TALK</a:t>
            </a:r>
            <a:endParaRPr lang="en-US" sz="1100" dirty="0"/>
          </a:p>
        </p:txBody>
      </p:sp>
      <p:sp>
        <p:nvSpPr>
          <p:cNvPr id="6" name="Text 4"/>
          <p:cNvSpPr/>
          <p:nvPr/>
        </p:nvSpPr>
        <p:spPr>
          <a:xfrm>
            <a:off x="548640" y="1435608"/>
            <a:ext cx="8046720" cy="2702560"/>
          </a:xfrm>
          <a:prstGeom prst="rect">
            <a:avLst/>
          </a:prstGeom>
          <a:solidFill>
            <a:srgbClr val="FFFFFF"/>
          </a:solidFill>
          <a:ln/>
        </p:spPr>
        <p:txBody>
          <a:bodyPr wrap="square" lIns="0" tIns="0" rIns="0" bIns="0" rtlCol="0" anchor="t"/>
          <a:lstStyle/>
          <a:p>
            <a:pPr marL="228600" indent="-228600">
              <a:spcAft>
                <a:spcPts val="600"/>
              </a:spcAft>
              <a:buSzPct val="100000"/>
              <a:buChar char="■"/>
            </a:pPr>
            <a:r>
              <a:rPr lang="en-US" sz="1600" dirty="0">
                <a:solidFill>
                  <a:srgbClr val="1F2937"/>
                </a:solidFill>
                <a:latin typeface="Calibri" pitchFamily="34" charset="0"/>
                <a:ea typeface="Calibri" pitchFamily="34" charset="-122"/>
                <a:cs typeface="Calibri" pitchFamily="34" charset="-120"/>
              </a:rPr>
              <a:t>You have a GUI editor on your VM: </a:t>
            </a:r>
            <a:r>
              <a:rPr lang="en-US" sz="1600" b="1" dirty="0">
                <a:solidFill>
                  <a:srgbClr val="1F2937"/>
                </a:solidFill>
                <a:latin typeface="Calibri" pitchFamily="34" charset="0"/>
                <a:ea typeface="Calibri" pitchFamily="34" charset="-122"/>
                <a:cs typeface="Calibri" pitchFamily="34" charset="-120"/>
              </a:rPr>
              <a:t>VSCode</a:t>
            </a:r>
            <a:r>
              <a:rPr lang="en-US" sz="1600" dirty="0">
                <a:solidFill>
                  <a:srgbClr val="1F2937"/>
                </a:solidFill>
                <a:latin typeface="Calibri" pitchFamily="34" charset="0"/>
                <a:ea typeface="Calibri" pitchFamily="34" charset="-122"/>
                <a:cs typeface="Calibri" pitchFamily="34" charset="-120"/>
              </a:rPr>
              <a:t>. It's lovely. Use it when you can.</a:t>
            </a:r>
            <a:endParaRPr lang="en-US" sz="1600" dirty="0"/>
          </a:p>
          <a:p>
            <a:pPr marL="228600" indent="-228600">
              <a:spcAft>
                <a:spcPts val="600"/>
              </a:spcAft>
              <a:buSzPct val="100000"/>
              <a:buChar char="■"/>
            </a:pPr>
            <a:r>
              <a:rPr lang="en-US" sz="1600" dirty="0">
                <a:solidFill>
                  <a:srgbClr val="1F2937"/>
                </a:solidFill>
                <a:latin typeface="Calibri" pitchFamily="34" charset="0"/>
                <a:ea typeface="Calibri" pitchFamily="34" charset="-122"/>
                <a:cs typeface="Calibri" pitchFamily="34" charset="-120"/>
              </a:rPr>
              <a:t>You also need to know </a:t>
            </a:r>
            <a:r>
              <a:rPr lang="en-US" sz="1600" b="1" dirty="0">
                <a:solidFill>
                  <a:srgbClr val="1F2937"/>
                </a:solidFill>
                <a:latin typeface="Calibri" pitchFamily="34" charset="0"/>
                <a:ea typeface="Calibri" pitchFamily="34" charset="-122"/>
                <a:cs typeface="Calibri" pitchFamily="34" charset="-120"/>
              </a:rPr>
              <a:t>one terminal editor</a:t>
            </a:r>
            <a:r>
              <a:rPr lang="en-US" sz="1600" dirty="0">
                <a:solidFill>
                  <a:srgbClr val="1F2937"/>
                </a:solidFill>
                <a:latin typeface="Calibri" pitchFamily="34" charset="0"/>
                <a:ea typeface="Calibri" pitchFamily="34" charset="-122"/>
                <a:cs typeface="Calibri" pitchFamily="34" charset="-120"/>
              </a:rPr>
              <a:t>.</a:t>
            </a:r>
            <a:endParaRPr lang="en-US" sz="1600" dirty="0"/>
          </a:p>
          <a:p>
            <a:pPr marL="228600" indent="-228600">
              <a:spcAft>
                <a:spcPts val="600"/>
              </a:spcAft>
              <a:buSzPct val="100000"/>
              <a:buChar char="■"/>
            </a:pPr>
            <a:r>
              <a:rPr lang="en-US" sz="1600" dirty="0">
                <a:solidFill>
                  <a:srgbClr val="1F2937"/>
                </a:solidFill>
                <a:latin typeface="Calibri" pitchFamily="34" charset="0"/>
                <a:ea typeface="Calibri" pitchFamily="34" charset="-122"/>
                <a:cs typeface="Calibri" pitchFamily="34" charset="-120"/>
              </a:rPr>
              <a:t>When you SSH into a server later in this workshop, there is </a:t>
            </a:r>
            <a:r>
              <a:rPr lang="en-US" sz="1600" b="1" dirty="0">
                <a:solidFill>
                  <a:srgbClr val="1F2937"/>
                </a:solidFill>
                <a:latin typeface="Calibri" pitchFamily="34" charset="0"/>
                <a:ea typeface="Calibri" pitchFamily="34" charset="-122"/>
                <a:cs typeface="Calibri" pitchFamily="34" charset="-120"/>
              </a:rPr>
              <a:t>no VSCode</a:t>
            </a:r>
            <a:r>
              <a:rPr lang="en-US" sz="1600" dirty="0">
                <a:solidFill>
                  <a:srgbClr val="1F2937"/>
                </a:solidFill>
                <a:latin typeface="Calibri" pitchFamily="34" charset="0"/>
                <a:ea typeface="Calibri" pitchFamily="34" charset="-122"/>
                <a:cs typeface="Calibri" pitchFamily="34" charset="-120"/>
              </a:rPr>
              <a:t>. Only a terminal.</a:t>
            </a:r>
            <a:endParaRPr lang="en-US" sz="1600" dirty="0"/>
          </a:p>
          <a:p>
            <a:pPr marL="228600" indent="-228600">
              <a:spcAft>
                <a:spcPts val="600"/>
              </a:spcAft>
              <a:buSzPct val="100000"/>
              <a:buChar char="■"/>
            </a:pPr>
            <a:r>
              <a:rPr lang="en-US" sz="1600" dirty="0">
                <a:solidFill>
                  <a:srgbClr val="1F2937"/>
                </a:solidFill>
                <a:latin typeface="Calibri" pitchFamily="34" charset="0"/>
                <a:ea typeface="Calibri" pitchFamily="34" charset="-122"/>
                <a:cs typeface="Calibri" pitchFamily="34" charset="-120"/>
              </a:rPr>
              <a:t>We'll use </a:t>
            </a:r>
            <a:r>
              <a:rPr lang="en-US" sz="1600" b="1" dirty="0">
                <a:solidFill>
                  <a:srgbClr val="1F2937"/>
                </a:solidFill>
                <a:latin typeface="Calibri" pitchFamily="34" charset="0"/>
                <a:ea typeface="Calibri" pitchFamily="34" charset="-122"/>
                <a:cs typeface="Calibri" pitchFamily="34" charset="-120"/>
              </a:rPr>
              <a:t>nano</a:t>
            </a:r>
            <a:r>
              <a:rPr lang="en-US" sz="1600" dirty="0">
                <a:solidFill>
                  <a:srgbClr val="1F2937"/>
                </a:solidFill>
                <a:latin typeface="Calibri" pitchFamily="34" charset="0"/>
                <a:ea typeface="Calibri" pitchFamily="34" charset="-122"/>
                <a:cs typeface="Calibri" pitchFamily="34" charset="-120"/>
              </a:rPr>
              <a:t> because it's the friendliest.</a:t>
            </a:r>
            <a:endParaRPr lang="en-US" sz="1600" dirty="0"/>
          </a:p>
          <a:p>
            <a:pPr marL="228600" indent="-228600">
              <a:spcAft>
                <a:spcPts val="600"/>
              </a:spcAft>
              <a:buSzPct val="100000"/>
              <a:buChar char="■"/>
            </a:pPr>
            <a:r>
              <a:rPr lang="en-US" sz="1600" dirty="0">
                <a:solidFill>
                  <a:srgbClr val="1F2937"/>
                </a:solidFill>
                <a:latin typeface="Calibri" pitchFamily="34" charset="0"/>
                <a:ea typeface="Calibri" pitchFamily="34" charset="-122"/>
                <a:cs typeface="Calibri" pitchFamily="34" charset="-120"/>
              </a:rPr>
              <a:t>(Vim and Emacs exist; the "how do I exit Vim?" jokes are why we use nano.)</a:t>
            </a:r>
            <a:endParaRPr lang="en-US" sz="16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a:effectLst/>
      </p:bgPr>
    </p:bg>
    <p:spTree>
      <p:nvGrpSpPr>
        <p:cNvPr id="1" name=""/>
        <p:cNvGrpSpPr/>
        <p:nvPr/>
      </p:nvGrpSpPr>
      <p:grpSpPr>
        <a:xfrm>
          <a:off x="0" y="0"/>
          <a:ext cx="0" cy="0"/>
          <a:chOff x="0" y="0"/>
          <a:chExt cx="0" cy="0"/>
        </a:xfrm>
      </p:grpSpPr>
      <p:pic>
        <p:nvPicPr>
          <p:cNvPr id="9" name="Picture 8" descr="access-footer.jpg"/>
          <p:cNvPicPr>
            <a:picLocks noChangeAspect="1"/>
          </p:cNvPicPr>
          <p:nvPr/>
        </p:nvPicPr>
        <p:blipFill>
          <a:blip r:embed="rId3"/>
          <a:stretch>
            <a:fillRect/>
          </a:stretch>
        </p:blipFill>
        <p:spPr>
          <a:xfrm>
            <a:off x="0" y="0"/>
            <a:ext cx="9144000" cy="5143500"/>
          </a:xfrm>
          <a:prstGeom prst="rect">
            <a:avLst/>
          </a:prstGeom>
        </p:spPr>
      </p:pic>
      <p:sp>
        <p:nvSpPr>
          <p:cNvPr id="2" name="Text 0"/>
          <p:cNvSpPr/>
          <p:nvPr/>
        </p:nvSpPr>
        <p:spPr>
          <a:xfrm>
            <a:off x="457200" y="274320"/>
            <a:ext cx="8229600" cy="594360"/>
          </a:xfrm>
          <a:prstGeom prst="rect">
            <a:avLst/>
          </a:prstGeom>
          <a:solidFill>
            <a:srgbClr val="FFFFFF"/>
          </a:solidFill>
          <a:ln/>
        </p:spPr>
        <p:txBody>
          <a:bodyPr wrap="square" lIns="0" tIns="0" rIns="0" bIns="0" rtlCol="0" anchor="ctr"/>
          <a:lstStyle/>
          <a:p>
            <a:pPr marL="0" indent="0">
              <a:buNone/>
            </a:pPr>
            <a:r>
              <a:rPr lang="en-US" sz="2800" b="1" dirty="0">
                <a:solidFill>
                  <a:srgbClr val="1E2761"/>
                </a:solidFill>
                <a:latin typeface="Cambria" pitchFamily="34" charset="0"/>
                <a:ea typeface="Cambria" pitchFamily="34" charset="-122"/>
                <a:cs typeface="Cambria" pitchFamily="34" charset="-120"/>
              </a:rPr>
              <a:t>First: edit with VSCode (GUI)</a:t>
            </a:r>
            <a:endParaRPr lang="en-US" sz="2800" dirty="0"/>
          </a:p>
        </p:txBody>
      </p:sp>
      <p:sp>
        <p:nvSpPr>
          <p:cNvPr id="3" name="Shape 1"/>
          <p:cNvSpPr/>
          <p:nvPr/>
        </p:nvSpPr>
        <p:spPr>
          <a:xfrm>
            <a:off x="457200" y="868680"/>
            <a:ext cx="548640" cy="36576"/>
          </a:xfrm>
          <a:prstGeom prst="rect">
            <a:avLst/>
          </a:prstGeom>
          <a:solidFill>
            <a:srgbClr val="1E2761"/>
          </a:solidFill>
          <a:ln w="12700">
            <a:solidFill>
              <a:srgbClr val="1E2761"/>
            </a:solidFill>
            <a:prstDash val="solid"/>
          </a:ln>
        </p:spPr>
        <p:txBody>
          <a:bodyPr/>
          <a:lstStyle/>
          <a:p>
            <a:endParaRPr lang="en-US"/>
          </a:p>
        </p:txBody>
      </p:sp>
      <p:sp>
        <p:nvSpPr>
          <p:cNvPr id="4" name="Shape 2"/>
          <p:cNvSpPr/>
          <p:nvPr/>
        </p:nvSpPr>
        <p:spPr>
          <a:xfrm>
            <a:off x="457200" y="1005840"/>
            <a:ext cx="1005840" cy="292608"/>
          </a:xfrm>
          <a:prstGeom prst="rect">
            <a:avLst/>
          </a:prstGeom>
          <a:solidFill>
            <a:srgbClr val="0369A1"/>
          </a:solidFill>
          <a:ln w="12700">
            <a:solidFill>
              <a:srgbClr val="0369A1"/>
            </a:solidFill>
            <a:prstDash val="solid"/>
          </a:ln>
        </p:spPr>
        <p:txBody>
          <a:bodyPr/>
          <a:lstStyle/>
          <a:p>
            <a:endParaRPr lang="en-US"/>
          </a:p>
        </p:txBody>
      </p:sp>
      <p:sp>
        <p:nvSpPr>
          <p:cNvPr id="5" name="Text 3"/>
          <p:cNvSpPr/>
          <p:nvPr/>
        </p:nvSpPr>
        <p:spPr>
          <a:xfrm>
            <a:off x="457200" y="1005840"/>
            <a:ext cx="1005840" cy="292608"/>
          </a:xfrm>
          <a:prstGeom prst="rect">
            <a:avLst/>
          </a:prstGeom>
          <a:noFill/>
          <a:ln/>
        </p:spPr>
        <p:txBody>
          <a:bodyPr wrap="square" lIns="0" tIns="0" rIns="0" bIns="0" rtlCol="0" anchor="ctr"/>
          <a:lstStyle/>
          <a:p>
            <a:pPr marL="0" indent="0" algn="ctr">
              <a:buNone/>
            </a:pPr>
            <a:r>
              <a:rPr lang="en-US" sz="1100" b="1" kern="0" spc="200" dirty="0">
                <a:solidFill>
                  <a:srgbClr val="FFFFFF"/>
                </a:solidFill>
                <a:latin typeface="Calibri" pitchFamily="34" charset="0"/>
                <a:ea typeface="Calibri" pitchFamily="34" charset="-122"/>
                <a:cs typeface="Calibri" pitchFamily="34" charset="-120"/>
              </a:rPr>
              <a:t>DEMO</a:t>
            </a:r>
            <a:endParaRPr lang="en-US" sz="1100" dirty="0"/>
          </a:p>
        </p:txBody>
      </p:sp>
      <p:sp>
        <p:nvSpPr>
          <p:cNvPr id="6" name="Shape 4"/>
          <p:cNvSpPr/>
          <p:nvPr/>
        </p:nvSpPr>
        <p:spPr>
          <a:xfrm>
            <a:off x="548640" y="1435608"/>
            <a:ext cx="8046720" cy="678180"/>
          </a:xfrm>
          <a:prstGeom prst="rect">
            <a:avLst/>
          </a:prstGeom>
          <a:solidFill>
            <a:srgbClr val="0F172A"/>
          </a:solidFill>
          <a:ln w="12700">
            <a:solidFill>
              <a:srgbClr val="0F172A"/>
            </a:solidFill>
            <a:prstDash val="solid"/>
          </a:ln>
        </p:spPr>
        <p:txBody>
          <a:bodyPr/>
          <a:lstStyle/>
          <a:p>
            <a:endParaRPr lang="en-US"/>
          </a:p>
        </p:txBody>
      </p:sp>
      <p:sp>
        <p:nvSpPr>
          <p:cNvPr id="7" name="Text 5"/>
          <p:cNvSpPr/>
          <p:nvPr/>
        </p:nvSpPr>
        <p:spPr>
          <a:xfrm>
            <a:off x="685800" y="1508760"/>
            <a:ext cx="7772400" cy="531876"/>
          </a:xfrm>
          <a:prstGeom prst="rect">
            <a:avLst/>
          </a:prstGeom>
          <a:noFill/>
          <a:ln/>
        </p:spPr>
        <p:txBody>
          <a:bodyPr wrap="square" lIns="0" tIns="0" rIns="0" bIns="0" rtlCol="0" anchor="t"/>
          <a:lstStyle/>
          <a:p>
            <a:pPr marL="0" indent="0">
              <a:buNone/>
            </a:pPr>
            <a:r>
              <a:rPr lang="en-US" sz="1500" dirty="0">
                <a:solidFill>
                  <a:srgbClr val="E2E8F0"/>
                </a:solidFill>
                <a:latin typeface="Consolas" pitchFamily="34" charset="0"/>
                <a:ea typeface="Consolas" pitchFamily="34" charset="-122"/>
                <a:cs typeface="Consolas" pitchFamily="34" charset="-120"/>
              </a:rPr>
              <a:t>$ cd ~/workshop</a:t>
            </a:r>
            <a:endParaRPr lang="en-US" sz="1500" dirty="0"/>
          </a:p>
          <a:p>
            <a:pPr marL="0" indent="0">
              <a:buNone/>
            </a:pPr>
            <a:r>
              <a:rPr lang="en-US" sz="1500" dirty="0">
                <a:solidFill>
                  <a:srgbClr val="E2E8F0"/>
                </a:solidFill>
                <a:latin typeface="Consolas" pitchFamily="34" charset="0"/>
                <a:ea typeface="Consolas" pitchFamily="34" charset="-122"/>
                <a:cs typeface="Consolas" pitchFamily="34" charset="-120"/>
              </a:rPr>
              <a:t>$ code notes/day1.md       # opens VSCode</a:t>
            </a:r>
            <a:endParaRPr lang="en-US" sz="1500" dirty="0"/>
          </a:p>
        </p:txBody>
      </p:sp>
      <p:sp>
        <p:nvSpPr>
          <p:cNvPr id="8" name="Text 6"/>
          <p:cNvSpPr/>
          <p:nvPr/>
        </p:nvSpPr>
        <p:spPr>
          <a:xfrm>
            <a:off x="548640" y="2159508"/>
            <a:ext cx="8046720" cy="1127760"/>
          </a:xfrm>
          <a:prstGeom prst="rect">
            <a:avLst/>
          </a:prstGeom>
          <a:solidFill>
            <a:srgbClr val="FFFFFF"/>
          </a:solidFill>
          <a:ln/>
        </p:spPr>
        <p:txBody>
          <a:bodyPr wrap="square" lIns="0" tIns="0" rIns="0" bIns="0" rtlCol="0" anchor="t"/>
          <a:lstStyle/>
          <a:p>
            <a:pPr marL="228600" indent="-228600">
              <a:spcAft>
                <a:spcPts val="600"/>
              </a:spcAft>
              <a:buSzPct val="100000"/>
              <a:buChar char="■"/>
            </a:pPr>
            <a:r>
              <a:rPr lang="en-US" sz="1600" dirty="0">
                <a:solidFill>
                  <a:srgbClr val="1F2937"/>
                </a:solidFill>
                <a:latin typeface="Calibri" pitchFamily="34" charset="0"/>
                <a:ea typeface="Calibri" pitchFamily="34" charset="-122"/>
                <a:cs typeface="Calibri" pitchFamily="34" charset="-120"/>
              </a:rPr>
              <a:t>Type something. Save with </a:t>
            </a:r>
            <a:r>
              <a:rPr lang="en-US" sz="1600" b="1" dirty="0">
                <a:solidFill>
                  <a:srgbClr val="1F2937"/>
                </a:solidFill>
                <a:latin typeface="Calibri" pitchFamily="34" charset="0"/>
                <a:ea typeface="Calibri" pitchFamily="34" charset="-122"/>
                <a:cs typeface="Calibri" pitchFamily="34" charset="-120"/>
              </a:rPr>
              <a:t>Ctrl-S</a:t>
            </a:r>
            <a:r>
              <a:rPr lang="en-US" sz="1600" dirty="0">
                <a:solidFill>
                  <a:srgbClr val="1F2937"/>
                </a:solidFill>
                <a:latin typeface="Calibri" pitchFamily="34" charset="0"/>
                <a:ea typeface="Calibri" pitchFamily="34" charset="-122"/>
                <a:cs typeface="Calibri" pitchFamily="34" charset="-120"/>
              </a:rPr>
              <a:t>. Close.</a:t>
            </a:r>
            <a:endParaRPr lang="en-US" sz="1600" dirty="0"/>
          </a:p>
          <a:p>
            <a:pPr marL="228600" indent="-228600">
              <a:spcAft>
                <a:spcPts val="600"/>
              </a:spcAft>
              <a:buSzPct val="100000"/>
              <a:buChar char="■"/>
            </a:pPr>
            <a:r>
              <a:rPr lang="en-US" sz="1600" dirty="0">
                <a:solidFill>
                  <a:srgbClr val="1F2937"/>
                </a:solidFill>
                <a:latin typeface="Calibri" pitchFamily="34" charset="0"/>
                <a:ea typeface="Calibri" pitchFamily="34" charset="-122"/>
                <a:cs typeface="Calibri" pitchFamily="34" charset="-120"/>
              </a:rPr>
              <a:t>Back in the terminal: </a:t>
            </a:r>
            <a:r>
              <a:rPr lang="en-US" sz="1600" dirty="0">
                <a:solidFill>
                  <a:srgbClr val="1E2761"/>
                </a:solidFill>
                <a:latin typeface="Consolas" pitchFamily="34" charset="0"/>
                <a:ea typeface="Consolas" pitchFamily="34" charset="-122"/>
                <a:cs typeface="Consolas" pitchFamily="34" charset="-120"/>
              </a:rPr>
              <a:t>cat notes/day1.md</a:t>
            </a:r>
            <a:r>
              <a:rPr lang="en-US" sz="1600" dirty="0">
                <a:solidFill>
                  <a:srgbClr val="1F2937"/>
                </a:solidFill>
                <a:latin typeface="Calibri" pitchFamily="34" charset="0"/>
                <a:ea typeface="Calibri" pitchFamily="34" charset="-122"/>
                <a:cs typeface="Calibri" pitchFamily="34" charset="-120"/>
              </a:rPr>
              <a:t> — you'll see what you typed.</a:t>
            </a:r>
            <a:endParaRPr lang="en-US" sz="1600" dirty="0"/>
          </a:p>
          <a:p>
            <a:pPr marL="228600" indent="-228600">
              <a:spcAft>
                <a:spcPts val="600"/>
              </a:spcAft>
              <a:buSzPct val="100000"/>
              <a:buChar char="■"/>
            </a:pPr>
            <a:r>
              <a:rPr lang="en-US" sz="1600" b="1" dirty="0">
                <a:solidFill>
                  <a:srgbClr val="1F2937"/>
                </a:solidFill>
                <a:latin typeface="Calibri" pitchFamily="34" charset="0"/>
                <a:ea typeface="Calibri" pitchFamily="34" charset="-122"/>
                <a:cs typeface="Calibri" pitchFamily="34" charset="-120"/>
              </a:rPr>
              <a:t>Same file. Two surfaces.</a:t>
            </a:r>
            <a:endParaRPr lang="en-US" sz="16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a:effectLst/>
      </p:bgPr>
    </p:bg>
    <p:spTree>
      <p:nvGrpSpPr>
        <p:cNvPr id="1" name=""/>
        <p:cNvGrpSpPr/>
        <p:nvPr/>
      </p:nvGrpSpPr>
      <p:grpSpPr>
        <a:xfrm>
          <a:off x="0" y="0"/>
          <a:ext cx="0" cy="0"/>
          <a:chOff x="0" y="0"/>
          <a:chExt cx="0" cy="0"/>
        </a:xfrm>
      </p:grpSpPr>
      <p:pic>
        <p:nvPicPr>
          <p:cNvPr id="9" name="Picture 8" descr="access-footer.jpg"/>
          <p:cNvPicPr>
            <a:picLocks noChangeAspect="1"/>
          </p:cNvPicPr>
          <p:nvPr/>
        </p:nvPicPr>
        <p:blipFill>
          <a:blip r:embed="rId3"/>
          <a:stretch>
            <a:fillRect/>
          </a:stretch>
        </p:blipFill>
        <p:spPr>
          <a:xfrm>
            <a:off x="0" y="0"/>
            <a:ext cx="9144000" cy="5143500"/>
          </a:xfrm>
          <a:prstGeom prst="rect">
            <a:avLst/>
          </a:prstGeom>
        </p:spPr>
      </p:pic>
      <p:sp>
        <p:nvSpPr>
          <p:cNvPr id="2" name="Text 0"/>
          <p:cNvSpPr/>
          <p:nvPr/>
        </p:nvSpPr>
        <p:spPr>
          <a:xfrm>
            <a:off x="457200" y="274320"/>
            <a:ext cx="8229600" cy="594360"/>
          </a:xfrm>
          <a:prstGeom prst="rect">
            <a:avLst/>
          </a:prstGeom>
          <a:solidFill>
            <a:srgbClr val="FFFFFF"/>
          </a:solidFill>
          <a:ln/>
        </p:spPr>
        <p:txBody>
          <a:bodyPr wrap="square" lIns="0" tIns="0" rIns="0" bIns="0" rtlCol="0" anchor="ctr"/>
          <a:lstStyle/>
          <a:p>
            <a:pPr marL="0" indent="0">
              <a:buNone/>
            </a:pPr>
            <a:r>
              <a:rPr lang="en-US" sz="2800" b="1" dirty="0">
                <a:solidFill>
                  <a:srgbClr val="1E2761"/>
                </a:solidFill>
                <a:latin typeface="Cambria" pitchFamily="34" charset="0"/>
                <a:ea typeface="Cambria" pitchFamily="34" charset="-122"/>
                <a:cs typeface="Cambria" pitchFamily="34" charset="-120"/>
              </a:rPr>
              <a:t>Now: edit the same file with nano (terminal)</a:t>
            </a:r>
            <a:endParaRPr lang="en-US" sz="2800" dirty="0"/>
          </a:p>
        </p:txBody>
      </p:sp>
      <p:sp>
        <p:nvSpPr>
          <p:cNvPr id="3" name="Shape 1"/>
          <p:cNvSpPr/>
          <p:nvPr/>
        </p:nvSpPr>
        <p:spPr>
          <a:xfrm>
            <a:off x="457200" y="868680"/>
            <a:ext cx="548640" cy="36576"/>
          </a:xfrm>
          <a:prstGeom prst="rect">
            <a:avLst/>
          </a:prstGeom>
          <a:solidFill>
            <a:srgbClr val="1E2761"/>
          </a:solidFill>
          <a:ln w="12700">
            <a:solidFill>
              <a:srgbClr val="1E2761"/>
            </a:solidFill>
            <a:prstDash val="solid"/>
          </a:ln>
        </p:spPr>
        <p:txBody>
          <a:bodyPr/>
          <a:lstStyle/>
          <a:p>
            <a:endParaRPr lang="en-US"/>
          </a:p>
        </p:txBody>
      </p:sp>
      <p:sp>
        <p:nvSpPr>
          <p:cNvPr id="4" name="Shape 2"/>
          <p:cNvSpPr/>
          <p:nvPr/>
        </p:nvSpPr>
        <p:spPr>
          <a:xfrm>
            <a:off x="457200" y="1005840"/>
            <a:ext cx="1005840" cy="292608"/>
          </a:xfrm>
          <a:prstGeom prst="rect">
            <a:avLst/>
          </a:prstGeom>
          <a:solidFill>
            <a:srgbClr val="0369A1"/>
          </a:solidFill>
          <a:ln w="12700">
            <a:solidFill>
              <a:srgbClr val="0369A1"/>
            </a:solidFill>
            <a:prstDash val="solid"/>
          </a:ln>
        </p:spPr>
        <p:txBody>
          <a:bodyPr/>
          <a:lstStyle/>
          <a:p>
            <a:endParaRPr lang="en-US"/>
          </a:p>
        </p:txBody>
      </p:sp>
      <p:sp>
        <p:nvSpPr>
          <p:cNvPr id="5" name="Text 3"/>
          <p:cNvSpPr/>
          <p:nvPr/>
        </p:nvSpPr>
        <p:spPr>
          <a:xfrm>
            <a:off x="457200" y="1005840"/>
            <a:ext cx="1005840" cy="292608"/>
          </a:xfrm>
          <a:prstGeom prst="rect">
            <a:avLst/>
          </a:prstGeom>
          <a:noFill/>
          <a:ln/>
        </p:spPr>
        <p:txBody>
          <a:bodyPr wrap="square" lIns="0" tIns="0" rIns="0" bIns="0" rtlCol="0" anchor="ctr"/>
          <a:lstStyle/>
          <a:p>
            <a:pPr marL="0" indent="0" algn="ctr">
              <a:buNone/>
            </a:pPr>
            <a:r>
              <a:rPr lang="en-US" sz="1100" b="1" kern="0" spc="200" dirty="0">
                <a:solidFill>
                  <a:srgbClr val="FFFFFF"/>
                </a:solidFill>
                <a:latin typeface="Calibri" pitchFamily="34" charset="0"/>
                <a:ea typeface="Calibri" pitchFamily="34" charset="-122"/>
                <a:cs typeface="Calibri" pitchFamily="34" charset="-120"/>
              </a:rPr>
              <a:t>DEMO</a:t>
            </a:r>
            <a:endParaRPr lang="en-US" sz="1100" dirty="0"/>
          </a:p>
        </p:txBody>
      </p:sp>
      <p:sp>
        <p:nvSpPr>
          <p:cNvPr id="6" name="Shape 4"/>
          <p:cNvSpPr/>
          <p:nvPr/>
        </p:nvSpPr>
        <p:spPr>
          <a:xfrm>
            <a:off x="548640" y="1435608"/>
            <a:ext cx="8046720" cy="430530"/>
          </a:xfrm>
          <a:prstGeom prst="rect">
            <a:avLst/>
          </a:prstGeom>
          <a:solidFill>
            <a:srgbClr val="0F172A"/>
          </a:solidFill>
          <a:ln w="12700">
            <a:solidFill>
              <a:srgbClr val="0F172A"/>
            </a:solidFill>
            <a:prstDash val="solid"/>
          </a:ln>
        </p:spPr>
        <p:txBody>
          <a:bodyPr/>
          <a:lstStyle/>
          <a:p>
            <a:endParaRPr lang="en-US"/>
          </a:p>
        </p:txBody>
      </p:sp>
      <p:sp>
        <p:nvSpPr>
          <p:cNvPr id="7" name="Text 5"/>
          <p:cNvSpPr/>
          <p:nvPr/>
        </p:nvSpPr>
        <p:spPr>
          <a:xfrm>
            <a:off x="685800" y="1508760"/>
            <a:ext cx="7772400" cy="284226"/>
          </a:xfrm>
          <a:prstGeom prst="rect">
            <a:avLst/>
          </a:prstGeom>
          <a:noFill/>
          <a:ln/>
        </p:spPr>
        <p:txBody>
          <a:bodyPr wrap="square" lIns="0" tIns="0" rIns="0" bIns="0" rtlCol="0" anchor="t"/>
          <a:lstStyle/>
          <a:p>
            <a:pPr marL="0" indent="0">
              <a:buNone/>
            </a:pPr>
            <a:r>
              <a:rPr lang="en-US" sz="1500" dirty="0">
                <a:solidFill>
                  <a:srgbClr val="E2E8F0"/>
                </a:solidFill>
                <a:latin typeface="Consolas" pitchFamily="34" charset="0"/>
                <a:ea typeface="Consolas" pitchFamily="34" charset="-122"/>
                <a:cs typeface="Consolas" pitchFamily="34" charset="-120"/>
              </a:rPr>
              <a:t>$ nano notes/day1.md</a:t>
            </a:r>
            <a:endParaRPr lang="en-US" sz="1500" dirty="0"/>
          </a:p>
        </p:txBody>
      </p:sp>
      <p:sp>
        <p:nvSpPr>
          <p:cNvPr id="8" name="Text 6"/>
          <p:cNvSpPr/>
          <p:nvPr/>
        </p:nvSpPr>
        <p:spPr>
          <a:xfrm>
            <a:off x="548640" y="1911858"/>
            <a:ext cx="8046720" cy="1488440"/>
          </a:xfrm>
          <a:prstGeom prst="rect">
            <a:avLst/>
          </a:prstGeom>
          <a:solidFill>
            <a:srgbClr val="FFFFFF"/>
          </a:solidFill>
          <a:ln/>
        </p:spPr>
        <p:txBody>
          <a:bodyPr wrap="square" lIns="0" tIns="0" rIns="0" bIns="0" rtlCol="0" anchor="t"/>
          <a:lstStyle/>
          <a:p>
            <a:pPr marL="228600" indent="-228600">
              <a:spcAft>
                <a:spcPts val="600"/>
              </a:spcAft>
              <a:buSzPct val="100000"/>
              <a:buChar char="■"/>
            </a:pPr>
            <a:r>
              <a:rPr lang="en-US" sz="1600" dirty="0">
                <a:solidFill>
                  <a:srgbClr val="1F2937"/>
                </a:solidFill>
                <a:latin typeface="Calibri" pitchFamily="34" charset="0"/>
                <a:ea typeface="Calibri" pitchFamily="34" charset="-122"/>
                <a:cs typeface="Calibri" pitchFamily="34" charset="-120"/>
              </a:rPr>
              <a:t>Your text is in the middle. The bottom shows shortcuts.</a:t>
            </a:r>
            <a:endParaRPr lang="en-US" sz="1600" dirty="0"/>
          </a:p>
          <a:p>
            <a:pPr marL="228600" indent="-228600">
              <a:spcAft>
                <a:spcPts val="600"/>
              </a:spcAft>
              <a:buSzPct val="100000"/>
              <a:buChar char="■"/>
            </a:pPr>
            <a:r>
              <a:rPr lang="en-US" sz="1600" dirty="0">
                <a:solidFill>
                  <a:srgbClr val="1E2761"/>
                </a:solidFill>
                <a:latin typeface="Consolas" pitchFamily="34" charset="0"/>
                <a:ea typeface="Consolas" pitchFamily="34" charset="-122"/>
                <a:cs typeface="Consolas" pitchFamily="34" charset="-120"/>
              </a:rPr>
              <a:t>^</a:t>
            </a:r>
            <a:r>
              <a:rPr lang="en-US" sz="1600" dirty="0">
                <a:solidFill>
                  <a:srgbClr val="1F2937"/>
                </a:solidFill>
                <a:latin typeface="Calibri" pitchFamily="34" charset="0"/>
                <a:ea typeface="Calibri" pitchFamily="34" charset="-122"/>
                <a:cs typeface="Calibri" pitchFamily="34" charset="-120"/>
              </a:rPr>
              <a:t> means </a:t>
            </a:r>
            <a:r>
              <a:rPr lang="en-US" sz="1600" b="1" dirty="0">
                <a:solidFill>
                  <a:srgbClr val="1F2937"/>
                </a:solidFill>
                <a:latin typeface="Calibri" pitchFamily="34" charset="0"/>
                <a:ea typeface="Calibri" pitchFamily="34" charset="-122"/>
                <a:cs typeface="Calibri" pitchFamily="34" charset="-120"/>
              </a:rPr>
              <a:t>Ctrl</a:t>
            </a:r>
            <a:r>
              <a:rPr lang="en-US" sz="1600" dirty="0">
                <a:solidFill>
                  <a:srgbClr val="1F2937"/>
                </a:solidFill>
                <a:latin typeface="Calibri" pitchFamily="34" charset="0"/>
                <a:ea typeface="Calibri" pitchFamily="34" charset="-122"/>
                <a:cs typeface="Calibri" pitchFamily="34" charset="-120"/>
              </a:rPr>
              <a:t>. So </a:t>
            </a:r>
            <a:r>
              <a:rPr lang="en-US" sz="1600" dirty="0">
                <a:solidFill>
                  <a:srgbClr val="1E2761"/>
                </a:solidFill>
                <a:latin typeface="Consolas" pitchFamily="34" charset="0"/>
                <a:ea typeface="Consolas" pitchFamily="34" charset="-122"/>
                <a:cs typeface="Consolas" pitchFamily="34" charset="-120"/>
              </a:rPr>
              <a:t>^X</a:t>
            </a:r>
            <a:r>
              <a:rPr lang="en-US" sz="1600" dirty="0">
                <a:solidFill>
                  <a:srgbClr val="1F2937"/>
                </a:solidFill>
                <a:latin typeface="Calibri" pitchFamily="34" charset="0"/>
                <a:ea typeface="Calibri" pitchFamily="34" charset="-122"/>
                <a:cs typeface="Calibri" pitchFamily="34" charset="-120"/>
              </a:rPr>
              <a:t> = Ctrl-X.</a:t>
            </a:r>
            <a:endParaRPr lang="en-US" sz="1600" dirty="0"/>
          </a:p>
          <a:p>
            <a:pPr marL="228600" indent="-228600">
              <a:spcAft>
                <a:spcPts val="600"/>
              </a:spcAft>
              <a:buSzPct val="100000"/>
              <a:buChar char="■"/>
            </a:pPr>
            <a:r>
              <a:rPr lang="en-US" sz="1600" b="1" dirty="0">
                <a:solidFill>
                  <a:srgbClr val="1F2937"/>
                </a:solidFill>
                <a:latin typeface="Calibri" pitchFamily="34" charset="0"/>
                <a:ea typeface="Calibri" pitchFamily="34" charset="-122"/>
                <a:cs typeface="Calibri" pitchFamily="34" charset="-120"/>
              </a:rPr>
              <a:t>Ctrl-O</a:t>
            </a:r>
            <a:r>
              <a:rPr lang="en-US" sz="1600" dirty="0">
                <a:solidFill>
                  <a:srgbClr val="1F2937"/>
                </a:solidFill>
                <a:latin typeface="Calibri" pitchFamily="34" charset="0"/>
                <a:ea typeface="Calibri" pitchFamily="34" charset="-122"/>
                <a:cs typeface="Calibri" pitchFamily="34" charset="-120"/>
              </a:rPr>
              <a:t> — write Out (save). Press Enter to confirm filename.</a:t>
            </a:r>
            <a:endParaRPr lang="en-US" sz="1600" dirty="0"/>
          </a:p>
          <a:p>
            <a:pPr marL="228600" indent="-228600">
              <a:spcAft>
                <a:spcPts val="600"/>
              </a:spcAft>
              <a:buSzPct val="100000"/>
              <a:buChar char="■"/>
            </a:pPr>
            <a:r>
              <a:rPr lang="en-US" sz="1600" b="1" dirty="0">
                <a:solidFill>
                  <a:srgbClr val="1F2937"/>
                </a:solidFill>
                <a:latin typeface="Calibri" pitchFamily="34" charset="0"/>
                <a:ea typeface="Calibri" pitchFamily="34" charset="-122"/>
                <a:cs typeface="Calibri" pitchFamily="34" charset="-120"/>
              </a:rPr>
              <a:t>Ctrl-X</a:t>
            </a:r>
            <a:r>
              <a:rPr lang="en-US" sz="1600" dirty="0">
                <a:solidFill>
                  <a:srgbClr val="1F2937"/>
                </a:solidFill>
                <a:latin typeface="Calibri" pitchFamily="34" charset="0"/>
                <a:ea typeface="Calibri" pitchFamily="34" charset="-122"/>
                <a:cs typeface="Calibri" pitchFamily="34" charset="-120"/>
              </a:rPr>
              <a:t> — eXit.</a:t>
            </a:r>
            <a:endParaRPr lang="en-US" sz="16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a:effectLst/>
      </p:bgPr>
    </p:bg>
    <p:spTree>
      <p:nvGrpSpPr>
        <p:cNvPr id="1" name=""/>
        <p:cNvGrpSpPr/>
        <p:nvPr/>
      </p:nvGrpSpPr>
      <p:grpSpPr>
        <a:xfrm>
          <a:off x="0" y="0"/>
          <a:ext cx="0" cy="0"/>
          <a:chOff x="0" y="0"/>
          <a:chExt cx="0" cy="0"/>
        </a:xfrm>
      </p:grpSpPr>
      <p:pic>
        <p:nvPicPr>
          <p:cNvPr id="7" name="Picture 6" descr="access-footer.jpg"/>
          <p:cNvPicPr>
            <a:picLocks noChangeAspect="1"/>
          </p:cNvPicPr>
          <p:nvPr/>
        </p:nvPicPr>
        <p:blipFill>
          <a:blip r:embed="rId3"/>
          <a:stretch>
            <a:fillRect/>
          </a:stretch>
        </p:blipFill>
        <p:spPr>
          <a:xfrm>
            <a:off x="0" y="0"/>
            <a:ext cx="9144000" cy="5143500"/>
          </a:xfrm>
          <a:prstGeom prst="rect">
            <a:avLst/>
          </a:prstGeom>
        </p:spPr>
      </p:pic>
      <p:sp>
        <p:nvSpPr>
          <p:cNvPr id="2" name="Text 0"/>
          <p:cNvSpPr/>
          <p:nvPr/>
        </p:nvSpPr>
        <p:spPr>
          <a:xfrm>
            <a:off x="457200" y="274320"/>
            <a:ext cx="8229600" cy="594360"/>
          </a:xfrm>
          <a:prstGeom prst="rect">
            <a:avLst/>
          </a:prstGeom>
          <a:solidFill>
            <a:srgbClr val="FFFFFF"/>
          </a:solidFill>
          <a:ln/>
        </p:spPr>
        <p:txBody>
          <a:bodyPr wrap="square" lIns="0" tIns="0" rIns="0" bIns="0" rtlCol="0" anchor="ctr"/>
          <a:lstStyle/>
          <a:p>
            <a:pPr marL="0" indent="0">
              <a:buNone/>
            </a:pPr>
            <a:r>
              <a:rPr lang="en-US" sz="2800" b="1" dirty="0">
                <a:solidFill>
                  <a:srgbClr val="1E2761"/>
                </a:solidFill>
                <a:latin typeface="Cambria" pitchFamily="34" charset="0"/>
                <a:ea typeface="Cambria" pitchFamily="34" charset="-122"/>
                <a:cs typeface="Cambria" pitchFamily="34" charset="-120"/>
              </a:rPr>
              <a:t>Exercise: edit a file two ways</a:t>
            </a:r>
            <a:endParaRPr lang="en-US" sz="2800" dirty="0"/>
          </a:p>
        </p:txBody>
      </p:sp>
      <p:sp>
        <p:nvSpPr>
          <p:cNvPr id="3" name="Shape 1"/>
          <p:cNvSpPr/>
          <p:nvPr/>
        </p:nvSpPr>
        <p:spPr>
          <a:xfrm>
            <a:off x="457200" y="868680"/>
            <a:ext cx="548640" cy="36576"/>
          </a:xfrm>
          <a:prstGeom prst="rect">
            <a:avLst/>
          </a:prstGeom>
          <a:solidFill>
            <a:srgbClr val="1E2761"/>
          </a:solidFill>
          <a:ln w="12700">
            <a:solidFill>
              <a:srgbClr val="1E2761"/>
            </a:solidFill>
            <a:prstDash val="solid"/>
          </a:ln>
        </p:spPr>
        <p:txBody>
          <a:bodyPr/>
          <a:lstStyle/>
          <a:p>
            <a:endParaRPr lang="en-US"/>
          </a:p>
        </p:txBody>
      </p:sp>
      <p:sp>
        <p:nvSpPr>
          <p:cNvPr id="4" name="Shape 2"/>
          <p:cNvSpPr/>
          <p:nvPr/>
        </p:nvSpPr>
        <p:spPr>
          <a:xfrm>
            <a:off x="457200" y="1005840"/>
            <a:ext cx="1005840" cy="292608"/>
          </a:xfrm>
          <a:prstGeom prst="rect">
            <a:avLst/>
          </a:prstGeom>
          <a:solidFill>
            <a:srgbClr val="047857"/>
          </a:solidFill>
          <a:ln w="12700">
            <a:solidFill>
              <a:srgbClr val="047857"/>
            </a:solidFill>
            <a:prstDash val="solid"/>
          </a:ln>
        </p:spPr>
        <p:txBody>
          <a:bodyPr/>
          <a:lstStyle/>
          <a:p>
            <a:endParaRPr lang="en-US"/>
          </a:p>
        </p:txBody>
      </p:sp>
      <p:sp>
        <p:nvSpPr>
          <p:cNvPr id="5" name="Text 3"/>
          <p:cNvSpPr/>
          <p:nvPr/>
        </p:nvSpPr>
        <p:spPr>
          <a:xfrm>
            <a:off x="457200" y="1005840"/>
            <a:ext cx="1005840" cy="292608"/>
          </a:xfrm>
          <a:prstGeom prst="rect">
            <a:avLst/>
          </a:prstGeom>
          <a:noFill/>
          <a:ln/>
        </p:spPr>
        <p:txBody>
          <a:bodyPr wrap="square" lIns="0" tIns="0" rIns="0" bIns="0" rtlCol="0" anchor="ctr"/>
          <a:lstStyle/>
          <a:p>
            <a:pPr marL="0" indent="0" algn="ctr">
              <a:buNone/>
            </a:pPr>
            <a:r>
              <a:rPr lang="en-US" sz="1100" b="1" kern="0" spc="200" dirty="0">
                <a:solidFill>
                  <a:srgbClr val="FFFFFF"/>
                </a:solidFill>
                <a:latin typeface="Calibri" pitchFamily="34" charset="0"/>
                <a:ea typeface="Calibri" pitchFamily="34" charset="-122"/>
                <a:cs typeface="Calibri" pitchFamily="34" charset="-120"/>
              </a:rPr>
              <a:t>EXERCISE</a:t>
            </a:r>
            <a:endParaRPr lang="en-US" sz="1100" dirty="0"/>
          </a:p>
        </p:txBody>
      </p:sp>
      <p:sp>
        <p:nvSpPr>
          <p:cNvPr id="6" name="Text 4"/>
          <p:cNvSpPr/>
          <p:nvPr/>
        </p:nvSpPr>
        <p:spPr>
          <a:xfrm>
            <a:off x="548640" y="1435608"/>
            <a:ext cx="8046720" cy="1772920"/>
          </a:xfrm>
          <a:prstGeom prst="rect">
            <a:avLst/>
          </a:prstGeom>
          <a:solidFill>
            <a:srgbClr val="FFFFFF"/>
          </a:solidFill>
          <a:ln/>
        </p:spPr>
        <p:txBody>
          <a:bodyPr wrap="square" lIns="0" tIns="0" rIns="0" bIns="0" rtlCol="0" anchor="t"/>
          <a:lstStyle/>
          <a:p>
            <a:pPr marL="279400" indent="-279400">
              <a:spcAft>
                <a:spcPts val="600"/>
              </a:spcAft>
              <a:buSzPct val="100000"/>
              <a:buFont typeface="+mj-lt"/>
              <a:buAutoNum type="arabicPeriod"/>
            </a:pPr>
            <a:r>
              <a:rPr lang="en-US" sz="1600" dirty="0">
                <a:solidFill>
                  <a:srgbClr val="1F2937"/>
                </a:solidFill>
                <a:latin typeface="Calibri" pitchFamily="34" charset="0"/>
                <a:ea typeface="Calibri" pitchFamily="34" charset="-122"/>
                <a:cs typeface="Calibri" pitchFamily="34" charset="-120"/>
              </a:rPr>
              <a:t>In </a:t>
            </a:r>
            <a:r>
              <a:rPr lang="en-US" sz="1600" dirty="0">
                <a:solidFill>
                  <a:srgbClr val="1E2761"/>
                </a:solidFill>
                <a:latin typeface="Consolas" pitchFamily="34" charset="0"/>
                <a:ea typeface="Consolas" pitchFamily="34" charset="-122"/>
                <a:cs typeface="Consolas" pitchFamily="34" charset="-120"/>
              </a:rPr>
              <a:t>~/workshop</a:t>
            </a:r>
            <a:r>
              <a:rPr lang="en-US" sz="1600" dirty="0">
                <a:solidFill>
                  <a:srgbClr val="1F2937"/>
                </a:solidFill>
                <a:latin typeface="Calibri" pitchFamily="34" charset="0"/>
                <a:ea typeface="Calibri" pitchFamily="34" charset="-122"/>
                <a:cs typeface="Calibri" pitchFamily="34" charset="-120"/>
              </a:rPr>
              <a:t>, create a file </a:t>
            </a:r>
            <a:r>
              <a:rPr lang="en-US" sz="1600" dirty="0">
                <a:solidFill>
                  <a:srgbClr val="1E2761"/>
                </a:solidFill>
                <a:latin typeface="Consolas" pitchFamily="34" charset="0"/>
                <a:ea typeface="Consolas" pitchFamily="34" charset="-122"/>
                <a:cs typeface="Consolas" pitchFamily="34" charset="-120"/>
              </a:rPr>
              <a:t>aboutme.txt</a:t>
            </a:r>
            <a:r>
              <a:rPr lang="en-US" sz="1600" dirty="0">
                <a:solidFill>
                  <a:srgbClr val="1F2937"/>
                </a:solidFill>
                <a:latin typeface="Calibri" pitchFamily="34" charset="0"/>
                <a:ea typeface="Calibri" pitchFamily="34" charset="-122"/>
                <a:cs typeface="Calibri" pitchFamily="34" charset="-120"/>
              </a:rPr>
              <a:t>.</a:t>
            </a:r>
            <a:endParaRPr lang="en-US" sz="1600" dirty="0"/>
          </a:p>
          <a:p>
            <a:pPr marL="279400" indent="-279400">
              <a:spcAft>
                <a:spcPts val="600"/>
              </a:spcAft>
              <a:buSzPct val="100000"/>
              <a:buFont typeface="+mj-lt"/>
              <a:buAutoNum type="arabicPeriod"/>
            </a:pPr>
            <a:r>
              <a:rPr lang="en-US" sz="1600" dirty="0">
                <a:solidFill>
                  <a:srgbClr val="1F2937"/>
                </a:solidFill>
                <a:latin typeface="Calibri" pitchFamily="34" charset="0"/>
                <a:ea typeface="Calibri" pitchFamily="34" charset="-122"/>
                <a:cs typeface="Calibri" pitchFamily="34" charset="-120"/>
              </a:rPr>
              <a:t>In </a:t>
            </a:r>
            <a:r>
              <a:rPr lang="en-US" sz="1600" b="1" dirty="0">
                <a:solidFill>
                  <a:srgbClr val="1F2937"/>
                </a:solidFill>
                <a:latin typeface="Calibri" pitchFamily="34" charset="0"/>
                <a:ea typeface="Calibri" pitchFamily="34" charset="-122"/>
                <a:cs typeface="Calibri" pitchFamily="34" charset="-120"/>
              </a:rPr>
              <a:t>VSCode</a:t>
            </a:r>
            <a:r>
              <a:rPr lang="en-US" sz="1600" dirty="0">
                <a:solidFill>
                  <a:srgbClr val="1F2937"/>
                </a:solidFill>
                <a:latin typeface="Calibri" pitchFamily="34" charset="0"/>
                <a:ea typeface="Calibri" pitchFamily="34" charset="-122"/>
                <a:cs typeface="Calibri" pitchFamily="34" charset="-120"/>
              </a:rPr>
              <a:t>, add three lines: your name, your major, one thing you hope to learn.</a:t>
            </a:r>
            <a:endParaRPr lang="en-US" sz="1600" dirty="0"/>
          </a:p>
          <a:p>
            <a:pPr marL="279400" indent="-279400">
              <a:spcAft>
                <a:spcPts val="600"/>
              </a:spcAft>
              <a:buSzPct val="100000"/>
              <a:buFont typeface="+mj-lt"/>
              <a:buAutoNum type="arabicPeriod"/>
            </a:pPr>
            <a:r>
              <a:rPr lang="en-US" sz="1600" dirty="0">
                <a:solidFill>
                  <a:srgbClr val="1F2937"/>
                </a:solidFill>
                <a:latin typeface="Calibri" pitchFamily="34" charset="0"/>
                <a:ea typeface="Calibri" pitchFamily="34" charset="-122"/>
                <a:cs typeface="Calibri" pitchFamily="34" charset="-120"/>
              </a:rPr>
              <a:t>In </a:t>
            </a:r>
            <a:r>
              <a:rPr lang="en-US" sz="1600" b="1" dirty="0">
                <a:solidFill>
                  <a:srgbClr val="1F2937"/>
                </a:solidFill>
                <a:latin typeface="Calibri" pitchFamily="34" charset="0"/>
                <a:ea typeface="Calibri" pitchFamily="34" charset="-122"/>
                <a:cs typeface="Calibri" pitchFamily="34" charset="-120"/>
              </a:rPr>
              <a:t>nano</a:t>
            </a:r>
            <a:r>
              <a:rPr lang="en-US" sz="1600" dirty="0">
                <a:solidFill>
                  <a:srgbClr val="1F2937"/>
                </a:solidFill>
                <a:latin typeface="Calibri" pitchFamily="34" charset="0"/>
                <a:ea typeface="Calibri" pitchFamily="34" charset="-122"/>
                <a:cs typeface="Calibri" pitchFamily="34" charset="-120"/>
              </a:rPr>
              <a:t>, add a fourth line: your favorite food.</a:t>
            </a:r>
            <a:endParaRPr lang="en-US" sz="1600" dirty="0"/>
          </a:p>
          <a:p>
            <a:pPr marL="279400" indent="-279400">
              <a:spcAft>
                <a:spcPts val="600"/>
              </a:spcAft>
              <a:buSzPct val="100000"/>
              <a:buFont typeface="+mj-lt"/>
              <a:buAutoNum type="arabicPeriod"/>
            </a:pPr>
            <a:r>
              <a:rPr lang="en-US" sz="1600" dirty="0">
                <a:solidFill>
                  <a:srgbClr val="1E2761"/>
                </a:solidFill>
                <a:latin typeface="Consolas" pitchFamily="34" charset="0"/>
                <a:ea typeface="Consolas" pitchFamily="34" charset="-122"/>
                <a:cs typeface="Consolas" pitchFamily="34" charset="-120"/>
              </a:rPr>
              <a:t>cat aboutme.txt</a:t>
            </a:r>
            <a:r>
              <a:rPr lang="en-US" sz="1600" dirty="0">
                <a:solidFill>
                  <a:srgbClr val="1F2937"/>
                </a:solidFill>
                <a:latin typeface="Calibri" pitchFamily="34" charset="0"/>
                <a:ea typeface="Calibri" pitchFamily="34" charset="-122"/>
                <a:cs typeface="Calibri" pitchFamily="34" charset="-120"/>
              </a:rPr>
              <a:t> to confirm all four lines are there.</a:t>
            </a:r>
            <a:endParaRPr lang="en-US" sz="16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a:effectLst/>
      </p:bgPr>
    </p:bg>
    <p:spTree>
      <p:nvGrpSpPr>
        <p:cNvPr id="1" name=""/>
        <p:cNvGrpSpPr/>
        <p:nvPr/>
      </p:nvGrpSpPr>
      <p:grpSpPr>
        <a:xfrm>
          <a:off x="0" y="0"/>
          <a:ext cx="0" cy="0"/>
          <a:chOff x="0" y="0"/>
          <a:chExt cx="0" cy="0"/>
        </a:xfrm>
      </p:grpSpPr>
      <p:pic>
        <p:nvPicPr>
          <p:cNvPr id="11" name="Picture 10" descr="access-footer.jpg"/>
          <p:cNvPicPr>
            <a:picLocks noChangeAspect="1"/>
          </p:cNvPicPr>
          <p:nvPr/>
        </p:nvPicPr>
        <p:blipFill>
          <a:blip r:embed="rId3"/>
          <a:stretch>
            <a:fillRect/>
          </a:stretch>
        </p:blipFill>
        <p:spPr>
          <a:xfrm>
            <a:off x="0" y="0"/>
            <a:ext cx="9144000" cy="5143500"/>
          </a:xfrm>
          <a:prstGeom prst="rect">
            <a:avLst/>
          </a:prstGeom>
        </p:spPr>
      </p:pic>
      <p:sp>
        <p:nvSpPr>
          <p:cNvPr id="2" name="Text 0"/>
          <p:cNvSpPr/>
          <p:nvPr/>
        </p:nvSpPr>
        <p:spPr>
          <a:xfrm>
            <a:off x="457200" y="274320"/>
            <a:ext cx="8229600" cy="594360"/>
          </a:xfrm>
          <a:prstGeom prst="rect">
            <a:avLst/>
          </a:prstGeom>
          <a:solidFill>
            <a:srgbClr val="FFFFFF"/>
          </a:solidFill>
          <a:ln/>
        </p:spPr>
        <p:txBody>
          <a:bodyPr wrap="square" lIns="0" tIns="0" rIns="0" bIns="0" rtlCol="0" anchor="ctr"/>
          <a:lstStyle/>
          <a:p>
            <a:pPr marL="0" indent="0">
              <a:buNone/>
            </a:pPr>
            <a:r>
              <a:rPr lang="en-US" sz="2800" b="1" dirty="0">
                <a:solidFill>
                  <a:srgbClr val="1E2761"/>
                </a:solidFill>
                <a:latin typeface="Cambria" pitchFamily="34" charset="0"/>
                <a:ea typeface="Cambria" pitchFamily="34" charset="-122"/>
                <a:cs typeface="Cambria" pitchFamily="34" charset="-120"/>
              </a:rPr>
              <a:t>Let's write a real shell script</a:t>
            </a:r>
            <a:endParaRPr lang="en-US" sz="2800" dirty="0"/>
          </a:p>
        </p:txBody>
      </p:sp>
      <p:sp>
        <p:nvSpPr>
          <p:cNvPr id="3" name="Shape 1"/>
          <p:cNvSpPr/>
          <p:nvPr/>
        </p:nvSpPr>
        <p:spPr>
          <a:xfrm>
            <a:off x="457200" y="868680"/>
            <a:ext cx="548640" cy="36576"/>
          </a:xfrm>
          <a:prstGeom prst="rect">
            <a:avLst/>
          </a:prstGeom>
          <a:solidFill>
            <a:srgbClr val="1E2761"/>
          </a:solidFill>
          <a:ln w="12700">
            <a:solidFill>
              <a:srgbClr val="1E2761"/>
            </a:solidFill>
            <a:prstDash val="solid"/>
          </a:ln>
        </p:spPr>
        <p:txBody>
          <a:bodyPr/>
          <a:lstStyle/>
          <a:p>
            <a:endParaRPr lang="en-US"/>
          </a:p>
        </p:txBody>
      </p:sp>
      <p:sp>
        <p:nvSpPr>
          <p:cNvPr id="4" name="Shape 2"/>
          <p:cNvSpPr/>
          <p:nvPr/>
        </p:nvSpPr>
        <p:spPr>
          <a:xfrm>
            <a:off x="457200" y="1005840"/>
            <a:ext cx="1005840" cy="292608"/>
          </a:xfrm>
          <a:prstGeom prst="rect">
            <a:avLst/>
          </a:prstGeom>
          <a:solidFill>
            <a:srgbClr val="1E2761"/>
          </a:solidFill>
          <a:ln w="12700">
            <a:solidFill>
              <a:srgbClr val="1E2761"/>
            </a:solidFill>
            <a:prstDash val="solid"/>
          </a:ln>
        </p:spPr>
        <p:txBody>
          <a:bodyPr/>
          <a:lstStyle/>
          <a:p>
            <a:endParaRPr lang="en-US"/>
          </a:p>
        </p:txBody>
      </p:sp>
      <p:sp>
        <p:nvSpPr>
          <p:cNvPr id="5" name="Text 3"/>
          <p:cNvSpPr/>
          <p:nvPr/>
        </p:nvSpPr>
        <p:spPr>
          <a:xfrm>
            <a:off x="457200" y="1005840"/>
            <a:ext cx="1005840" cy="292608"/>
          </a:xfrm>
          <a:prstGeom prst="rect">
            <a:avLst/>
          </a:prstGeom>
          <a:noFill/>
          <a:ln/>
        </p:spPr>
        <p:txBody>
          <a:bodyPr wrap="square" lIns="0" tIns="0" rIns="0" bIns="0" rtlCol="0" anchor="ctr"/>
          <a:lstStyle/>
          <a:p>
            <a:pPr marL="0" indent="0" algn="ctr">
              <a:buNone/>
            </a:pPr>
            <a:r>
              <a:rPr lang="en-US" sz="1100" b="1" kern="0" spc="200" dirty="0">
                <a:solidFill>
                  <a:srgbClr val="FFFFFF"/>
                </a:solidFill>
                <a:latin typeface="Calibri" pitchFamily="34" charset="0"/>
                <a:ea typeface="Calibri" pitchFamily="34" charset="-122"/>
                <a:cs typeface="Calibri" pitchFamily="34" charset="-120"/>
              </a:rPr>
              <a:t>TALK</a:t>
            </a:r>
            <a:endParaRPr lang="en-US" sz="1100" dirty="0"/>
          </a:p>
        </p:txBody>
      </p:sp>
      <p:sp>
        <p:nvSpPr>
          <p:cNvPr id="6" name="Text 4"/>
          <p:cNvSpPr/>
          <p:nvPr/>
        </p:nvSpPr>
        <p:spPr>
          <a:xfrm>
            <a:off x="548640" y="1435608"/>
            <a:ext cx="8046720" cy="944880"/>
          </a:xfrm>
          <a:prstGeom prst="rect">
            <a:avLst/>
          </a:prstGeom>
          <a:solidFill>
            <a:srgbClr val="FFFFFF"/>
          </a:solidFill>
          <a:ln/>
        </p:spPr>
        <p:txBody>
          <a:bodyPr wrap="square" lIns="0" tIns="0" rIns="0" bIns="0" rtlCol="0" anchor="t"/>
          <a:lstStyle/>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A </a:t>
            </a:r>
            <a:r>
              <a:rPr lang="en-US" sz="1400" b="1" dirty="0">
                <a:solidFill>
                  <a:srgbClr val="1F2937"/>
                </a:solidFill>
                <a:latin typeface="Calibri" pitchFamily="34" charset="0"/>
                <a:ea typeface="Calibri" pitchFamily="34" charset="-122"/>
                <a:cs typeface="Calibri" pitchFamily="34" charset="-120"/>
              </a:rPr>
              <a:t>shell script</a:t>
            </a:r>
            <a:r>
              <a:rPr lang="en-US" sz="1400" dirty="0">
                <a:solidFill>
                  <a:srgbClr val="1F2937"/>
                </a:solidFill>
                <a:latin typeface="Calibri" pitchFamily="34" charset="0"/>
                <a:ea typeface="Calibri" pitchFamily="34" charset="-122"/>
                <a:cs typeface="Calibri" pitchFamily="34" charset="-120"/>
              </a:rPr>
              <a:t> is just a text file with shell commands in it.</a:t>
            </a:r>
            <a:endParaRPr lang="en-US" sz="1400" dirty="0"/>
          </a:p>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The </a:t>
            </a:r>
            <a:r>
              <a:rPr lang="en-US" sz="1400" dirty="0">
                <a:solidFill>
                  <a:srgbClr val="1E2761"/>
                </a:solidFill>
                <a:latin typeface="Consolas" pitchFamily="34" charset="0"/>
                <a:ea typeface="Consolas" pitchFamily="34" charset="-122"/>
                <a:cs typeface="Consolas" pitchFamily="34" charset="-120"/>
              </a:rPr>
              <a:t>.sh</a:t>
            </a:r>
            <a:r>
              <a:rPr lang="en-US" sz="1400" dirty="0">
                <a:solidFill>
                  <a:srgbClr val="1F2937"/>
                </a:solidFill>
                <a:latin typeface="Calibri" pitchFamily="34" charset="0"/>
                <a:ea typeface="Calibri" pitchFamily="34" charset="-122"/>
                <a:cs typeface="Calibri" pitchFamily="34" charset="-120"/>
              </a:rPr>
              <a:t> extension is a convention — Linux doesn't </a:t>
            </a:r>
            <a:r>
              <a:rPr lang="en-US" sz="1400" i="1" dirty="0">
                <a:solidFill>
                  <a:srgbClr val="1F2937"/>
                </a:solidFill>
                <a:latin typeface="Calibri" pitchFamily="34" charset="0"/>
                <a:ea typeface="Calibri" pitchFamily="34" charset="-122"/>
                <a:cs typeface="Calibri" pitchFamily="34" charset="-120"/>
              </a:rPr>
              <a:t>require</a:t>
            </a:r>
            <a:r>
              <a:rPr lang="en-US" sz="1400" dirty="0">
                <a:solidFill>
                  <a:srgbClr val="1F2937"/>
                </a:solidFill>
                <a:latin typeface="Calibri" pitchFamily="34" charset="0"/>
                <a:ea typeface="Calibri" pitchFamily="34" charset="-122"/>
                <a:cs typeface="Calibri" pitchFamily="34" charset="-120"/>
              </a:rPr>
              <a:t> it, but humans use it to know what the file is.</a:t>
            </a:r>
            <a:endParaRPr lang="en-US" sz="1400" dirty="0"/>
          </a:p>
        </p:txBody>
      </p:sp>
      <p:sp>
        <p:nvSpPr>
          <p:cNvPr id="7" name="Shape 5"/>
          <p:cNvSpPr/>
          <p:nvPr/>
        </p:nvSpPr>
        <p:spPr>
          <a:xfrm>
            <a:off x="457200" y="2426208"/>
            <a:ext cx="1005840" cy="292608"/>
          </a:xfrm>
          <a:prstGeom prst="rect">
            <a:avLst/>
          </a:prstGeom>
          <a:solidFill>
            <a:srgbClr val="0369A1"/>
          </a:solidFill>
          <a:ln w="12700">
            <a:solidFill>
              <a:srgbClr val="0369A1"/>
            </a:solidFill>
            <a:prstDash val="solid"/>
          </a:ln>
        </p:spPr>
        <p:txBody>
          <a:bodyPr/>
          <a:lstStyle/>
          <a:p>
            <a:endParaRPr lang="en-US"/>
          </a:p>
        </p:txBody>
      </p:sp>
      <p:sp>
        <p:nvSpPr>
          <p:cNvPr id="8" name="Text 6"/>
          <p:cNvSpPr/>
          <p:nvPr/>
        </p:nvSpPr>
        <p:spPr>
          <a:xfrm>
            <a:off x="457200" y="2426208"/>
            <a:ext cx="1005840" cy="292608"/>
          </a:xfrm>
          <a:prstGeom prst="rect">
            <a:avLst/>
          </a:prstGeom>
          <a:noFill/>
          <a:ln/>
        </p:spPr>
        <p:txBody>
          <a:bodyPr wrap="square" lIns="0" tIns="0" rIns="0" bIns="0" rtlCol="0" anchor="ctr"/>
          <a:lstStyle/>
          <a:p>
            <a:pPr marL="0" indent="0" algn="ctr">
              <a:buNone/>
            </a:pPr>
            <a:r>
              <a:rPr lang="en-US" sz="1100" b="1" kern="0" spc="200" dirty="0">
                <a:solidFill>
                  <a:srgbClr val="FFFFFF"/>
                </a:solidFill>
                <a:latin typeface="Calibri" pitchFamily="34" charset="0"/>
                <a:ea typeface="Calibri" pitchFamily="34" charset="-122"/>
                <a:cs typeface="Calibri" pitchFamily="34" charset="-120"/>
              </a:rPr>
              <a:t>DEMO</a:t>
            </a:r>
            <a:endParaRPr lang="en-US" sz="1100" dirty="0"/>
          </a:p>
        </p:txBody>
      </p:sp>
      <p:sp>
        <p:nvSpPr>
          <p:cNvPr id="9" name="Shape 7"/>
          <p:cNvSpPr/>
          <p:nvPr/>
        </p:nvSpPr>
        <p:spPr>
          <a:xfrm>
            <a:off x="548640" y="2855976"/>
            <a:ext cx="8046720" cy="1685290"/>
          </a:xfrm>
          <a:prstGeom prst="rect">
            <a:avLst/>
          </a:prstGeom>
          <a:solidFill>
            <a:srgbClr val="0F172A"/>
          </a:solidFill>
          <a:ln w="12700">
            <a:solidFill>
              <a:srgbClr val="0F172A"/>
            </a:solidFill>
            <a:prstDash val="solid"/>
          </a:ln>
        </p:spPr>
        <p:txBody>
          <a:bodyPr/>
          <a:lstStyle/>
          <a:p>
            <a:endParaRPr lang="en-US"/>
          </a:p>
        </p:txBody>
      </p:sp>
      <p:sp>
        <p:nvSpPr>
          <p:cNvPr id="10" name="Text 8"/>
          <p:cNvSpPr/>
          <p:nvPr/>
        </p:nvSpPr>
        <p:spPr>
          <a:xfrm>
            <a:off x="685800" y="2929128"/>
            <a:ext cx="7772400" cy="1538986"/>
          </a:xfrm>
          <a:prstGeom prst="rect">
            <a:avLst/>
          </a:prstGeom>
          <a:noFill/>
          <a:ln/>
        </p:spPr>
        <p:txBody>
          <a:bodyPr wrap="square" lIns="0" tIns="0" rIns="0" bIns="0" rtlCol="0" anchor="t"/>
          <a:lstStyle/>
          <a:p>
            <a:pPr marL="0" indent="0">
              <a:buNone/>
            </a:pPr>
            <a:r>
              <a:rPr lang="en-US" sz="1300" dirty="0">
                <a:solidFill>
                  <a:srgbClr val="E2E8F0"/>
                </a:solidFill>
                <a:latin typeface="Consolas" pitchFamily="34" charset="0"/>
                <a:ea typeface="Consolas" pitchFamily="34" charset="-122"/>
                <a:cs typeface="Consolas" pitchFamily="34" charset="-120"/>
              </a:rPr>
              <a:t>$ cd ~/workshop</a:t>
            </a:r>
            <a:endParaRPr lang="en-US" sz="1300" dirty="0"/>
          </a:p>
          <a:p>
            <a:pPr marL="0" indent="0">
              <a:buNone/>
            </a:pPr>
            <a:r>
              <a:rPr lang="en-US" sz="1300" dirty="0">
                <a:solidFill>
                  <a:srgbClr val="E2E8F0"/>
                </a:solidFill>
                <a:latin typeface="Consolas" pitchFamily="34" charset="0"/>
                <a:ea typeface="Consolas" pitchFamily="34" charset="-122"/>
                <a:cs typeface="Consolas" pitchFamily="34" charset="-120"/>
              </a:rPr>
              <a:t>$ nano hello.sh         # type the two lines below, save, exit</a:t>
            </a:r>
            <a:endParaRPr lang="en-US" sz="1300" dirty="0"/>
          </a:p>
          <a:p>
            <a:pPr marL="0" indent="0">
              <a:buNone/>
            </a:pPr>
            <a:r>
              <a:rPr lang="en-US" sz="1300" dirty="0">
                <a:solidFill>
                  <a:srgbClr val="E2E8F0"/>
                </a:solidFill>
                <a:latin typeface="Consolas" pitchFamily="34" charset="0"/>
                <a:ea typeface="Consolas" pitchFamily="34" charset="-122"/>
                <a:cs typeface="Consolas" pitchFamily="34" charset="-120"/>
              </a:rPr>
              <a:t> </a:t>
            </a:r>
            <a:endParaRPr lang="en-US" sz="1300" dirty="0"/>
          </a:p>
          <a:p>
            <a:pPr marL="0" indent="0">
              <a:buNone/>
            </a:pPr>
            <a:r>
              <a:rPr lang="en-US" sz="1300" dirty="0">
                <a:solidFill>
                  <a:srgbClr val="E2E8F0"/>
                </a:solidFill>
                <a:latin typeface="Consolas" pitchFamily="34" charset="0"/>
                <a:ea typeface="Consolas" pitchFamily="34" charset="-122"/>
                <a:cs typeface="Consolas" pitchFamily="34" charset="-120"/>
              </a:rPr>
              <a:t>    #!/bin/bash</a:t>
            </a:r>
            <a:endParaRPr lang="en-US" sz="1300" dirty="0"/>
          </a:p>
          <a:p>
            <a:pPr marL="0" indent="0">
              <a:buNone/>
            </a:pPr>
            <a:r>
              <a:rPr lang="en-US" sz="1300" dirty="0">
                <a:solidFill>
                  <a:srgbClr val="E2E8F0"/>
                </a:solidFill>
                <a:latin typeface="Consolas" pitchFamily="34" charset="0"/>
                <a:ea typeface="Consolas" pitchFamily="34" charset="-122"/>
                <a:cs typeface="Consolas" pitchFamily="34" charset="-120"/>
              </a:rPr>
              <a:t>    echo "Hello, World!"</a:t>
            </a:r>
            <a:endParaRPr lang="en-US" sz="1300" dirty="0"/>
          </a:p>
          <a:p>
            <a:pPr marL="0" indent="0">
              <a:buNone/>
            </a:pPr>
            <a:r>
              <a:rPr lang="en-US" sz="1300" dirty="0">
                <a:solidFill>
                  <a:srgbClr val="E2E8F0"/>
                </a:solidFill>
                <a:latin typeface="Consolas" pitchFamily="34" charset="0"/>
                <a:ea typeface="Consolas" pitchFamily="34" charset="-122"/>
                <a:cs typeface="Consolas" pitchFamily="34" charset="-120"/>
              </a:rPr>
              <a:t> </a:t>
            </a:r>
            <a:endParaRPr lang="en-US" sz="1300" dirty="0"/>
          </a:p>
          <a:p>
            <a:pPr marL="0" indent="0">
              <a:buNone/>
            </a:pPr>
            <a:r>
              <a:rPr lang="en-US" sz="1300" dirty="0">
                <a:solidFill>
                  <a:srgbClr val="E2E8F0"/>
                </a:solidFill>
                <a:latin typeface="Consolas" pitchFamily="34" charset="0"/>
                <a:ea typeface="Consolas" pitchFamily="34" charset="-122"/>
                <a:cs typeface="Consolas" pitchFamily="34" charset="-120"/>
              </a:rPr>
              <a:t>$ cat hello.sh          # confirm it's saved</a:t>
            </a:r>
            <a:endParaRPr lang="en-US" sz="13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a:effectLst/>
      </p:bgPr>
    </p:bg>
    <p:spTree>
      <p:nvGrpSpPr>
        <p:cNvPr id="1" name=""/>
        <p:cNvGrpSpPr/>
        <p:nvPr/>
      </p:nvGrpSpPr>
      <p:grpSpPr>
        <a:xfrm>
          <a:off x="0" y="0"/>
          <a:ext cx="0" cy="0"/>
          <a:chOff x="0" y="0"/>
          <a:chExt cx="0" cy="0"/>
        </a:xfrm>
      </p:grpSpPr>
      <p:pic>
        <p:nvPicPr>
          <p:cNvPr id="10" name="Picture 9" descr="access-footer.jpg"/>
          <p:cNvPicPr>
            <a:picLocks noChangeAspect="1"/>
          </p:cNvPicPr>
          <p:nvPr/>
        </p:nvPicPr>
        <p:blipFill>
          <a:blip r:embed="rId3"/>
          <a:stretch>
            <a:fillRect/>
          </a:stretch>
        </p:blipFill>
        <p:spPr>
          <a:xfrm>
            <a:off x="0" y="0"/>
            <a:ext cx="9144000" cy="5143500"/>
          </a:xfrm>
          <a:prstGeom prst="rect">
            <a:avLst/>
          </a:prstGeom>
        </p:spPr>
      </p:pic>
      <p:sp>
        <p:nvSpPr>
          <p:cNvPr id="2" name="Text 0"/>
          <p:cNvSpPr/>
          <p:nvPr/>
        </p:nvSpPr>
        <p:spPr>
          <a:xfrm>
            <a:off x="457200" y="274320"/>
            <a:ext cx="8229600" cy="594360"/>
          </a:xfrm>
          <a:prstGeom prst="rect">
            <a:avLst/>
          </a:prstGeom>
          <a:solidFill>
            <a:srgbClr val="FFFFFF"/>
          </a:solidFill>
          <a:ln/>
        </p:spPr>
        <p:txBody>
          <a:bodyPr wrap="square" lIns="0" tIns="0" rIns="0" bIns="0" rtlCol="0" anchor="ctr"/>
          <a:lstStyle/>
          <a:p>
            <a:pPr marL="0" indent="0">
              <a:buNone/>
            </a:pPr>
            <a:r>
              <a:rPr lang="en-US" sz="2800" b="1" dirty="0">
                <a:solidFill>
                  <a:srgbClr val="1E2761"/>
                </a:solidFill>
                <a:latin typeface="Cambria" pitchFamily="34" charset="0"/>
                <a:ea typeface="Cambria" pitchFamily="34" charset="-122"/>
                <a:cs typeface="Cambria" pitchFamily="34" charset="-120"/>
              </a:rPr>
              <a:t>What's </a:t>
            </a:r>
            <a:r>
              <a:rPr lang="en-US" sz="2800" b="1" dirty="0">
                <a:solidFill>
                  <a:srgbClr val="1E2761"/>
                </a:solidFill>
                <a:latin typeface="Consolas" pitchFamily="34" charset="0"/>
                <a:ea typeface="Consolas" pitchFamily="34" charset="-122"/>
                <a:cs typeface="Consolas" pitchFamily="34" charset="-120"/>
              </a:rPr>
              <a:t>#!/bin/bash</a:t>
            </a:r>
            <a:r>
              <a:rPr lang="en-US" sz="2800" b="1" dirty="0">
                <a:solidFill>
                  <a:srgbClr val="1E2761"/>
                </a:solidFill>
                <a:latin typeface="Cambria" pitchFamily="34" charset="0"/>
                <a:ea typeface="Cambria" pitchFamily="34" charset="-122"/>
                <a:cs typeface="Cambria" pitchFamily="34" charset="-120"/>
              </a:rPr>
              <a:t>?  —  the shebang</a:t>
            </a:r>
            <a:endParaRPr lang="en-US" sz="2800" dirty="0"/>
          </a:p>
        </p:txBody>
      </p:sp>
      <p:sp>
        <p:nvSpPr>
          <p:cNvPr id="3" name="Shape 1"/>
          <p:cNvSpPr/>
          <p:nvPr/>
        </p:nvSpPr>
        <p:spPr>
          <a:xfrm>
            <a:off x="457200" y="868680"/>
            <a:ext cx="548640" cy="36576"/>
          </a:xfrm>
          <a:prstGeom prst="rect">
            <a:avLst/>
          </a:prstGeom>
          <a:solidFill>
            <a:srgbClr val="1E2761"/>
          </a:solidFill>
          <a:ln w="12700">
            <a:solidFill>
              <a:srgbClr val="1E2761"/>
            </a:solidFill>
            <a:prstDash val="solid"/>
          </a:ln>
        </p:spPr>
        <p:txBody>
          <a:bodyPr/>
          <a:lstStyle/>
          <a:p>
            <a:endParaRPr lang="en-US"/>
          </a:p>
        </p:txBody>
      </p:sp>
      <p:sp>
        <p:nvSpPr>
          <p:cNvPr id="4" name="Shape 2"/>
          <p:cNvSpPr/>
          <p:nvPr/>
        </p:nvSpPr>
        <p:spPr>
          <a:xfrm>
            <a:off x="457200" y="1005840"/>
            <a:ext cx="1005840" cy="292608"/>
          </a:xfrm>
          <a:prstGeom prst="rect">
            <a:avLst/>
          </a:prstGeom>
          <a:solidFill>
            <a:srgbClr val="1E2761"/>
          </a:solidFill>
          <a:ln w="12700">
            <a:solidFill>
              <a:srgbClr val="1E2761"/>
            </a:solidFill>
            <a:prstDash val="solid"/>
          </a:ln>
        </p:spPr>
        <p:txBody>
          <a:bodyPr/>
          <a:lstStyle/>
          <a:p>
            <a:endParaRPr lang="en-US"/>
          </a:p>
        </p:txBody>
      </p:sp>
      <p:sp>
        <p:nvSpPr>
          <p:cNvPr id="5" name="Text 3"/>
          <p:cNvSpPr/>
          <p:nvPr/>
        </p:nvSpPr>
        <p:spPr>
          <a:xfrm>
            <a:off x="457200" y="1005840"/>
            <a:ext cx="1005840" cy="292608"/>
          </a:xfrm>
          <a:prstGeom prst="rect">
            <a:avLst/>
          </a:prstGeom>
          <a:noFill/>
          <a:ln/>
        </p:spPr>
        <p:txBody>
          <a:bodyPr wrap="square" lIns="0" tIns="0" rIns="0" bIns="0" rtlCol="0" anchor="ctr"/>
          <a:lstStyle/>
          <a:p>
            <a:pPr marL="0" indent="0" algn="ctr">
              <a:buNone/>
            </a:pPr>
            <a:r>
              <a:rPr lang="en-US" sz="1100" b="1" kern="0" spc="200" dirty="0">
                <a:solidFill>
                  <a:srgbClr val="FFFFFF"/>
                </a:solidFill>
                <a:latin typeface="Calibri" pitchFamily="34" charset="0"/>
                <a:ea typeface="Calibri" pitchFamily="34" charset="-122"/>
                <a:cs typeface="Calibri" pitchFamily="34" charset="-120"/>
              </a:rPr>
              <a:t>TALK</a:t>
            </a:r>
            <a:endParaRPr lang="en-US" sz="1100" dirty="0"/>
          </a:p>
        </p:txBody>
      </p:sp>
      <p:sp>
        <p:nvSpPr>
          <p:cNvPr id="6" name="Text 4"/>
          <p:cNvSpPr/>
          <p:nvPr/>
        </p:nvSpPr>
        <p:spPr>
          <a:xfrm>
            <a:off x="548640" y="1435608"/>
            <a:ext cx="8046720" cy="2286000"/>
          </a:xfrm>
          <a:prstGeom prst="rect">
            <a:avLst/>
          </a:prstGeom>
          <a:solidFill>
            <a:srgbClr val="FFFFFF"/>
          </a:solidFill>
          <a:ln/>
        </p:spPr>
        <p:txBody>
          <a:bodyPr wrap="square" lIns="0" tIns="0" rIns="0" bIns="0" rtlCol="0" anchor="t"/>
          <a:lstStyle/>
          <a:p>
            <a:pPr marL="228600" indent="-2286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Pronounced "</a:t>
            </a:r>
            <a:r>
              <a:rPr lang="en-US" sz="1200" b="1" dirty="0">
                <a:solidFill>
                  <a:srgbClr val="1F2937"/>
                </a:solidFill>
                <a:latin typeface="Calibri" pitchFamily="34" charset="0"/>
                <a:ea typeface="Calibri" pitchFamily="34" charset="-122"/>
                <a:cs typeface="Calibri" pitchFamily="34" charset="-120"/>
              </a:rPr>
              <a:t>shuh-bang</a:t>
            </a:r>
            <a:r>
              <a:rPr lang="en-US" sz="1200" dirty="0">
                <a:solidFill>
                  <a:srgbClr val="1F2937"/>
                </a:solidFill>
                <a:latin typeface="Calibri" pitchFamily="34" charset="0"/>
                <a:ea typeface="Calibri" pitchFamily="34" charset="-122"/>
                <a:cs typeface="Calibri" pitchFamily="34" charset="-120"/>
              </a:rPr>
              <a:t>" (or "hash-bang"). </a:t>
            </a:r>
            <a:r>
              <a:rPr lang="en-US" sz="1200" dirty="0">
                <a:solidFill>
                  <a:srgbClr val="1E2761"/>
                </a:solidFill>
                <a:latin typeface="Consolas" pitchFamily="34" charset="0"/>
                <a:ea typeface="Consolas" pitchFamily="34" charset="-122"/>
                <a:cs typeface="Consolas" pitchFamily="34" charset="-120"/>
              </a:rPr>
              <a:t>#!</a:t>
            </a:r>
            <a:r>
              <a:rPr lang="en-US" sz="1200" dirty="0">
                <a:solidFill>
                  <a:srgbClr val="1F2937"/>
                </a:solidFill>
                <a:latin typeface="Calibri" pitchFamily="34" charset="0"/>
                <a:ea typeface="Calibri" pitchFamily="34" charset="-122"/>
                <a:cs typeface="Calibri" pitchFamily="34" charset="-120"/>
              </a:rPr>
              <a:t> must be the </a:t>
            </a:r>
            <a:r>
              <a:rPr lang="en-US" sz="1200" b="1" dirty="0">
                <a:solidFill>
                  <a:srgbClr val="1F2937"/>
                </a:solidFill>
                <a:latin typeface="Calibri" pitchFamily="34" charset="0"/>
                <a:ea typeface="Calibri" pitchFamily="34" charset="-122"/>
                <a:cs typeface="Calibri" pitchFamily="34" charset="-120"/>
              </a:rPr>
              <a:t>first two characters</a:t>
            </a:r>
            <a:r>
              <a:rPr lang="en-US" sz="1200" dirty="0">
                <a:solidFill>
                  <a:srgbClr val="1F2937"/>
                </a:solidFill>
                <a:latin typeface="Calibri" pitchFamily="34" charset="0"/>
                <a:ea typeface="Calibri" pitchFamily="34" charset="-122"/>
                <a:cs typeface="Calibri" pitchFamily="34" charset="-120"/>
              </a:rPr>
              <a:t> of line 1.</a:t>
            </a:r>
            <a:endParaRPr lang="en-US" sz="1200" dirty="0"/>
          </a:p>
          <a:p>
            <a:pPr marL="228600" indent="-2286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Tells the kernel: "hand this file to </a:t>
            </a:r>
            <a:r>
              <a:rPr lang="en-US" sz="1200" dirty="0">
                <a:solidFill>
                  <a:srgbClr val="1E2761"/>
                </a:solidFill>
                <a:latin typeface="Consolas" pitchFamily="34" charset="0"/>
                <a:ea typeface="Consolas" pitchFamily="34" charset="-122"/>
                <a:cs typeface="Consolas" pitchFamily="34" charset="-120"/>
              </a:rPr>
              <a:t>/bin/bash</a:t>
            </a:r>
            <a:r>
              <a:rPr lang="en-US" sz="1200" dirty="0">
                <a:solidFill>
                  <a:srgbClr val="1F2937"/>
                </a:solidFill>
                <a:latin typeface="Calibri" pitchFamily="34" charset="0"/>
                <a:ea typeface="Calibri" pitchFamily="34" charset="-122"/>
                <a:cs typeface="Calibri" pitchFamily="34" charset="-120"/>
              </a:rPr>
              <a:t> when someone runs it."</a:t>
            </a:r>
            <a:endParaRPr lang="en-US" sz="1200" dirty="0"/>
          </a:p>
          <a:p>
            <a:pPr marL="228600" indent="-2286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Without a shebang, the system has to </a:t>
            </a:r>
            <a:r>
              <a:rPr lang="en-US" sz="1200" b="1" dirty="0">
                <a:solidFill>
                  <a:srgbClr val="1F2937"/>
                </a:solidFill>
                <a:latin typeface="Calibri" pitchFamily="34" charset="0"/>
                <a:ea typeface="Calibri" pitchFamily="34" charset="-122"/>
                <a:cs typeface="Calibri" pitchFamily="34" charset="-120"/>
              </a:rPr>
              <a:t>guess</a:t>
            </a:r>
            <a:r>
              <a:rPr lang="en-US" sz="1200" dirty="0">
                <a:solidFill>
                  <a:srgbClr val="1F2937"/>
                </a:solidFill>
                <a:latin typeface="Calibri" pitchFamily="34" charset="0"/>
                <a:ea typeface="Calibri" pitchFamily="34" charset="-122"/>
                <a:cs typeface="Calibri" pitchFamily="34" charset="-120"/>
              </a:rPr>
              <a:t> the interpreter — and may refuse to run the script.</a:t>
            </a:r>
            <a:endParaRPr lang="en-US" sz="1200" dirty="0"/>
          </a:p>
          <a:p>
            <a:pPr marL="228600" indent="-2286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Other shebangs you'll see in the wild:</a:t>
            </a:r>
            <a:endParaRPr lang="en-US" sz="1200" dirty="0"/>
          </a:p>
          <a:p>
            <a:pPr marL="457200" lvl="1" indent="-228600">
              <a:spcAft>
                <a:spcPts val="600"/>
              </a:spcAft>
              <a:buSzPct val="100000"/>
              <a:buChar char="■"/>
            </a:pPr>
            <a:r>
              <a:rPr lang="en-US" sz="1200" dirty="0">
                <a:solidFill>
                  <a:srgbClr val="1E2761"/>
                </a:solidFill>
                <a:latin typeface="Consolas" pitchFamily="34" charset="0"/>
                <a:ea typeface="Consolas" pitchFamily="34" charset="-122"/>
                <a:cs typeface="Consolas" pitchFamily="34" charset="-120"/>
              </a:rPr>
              <a:t>#!/bin/sh</a:t>
            </a:r>
            <a:r>
              <a:rPr lang="en-US" sz="1200" dirty="0">
                <a:solidFill>
                  <a:srgbClr val="1F2937"/>
                </a:solidFill>
                <a:latin typeface="Calibri" pitchFamily="34" charset="0"/>
                <a:ea typeface="Calibri" pitchFamily="34" charset="-122"/>
                <a:cs typeface="Calibri" pitchFamily="34" charset="-120"/>
              </a:rPr>
              <a:t> — minimal POSIX shell</a:t>
            </a:r>
            <a:endParaRPr lang="en-US" sz="1200" dirty="0"/>
          </a:p>
          <a:p>
            <a:pPr marL="457200" lvl="1" indent="-228600">
              <a:spcAft>
                <a:spcPts val="600"/>
              </a:spcAft>
              <a:buSzPct val="100000"/>
              <a:buChar char="■"/>
            </a:pPr>
            <a:r>
              <a:rPr lang="en-US" sz="1200" dirty="0">
                <a:solidFill>
                  <a:srgbClr val="1E2761"/>
                </a:solidFill>
                <a:latin typeface="Consolas" pitchFamily="34" charset="0"/>
                <a:ea typeface="Consolas" pitchFamily="34" charset="-122"/>
                <a:cs typeface="Consolas" pitchFamily="34" charset="-120"/>
              </a:rPr>
              <a:t>#!/usr/bin/env python3</a:t>
            </a:r>
            <a:r>
              <a:rPr lang="en-US" sz="1200" dirty="0">
                <a:solidFill>
                  <a:srgbClr val="1F2937"/>
                </a:solidFill>
                <a:latin typeface="Calibri" pitchFamily="34" charset="0"/>
                <a:ea typeface="Calibri" pitchFamily="34" charset="-122"/>
                <a:cs typeface="Calibri" pitchFamily="34" charset="-120"/>
              </a:rPr>
              <a:t> — Python (the </a:t>
            </a:r>
            <a:r>
              <a:rPr lang="en-US" sz="1200" dirty="0">
                <a:solidFill>
                  <a:srgbClr val="1E2761"/>
                </a:solidFill>
                <a:latin typeface="Consolas" pitchFamily="34" charset="0"/>
                <a:ea typeface="Consolas" pitchFamily="34" charset="-122"/>
                <a:cs typeface="Consolas" pitchFamily="34" charset="-120"/>
              </a:rPr>
              <a:t>env</a:t>
            </a:r>
            <a:r>
              <a:rPr lang="en-US" sz="1200" dirty="0">
                <a:solidFill>
                  <a:srgbClr val="1F2937"/>
                </a:solidFill>
                <a:latin typeface="Calibri" pitchFamily="34" charset="0"/>
                <a:ea typeface="Calibri" pitchFamily="34" charset="-122"/>
                <a:cs typeface="Calibri" pitchFamily="34" charset="-120"/>
              </a:rPr>
              <a:t> trick finds python3 in PATH)</a:t>
            </a:r>
            <a:endParaRPr lang="en-US" sz="1200" dirty="0"/>
          </a:p>
          <a:p>
            <a:pPr marL="457200" lvl="1" indent="-228600">
              <a:spcAft>
                <a:spcPts val="600"/>
              </a:spcAft>
              <a:buSzPct val="100000"/>
              <a:buChar char="■"/>
            </a:pPr>
            <a:r>
              <a:rPr lang="en-US" sz="1200" dirty="0">
                <a:solidFill>
                  <a:srgbClr val="1E2761"/>
                </a:solidFill>
                <a:latin typeface="Consolas" pitchFamily="34" charset="0"/>
                <a:ea typeface="Consolas" pitchFamily="34" charset="-122"/>
                <a:cs typeface="Consolas" pitchFamily="34" charset="-120"/>
              </a:rPr>
              <a:t>#!/usr/bin/perl</a:t>
            </a:r>
            <a:r>
              <a:rPr lang="en-US" sz="1200" dirty="0">
                <a:solidFill>
                  <a:srgbClr val="1F2937"/>
                </a:solidFill>
                <a:latin typeface="Calibri" pitchFamily="34" charset="0"/>
                <a:ea typeface="Calibri" pitchFamily="34" charset="-122"/>
                <a:cs typeface="Calibri" pitchFamily="34" charset="-120"/>
              </a:rPr>
              <a:t> — Perl</a:t>
            </a:r>
            <a:endParaRPr lang="en-US" sz="1200" dirty="0"/>
          </a:p>
        </p:txBody>
      </p:sp>
      <p:sp>
        <p:nvSpPr>
          <p:cNvPr id="7" name="Shape 5"/>
          <p:cNvSpPr/>
          <p:nvPr/>
        </p:nvSpPr>
        <p:spPr>
          <a:xfrm>
            <a:off x="457200" y="3767328"/>
            <a:ext cx="1005840" cy="292608"/>
          </a:xfrm>
          <a:prstGeom prst="rect">
            <a:avLst/>
          </a:prstGeom>
          <a:solidFill>
            <a:srgbClr val="B45309"/>
          </a:solidFill>
          <a:ln w="12700">
            <a:solidFill>
              <a:srgbClr val="B45309"/>
            </a:solidFill>
            <a:prstDash val="solid"/>
          </a:ln>
        </p:spPr>
        <p:txBody>
          <a:bodyPr/>
          <a:lstStyle/>
          <a:p>
            <a:endParaRPr lang="en-US"/>
          </a:p>
        </p:txBody>
      </p:sp>
      <p:sp>
        <p:nvSpPr>
          <p:cNvPr id="8" name="Text 6"/>
          <p:cNvSpPr/>
          <p:nvPr/>
        </p:nvSpPr>
        <p:spPr>
          <a:xfrm>
            <a:off x="457200" y="3767328"/>
            <a:ext cx="1005840" cy="292608"/>
          </a:xfrm>
          <a:prstGeom prst="rect">
            <a:avLst/>
          </a:prstGeom>
          <a:noFill/>
          <a:ln/>
        </p:spPr>
        <p:txBody>
          <a:bodyPr wrap="square" lIns="0" tIns="0" rIns="0" bIns="0" rtlCol="0" anchor="ctr"/>
          <a:lstStyle/>
          <a:p>
            <a:pPr marL="0" indent="0" algn="ctr">
              <a:buNone/>
            </a:pPr>
            <a:r>
              <a:rPr lang="en-US" sz="1100" b="1" kern="0" spc="200" dirty="0">
                <a:solidFill>
                  <a:srgbClr val="FFFFFF"/>
                </a:solidFill>
                <a:latin typeface="Calibri" pitchFamily="34" charset="0"/>
                <a:ea typeface="Calibri" pitchFamily="34" charset="-122"/>
                <a:cs typeface="Calibri" pitchFamily="34" charset="-120"/>
              </a:rPr>
              <a:t>WATCH OUT</a:t>
            </a:r>
            <a:endParaRPr lang="en-US" sz="1100" dirty="0"/>
          </a:p>
        </p:txBody>
      </p:sp>
      <p:sp>
        <p:nvSpPr>
          <p:cNvPr id="9" name="Text 7"/>
          <p:cNvSpPr/>
          <p:nvPr/>
        </p:nvSpPr>
        <p:spPr>
          <a:xfrm>
            <a:off x="548640" y="4197096"/>
            <a:ext cx="8046720" cy="548640"/>
          </a:xfrm>
          <a:prstGeom prst="rect">
            <a:avLst/>
          </a:prstGeom>
          <a:solidFill>
            <a:srgbClr val="FFFFFF"/>
          </a:solidFill>
          <a:ln/>
        </p:spPr>
        <p:txBody>
          <a:bodyPr wrap="square" lIns="0" tIns="0" rIns="0" bIns="0" rtlCol="0" anchor="t"/>
          <a:lstStyle/>
          <a:p>
            <a:pPr marL="228600" indent="-228600">
              <a:spcAft>
                <a:spcPts val="600"/>
              </a:spcAft>
              <a:buSzPct val="100000"/>
              <a:buChar char="■"/>
            </a:pPr>
            <a:r>
              <a:rPr lang="en-US" sz="1200" dirty="0">
                <a:solidFill>
                  <a:srgbClr val="1E2761"/>
                </a:solidFill>
                <a:latin typeface="Consolas" pitchFamily="34" charset="0"/>
                <a:ea typeface="Consolas" pitchFamily="34" charset="-122"/>
                <a:cs typeface="Consolas" pitchFamily="34" charset="-120"/>
              </a:rPr>
              <a:t>#!</a:t>
            </a:r>
            <a:r>
              <a:rPr lang="en-US" sz="1200" dirty="0">
                <a:solidFill>
                  <a:srgbClr val="1F2937"/>
                </a:solidFill>
                <a:latin typeface="Calibri" pitchFamily="34" charset="0"/>
                <a:ea typeface="Calibri" pitchFamily="34" charset="-122"/>
                <a:cs typeface="Calibri" pitchFamily="34" charset="-120"/>
              </a:rPr>
              <a:t> is </a:t>
            </a:r>
            <a:r>
              <a:rPr lang="en-US" sz="1200" b="1" dirty="0">
                <a:solidFill>
                  <a:srgbClr val="1F2937"/>
                </a:solidFill>
                <a:latin typeface="Calibri" pitchFamily="34" charset="0"/>
                <a:ea typeface="Calibri" pitchFamily="34" charset="-122"/>
                <a:cs typeface="Calibri" pitchFamily="34" charset="-120"/>
              </a:rPr>
              <a:t>not</a:t>
            </a:r>
            <a:r>
              <a:rPr lang="en-US" sz="1200" dirty="0">
                <a:solidFill>
                  <a:srgbClr val="1F2937"/>
                </a:solidFill>
                <a:latin typeface="Calibri" pitchFamily="34" charset="0"/>
                <a:ea typeface="Calibri" pitchFamily="34" charset="-122"/>
                <a:cs typeface="Calibri" pitchFamily="34" charset="-120"/>
              </a:rPr>
              <a:t> a comment, even though </a:t>
            </a:r>
            <a:r>
              <a:rPr lang="en-US" sz="1200" dirty="0">
                <a:solidFill>
                  <a:srgbClr val="1E2761"/>
                </a:solidFill>
                <a:latin typeface="Consolas" pitchFamily="34" charset="0"/>
                <a:ea typeface="Consolas" pitchFamily="34" charset="-122"/>
                <a:cs typeface="Consolas" pitchFamily="34" charset="-120"/>
              </a:rPr>
              <a:t>#</a:t>
            </a:r>
            <a:r>
              <a:rPr lang="en-US" sz="1200" dirty="0">
                <a:solidFill>
                  <a:srgbClr val="1F2937"/>
                </a:solidFill>
                <a:latin typeface="Calibri" pitchFamily="34" charset="0"/>
                <a:ea typeface="Calibri" pitchFamily="34" charset="-122"/>
                <a:cs typeface="Calibri" pitchFamily="34" charset="-120"/>
              </a:rPr>
              <a:t> is the bash comment character. The kernel reads the first two bytes of the file specially.</a:t>
            </a:r>
            <a:endParaRPr lang="en-US" sz="12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a:effectLst/>
      </p:bgPr>
    </p:bg>
    <p:spTree>
      <p:nvGrpSpPr>
        <p:cNvPr id="1" name=""/>
        <p:cNvGrpSpPr/>
        <p:nvPr/>
      </p:nvGrpSpPr>
      <p:grpSpPr>
        <a:xfrm>
          <a:off x="0" y="0"/>
          <a:ext cx="0" cy="0"/>
          <a:chOff x="0" y="0"/>
          <a:chExt cx="0" cy="0"/>
        </a:xfrm>
      </p:grpSpPr>
      <p:pic>
        <p:nvPicPr>
          <p:cNvPr id="9" name="Picture 8" descr="access-footer.jpg"/>
          <p:cNvPicPr>
            <a:picLocks noChangeAspect="1"/>
          </p:cNvPicPr>
          <p:nvPr/>
        </p:nvPicPr>
        <p:blipFill>
          <a:blip r:embed="rId3"/>
          <a:stretch>
            <a:fillRect/>
          </a:stretch>
        </p:blipFill>
        <p:spPr>
          <a:xfrm>
            <a:off x="0" y="0"/>
            <a:ext cx="9144000" cy="5143500"/>
          </a:xfrm>
          <a:prstGeom prst="rect">
            <a:avLst/>
          </a:prstGeom>
        </p:spPr>
      </p:pic>
      <p:sp>
        <p:nvSpPr>
          <p:cNvPr id="2" name="Text 0"/>
          <p:cNvSpPr/>
          <p:nvPr/>
        </p:nvSpPr>
        <p:spPr>
          <a:xfrm>
            <a:off x="457200" y="274320"/>
            <a:ext cx="8229600" cy="594360"/>
          </a:xfrm>
          <a:prstGeom prst="rect">
            <a:avLst/>
          </a:prstGeom>
          <a:solidFill>
            <a:srgbClr val="FFFFFF"/>
          </a:solidFill>
          <a:ln/>
        </p:spPr>
        <p:txBody>
          <a:bodyPr wrap="square" lIns="0" tIns="0" rIns="0" bIns="0" rtlCol="0" anchor="ctr"/>
          <a:lstStyle/>
          <a:p>
            <a:pPr marL="0" indent="0">
              <a:buNone/>
            </a:pPr>
            <a:r>
              <a:rPr lang="en-US" sz="2800" b="1" dirty="0">
                <a:solidFill>
                  <a:srgbClr val="1E2761"/>
                </a:solidFill>
                <a:latin typeface="Cambria" pitchFamily="34" charset="0"/>
                <a:ea typeface="Cambria" pitchFamily="34" charset="-122"/>
                <a:cs typeface="Cambria" pitchFamily="34" charset="-120"/>
              </a:rPr>
              <a:t>Make it executable, then run it</a:t>
            </a:r>
            <a:endParaRPr lang="en-US" sz="2800" dirty="0"/>
          </a:p>
        </p:txBody>
      </p:sp>
      <p:sp>
        <p:nvSpPr>
          <p:cNvPr id="3" name="Shape 1"/>
          <p:cNvSpPr/>
          <p:nvPr/>
        </p:nvSpPr>
        <p:spPr>
          <a:xfrm>
            <a:off x="457200" y="868680"/>
            <a:ext cx="548640" cy="36576"/>
          </a:xfrm>
          <a:prstGeom prst="rect">
            <a:avLst/>
          </a:prstGeom>
          <a:solidFill>
            <a:srgbClr val="1E2761"/>
          </a:solidFill>
          <a:ln w="12700">
            <a:solidFill>
              <a:srgbClr val="1E2761"/>
            </a:solidFill>
            <a:prstDash val="solid"/>
          </a:ln>
        </p:spPr>
        <p:txBody>
          <a:bodyPr/>
          <a:lstStyle/>
          <a:p>
            <a:endParaRPr lang="en-US"/>
          </a:p>
        </p:txBody>
      </p:sp>
      <p:sp>
        <p:nvSpPr>
          <p:cNvPr id="4" name="Shape 2"/>
          <p:cNvSpPr/>
          <p:nvPr/>
        </p:nvSpPr>
        <p:spPr>
          <a:xfrm>
            <a:off x="457200" y="1005840"/>
            <a:ext cx="1005840" cy="292608"/>
          </a:xfrm>
          <a:prstGeom prst="rect">
            <a:avLst/>
          </a:prstGeom>
          <a:solidFill>
            <a:srgbClr val="0369A1"/>
          </a:solidFill>
          <a:ln w="12700">
            <a:solidFill>
              <a:srgbClr val="0369A1"/>
            </a:solidFill>
            <a:prstDash val="solid"/>
          </a:ln>
        </p:spPr>
        <p:txBody>
          <a:bodyPr/>
          <a:lstStyle/>
          <a:p>
            <a:endParaRPr lang="en-US"/>
          </a:p>
        </p:txBody>
      </p:sp>
      <p:sp>
        <p:nvSpPr>
          <p:cNvPr id="5" name="Text 3"/>
          <p:cNvSpPr/>
          <p:nvPr/>
        </p:nvSpPr>
        <p:spPr>
          <a:xfrm>
            <a:off x="457200" y="1005840"/>
            <a:ext cx="1005840" cy="292608"/>
          </a:xfrm>
          <a:prstGeom prst="rect">
            <a:avLst/>
          </a:prstGeom>
          <a:noFill/>
          <a:ln/>
        </p:spPr>
        <p:txBody>
          <a:bodyPr wrap="square" lIns="0" tIns="0" rIns="0" bIns="0" rtlCol="0" anchor="ctr"/>
          <a:lstStyle/>
          <a:p>
            <a:pPr marL="0" indent="0" algn="ctr">
              <a:buNone/>
            </a:pPr>
            <a:r>
              <a:rPr lang="en-US" sz="1100" b="1" kern="0" spc="200" dirty="0">
                <a:solidFill>
                  <a:srgbClr val="FFFFFF"/>
                </a:solidFill>
                <a:latin typeface="Calibri" pitchFamily="34" charset="0"/>
                <a:ea typeface="Calibri" pitchFamily="34" charset="-122"/>
                <a:cs typeface="Calibri" pitchFamily="34" charset="-120"/>
              </a:rPr>
              <a:t>DEMO</a:t>
            </a:r>
            <a:endParaRPr lang="en-US" sz="1100" dirty="0"/>
          </a:p>
        </p:txBody>
      </p:sp>
      <p:sp>
        <p:nvSpPr>
          <p:cNvPr id="6" name="Shape 4"/>
          <p:cNvSpPr/>
          <p:nvPr/>
        </p:nvSpPr>
        <p:spPr>
          <a:xfrm>
            <a:off x="548640" y="1435608"/>
            <a:ext cx="8046720" cy="2560320"/>
          </a:xfrm>
          <a:prstGeom prst="rect">
            <a:avLst/>
          </a:prstGeom>
          <a:solidFill>
            <a:srgbClr val="0F172A"/>
          </a:solidFill>
          <a:ln w="12700">
            <a:solidFill>
              <a:srgbClr val="0F172A"/>
            </a:solidFill>
            <a:prstDash val="solid"/>
          </a:ln>
        </p:spPr>
        <p:txBody>
          <a:bodyPr/>
          <a:lstStyle/>
          <a:p>
            <a:endParaRPr lang="en-US"/>
          </a:p>
        </p:txBody>
      </p:sp>
      <p:sp>
        <p:nvSpPr>
          <p:cNvPr id="7" name="Text 5"/>
          <p:cNvSpPr/>
          <p:nvPr/>
        </p:nvSpPr>
        <p:spPr>
          <a:xfrm>
            <a:off x="685800" y="1508760"/>
            <a:ext cx="7772400" cy="2414016"/>
          </a:xfrm>
          <a:prstGeom prst="rect">
            <a:avLst/>
          </a:prstGeom>
          <a:noFill/>
          <a:ln/>
        </p:spPr>
        <p:txBody>
          <a:bodyPr wrap="square" lIns="0" tIns="0" rIns="0" bIns="0" rtlCol="0" anchor="t"/>
          <a:lstStyle/>
          <a:p>
            <a:pPr marL="0" indent="0">
              <a:buNone/>
            </a:pPr>
            <a:r>
              <a:rPr lang="en-US" sz="1200" dirty="0">
                <a:solidFill>
                  <a:srgbClr val="E2E8F0"/>
                </a:solidFill>
                <a:latin typeface="Consolas" pitchFamily="34" charset="0"/>
                <a:ea typeface="Consolas" pitchFamily="34" charset="-122"/>
                <a:cs typeface="Consolas" pitchFamily="34" charset="-120"/>
              </a:rPr>
              <a:t>$ ./hello.sh</a:t>
            </a:r>
            <a:endParaRPr lang="en-US" sz="1200" dirty="0"/>
          </a:p>
          <a:p>
            <a:pPr marL="0" indent="0">
              <a:buNone/>
            </a:pPr>
            <a:r>
              <a:rPr lang="en-US" sz="1200" dirty="0">
                <a:solidFill>
                  <a:srgbClr val="E2E8F0"/>
                </a:solidFill>
                <a:latin typeface="Consolas" pitchFamily="34" charset="0"/>
                <a:ea typeface="Consolas" pitchFamily="34" charset="-122"/>
                <a:cs typeface="Consolas" pitchFamily="34" charset="-120"/>
              </a:rPr>
              <a:t>bash: ./hello.sh: Permission denied</a:t>
            </a:r>
            <a:endParaRPr lang="en-US" sz="1200" dirty="0"/>
          </a:p>
          <a:p>
            <a:pPr marL="0" indent="0">
              <a:buNone/>
            </a:pPr>
            <a:r>
              <a:rPr lang="en-US" sz="1200" dirty="0">
                <a:solidFill>
                  <a:srgbClr val="E2E8F0"/>
                </a:solidFill>
                <a:latin typeface="Consolas" pitchFamily="34" charset="0"/>
                <a:ea typeface="Consolas" pitchFamily="34" charset="-122"/>
                <a:cs typeface="Consolas" pitchFamily="34" charset="-120"/>
              </a:rPr>
              <a:t> </a:t>
            </a:r>
            <a:endParaRPr lang="en-US" sz="1200" dirty="0"/>
          </a:p>
          <a:p>
            <a:pPr marL="0" indent="0">
              <a:buNone/>
            </a:pPr>
            <a:r>
              <a:rPr lang="en-US" sz="1200" dirty="0">
                <a:solidFill>
                  <a:srgbClr val="E2E8F0"/>
                </a:solidFill>
                <a:latin typeface="Consolas" pitchFamily="34" charset="0"/>
                <a:ea typeface="Consolas" pitchFamily="34" charset="-122"/>
                <a:cs typeface="Consolas" pitchFamily="34" charset="-120"/>
              </a:rPr>
              <a:t>$ ls -l hello.sh</a:t>
            </a:r>
            <a:endParaRPr lang="en-US" sz="1200" dirty="0"/>
          </a:p>
          <a:p>
            <a:pPr marL="0" indent="0">
              <a:buNone/>
            </a:pPr>
            <a:r>
              <a:rPr lang="en-US" sz="1200" dirty="0">
                <a:solidFill>
                  <a:srgbClr val="E2E8F0"/>
                </a:solidFill>
                <a:latin typeface="Consolas" pitchFamily="34" charset="0"/>
                <a:ea typeface="Consolas" pitchFamily="34" charset="-122"/>
                <a:cs typeface="Consolas" pitchFamily="34" charset="-120"/>
              </a:rPr>
              <a:t>-rw-r--r-- 1 exouser exouser 32 ... hello.sh     ← no x</a:t>
            </a:r>
            <a:endParaRPr lang="en-US" sz="1200" dirty="0"/>
          </a:p>
          <a:p>
            <a:pPr marL="0" indent="0">
              <a:buNone/>
            </a:pPr>
            <a:r>
              <a:rPr lang="en-US" sz="1200" dirty="0">
                <a:solidFill>
                  <a:srgbClr val="E2E8F0"/>
                </a:solidFill>
                <a:latin typeface="Consolas" pitchFamily="34" charset="0"/>
                <a:ea typeface="Consolas" pitchFamily="34" charset="-122"/>
                <a:cs typeface="Consolas" pitchFamily="34" charset="-120"/>
              </a:rPr>
              <a:t> </a:t>
            </a:r>
            <a:endParaRPr lang="en-US" sz="1200" dirty="0"/>
          </a:p>
          <a:p>
            <a:pPr marL="0" indent="0">
              <a:buNone/>
            </a:pPr>
            <a:r>
              <a:rPr lang="en-US" sz="1200" dirty="0">
                <a:solidFill>
                  <a:srgbClr val="E2E8F0"/>
                </a:solidFill>
                <a:latin typeface="Consolas" pitchFamily="34" charset="0"/>
                <a:ea typeface="Consolas" pitchFamily="34" charset="-122"/>
                <a:cs typeface="Consolas" pitchFamily="34" charset="-120"/>
              </a:rPr>
              <a:t>$ chmod +x hello.sh</a:t>
            </a:r>
            <a:endParaRPr lang="en-US" sz="1200" dirty="0"/>
          </a:p>
          <a:p>
            <a:pPr marL="0" indent="0">
              <a:buNone/>
            </a:pPr>
            <a:r>
              <a:rPr lang="en-US" sz="1200" dirty="0">
                <a:solidFill>
                  <a:srgbClr val="E2E8F0"/>
                </a:solidFill>
                <a:latin typeface="Consolas" pitchFamily="34" charset="0"/>
                <a:ea typeface="Consolas" pitchFamily="34" charset="-122"/>
                <a:cs typeface="Consolas" pitchFamily="34" charset="-120"/>
              </a:rPr>
              <a:t>$ ls -l hello.sh</a:t>
            </a:r>
            <a:endParaRPr lang="en-US" sz="1200" dirty="0"/>
          </a:p>
          <a:p>
            <a:pPr marL="0" indent="0">
              <a:buNone/>
            </a:pPr>
            <a:r>
              <a:rPr lang="en-US" sz="1200" dirty="0">
                <a:solidFill>
                  <a:srgbClr val="E2E8F0"/>
                </a:solidFill>
                <a:latin typeface="Consolas" pitchFamily="34" charset="0"/>
                <a:ea typeface="Consolas" pitchFamily="34" charset="-122"/>
                <a:cs typeface="Consolas" pitchFamily="34" charset="-120"/>
              </a:rPr>
              <a:t>-rwxr-xr-x 1 exouser exouser 32 ... hello.sh     ← x added</a:t>
            </a:r>
            <a:endParaRPr lang="en-US" sz="1200" dirty="0"/>
          </a:p>
          <a:p>
            <a:pPr marL="0" indent="0">
              <a:buNone/>
            </a:pPr>
            <a:r>
              <a:rPr lang="en-US" sz="1200" dirty="0">
                <a:solidFill>
                  <a:srgbClr val="E2E8F0"/>
                </a:solidFill>
                <a:latin typeface="Consolas" pitchFamily="34" charset="0"/>
                <a:ea typeface="Consolas" pitchFamily="34" charset="-122"/>
                <a:cs typeface="Consolas" pitchFamily="34" charset="-120"/>
              </a:rPr>
              <a:t> </a:t>
            </a:r>
            <a:endParaRPr lang="en-US" sz="1200" dirty="0"/>
          </a:p>
          <a:p>
            <a:pPr marL="0" indent="0">
              <a:buNone/>
            </a:pPr>
            <a:r>
              <a:rPr lang="en-US" sz="1200" dirty="0">
                <a:solidFill>
                  <a:srgbClr val="E2E8F0"/>
                </a:solidFill>
                <a:latin typeface="Consolas" pitchFamily="34" charset="0"/>
                <a:ea typeface="Consolas" pitchFamily="34" charset="-122"/>
                <a:cs typeface="Consolas" pitchFamily="34" charset="-120"/>
              </a:rPr>
              <a:t>$ ./hello.sh</a:t>
            </a:r>
            <a:endParaRPr lang="en-US" sz="1200" dirty="0"/>
          </a:p>
          <a:p>
            <a:pPr marL="0" indent="0">
              <a:buNone/>
            </a:pPr>
            <a:r>
              <a:rPr lang="en-US" sz="1200" dirty="0">
                <a:solidFill>
                  <a:srgbClr val="E2E8F0"/>
                </a:solidFill>
                <a:latin typeface="Consolas" pitchFamily="34" charset="0"/>
                <a:ea typeface="Consolas" pitchFamily="34" charset="-122"/>
                <a:cs typeface="Consolas" pitchFamily="34" charset="-120"/>
              </a:rPr>
              <a:t>Hello, World!</a:t>
            </a:r>
            <a:endParaRPr lang="en-US" sz="1200" dirty="0"/>
          </a:p>
        </p:txBody>
      </p:sp>
      <p:sp>
        <p:nvSpPr>
          <p:cNvPr id="8" name="Text 6"/>
          <p:cNvSpPr/>
          <p:nvPr/>
        </p:nvSpPr>
        <p:spPr>
          <a:xfrm>
            <a:off x="548640" y="4041648"/>
            <a:ext cx="8046720" cy="838200"/>
          </a:xfrm>
          <a:prstGeom prst="rect">
            <a:avLst/>
          </a:prstGeom>
          <a:solidFill>
            <a:srgbClr val="FFFFFF"/>
          </a:solidFill>
          <a:ln/>
        </p:spPr>
        <p:txBody>
          <a:bodyPr wrap="square" lIns="0" tIns="0" rIns="0" bIns="0" rtlCol="0" anchor="t"/>
          <a:lstStyle/>
          <a:p>
            <a:pPr marL="228600" indent="-228600">
              <a:spcAft>
                <a:spcPts val="600"/>
              </a:spcAft>
              <a:buSzPct val="100000"/>
              <a:buChar char="■"/>
            </a:pPr>
            <a:r>
              <a:rPr lang="en-US" sz="1200" dirty="0">
                <a:solidFill>
                  <a:srgbClr val="1E2761"/>
                </a:solidFill>
                <a:latin typeface="Consolas" pitchFamily="34" charset="0"/>
                <a:ea typeface="Consolas" pitchFamily="34" charset="-122"/>
                <a:cs typeface="Consolas" pitchFamily="34" charset="-120"/>
              </a:rPr>
              <a:t>chmod +x</a:t>
            </a:r>
            <a:r>
              <a:rPr lang="en-US" sz="1200" dirty="0">
                <a:solidFill>
                  <a:srgbClr val="1F2937"/>
                </a:solidFill>
                <a:latin typeface="Calibri" pitchFamily="34" charset="0"/>
                <a:ea typeface="Calibri" pitchFamily="34" charset="-122"/>
                <a:cs typeface="Calibri" pitchFamily="34" charset="-120"/>
              </a:rPr>
              <a:t> adds the </a:t>
            </a:r>
            <a:r>
              <a:rPr lang="en-US" sz="1200" b="1" dirty="0">
                <a:solidFill>
                  <a:srgbClr val="1F2937"/>
                </a:solidFill>
                <a:latin typeface="Calibri" pitchFamily="34" charset="0"/>
                <a:ea typeface="Calibri" pitchFamily="34" charset="-122"/>
                <a:cs typeface="Calibri" pitchFamily="34" charset="-120"/>
              </a:rPr>
              <a:t>execute</a:t>
            </a:r>
            <a:r>
              <a:rPr lang="en-US" sz="1200" dirty="0">
                <a:solidFill>
                  <a:srgbClr val="1F2937"/>
                </a:solidFill>
                <a:latin typeface="Calibri" pitchFamily="34" charset="0"/>
                <a:ea typeface="Calibri" pitchFamily="34" charset="-122"/>
                <a:cs typeface="Calibri" pitchFamily="34" charset="-120"/>
              </a:rPr>
              <a:t> bit. (Block 8 goes deeper into permissions.)</a:t>
            </a:r>
            <a:endParaRPr lang="en-US" sz="1200" dirty="0"/>
          </a:p>
          <a:p>
            <a:pPr marL="228600" indent="-2286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Why </a:t>
            </a:r>
            <a:r>
              <a:rPr lang="en-US" sz="1200" dirty="0">
                <a:solidFill>
                  <a:srgbClr val="1E2761"/>
                </a:solidFill>
                <a:latin typeface="Consolas" pitchFamily="34" charset="0"/>
                <a:ea typeface="Consolas" pitchFamily="34" charset="-122"/>
                <a:cs typeface="Consolas" pitchFamily="34" charset="-120"/>
              </a:rPr>
              <a:t>./hello.sh</a:t>
            </a:r>
            <a:r>
              <a:rPr lang="en-US" sz="1200" dirty="0">
                <a:solidFill>
                  <a:srgbClr val="1F2937"/>
                </a:solidFill>
                <a:latin typeface="Calibri" pitchFamily="34" charset="0"/>
                <a:ea typeface="Calibri" pitchFamily="34" charset="-122"/>
                <a:cs typeface="Calibri" pitchFamily="34" charset="-120"/>
              </a:rPr>
              <a:t>? The current directory </a:t>
            </a:r>
            <a:r>
              <a:rPr lang="en-US" sz="1200" dirty="0">
                <a:solidFill>
                  <a:srgbClr val="1E2761"/>
                </a:solidFill>
                <a:latin typeface="Consolas" pitchFamily="34" charset="0"/>
                <a:ea typeface="Consolas" pitchFamily="34" charset="-122"/>
                <a:cs typeface="Consolas" pitchFamily="34" charset="-120"/>
              </a:rPr>
              <a:t>.</a:t>
            </a:r>
            <a:r>
              <a:rPr lang="en-US" sz="1200" dirty="0">
                <a:solidFill>
                  <a:srgbClr val="1F2937"/>
                </a:solidFill>
                <a:latin typeface="Calibri" pitchFamily="34" charset="0"/>
                <a:ea typeface="Calibri" pitchFamily="34" charset="-122"/>
                <a:cs typeface="Calibri" pitchFamily="34" charset="-120"/>
              </a:rPr>
              <a:t> is </a:t>
            </a:r>
            <a:r>
              <a:rPr lang="en-US" sz="1200" b="1" dirty="0">
                <a:solidFill>
                  <a:srgbClr val="1F2937"/>
                </a:solidFill>
                <a:latin typeface="Calibri" pitchFamily="34" charset="0"/>
                <a:ea typeface="Calibri" pitchFamily="34" charset="-122"/>
                <a:cs typeface="Calibri" pitchFamily="34" charset="-120"/>
              </a:rPr>
              <a:t>not</a:t>
            </a:r>
            <a:r>
              <a:rPr lang="en-US" sz="1200" dirty="0">
                <a:solidFill>
                  <a:srgbClr val="1F2937"/>
                </a:solidFill>
                <a:latin typeface="Calibri" pitchFamily="34" charset="0"/>
                <a:ea typeface="Calibri" pitchFamily="34" charset="-122"/>
                <a:cs typeface="Calibri" pitchFamily="34" charset="-120"/>
              </a:rPr>
              <a:t> in your </a:t>
            </a:r>
            <a:r>
              <a:rPr lang="en-US" sz="1200" dirty="0">
                <a:solidFill>
                  <a:srgbClr val="1E2761"/>
                </a:solidFill>
                <a:latin typeface="Consolas" pitchFamily="34" charset="0"/>
                <a:ea typeface="Consolas" pitchFamily="34" charset="-122"/>
                <a:cs typeface="Consolas" pitchFamily="34" charset="-120"/>
              </a:rPr>
              <a:t>PATH</a:t>
            </a:r>
            <a:r>
              <a:rPr lang="en-US" sz="1200" dirty="0">
                <a:solidFill>
                  <a:srgbClr val="1F2937"/>
                </a:solidFill>
                <a:latin typeface="Calibri" pitchFamily="34" charset="0"/>
                <a:ea typeface="Calibri" pitchFamily="34" charset="-122"/>
                <a:cs typeface="Calibri" pitchFamily="34" charset="-120"/>
              </a:rPr>
              <a:t> — for security. </a:t>
            </a:r>
            <a:r>
              <a:rPr lang="en-US" sz="1200" dirty="0">
                <a:solidFill>
                  <a:srgbClr val="1E2761"/>
                </a:solidFill>
                <a:latin typeface="Consolas" pitchFamily="34" charset="0"/>
                <a:ea typeface="Consolas" pitchFamily="34" charset="-122"/>
                <a:cs typeface="Consolas" pitchFamily="34" charset="-120"/>
              </a:rPr>
              <a:t>./</a:t>
            </a:r>
            <a:r>
              <a:rPr lang="en-US" sz="1200" dirty="0">
                <a:solidFill>
                  <a:srgbClr val="1F2937"/>
                </a:solidFill>
                <a:latin typeface="Calibri" pitchFamily="34" charset="0"/>
                <a:ea typeface="Calibri" pitchFamily="34" charset="-122"/>
                <a:cs typeface="Calibri" pitchFamily="34" charset="-120"/>
              </a:rPr>
              <a:t> means "the file right here." (</a:t>
            </a:r>
            <a:r>
              <a:rPr lang="en-US" sz="1200" dirty="0">
                <a:solidFill>
                  <a:srgbClr val="1E2761"/>
                </a:solidFill>
                <a:latin typeface="Consolas" pitchFamily="34" charset="0"/>
                <a:ea typeface="Consolas" pitchFamily="34" charset="-122"/>
                <a:cs typeface="Consolas" pitchFamily="34" charset="-120"/>
              </a:rPr>
              <a:t>PATH</a:t>
            </a:r>
            <a:r>
              <a:rPr lang="en-US" sz="1200" dirty="0">
                <a:solidFill>
                  <a:srgbClr val="1F2937"/>
                </a:solidFill>
                <a:latin typeface="Calibri" pitchFamily="34" charset="0"/>
                <a:ea typeface="Calibri" pitchFamily="34" charset="-122"/>
                <a:cs typeface="Calibri" pitchFamily="34" charset="-120"/>
              </a:rPr>
              <a:t> is Block 10.)</a:t>
            </a:r>
            <a:endParaRPr lang="en-US" sz="12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a:effectLst/>
      </p:bgPr>
    </p:bg>
    <p:spTree>
      <p:nvGrpSpPr>
        <p:cNvPr id="1" name=""/>
        <p:cNvGrpSpPr/>
        <p:nvPr/>
      </p:nvGrpSpPr>
      <p:grpSpPr>
        <a:xfrm>
          <a:off x="0" y="0"/>
          <a:ext cx="0" cy="0"/>
          <a:chOff x="0" y="0"/>
          <a:chExt cx="0" cy="0"/>
        </a:xfrm>
      </p:grpSpPr>
      <p:pic>
        <p:nvPicPr>
          <p:cNvPr id="10" name="Picture 9" descr="access-footer.jpg"/>
          <p:cNvPicPr>
            <a:picLocks noChangeAspect="1"/>
          </p:cNvPicPr>
          <p:nvPr/>
        </p:nvPicPr>
        <p:blipFill>
          <a:blip r:embed="rId3"/>
          <a:stretch>
            <a:fillRect/>
          </a:stretch>
        </p:blipFill>
        <p:spPr>
          <a:xfrm>
            <a:off x="0" y="0"/>
            <a:ext cx="9144000" cy="5143500"/>
          </a:xfrm>
          <a:prstGeom prst="rect">
            <a:avLst/>
          </a:prstGeom>
        </p:spPr>
      </p:pic>
      <p:sp>
        <p:nvSpPr>
          <p:cNvPr id="2" name="Text 0"/>
          <p:cNvSpPr/>
          <p:nvPr/>
        </p:nvSpPr>
        <p:spPr>
          <a:xfrm>
            <a:off x="457200" y="274320"/>
            <a:ext cx="8229600" cy="594360"/>
          </a:xfrm>
          <a:prstGeom prst="rect">
            <a:avLst/>
          </a:prstGeom>
          <a:solidFill>
            <a:srgbClr val="FFFFFF"/>
          </a:solidFill>
          <a:ln/>
        </p:spPr>
        <p:txBody>
          <a:bodyPr wrap="square" lIns="0" tIns="0" rIns="0" bIns="0" rtlCol="0" anchor="ctr"/>
          <a:lstStyle/>
          <a:p>
            <a:pPr marL="0" indent="0">
              <a:buNone/>
            </a:pPr>
            <a:r>
              <a:rPr lang="en-US" sz="2800" b="1" dirty="0">
                <a:solidFill>
                  <a:srgbClr val="1E2761"/>
                </a:solidFill>
                <a:latin typeface="Cambria" pitchFamily="34" charset="0"/>
                <a:ea typeface="Cambria" pitchFamily="34" charset="-122"/>
                <a:cs typeface="Cambria" pitchFamily="34" charset="-120"/>
              </a:rPr>
              <a:t>Exercise: your own script</a:t>
            </a:r>
            <a:endParaRPr lang="en-US" sz="2800" dirty="0"/>
          </a:p>
        </p:txBody>
      </p:sp>
      <p:sp>
        <p:nvSpPr>
          <p:cNvPr id="3" name="Shape 1"/>
          <p:cNvSpPr/>
          <p:nvPr/>
        </p:nvSpPr>
        <p:spPr>
          <a:xfrm>
            <a:off x="457200" y="868680"/>
            <a:ext cx="548640" cy="36576"/>
          </a:xfrm>
          <a:prstGeom prst="rect">
            <a:avLst/>
          </a:prstGeom>
          <a:solidFill>
            <a:srgbClr val="1E2761"/>
          </a:solidFill>
          <a:ln w="12700">
            <a:solidFill>
              <a:srgbClr val="1E2761"/>
            </a:solidFill>
            <a:prstDash val="solid"/>
          </a:ln>
        </p:spPr>
        <p:txBody>
          <a:bodyPr/>
          <a:lstStyle/>
          <a:p>
            <a:endParaRPr lang="en-US"/>
          </a:p>
        </p:txBody>
      </p:sp>
      <p:sp>
        <p:nvSpPr>
          <p:cNvPr id="4" name="Shape 2"/>
          <p:cNvSpPr/>
          <p:nvPr/>
        </p:nvSpPr>
        <p:spPr>
          <a:xfrm>
            <a:off x="457200" y="1005840"/>
            <a:ext cx="1005840" cy="292608"/>
          </a:xfrm>
          <a:prstGeom prst="rect">
            <a:avLst/>
          </a:prstGeom>
          <a:solidFill>
            <a:srgbClr val="047857"/>
          </a:solidFill>
          <a:ln w="12700">
            <a:solidFill>
              <a:srgbClr val="047857"/>
            </a:solidFill>
            <a:prstDash val="solid"/>
          </a:ln>
        </p:spPr>
        <p:txBody>
          <a:bodyPr/>
          <a:lstStyle/>
          <a:p>
            <a:endParaRPr lang="en-US"/>
          </a:p>
        </p:txBody>
      </p:sp>
      <p:sp>
        <p:nvSpPr>
          <p:cNvPr id="5" name="Text 3"/>
          <p:cNvSpPr/>
          <p:nvPr/>
        </p:nvSpPr>
        <p:spPr>
          <a:xfrm>
            <a:off x="457200" y="1005840"/>
            <a:ext cx="1005840" cy="292608"/>
          </a:xfrm>
          <a:prstGeom prst="rect">
            <a:avLst/>
          </a:prstGeom>
          <a:noFill/>
          <a:ln/>
        </p:spPr>
        <p:txBody>
          <a:bodyPr wrap="square" lIns="0" tIns="0" rIns="0" bIns="0" rtlCol="0" anchor="ctr"/>
          <a:lstStyle/>
          <a:p>
            <a:pPr marL="0" indent="0" algn="ctr">
              <a:buNone/>
            </a:pPr>
            <a:r>
              <a:rPr lang="en-US" sz="1100" b="1" kern="0" spc="200" dirty="0">
                <a:solidFill>
                  <a:srgbClr val="FFFFFF"/>
                </a:solidFill>
                <a:latin typeface="Calibri" pitchFamily="34" charset="0"/>
                <a:ea typeface="Calibri" pitchFamily="34" charset="-122"/>
                <a:cs typeface="Calibri" pitchFamily="34" charset="-120"/>
              </a:rPr>
              <a:t>EXERCISE</a:t>
            </a:r>
            <a:endParaRPr lang="en-US" sz="1100" dirty="0"/>
          </a:p>
        </p:txBody>
      </p:sp>
      <p:sp>
        <p:nvSpPr>
          <p:cNvPr id="6" name="Text 4"/>
          <p:cNvSpPr/>
          <p:nvPr/>
        </p:nvSpPr>
        <p:spPr>
          <a:xfrm>
            <a:off x="548640" y="1435608"/>
            <a:ext cx="8046720" cy="353060"/>
          </a:xfrm>
          <a:prstGeom prst="rect">
            <a:avLst/>
          </a:prstGeom>
          <a:solidFill>
            <a:srgbClr val="FFFFFF"/>
          </a:solidFill>
          <a:ln/>
        </p:spPr>
        <p:txBody>
          <a:bodyPr wrap="square" lIns="0" tIns="0" rIns="0" bIns="0" rtlCol="0" anchor="t"/>
          <a:lstStyle/>
          <a:p>
            <a:pPr marL="228600" indent="-228600">
              <a:spcAft>
                <a:spcPts val="600"/>
              </a:spcAft>
              <a:buSzPct val="100000"/>
              <a:buChar char="■"/>
            </a:pPr>
            <a:r>
              <a:rPr lang="en-US" sz="1300" dirty="0">
                <a:solidFill>
                  <a:srgbClr val="1F2937"/>
                </a:solidFill>
                <a:latin typeface="Calibri" pitchFamily="34" charset="0"/>
                <a:ea typeface="Calibri" pitchFamily="34" charset="-122"/>
                <a:cs typeface="Calibri" pitchFamily="34" charset="-120"/>
              </a:rPr>
              <a:t>In </a:t>
            </a:r>
            <a:r>
              <a:rPr lang="en-US" sz="1300" dirty="0">
                <a:solidFill>
                  <a:srgbClr val="1E2761"/>
                </a:solidFill>
                <a:latin typeface="Consolas" pitchFamily="34" charset="0"/>
                <a:ea typeface="Consolas" pitchFamily="34" charset="-122"/>
                <a:cs typeface="Consolas" pitchFamily="34" charset="-120"/>
              </a:rPr>
              <a:t>~/workshop</a:t>
            </a:r>
            <a:r>
              <a:rPr lang="en-US" sz="1300" dirty="0">
                <a:solidFill>
                  <a:srgbClr val="1F2937"/>
                </a:solidFill>
                <a:latin typeface="Calibri" pitchFamily="34" charset="0"/>
                <a:ea typeface="Calibri" pitchFamily="34" charset="-122"/>
                <a:cs typeface="Calibri" pitchFamily="34" charset="-120"/>
              </a:rPr>
              <a:t>, use </a:t>
            </a:r>
            <a:r>
              <a:rPr lang="en-US" sz="1300" dirty="0">
                <a:solidFill>
                  <a:srgbClr val="1E2761"/>
                </a:solidFill>
                <a:latin typeface="Consolas" pitchFamily="34" charset="0"/>
                <a:ea typeface="Consolas" pitchFamily="34" charset="-122"/>
                <a:cs typeface="Consolas" pitchFamily="34" charset="-120"/>
              </a:rPr>
              <a:t>nano</a:t>
            </a:r>
            <a:r>
              <a:rPr lang="en-US" sz="1300" dirty="0">
                <a:solidFill>
                  <a:srgbClr val="1F2937"/>
                </a:solidFill>
                <a:latin typeface="Calibri" pitchFamily="34" charset="0"/>
                <a:ea typeface="Calibri" pitchFamily="34" charset="-122"/>
                <a:cs typeface="Calibri" pitchFamily="34" charset="-120"/>
              </a:rPr>
              <a:t> to create </a:t>
            </a:r>
            <a:r>
              <a:rPr lang="en-US" sz="1300" dirty="0">
                <a:solidFill>
                  <a:srgbClr val="1E2761"/>
                </a:solidFill>
                <a:latin typeface="Consolas" pitchFamily="34" charset="0"/>
                <a:ea typeface="Consolas" pitchFamily="34" charset="-122"/>
                <a:cs typeface="Consolas" pitchFamily="34" charset="-120"/>
              </a:rPr>
              <a:t>greet.sh</a:t>
            </a:r>
            <a:r>
              <a:rPr lang="en-US" sz="1300" dirty="0">
                <a:solidFill>
                  <a:srgbClr val="1F2937"/>
                </a:solidFill>
                <a:latin typeface="Calibri" pitchFamily="34" charset="0"/>
                <a:ea typeface="Calibri" pitchFamily="34" charset="-122"/>
                <a:cs typeface="Calibri" pitchFamily="34" charset="-120"/>
              </a:rPr>
              <a:t> with this content:</a:t>
            </a:r>
            <a:endParaRPr lang="en-US" sz="1300" dirty="0"/>
          </a:p>
        </p:txBody>
      </p:sp>
      <p:sp>
        <p:nvSpPr>
          <p:cNvPr id="7" name="Shape 5"/>
          <p:cNvSpPr/>
          <p:nvPr/>
        </p:nvSpPr>
        <p:spPr>
          <a:xfrm>
            <a:off x="548640" y="1834388"/>
            <a:ext cx="8046720" cy="612140"/>
          </a:xfrm>
          <a:prstGeom prst="rect">
            <a:avLst/>
          </a:prstGeom>
          <a:solidFill>
            <a:srgbClr val="0F172A"/>
          </a:solidFill>
          <a:ln w="12700">
            <a:solidFill>
              <a:srgbClr val="0F172A"/>
            </a:solidFill>
            <a:prstDash val="solid"/>
          </a:ln>
        </p:spPr>
        <p:txBody>
          <a:bodyPr/>
          <a:lstStyle/>
          <a:p>
            <a:endParaRPr lang="en-US"/>
          </a:p>
        </p:txBody>
      </p:sp>
      <p:sp>
        <p:nvSpPr>
          <p:cNvPr id="8" name="Text 6"/>
          <p:cNvSpPr/>
          <p:nvPr/>
        </p:nvSpPr>
        <p:spPr>
          <a:xfrm>
            <a:off x="685800" y="1907540"/>
            <a:ext cx="7772400" cy="465836"/>
          </a:xfrm>
          <a:prstGeom prst="rect">
            <a:avLst/>
          </a:prstGeom>
          <a:noFill/>
          <a:ln/>
        </p:spPr>
        <p:txBody>
          <a:bodyPr wrap="square" lIns="0" tIns="0" rIns="0" bIns="0" rtlCol="0" anchor="t"/>
          <a:lstStyle/>
          <a:p>
            <a:pPr marL="0" indent="0">
              <a:buNone/>
            </a:pPr>
            <a:r>
              <a:rPr lang="en-US" sz="1300" dirty="0">
                <a:solidFill>
                  <a:srgbClr val="E2E8F0"/>
                </a:solidFill>
                <a:latin typeface="Consolas" pitchFamily="34" charset="0"/>
                <a:ea typeface="Consolas" pitchFamily="34" charset="-122"/>
                <a:cs typeface="Consolas" pitchFamily="34" charset="-120"/>
              </a:rPr>
              <a:t>#!/bin/bash</a:t>
            </a:r>
            <a:endParaRPr lang="en-US" sz="1300" dirty="0"/>
          </a:p>
          <a:p>
            <a:pPr marL="0" indent="0">
              <a:buNone/>
            </a:pPr>
            <a:r>
              <a:rPr lang="en-US" sz="1300" dirty="0">
                <a:solidFill>
                  <a:srgbClr val="E2E8F0"/>
                </a:solidFill>
                <a:latin typeface="Consolas" pitchFamily="34" charset="0"/>
                <a:ea typeface="Consolas" pitchFamily="34" charset="-122"/>
                <a:cs typeface="Consolas" pitchFamily="34" charset="-120"/>
              </a:rPr>
              <a:t>echo "Hello from $USER on $(hostname) — today is $(date)"</a:t>
            </a:r>
            <a:endParaRPr lang="en-US" sz="1300" dirty="0"/>
          </a:p>
        </p:txBody>
      </p:sp>
      <p:sp>
        <p:nvSpPr>
          <p:cNvPr id="9" name="Text 7"/>
          <p:cNvSpPr/>
          <p:nvPr/>
        </p:nvSpPr>
        <p:spPr>
          <a:xfrm>
            <a:off x="548640" y="2492248"/>
            <a:ext cx="8046720" cy="1275080"/>
          </a:xfrm>
          <a:prstGeom prst="rect">
            <a:avLst/>
          </a:prstGeom>
          <a:solidFill>
            <a:srgbClr val="FFFFFF"/>
          </a:solidFill>
          <a:ln/>
        </p:spPr>
        <p:txBody>
          <a:bodyPr wrap="square" lIns="0" tIns="0" rIns="0" bIns="0" rtlCol="0" anchor="t"/>
          <a:lstStyle/>
          <a:p>
            <a:pPr marL="279400" indent="-279400">
              <a:spcAft>
                <a:spcPts val="600"/>
              </a:spcAft>
              <a:buSzPct val="100000"/>
              <a:buFont typeface="+mj-lt"/>
              <a:buAutoNum type="arabicPeriod"/>
            </a:pPr>
            <a:r>
              <a:rPr lang="en-US" sz="1300" dirty="0">
                <a:solidFill>
                  <a:srgbClr val="1F2937"/>
                </a:solidFill>
                <a:latin typeface="Calibri" pitchFamily="34" charset="0"/>
                <a:ea typeface="Calibri" pitchFamily="34" charset="-122"/>
                <a:cs typeface="Calibri" pitchFamily="34" charset="-120"/>
              </a:rPr>
              <a:t>Try to run it: </a:t>
            </a:r>
            <a:r>
              <a:rPr lang="en-US" sz="1300" dirty="0">
                <a:solidFill>
                  <a:srgbClr val="1E2761"/>
                </a:solidFill>
                <a:latin typeface="Consolas" pitchFamily="34" charset="0"/>
                <a:ea typeface="Consolas" pitchFamily="34" charset="-122"/>
                <a:cs typeface="Consolas" pitchFamily="34" charset="-120"/>
              </a:rPr>
              <a:t>./greet.sh</a:t>
            </a:r>
            <a:r>
              <a:rPr lang="en-US" sz="1300" dirty="0">
                <a:solidFill>
                  <a:srgbClr val="1F2937"/>
                </a:solidFill>
                <a:latin typeface="Calibri" pitchFamily="34" charset="0"/>
                <a:ea typeface="Calibri" pitchFamily="34" charset="-122"/>
                <a:cs typeface="Calibri" pitchFamily="34" charset="-120"/>
              </a:rPr>
              <a:t>  →  should fail with "Permission denied."</a:t>
            </a:r>
            <a:endParaRPr lang="en-US" sz="1300" dirty="0"/>
          </a:p>
          <a:p>
            <a:pPr marL="279400" indent="-279400">
              <a:spcAft>
                <a:spcPts val="600"/>
              </a:spcAft>
              <a:buSzPct val="100000"/>
              <a:buFont typeface="+mj-lt"/>
              <a:buAutoNum type="arabicPeriod"/>
            </a:pPr>
            <a:r>
              <a:rPr lang="en-US" sz="1300" dirty="0">
                <a:solidFill>
                  <a:srgbClr val="1F2937"/>
                </a:solidFill>
                <a:latin typeface="Calibri" pitchFamily="34" charset="0"/>
                <a:ea typeface="Calibri" pitchFamily="34" charset="-122"/>
                <a:cs typeface="Calibri" pitchFamily="34" charset="-120"/>
              </a:rPr>
              <a:t>Make it executable: </a:t>
            </a:r>
            <a:r>
              <a:rPr lang="en-US" sz="1300" dirty="0">
                <a:solidFill>
                  <a:srgbClr val="1E2761"/>
                </a:solidFill>
                <a:latin typeface="Consolas" pitchFamily="34" charset="0"/>
                <a:ea typeface="Consolas" pitchFamily="34" charset="-122"/>
                <a:cs typeface="Consolas" pitchFamily="34" charset="-120"/>
              </a:rPr>
              <a:t>chmod +x greet.sh</a:t>
            </a:r>
            <a:r>
              <a:rPr lang="en-US" sz="1300" dirty="0">
                <a:solidFill>
                  <a:srgbClr val="1F2937"/>
                </a:solidFill>
                <a:latin typeface="Calibri" pitchFamily="34" charset="0"/>
                <a:ea typeface="Calibri" pitchFamily="34" charset="-122"/>
                <a:cs typeface="Calibri" pitchFamily="34" charset="-120"/>
              </a:rPr>
              <a:t>.</a:t>
            </a:r>
            <a:endParaRPr lang="en-US" sz="1300" dirty="0"/>
          </a:p>
          <a:p>
            <a:pPr marL="279400" indent="-279400">
              <a:spcAft>
                <a:spcPts val="600"/>
              </a:spcAft>
              <a:buSzPct val="100000"/>
              <a:buFont typeface="+mj-lt"/>
              <a:buAutoNum type="arabicPeriod"/>
            </a:pPr>
            <a:r>
              <a:rPr lang="en-US" sz="1300" dirty="0">
                <a:solidFill>
                  <a:srgbClr val="1F2937"/>
                </a:solidFill>
                <a:latin typeface="Calibri" pitchFamily="34" charset="0"/>
                <a:ea typeface="Calibri" pitchFamily="34" charset="-122"/>
                <a:cs typeface="Calibri" pitchFamily="34" charset="-120"/>
              </a:rPr>
              <a:t>Run it again. You should see your username, hostname, and the current date.</a:t>
            </a:r>
            <a:endParaRPr lang="en-US" sz="1300" dirty="0"/>
          </a:p>
          <a:p>
            <a:pPr marL="279400" indent="-279400">
              <a:spcAft>
                <a:spcPts val="600"/>
              </a:spcAft>
              <a:buSzPct val="100000"/>
              <a:buFont typeface="+mj-lt"/>
              <a:buAutoNum type="arabicPeriod"/>
            </a:pPr>
            <a:r>
              <a:rPr lang="en-US" sz="1300" dirty="0">
                <a:solidFill>
                  <a:srgbClr val="1F2937"/>
                </a:solidFill>
                <a:latin typeface="Calibri" pitchFamily="34" charset="0"/>
                <a:ea typeface="Calibri" pitchFamily="34" charset="-122"/>
                <a:cs typeface="Calibri" pitchFamily="34" charset="-120"/>
              </a:rPr>
              <a:t>(Bonus) Remove the shebang line and re-run. What changes?</a:t>
            </a:r>
            <a:endParaRPr lang="en-US" sz="13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a:effectLst/>
      </p:bgPr>
    </p:bg>
    <p:spTree>
      <p:nvGrpSpPr>
        <p:cNvPr id="1" name=""/>
        <p:cNvGrpSpPr/>
        <p:nvPr/>
      </p:nvGrpSpPr>
      <p:grpSpPr>
        <a:xfrm>
          <a:off x="0" y="0"/>
          <a:ext cx="0" cy="0"/>
          <a:chOff x="0" y="0"/>
          <a:chExt cx="0" cy="0"/>
        </a:xfrm>
      </p:grpSpPr>
      <p:pic>
        <p:nvPicPr>
          <p:cNvPr id="7" name="Picture 6" descr="access-footer.jpg"/>
          <p:cNvPicPr>
            <a:picLocks noChangeAspect="1"/>
          </p:cNvPicPr>
          <p:nvPr/>
        </p:nvPicPr>
        <p:blipFill>
          <a:blip r:embed="rId3"/>
          <a:stretch>
            <a:fillRect/>
          </a:stretch>
        </p:blipFill>
        <p:spPr>
          <a:xfrm>
            <a:off x="0" y="0"/>
            <a:ext cx="9144000" cy="5143500"/>
          </a:xfrm>
          <a:prstGeom prst="rect">
            <a:avLst/>
          </a:prstGeom>
        </p:spPr>
      </p:pic>
      <p:sp>
        <p:nvSpPr>
          <p:cNvPr id="2" name="Text 0"/>
          <p:cNvSpPr/>
          <p:nvPr/>
        </p:nvSpPr>
        <p:spPr>
          <a:xfrm>
            <a:off x="457200" y="274320"/>
            <a:ext cx="8229600" cy="594360"/>
          </a:xfrm>
          <a:prstGeom prst="rect">
            <a:avLst/>
          </a:prstGeom>
          <a:solidFill>
            <a:srgbClr val="FFFFFF"/>
          </a:solidFill>
          <a:ln/>
        </p:spPr>
        <p:txBody>
          <a:bodyPr wrap="square" lIns="0" tIns="0" rIns="0" bIns="0" rtlCol="0" anchor="ctr"/>
          <a:lstStyle/>
          <a:p>
            <a:pPr marL="0" indent="0">
              <a:buNone/>
            </a:pPr>
            <a:r>
              <a:rPr lang="en-US" sz="2800" b="1" dirty="0">
                <a:solidFill>
                  <a:srgbClr val="1E2761"/>
                </a:solidFill>
                <a:latin typeface="Cambria" pitchFamily="34" charset="0"/>
                <a:ea typeface="Cambria" pitchFamily="34" charset="-122"/>
                <a:cs typeface="Cambria" pitchFamily="34" charset="-120"/>
              </a:rPr>
              <a:t>Quick mention: vim</a:t>
            </a:r>
            <a:endParaRPr lang="en-US" sz="2800" dirty="0"/>
          </a:p>
        </p:txBody>
      </p:sp>
      <p:sp>
        <p:nvSpPr>
          <p:cNvPr id="3" name="Shape 1"/>
          <p:cNvSpPr/>
          <p:nvPr/>
        </p:nvSpPr>
        <p:spPr>
          <a:xfrm>
            <a:off x="457200" y="868680"/>
            <a:ext cx="548640" cy="36576"/>
          </a:xfrm>
          <a:prstGeom prst="rect">
            <a:avLst/>
          </a:prstGeom>
          <a:solidFill>
            <a:srgbClr val="1E2761"/>
          </a:solidFill>
          <a:ln w="12700">
            <a:solidFill>
              <a:srgbClr val="1E2761"/>
            </a:solidFill>
            <a:prstDash val="solid"/>
          </a:ln>
        </p:spPr>
        <p:txBody>
          <a:bodyPr/>
          <a:lstStyle/>
          <a:p>
            <a:endParaRPr lang="en-US"/>
          </a:p>
        </p:txBody>
      </p:sp>
      <p:sp>
        <p:nvSpPr>
          <p:cNvPr id="4" name="Shape 2"/>
          <p:cNvSpPr/>
          <p:nvPr/>
        </p:nvSpPr>
        <p:spPr>
          <a:xfrm>
            <a:off x="457200" y="1005840"/>
            <a:ext cx="1005840" cy="292608"/>
          </a:xfrm>
          <a:prstGeom prst="rect">
            <a:avLst/>
          </a:prstGeom>
          <a:solidFill>
            <a:srgbClr val="1E2761"/>
          </a:solidFill>
          <a:ln w="12700">
            <a:solidFill>
              <a:srgbClr val="1E2761"/>
            </a:solidFill>
            <a:prstDash val="solid"/>
          </a:ln>
        </p:spPr>
        <p:txBody>
          <a:bodyPr/>
          <a:lstStyle/>
          <a:p>
            <a:endParaRPr lang="en-US"/>
          </a:p>
        </p:txBody>
      </p:sp>
      <p:sp>
        <p:nvSpPr>
          <p:cNvPr id="5" name="Text 3"/>
          <p:cNvSpPr/>
          <p:nvPr/>
        </p:nvSpPr>
        <p:spPr>
          <a:xfrm>
            <a:off x="457200" y="1005840"/>
            <a:ext cx="1005840" cy="292608"/>
          </a:xfrm>
          <a:prstGeom prst="rect">
            <a:avLst/>
          </a:prstGeom>
          <a:noFill/>
          <a:ln/>
        </p:spPr>
        <p:txBody>
          <a:bodyPr wrap="square" lIns="0" tIns="0" rIns="0" bIns="0" rtlCol="0" anchor="ctr"/>
          <a:lstStyle/>
          <a:p>
            <a:pPr marL="0" indent="0" algn="ctr">
              <a:buNone/>
            </a:pPr>
            <a:r>
              <a:rPr lang="en-US" sz="1100" b="1" kern="0" spc="200" dirty="0">
                <a:solidFill>
                  <a:srgbClr val="FFFFFF"/>
                </a:solidFill>
                <a:latin typeface="Calibri" pitchFamily="34" charset="0"/>
                <a:ea typeface="Calibri" pitchFamily="34" charset="-122"/>
                <a:cs typeface="Calibri" pitchFamily="34" charset="-120"/>
              </a:rPr>
              <a:t>TALK</a:t>
            </a:r>
            <a:endParaRPr lang="en-US" sz="1100" dirty="0"/>
          </a:p>
        </p:txBody>
      </p:sp>
      <p:sp>
        <p:nvSpPr>
          <p:cNvPr id="6" name="Text 4"/>
          <p:cNvSpPr/>
          <p:nvPr/>
        </p:nvSpPr>
        <p:spPr>
          <a:xfrm>
            <a:off x="548640" y="1435608"/>
            <a:ext cx="8046720" cy="1696720"/>
          </a:xfrm>
          <a:prstGeom prst="rect">
            <a:avLst/>
          </a:prstGeom>
          <a:solidFill>
            <a:srgbClr val="FFFFFF"/>
          </a:solidFill>
          <a:ln/>
        </p:spPr>
        <p:txBody>
          <a:bodyPr wrap="square" lIns="0" tIns="0" rIns="0" bIns="0" rtlCol="0" anchor="t"/>
          <a:lstStyle/>
          <a:p>
            <a:pPr marL="228600" indent="-228600">
              <a:spcAft>
                <a:spcPts val="600"/>
              </a:spcAft>
              <a:buSzPct val="100000"/>
              <a:buChar char="■"/>
            </a:pPr>
            <a:r>
              <a:rPr lang="en-US" sz="1600" dirty="0">
                <a:solidFill>
                  <a:srgbClr val="1F2937"/>
                </a:solidFill>
                <a:latin typeface="Calibri" pitchFamily="34" charset="0"/>
                <a:ea typeface="Calibri" pitchFamily="34" charset="-122"/>
                <a:cs typeface="Calibri" pitchFamily="34" charset="-120"/>
              </a:rPr>
              <a:t>You'll see </a:t>
            </a:r>
            <a:r>
              <a:rPr lang="en-US" sz="1600" dirty="0">
                <a:solidFill>
                  <a:srgbClr val="1E2761"/>
                </a:solidFill>
                <a:latin typeface="Consolas" pitchFamily="34" charset="0"/>
                <a:ea typeface="Consolas" pitchFamily="34" charset="-122"/>
                <a:cs typeface="Consolas" pitchFamily="34" charset="-120"/>
              </a:rPr>
              <a:t>vim</a:t>
            </a:r>
            <a:r>
              <a:rPr lang="en-US" sz="1600" dirty="0">
                <a:solidFill>
                  <a:srgbClr val="1F2937"/>
                </a:solidFill>
                <a:latin typeface="Calibri" pitchFamily="34" charset="0"/>
                <a:ea typeface="Calibri" pitchFamily="34" charset="-122"/>
                <a:cs typeface="Calibri" pitchFamily="34" charset="-120"/>
              </a:rPr>
              <a:t> mentioned everywhere. Powerful. Beloved by some. Infuriating to most beginners.</a:t>
            </a:r>
            <a:endParaRPr lang="en-US" sz="1600" dirty="0"/>
          </a:p>
          <a:p>
            <a:pPr marL="228600" indent="-228600">
              <a:spcAft>
                <a:spcPts val="600"/>
              </a:spcAft>
              <a:buSzPct val="100000"/>
              <a:buChar char="■"/>
            </a:pPr>
            <a:r>
              <a:rPr lang="en-US" sz="1600" dirty="0">
                <a:solidFill>
                  <a:srgbClr val="1F2937"/>
                </a:solidFill>
                <a:latin typeface="Calibri" pitchFamily="34" charset="0"/>
                <a:ea typeface="Calibri" pitchFamily="34" charset="-122"/>
                <a:cs typeface="Calibri" pitchFamily="34" charset="-120"/>
              </a:rPr>
              <a:t>If you accidentally end up in vim: press </a:t>
            </a:r>
            <a:r>
              <a:rPr lang="en-US" sz="1600" b="1" dirty="0">
                <a:solidFill>
                  <a:srgbClr val="1F2937"/>
                </a:solidFill>
                <a:latin typeface="Calibri" pitchFamily="34" charset="0"/>
                <a:ea typeface="Calibri" pitchFamily="34" charset="-122"/>
                <a:cs typeface="Calibri" pitchFamily="34" charset="-120"/>
              </a:rPr>
              <a:t>Esc</a:t>
            </a:r>
            <a:r>
              <a:rPr lang="en-US" sz="1600" dirty="0">
                <a:solidFill>
                  <a:srgbClr val="1F2937"/>
                </a:solidFill>
                <a:latin typeface="Calibri" pitchFamily="34" charset="0"/>
                <a:ea typeface="Calibri" pitchFamily="34" charset="-122"/>
                <a:cs typeface="Calibri" pitchFamily="34" charset="-120"/>
              </a:rPr>
              <a:t>, then type </a:t>
            </a:r>
            <a:r>
              <a:rPr lang="en-US" sz="1600" b="1" dirty="0">
                <a:solidFill>
                  <a:srgbClr val="1F2937"/>
                </a:solidFill>
                <a:latin typeface="Calibri" pitchFamily="34" charset="0"/>
                <a:ea typeface="Calibri" pitchFamily="34" charset="-122"/>
                <a:cs typeface="Calibri" pitchFamily="34" charset="-120"/>
              </a:rPr>
              <a:t>`:q!`</a:t>
            </a:r>
            <a:r>
              <a:rPr lang="en-US" sz="1600" dirty="0">
                <a:solidFill>
                  <a:srgbClr val="1F2937"/>
                </a:solidFill>
                <a:latin typeface="Calibri" pitchFamily="34" charset="0"/>
                <a:ea typeface="Calibri" pitchFamily="34" charset="-122"/>
                <a:cs typeface="Calibri" pitchFamily="34" charset="-120"/>
              </a:rPr>
              <a:t> and hit Enter to escape without saving.</a:t>
            </a:r>
            <a:endParaRPr lang="en-US" sz="1600" dirty="0"/>
          </a:p>
          <a:p>
            <a:pPr marL="228600" indent="-228600">
              <a:spcAft>
                <a:spcPts val="600"/>
              </a:spcAft>
              <a:buSzPct val="100000"/>
              <a:buChar char="■"/>
            </a:pPr>
            <a:r>
              <a:rPr lang="en-US" sz="1600" dirty="0">
                <a:solidFill>
                  <a:srgbClr val="1F2937"/>
                </a:solidFill>
                <a:latin typeface="Calibri" pitchFamily="34" charset="0"/>
                <a:ea typeface="Calibri" pitchFamily="34" charset="-122"/>
                <a:cs typeface="Calibri" pitchFamily="34" charset="-120"/>
              </a:rPr>
              <a:t>That's all you need to know about vim today.</a:t>
            </a:r>
            <a:endParaRPr lang="en-US" sz="16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0">
            <a:extLst>
              <a:ext uri="{FF2B5EF4-FFF2-40B4-BE49-F238E27FC236}">
                <a16:creationId xmlns:a16="http://schemas.microsoft.com/office/drawing/2014/main" id="{C4F308D0-E16C-4CC5-260F-E28847C8B2B2}"/>
              </a:ext>
            </a:extLst>
          </p:cNvPr>
          <p:cNvSpPr/>
          <p:nvPr/>
        </p:nvSpPr>
        <p:spPr>
          <a:xfrm>
            <a:off x="548640" y="1280160"/>
            <a:ext cx="8046720" cy="457200"/>
          </a:xfrm>
          <a:prstGeom prst="rect">
            <a:avLst/>
          </a:prstGeom>
          <a:noFill/>
          <a:ln/>
        </p:spPr>
        <p:txBody>
          <a:bodyPr wrap="square" lIns="0" tIns="0" rIns="0" bIns="0" rtlCol="0" anchor="ctr"/>
          <a:lstStyle/>
          <a:p>
            <a:pPr marL="0" indent="0">
              <a:buNone/>
            </a:pPr>
            <a:r>
              <a:rPr lang="en-US" sz="1600" b="1" kern="0" spc="800" dirty="0">
                <a:latin typeface="Calibri" pitchFamily="34" charset="0"/>
                <a:ea typeface="Calibri" pitchFamily="34" charset="-122"/>
                <a:cs typeface="Calibri" pitchFamily="34" charset="-120"/>
              </a:rPr>
              <a:t>BLOCK 7</a:t>
            </a:r>
            <a:endParaRPr lang="en-US" sz="1600" dirty="0"/>
          </a:p>
        </p:txBody>
      </p:sp>
      <p:sp>
        <p:nvSpPr>
          <p:cNvPr id="4" name="Text 1">
            <a:extLst>
              <a:ext uri="{FF2B5EF4-FFF2-40B4-BE49-F238E27FC236}">
                <a16:creationId xmlns:a16="http://schemas.microsoft.com/office/drawing/2014/main" id="{39AB9CA9-4368-8FE5-AD42-55EA850B62AF}"/>
              </a:ext>
            </a:extLst>
          </p:cNvPr>
          <p:cNvSpPr/>
          <p:nvPr/>
        </p:nvSpPr>
        <p:spPr>
          <a:xfrm>
            <a:off x="548640" y="1783080"/>
            <a:ext cx="8046720" cy="1463040"/>
          </a:xfrm>
          <a:prstGeom prst="rect">
            <a:avLst/>
          </a:prstGeom>
          <a:noFill/>
          <a:ln/>
        </p:spPr>
        <p:txBody>
          <a:bodyPr wrap="square" lIns="0" tIns="0" rIns="0" bIns="0" rtlCol="0" anchor="t"/>
          <a:lstStyle/>
          <a:p>
            <a:pPr marL="0" indent="0">
              <a:buNone/>
            </a:pPr>
            <a:r>
              <a:rPr lang="en-US" sz="4000" b="1" dirty="0">
                <a:latin typeface="Cambria" pitchFamily="34" charset="0"/>
                <a:ea typeface="Cambria" pitchFamily="34" charset="-122"/>
                <a:cs typeface="Cambria" pitchFamily="34" charset="-120"/>
              </a:rPr>
              <a:t>Glue: redirection and pipes</a:t>
            </a:r>
            <a:endParaRPr lang="en-US" sz="4000" dirty="0"/>
          </a:p>
        </p:txBody>
      </p:sp>
    </p:spTree>
    <p:extLst>
      <p:ext uri="{BB962C8B-B14F-4D97-AF65-F5344CB8AC3E}">
        <p14:creationId xmlns:p14="http://schemas.microsoft.com/office/powerpoint/2010/main" val="295695170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a:effectLst/>
      </p:bgPr>
    </p:bg>
    <p:spTree>
      <p:nvGrpSpPr>
        <p:cNvPr id="1" name=""/>
        <p:cNvGrpSpPr/>
        <p:nvPr/>
      </p:nvGrpSpPr>
      <p:grpSpPr>
        <a:xfrm>
          <a:off x="0" y="0"/>
          <a:ext cx="0" cy="0"/>
          <a:chOff x="0" y="0"/>
          <a:chExt cx="0" cy="0"/>
        </a:xfrm>
      </p:grpSpPr>
      <p:pic>
        <p:nvPicPr>
          <p:cNvPr id="7" name="Picture 6" descr="access-footer.jpg"/>
          <p:cNvPicPr>
            <a:picLocks noChangeAspect="1"/>
          </p:cNvPicPr>
          <p:nvPr/>
        </p:nvPicPr>
        <p:blipFill>
          <a:blip r:embed="rId3"/>
          <a:stretch>
            <a:fillRect/>
          </a:stretch>
        </p:blipFill>
        <p:spPr>
          <a:xfrm>
            <a:off x="0" y="0"/>
            <a:ext cx="9144000" cy="5143500"/>
          </a:xfrm>
          <a:prstGeom prst="rect">
            <a:avLst/>
          </a:prstGeom>
        </p:spPr>
      </p:pic>
      <p:sp>
        <p:nvSpPr>
          <p:cNvPr id="2" name="Text 0"/>
          <p:cNvSpPr/>
          <p:nvPr/>
        </p:nvSpPr>
        <p:spPr>
          <a:xfrm>
            <a:off x="457200" y="274320"/>
            <a:ext cx="8229600" cy="594360"/>
          </a:xfrm>
          <a:prstGeom prst="rect">
            <a:avLst/>
          </a:prstGeom>
          <a:solidFill>
            <a:srgbClr val="FFFFFF"/>
          </a:solidFill>
          <a:ln/>
        </p:spPr>
        <p:txBody>
          <a:bodyPr wrap="square" lIns="0" tIns="0" rIns="0" bIns="0" rtlCol="0" anchor="ctr"/>
          <a:lstStyle/>
          <a:p>
            <a:pPr marL="0" indent="0">
              <a:buNone/>
            </a:pPr>
            <a:r>
              <a:rPr lang="en-US" sz="2800" b="1" dirty="0">
                <a:solidFill>
                  <a:srgbClr val="1E2761"/>
                </a:solidFill>
                <a:latin typeface="Cambria" pitchFamily="34" charset="0"/>
                <a:ea typeface="Cambria" pitchFamily="34" charset="-122"/>
                <a:cs typeface="Cambria" pitchFamily="34" charset="-120"/>
              </a:rPr>
              <a:t>Why this block matters</a:t>
            </a:r>
            <a:endParaRPr lang="en-US" sz="2800" dirty="0"/>
          </a:p>
        </p:txBody>
      </p:sp>
      <p:sp>
        <p:nvSpPr>
          <p:cNvPr id="3" name="Shape 1"/>
          <p:cNvSpPr/>
          <p:nvPr/>
        </p:nvSpPr>
        <p:spPr>
          <a:xfrm>
            <a:off x="457200" y="868680"/>
            <a:ext cx="548640" cy="36576"/>
          </a:xfrm>
          <a:prstGeom prst="rect">
            <a:avLst/>
          </a:prstGeom>
          <a:solidFill>
            <a:srgbClr val="1E2761"/>
          </a:solidFill>
          <a:ln w="12700">
            <a:solidFill>
              <a:srgbClr val="1E2761"/>
            </a:solidFill>
            <a:prstDash val="solid"/>
          </a:ln>
        </p:spPr>
        <p:txBody>
          <a:bodyPr/>
          <a:lstStyle/>
          <a:p>
            <a:endParaRPr lang="en-US"/>
          </a:p>
        </p:txBody>
      </p:sp>
      <p:sp>
        <p:nvSpPr>
          <p:cNvPr id="4" name="Shape 2"/>
          <p:cNvSpPr/>
          <p:nvPr/>
        </p:nvSpPr>
        <p:spPr>
          <a:xfrm>
            <a:off x="457200" y="1005840"/>
            <a:ext cx="1005840" cy="292608"/>
          </a:xfrm>
          <a:prstGeom prst="rect">
            <a:avLst/>
          </a:prstGeom>
          <a:solidFill>
            <a:srgbClr val="1E2761"/>
          </a:solidFill>
          <a:ln w="12700">
            <a:solidFill>
              <a:srgbClr val="1E2761"/>
            </a:solidFill>
            <a:prstDash val="solid"/>
          </a:ln>
        </p:spPr>
        <p:txBody>
          <a:bodyPr/>
          <a:lstStyle/>
          <a:p>
            <a:endParaRPr lang="en-US"/>
          </a:p>
        </p:txBody>
      </p:sp>
      <p:sp>
        <p:nvSpPr>
          <p:cNvPr id="5" name="Text 3"/>
          <p:cNvSpPr/>
          <p:nvPr/>
        </p:nvSpPr>
        <p:spPr>
          <a:xfrm>
            <a:off x="457200" y="1005840"/>
            <a:ext cx="1005840" cy="292608"/>
          </a:xfrm>
          <a:prstGeom prst="rect">
            <a:avLst/>
          </a:prstGeom>
          <a:noFill/>
          <a:ln/>
        </p:spPr>
        <p:txBody>
          <a:bodyPr wrap="square" lIns="0" tIns="0" rIns="0" bIns="0" rtlCol="0" anchor="ctr"/>
          <a:lstStyle/>
          <a:p>
            <a:pPr marL="0" indent="0" algn="ctr">
              <a:buNone/>
            </a:pPr>
            <a:r>
              <a:rPr lang="en-US" sz="1100" b="1" kern="0" spc="200" dirty="0">
                <a:solidFill>
                  <a:srgbClr val="FFFFFF"/>
                </a:solidFill>
                <a:latin typeface="Calibri" pitchFamily="34" charset="0"/>
                <a:ea typeface="Calibri" pitchFamily="34" charset="-122"/>
                <a:cs typeface="Calibri" pitchFamily="34" charset="-120"/>
              </a:rPr>
              <a:t>TALK</a:t>
            </a:r>
            <a:endParaRPr lang="en-US" sz="1100" dirty="0"/>
          </a:p>
        </p:txBody>
      </p:sp>
      <p:sp>
        <p:nvSpPr>
          <p:cNvPr id="6" name="Text 4"/>
          <p:cNvSpPr/>
          <p:nvPr/>
        </p:nvSpPr>
        <p:spPr>
          <a:xfrm>
            <a:off x="548640" y="1435608"/>
            <a:ext cx="8046720" cy="1772920"/>
          </a:xfrm>
          <a:prstGeom prst="rect">
            <a:avLst/>
          </a:prstGeom>
          <a:solidFill>
            <a:srgbClr val="FFFFFF"/>
          </a:solidFill>
          <a:ln/>
        </p:spPr>
        <p:txBody>
          <a:bodyPr wrap="square" lIns="0" tIns="0" rIns="0" bIns="0" rtlCol="0" anchor="t"/>
          <a:lstStyle/>
          <a:p>
            <a:pPr marL="228600" indent="-228600">
              <a:spcAft>
                <a:spcPts val="600"/>
              </a:spcAft>
              <a:buSzPct val="100000"/>
              <a:buChar char="■"/>
            </a:pPr>
            <a:r>
              <a:rPr lang="en-US" sz="1600" dirty="0">
                <a:solidFill>
                  <a:srgbClr val="1F2937"/>
                </a:solidFill>
                <a:latin typeface="Calibri" pitchFamily="34" charset="0"/>
                <a:ea typeface="Calibri" pitchFamily="34" charset="-122"/>
                <a:cs typeface="Calibri" pitchFamily="34" charset="-120"/>
              </a:rPr>
              <a:t>So far, each command has been standalone.</a:t>
            </a:r>
            <a:endParaRPr lang="en-US" sz="1600" dirty="0"/>
          </a:p>
          <a:p>
            <a:pPr marL="228600" indent="-228600">
              <a:spcAft>
                <a:spcPts val="600"/>
              </a:spcAft>
              <a:buSzPct val="100000"/>
              <a:buChar char="■"/>
            </a:pPr>
            <a:r>
              <a:rPr lang="en-US" sz="1600" dirty="0">
                <a:solidFill>
                  <a:srgbClr val="1F2937"/>
                </a:solidFill>
                <a:latin typeface="Calibri" pitchFamily="34" charset="0"/>
                <a:ea typeface="Calibri" pitchFamily="34" charset="-122"/>
                <a:cs typeface="Calibri" pitchFamily="34" charset="-120"/>
              </a:rPr>
              <a:t>The real power of the shell is </a:t>
            </a:r>
            <a:r>
              <a:rPr lang="en-US" sz="1600" b="1" dirty="0">
                <a:solidFill>
                  <a:srgbClr val="1F2937"/>
                </a:solidFill>
                <a:latin typeface="Calibri" pitchFamily="34" charset="0"/>
                <a:ea typeface="Calibri" pitchFamily="34" charset="-122"/>
                <a:cs typeface="Calibri" pitchFamily="34" charset="-120"/>
              </a:rPr>
              <a:t>combining</a:t>
            </a:r>
            <a:r>
              <a:rPr lang="en-US" sz="1600" dirty="0">
                <a:solidFill>
                  <a:srgbClr val="1F2937"/>
                </a:solidFill>
                <a:latin typeface="Calibri" pitchFamily="34" charset="0"/>
                <a:ea typeface="Calibri" pitchFamily="34" charset="-122"/>
                <a:cs typeface="Calibri" pitchFamily="34" charset="-120"/>
              </a:rPr>
              <a:t> commands.</a:t>
            </a:r>
            <a:endParaRPr lang="en-US" sz="1600" dirty="0"/>
          </a:p>
          <a:p>
            <a:pPr marL="228600" indent="-228600">
              <a:spcAft>
                <a:spcPts val="600"/>
              </a:spcAft>
              <a:buSzPct val="100000"/>
              <a:buChar char="■"/>
            </a:pPr>
            <a:r>
              <a:rPr lang="en-US" sz="1600" dirty="0">
                <a:solidFill>
                  <a:srgbClr val="1F2937"/>
                </a:solidFill>
                <a:latin typeface="Calibri" pitchFamily="34" charset="0"/>
                <a:ea typeface="Calibri" pitchFamily="34" charset="-122"/>
                <a:cs typeface="Calibri" pitchFamily="34" charset="-120"/>
              </a:rPr>
              <a:t>Two ideas: </a:t>
            </a:r>
            <a:r>
              <a:rPr lang="en-US" sz="1600" b="1" dirty="0">
                <a:solidFill>
                  <a:srgbClr val="1F2937"/>
                </a:solidFill>
                <a:latin typeface="Calibri" pitchFamily="34" charset="0"/>
                <a:ea typeface="Calibri" pitchFamily="34" charset="-122"/>
                <a:cs typeface="Calibri" pitchFamily="34" charset="-120"/>
              </a:rPr>
              <a:t>redirection</a:t>
            </a:r>
            <a:r>
              <a:rPr lang="en-US" sz="1600" dirty="0">
                <a:solidFill>
                  <a:srgbClr val="1F2937"/>
                </a:solidFill>
                <a:latin typeface="Calibri" pitchFamily="34" charset="0"/>
                <a:ea typeface="Calibri" pitchFamily="34" charset="-122"/>
                <a:cs typeface="Calibri" pitchFamily="34" charset="-120"/>
              </a:rPr>
              <a:t> (output → file) and </a:t>
            </a:r>
            <a:r>
              <a:rPr lang="en-US" sz="1600" b="1" dirty="0">
                <a:solidFill>
                  <a:srgbClr val="1F2937"/>
                </a:solidFill>
                <a:latin typeface="Calibri" pitchFamily="34" charset="0"/>
                <a:ea typeface="Calibri" pitchFamily="34" charset="-122"/>
                <a:cs typeface="Calibri" pitchFamily="34" charset="-120"/>
              </a:rPr>
              <a:t>pipes</a:t>
            </a:r>
            <a:r>
              <a:rPr lang="en-US" sz="1600" dirty="0">
                <a:solidFill>
                  <a:srgbClr val="1F2937"/>
                </a:solidFill>
                <a:latin typeface="Calibri" pitchFamily="34" charset="0"/>
                <a:ea typeface="Calibri" pitchFamily="34" charset="-122"/>
                <a:cs typeface="Calibri" pitchFamily="34" charset="-120"/>
              </a:rPr>
              <a:t> (output → another command).</a:t>
            </a:r>
            <a:endParaRPr lang="en-US" sz="1600" dirty="0"/>
          </a:p>
          <a:p>
            <a:pPr marL="228600" indent="-228600">
              <a:spcAft>
                <a:spcPts val="600"/>
              </a:spcAft>
              <a:buSzPct val="100000"/>
              <a:buChar char="■"/>
            </a:pPr>
            <a:r>
              <a:rPr lang="en-US" sz="1600" dirty="0">
                <a:solidFill>
                  <a:srgbClr val="1F2937"/>
                </a:solidFill>
                <a:latin typeface="Calibri" pitchFamily="34" charset="0"/>
                <a:ea typeface="Calibri" pitchFamily="34" charset="-122"/>
                <a:cs typeface="Calibri" pitchFamily="34" charset="-120"/>
              </a:rPr>
              <a:t>Once you get these, you can solve problems by </a:t>
            </a:r>
            <a:r>
              <a:rPr lang="en-US" sz="1600" b="1" dirty="0">
                <a:solidFill>
                  <a:srgbClr val="1F2937"/>
                </a:solidFill>
                <a:latin typeface="Calibri" pitchFamily="34" charset="0"/>
                <a:ea typeface="Calibri" pitchFamily="34" charset="-122"/>
                <a:cs typeface="Calibri" pitchFamily="34" charset="-120"/>
              </a:rPr>
              <a:t>composing</a:t>
            </a:r>
            <a:r>
              <a:rPr lang="en-US" sz="1600" dirty="0">
                <a:solidFill>
                  <a:srgbClr val="1F2937"/>
                </a:solidFill>
                <a:latin typeface="Calibri" pitchFamily="34" charset="0"/>
                <a:ea typeface="Calibri" pitchFamily="34" charset="-122"/>
                <a:cs typeface="Calibri" pitchFamily="34" charset="-120"/>
              </a:rPr>
              <a:t> small tools.</a:t>
            </a:r>
            <a:endParaRPr lang="en-US" sz="16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a:effectLst/>
      </p:bgPr>
    </p:bg>
    <p:spTree>
      <p:nvGrpSpPr>
        <p:cNvPr id="1" name=""/>
        <p:cNvGrpSpPr/>
        <p:nvPr/>
      </p:nvGrpSpPr>
      <p:grpSpPr>
        <a:xfrm>
          <a:off x="0" y="0"/>
          <a:ext cx="0" cy="0"/>
          <a:chOff x="0" y="0"/>
          <a:chExt cx="0" cy="0"/>
        </a:xfrm>
      </p:grpSpPr>
      <p:pic>
        <p:nvPicPr>
          <p:cNvPr id="12" name="Picture 11" descr="access-footer.jpg"/>
          <p:cNvPicPr>
            <a:picLocks noChangeAspect="1"/>
          </p:cNvPicPr>
          <p:nvPr/>
        </p:nvPicPr>
        <p:blipFill>
          <a:blip r:embed="rId3"/>
          <a:stretch>
            <a:fillRect/>
          </a:stretch>
        </p:blipFill>
        <p:spPr>
          <a:xfrm>
            <a:off x="0" y="0"/>
            <a:ext cx="9144000" cy="5143500"/>
          </a:xfrm>
          <a:prstGeom prst="rect">
            <a:avLst/>
          </a:prstGeom>
        </p:spPr>
      </p:pic>
      <p:sp>
        <p:nvSpPr>
          <p:cNvPr id="2" name="Text 0"/>
          <p:cNvSpPr/>
          <p:nvPr/>
        </p:nvSpPr>
        <p:spPr>
          <a:xfrm>
            <a:off x="457200" y="274320"/>
            <a:ext cx="8229600" cy="594360"/>
          </a:xfrm>
          <a:prstGeom prst="rect">
            <a:avLst/>
          </a:prstGeom>
          <a:solidFill>
            <a:srgbClr val="FFFFFF"/>
          </a:solidFill>
          <a:ln/>
        </p:spPr>
        <p:txBody>
          <a:bodyPr wrap="square" lIns="0" tIns="0" rIns="0" bIns="0" rtlCol="0" anchor="ctr"/>
          <a:lstStyle/>
          <a:p>
            <a:pPr marL="0" indent="0">
              <a:buNone/>
            </a:pPr>
            <a:r>
              <a:rPr lang="en-US" sz="2800" b="1" dirty="0">
                <a:solidFill>
                  <a:srgbClr val="1E2761"/>
                </a:solidFill>
                <a:latin typeface="Cambria" pitchFamily="34" charset="0"/>
                <a:ea typeface="Cambria" pitchFamily="34" charset="-122"/>
                <a:cs typeface="Cambria" pitchFamily="34" charset="-120"/>
              </a:rPr>
              <a:t>Redirection: send output to a file</a:t>
            </a:r>
            <a:endParaRPr lang="en-US" sz="2800" dirty="0"/>
          </a:p>
        </p:txBody>
      </p:sp>
      <p:sp>
        <p:nvSpPr>
          <p:cNvPr id="3" name="Shape 1"/>
          <p:cNvSpPr/>
          <p:nvPr/>
        </p:nvSpPr>
        <p:spPr>
          <a:xfrm>
            <a:off x="457200" y="868680"/>
            <a:ext cx="548640" cy="36576"/>
          </a:xfrm>
          <a:prstGeom prst="rect">
            <a:avLst/>
          </a:prstGeom>
          <a:solidFill>
            <a:srgbClr val="1E2761"/>
          </a:solidFill>
          <a:ln w="12700">
            <a:solidFill>
              <a:srgbClr val="1E2761"/>
            </a:solidFill>
            <a:prstDash val="solid"/>
          </a:ln>
        </p:spPr>
        <p:txBody>
          <a:bodyPr/>
          <a:lstStyle/>
          <a:p>
            <a:endParaRPr lang="en-US"/>
          </a:p>
        </p:txBody>
      </p:sp>
      <p:sp>
        <p:nvSpPr>
          <p:cNvPr id="4" name="Shape 2"/>
          <p:cNvSpPr/>
          <p:nvPr/>
        </p:nvSpPr>
        <p:spPr>
          <a:xfrm>
            <a:off x="457200" y="1005840"/>
            <a:ext cx="1005840" cy="292608"/>
          </a:xfrm>
          <a:prstGeom prst="rect">
            <a:avLst/>
          </a:prstGeom>
          <a:solidFill>
            <a:srgbClr val="0369A1"/>
          </a:solidFill>
          <a:ln w="12700">
            <a:solidFill>
              <a:srgbClr val="0369A1"/>
            </a:solidFill>
            <a:prstDash val="solid"/>
          </a:ln>
        </p:spPr>
        <p:txBody>
          <a:bodyPr/>
          <a:lstStyle/>
          <a:p>
            <a:endParaRPr lang="en-US"/>
          </a:p>
        </p:txBody>
      </p:sp>
      <p:sp>
        <p:nvSpPr>
          <p:cNvPr id="5" name="Text 3"/>
          <p:cNvSpPr/>
          <p:nvPr/>
        </p:nvSpPr>
        <p:spPr>
          <a:xfrm>
            <a:off x="457200" y="1005840"/>
            <a:ext cx="1005840" cy="292608"/>
          </a:xfrm>
          <a:prstGeom prst="rect">
            <a:avLst/>
          </a:prstGeom>
          <a:noFill/>
          <a:ln/>
        </p:spPr>
        <p:txBody>
          <a:bodyPr wrap="square" lIns="0" tIns="0" rIns="0" bIns="0" rtlCol="0" anchor="ctr"/>
          <a:lstStyle/>
          <a:p>
            <a:pPr marL="0" indent="0" algn="ctr">
              <a:buNone/>
            </a:pPr>
            <a:r>
              <a:rPr lang="en-US" sz="1100" b="1" kern="0" spc="200" dirty="0">
                <a:solidFill>
                  <a:srgbClr val="FFFFFF"/>
                </a:solidFill>
                <a:latin typeface="Calibri" pitchFamily="34" charset="0"/>
                <a:ea typeface="Calibri" pitchFamily="34" charset="-122"/>
                <a:cs typeface="Calibri" pitchFamily="34" charset="-120"/>
              </a:rPr>
              <a:t>DEMO</a:t>
            </a:r>
            <a:endParaRPr lang="en-US" sz="1100" dirty="0"/>
          </a:p>
        </p:txBody>
      </p:sp>
      <p:sp>
        <p:nvSpPr>
          <p:cNvPr id="6" name="Shape 4"/>
          <p:cNvSpPr/>
          <p:nvPr/>
        </p:nvSpPr>
        <p:spPr>
          <a:xfrm>
            <a:off x="548640" y="1435608"/>
            <a:ext cx="8046720" cy="1421130"/>
          </a:xfrm>
          <a:prstGeom prst="rect">
            <a:avLst/>
          </a:prstGeom>
          <a:solidFill>
            <a:srgbClr val="0F172A"/>
          </a:solidFill>
          <a:ln w="12700">
            <a:solidFill>
              <a:srgbClr val="0F172A"/>
            </a:solidFill>
            <a:prstDash val="solid"/>
          </a:ln>
        </p:spPr>
        <p:txBody>
          <a:bodyPr/>
          <a:lstStyle/>
          <a:p>
            <a:endParaRPr lang="en-US"/>
          </a:p>
        </p:txBody>
      </p:sp>
      <p:sp>
        <p:nvSpPr>
          <p:cNvPr id="7" name="Text 5"/>
          <p:cNvSpPr/>
          <p:nvPr/>
        </p:nvSpPr>
        <p:spPr>
          <a:xfrm>
            <a:off x="685800" y="1508760"/>
            <a:ext cx="7772400" cy="1274826"/>
          </a:xfrm>
          <a:prstGeom prst="rect">
            <a:avLst/>
          </a:prstGeom>
          <a:noFill/>
          <a:ln/>
        </p:spPr>
        <p:txBody>
          <a:bodyPr wrap="square" lIns="0" tIns="0" rIns="0" bIns="0" rtlCol="0" anchor="t"/>
          <a:lstStyle/>
          <a:p>
            <a:pPr marL="0" indent="0">
              <a:buNone/>
            </a:pPr>
            <a:r>
              <a:rPr lang="en-US" sz="1500" dirty="0">
                <a:solidFill>
                  <a:srgbClr val="E2E8F0"/>
                </a:solidFill>
                <a:latin typeface="Consolas" pitchFamily="34" charset="0"/>
                <a:ea typeface="Consolas" pitchFamily="34" charset="-122"/>
                <a:cs typeface="Consolas" pitchFamily="34" charset="-120"/>
              </a:rPr>
              <a:t>$ echo "first line" &gt; log.txt</a:t>
            </a:r>
            <a:endParaRPr lang="en-US" sz="1500" dirty="0"/>
          </a:p>
          <a:p>
            <a:pPr marL="0" indent="0">
              <a:buNone/>
            </a:pPr>
            <a:r>
              <a:rPr lang="en-US" sz="1500" dirty="0">
                <a:solidFill>
                  <a:srgbClr val="E2E8F0"/>
                </a:solidFill>
                <a:latin typeface="Consolas" pitchFamily="34" charset="0"/>
                <a:ea typeface="Consolas" pitchFamily="34" charset="-122"/>
                <a:cs typeface="Consolas" pitchFamily="34" charset="-120"/>
              </a:rPr>
              <a:t>$ cat log.txt</a:t>
            </a:r>
            <a:endParaRPr lang="en-US" sz="1500" dirty="0"/>
          </a:p>
          <a:p>
            <a:pPr marL="0" indent="0">
              <a:buNone/>
            </a:pPr>
            <a:r>
              <a:rPr lang="en-US" sz="1500" dirty="0">
                <a:solidFill>
                  <a:srgbClr val="E2E8F0"/>
                </a:solidFill>
                <a:latin typeface="Consolas" pitchFamily="34" charset="0"/>
                <a:ea typeface="Consolas" pitchFamily="34" charset="-122"/>
                <a:cs typeface="Consolas" pitchFamily="34" charset="-120"/>
              </a:rPr>
              <a:t>$ echo "second line" &gt;&gt; log.txt</a:t>
            </a:r>
            <a:endParaRPr lang="en-US" sz="1500" dirty="0"/>
          </a:p>
          <a:p>
            <a:pPr marL="0" indent="0">
              <a:buNone/>
            </a:pPr>
            <a:r>
              <a:rPr lang="en-US" sz="1500" dirty="0">
                <a:solidFill>
                  <a:srgbClr val="E2E8F0"/>
                </a:solidFill>
                <a:latin typeface="Consolas" pitchFamily="34" charset="0"/>
                <a:ea typeface="Consolas" pitchFamily="34" charset="-122"/>
                <a:cs typeface="Consolas" pitchFamily="34" charset="-120"/>
              </a:rPr>
              <a:t>$ echo "third line" &gt;&gt; log.txt</a:t>
            </a:r>
            <a:endParaRPr lang="en-US" sz="1500" dirty="0"/>
          </a:p>
          <a:p>
            <a:pPr marL="0" indent="0">
              <a:buNone/>
            </a:pPr>
            <a:r>
              <a:rPr lang="en-US" sz="1500" dirty="0">
                <a:solidFill>
                  <a:srgbClr val="E2E8F0"/>
                </a:solidFill>
                <a:latin typeface="Consolas" pitchFamily="34" charset="0"/>
                <a:ea typeface="Consolas" pitchFamily="34" charset="-122"/>
                <a:cs typeface="Consolas" pitchFamily="34" charset="-120"/>
              </a:rPr>
              <a:t>$ cat log.txt</a:t>
            </a:r>
            <a:endParaRPr lang="en-US" sz="1500" dirty="0"/>
          </a:p>
        </p:txBody>
      </p:sp>
      <p:sp>
        <p:nvSpPr>
          <p:cNvPr id="8" name="Text 6"/>
          <p:cNvSpPr/>
          <p:nvPr/>
        </p:nvSpPr>
        <p:spPr>
          <a:xfrm>
            <a:off x="548640" y="2902458"/>
            <a:ext cx="8046720" cy="695960"/>
          </a:xfrm>
          <a:prstGeom prst="rect">
            <a:avLst/>
          </a:prstGeom>
          <a:solidFill>
            <a:srgbClr val="FFFFFF"/>
          </a:solidFill>
          <a:ln/>
        </p:spPr>
        <p:txBody>
          <a:bodyPr wrap="square" lIns="0" tIns="0" rIns="0" bIns="0" rtlCol="0" anchor="t"/>
          <a:lstStyle/>
          <a:p>
            <a:pPr marL="228600" indent="-228600">
              <a:spcAft>
                <a:spcPts val="600"/>
              </a:spcAft>
              <a:buSzPct val="100000"/>
              <a:buChar char="■"/>
            </a:pPr>
            <a:r>
              <a:rPr lang="en-US" sz="1400" dirty="0">
                <a:solidFill>
                  <a:srgbClr val="1E2761"/>
                </a:solidFill>
                <a:latin typeface="Consolas" pitchFamily="34" charset="0"/>
                <a:ea typeface="Consolas" pitchFamily="34" charset="-122"/>
                <a:cs typeface="Consolas" pitchFamily="34" charset="-120"/>
              </a:rPr>
              <a:t>&gt;</a:t>
            </a:r>
            <a:r>
              <a:rPr lang="en-US" sz="1400" dirty="0">
                <a:solidFill>
                  <a:srgbClr val="1F2937"/>
                </a:solidFill>
                <a:latin typeface="Calibri" pitchFamily="34" charset="0"/>
                <a:ea typeface="Calibri" pitchFamily="34" charset="-122"/>
                <a:cs typeface="Calibri" pitchFamily="34" charset="-120"/>
              </a:rPr>
              <a:t> — send output INTO this file. If it exists, </a:t>
            </a:r>
            <a:r>
              <a:rPr lang="en-US" sz="1400" b="1" dirty="0">
                <a:solidFill>
                  <a:srgbClr val="1F2937"/>
                </a:solidFill>
                <a:latin typeface="Calibri" pitchFamily="34" charset="0"/>
                <a:ea typeface="Calibri" pitchFamily="34" charset="-122"/>
                <a:cs typeface="Calibri" pitchFamily="34" charset="-120"/>
              </a:rPr>
              <a:t>overwritten</a:t>
            </a:r>
            <a:r>
              <a:rPr lang="en-US" sz="1400" dirty="0">
                <a:solidFill>
                  <a:srgbClr val="1F2937"/>
                </a:solidFill>
                <a:latin typeface="Calibri" pitchFamily="34" charset="0"/>
                <a:ea typeface="Calibri" pitchFamily="34" charset="-122"/>
                <a:cs typeface="Calibri" pitchFamily="34" charset="-120"/>
              </a:rPr>
              <a:t>.</a:t>
            </a:r>
            <a:endParaRPr lang="en-US" sz="1400" dirty="0"/>
          </a:p>
          <a:p>
            <a:pPr marL="228600" indent="-228600">
              <a:spcAft>
                <a:spcPts val="600"/>
              </a:spcAft>
              <a:buSzPct val="100000"/>
              <a:buChar char="■"/>
            </a:pPr>
            <a:r>
              <a:rPr lang="en-US" sz="1400" dirty="0">
                <a:solidFill>
                  <a:srgbClr val="1E2761"/>
                </a:solidFill>
                <a:latin typeface="Consolas" pitchFamily="34" charset="0"/>
                <a:ea typeface="Consolas" pitchFamily="34" charset="-122"/>
                <a:cs typeface="Consolas" pitchFamily="34" charset="-120"/>
              </a:rPr>
              <a:t>&gt;&gt;</a:t>
            </a:r>
            <a:r>
              <a:rPr lang="en-US" sz="1400" dirty="0">
                <a:solidFill>
                  <a:srgbClr val="1F2937"/>
                </a:solidFill>
                <a:latin typeface="Calibri" pitchFamily="34" charset="0"/>
                <a:ea typeface="Calibri" pitchFamily="34" charset="-122"/>
                <a:cs typeface="Calibri" pitchFamily="34" charset="-120"/>
              </a:rPr>
              <a:t> — </a:t>
            </a:r>
            <a:r>
              <a:rPr lang="en-US" sz="1400" b="1" dirty="0">
                <a:solidFill>
                  <a:srgbClr val="1F2937"/>
                </a:solidFill>
                <a:latin typeface="Calibri" pitchFamily="34" charset="0"/>
                <a:ea typeface="Calibri" pitchFamily="34" charset="-122"/>
                <a:cs typeface="Calibri" pitchFamily="34" charset="-120"/>
              </a:rPr>
              <a:t>append</a:t>
            </a:r>
            <a:r>
              <a:rPr lang="en-US" sz="1400" dirty="0">
                <a:solidFill>
                  <a:srgbClr val="1F2937"/>
                </a:solidFill>
                <a:latin typeface="Calibri" pitchFamily="34" charset="0"/>
                <a:ea typeface="Calibri" pitchFamily="34" charset="-122"/>
                <a:cs typeface="Calibri" pitchFamily="34" charset="-120"/>
              </a:rPr>
              <a:t> to the file instead of overwriting.</a:t>
            </a:r>
            <a:endParaRPr lang="en-US" sz="1400" dirty="0"/>
          </a:p>
        </p:txBody>
      </p:sp>
      <p:sp>
        <p:nvSpPr>
          <p:cNvPr id="9" name="Shape 7"/>
          <p:cNvSpPr/>
          <p:nvPr/>
        </p:nvSpPr>
        <p:spPr>
          <a:xfrm>
            <a:off x="457200" y="3644138"/>
            <a:ext cx="1005840" cy="292608"/>
          </a:xfrm>
          <a:prstGeom prst="rect">
            <a:avLst/>
          </a:prstGeom>
          <a:solidFill>
            <a:srgbClr val="B45309"/>
          </a:solidFill>
          <a:ln w="12700">
            <a:solidFill>
              <a:srgbClr val="B45309"/>
            </a:solidFill>
            <a:prstDash val="solid"/>
          </a:ln>
        </p:spPr>
        <p:txBody>
          <a:bodyPr/>
          <a:lstStyle/>
          <a:p>
            <a:endParaRPr lang="en-US"/>
          </a:p>
        </p:txBody>
      </p:sp>
      <p:sp>
        <p:nvSpPr>
          <p:cNvPr id="10" name="Text 8"/>
          <p:cNvSpPr/>
          <p:nvPr/>
        </p:nvSpPr>
        <p:spPr>
          <a:xfrm>
            <a:off x="457200" y="3644138"/>
            <a:ext cx="1005840" cy="292608"/>
          </a:xfrm>
          <a:prstGeom prst="rect">
            <a:avLst/>
          </a:prstGeom>
          <a:noFill/>
          <a:ln/>
        </p:spPr>
        <p:txBody>
          <a:bodyPr wrap="square" lIns="0" tIns="0" rIns="0" bIns="0" rtlCol="0" anchor="ctr"/>
          <a:lstStyle/>
          <a:p>
            <a:pPr marL="0" indent="0" algn="ctr">
              <a:buNone/>
            </a:pPr>
            <a:r>
              <a:rPr lang="en-US" sz="1100" b="1" kern="0" spc="200" dirty="0">
                <a:solidFill>
                  <a:srgbClr val="FFFFFF"/>
                </a:solidFill>
                <a:latin typeface="Calibri" pitchFamily="34" charset="0"/>
                <a:ea typeface="Calibri" pitchFamily="34" charset="-122"/>
                <a:cs typeface="Calibri" pitchFamily="34" charset="-120"/>
              </a:rPr>
              <a:t>WATCH OUT</a:t>
            </a:r>
            <a:endParaRPr lang="en-US" sz="1100" dirty="0"/>
          </a:p>
        </p:txBody>
      </p:sp>
      <p:sp>
        <p:nvSpPr>
          <p:cNvPr id="11" name="Text 9"/>
          <p:cNvSpPr/>
          <p:nvPr/>
        </p:nvSpPr>
        <p:spPr>
          <a:xfrm>
            <a:off x="548640" y="4073906"/>
            <a:ext cx="8046720" cy="619760"/>
          </a:xfrm>
          <a:prstGeom prst="rect">
            <a:avLst/>
          </a:prstGeom>
          <a:solidFill>
            <a:srgbClr val="FFFFFF"/>
          </a:solidFill>
          <a:ln/>
        </p:spPr>
        <p:txBody>
          <a:bodyPr wrap="square" lIns="0" tIns="0" rIns="0" bIns="0" rtlCol="0" anchor="t"/>
          <a:lstStyle/>
          <a:p>
            <a:pPr marL="228600" indent="-228600">
              <a:spcAft>
                <a:spcPts val="600"/>
              </a:spcAft>
              <a:buSzPct val="100000"/>
              <a:buChar char="■"/>
            </a:pPr>
            <a:r>
              <a:rPr lang="en-US" sz="1400" dirty="0">
                <a:solidFill>
                  <a:srgbClr val="1E2761"/>
                </a:solidFill>
                <a:latin typeface="Consolas" pitchFamily="34" charset="0"/>
                <a:ea typeface="Consolas" pitchFamily="34" charset="-122"/>
                <a:cs typeface="Consolas" pitchFamily="34" charset="-120"/>
              </a:rPr>
              <a:t>&gt;</a:t>
            </a:r>
            <a:r>
              <a:rPr lang="en-US" sz="1400" dirty="0">
                <a:solidFill>
                  <a:srgbClr val="1F2937"/>
                </a:solidFill>
                <a:latin typeface="Calibri" pitchFamily="34" charset="0"/>
                <a:ea typeface="Calibri" pitchFamily="34" charset="-122"/>
                <a:cs typeface="Calibri" pitchFamily="34" charset="-120"/>
              </a:rPr>
              <a:t> silently overwrites. If you meant </a:t>
            </a:r>
            <a:r>
              <a:rPr lang="en-US" sz="1400" dirty="0">
                <a:solidFill>
                  <a:srgbClr val="1E2761"/>
                </a:solidFill>
                <a:latin typeface="Consolas" pitchFamily="34" charset="0"/>
                <a:ea typeface="Consolas" pitchFamily="34" charset="-122"/>
                <a:cs typeface="Consolas" pitchFamily="34" charset="-120"/>
              </a:rPr>
              <a:t>&gt;&gt;</a:t>
            </a:r>
            <a:r>
              <a:rPr lang="en-US" sz="1400" dirty="0">
                <a:solidFill>
                  <a:srgbClr val="1F2937"/>
                </a:solidFill>
                <a:latin typeface="Calibri" pitchFamily="34" charset="0"/>
                <a:ea typeface="Calibri" pitchFamily="34" charset="-122"/>
                <a:cs typeface="Calibri" pitchFamily="34" charset="-120"/>
              </a:rPr>
              <a:t> and typed </a:t>
            </a:r>
            <a:r>
              <a:rPr lang="en-US" sz="1400" dirty="0">
                <a:solidFill>
                  <a:srgbClr val="1E2761"/>
                </a:solidFill>
                <a:latin typeface="Consolas" pitchFamily="34" charset="0"/>
                <a:ea typeface="Consolas" pitchFamily="34" charset="-122"/>
                <a:cs typeface="Consolas" pitchFamily="34" charset="-120"/>
              </a:rPr>
              <a:t>&gt;</a:t>
            </a:r>
            <a:r>
              <a:rPr lang="en-US" sz="1400" dirty="0">
                <a:solidFill>
                  <a:srgbClr val="1F2937"/>
                </a:solidFill>
                <a:latin typeface="Calibri" pitchFamily="34" charset="0"/>
                <a:ea typeface="Calibri" pitchFamily="34" charset="-122"/>
                <a:cs typeface="Calibri" pitchFamily="34" charset="-120"/>
              </a:rPr>
              <a:t>, your file is gone. </a:t>
            </a:r>
            <a:r>
              <a:rPr lang="en-US" sz="1400" b="1" dirty="0">
                <a:solidFill>
                  <a:srgbClr val="1F2937"/>
                </a:solidFill>
                <a:latin typeface="Calibri" pitchFamily="34" charset="0"/>
                <a:ea typeface="Calibri" pitchFamily="34" charset="-122"/>
                <a:cs typeface="Calibri" pitchFamily="34" charset="-120"/>
              </a:rPr>
              <a:t>Look before you press Enter.</a:t>
            </a:r>
            <a:endParaRPr lang="en-US" sz="14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a:effectLst/>
      </p:bgPr>
    </p:bg>
    <p:spTree>
      <p:nvGrpSpPr>
        <p:cNvPr id="1" name=""/>
        <p:cNvGrpSpPr/>
        <p:nvPr/>
      </p:nvGrpSpPr>
      <p:grpSpPr>
        <a:xfrm>
          <a:off x="0" y="0"/>
          <a:ext cx="0" cy="0"/>
          <a:chOff x="0" y="0"/>
          <a:chExt cx="0" cy="0"/>
        </a:xfrm>
      </p:grpSpPr>
      <p:pic>
        <p:nvPicPr>
          <p:cNvPr id="9" name="Picture 8" descr="access-footer.jpg"/>
          <p:cNvPicPr>
            <a:picLocks noChangeAspect="1"/>
          </p:cNvPicPr>
          <p:nvPr/>
        </p:nvPicPr>
        <p:blipFill>
          <a:blip r:embed="rId3"/>
          <a:stretch>
            <a:fillRect/>
          </a:stretch>
        </p:blipFill>
        <p:spPr>
          <a:xfrm>
            <a:off x="0" y="0"/>
            <a:ext cx="9144000" cy="5143500"/>
          </a:xfrm>
          <a:prstGeom prst="rect">
            <a:avLst/>
          </a:prstGeom>
        </p:spPr>
      </p:pic>
      <p:sp>
        <p:nvSpPr>
          <p:cNvPr id="2" name="Text 0"/>
          <p:cNvSpPr/>
          <p:nvPr/>
        </p:nvSpPr>
        <p:spPr>
          <a:xfrm>
            <a:off x="457200" y="274320"/>
            <a:ext cx="8229600" cy="594360"/>
          </a:xfrm>
          <a:prstGeom prst="rect">
            <a:avLst/>
          </a:prstGeom>
          <a:solidFill>
            <a:srgbClr val="FFFFFF"/>
          </a:solidFill>
          <a:ln/>
        </p:spPr>
        <p:txBody>
          <a:bodyPr wrap="square" lIns="0" tIns="0" rIns="0" bIns="0" rtlCol="0" anchor="ctr"/>
          <a:lstStyle/>
          <a:p>
            <a:pPr marL="0" indent="0">
              <a:buNone/>
            </a:pPr>
            <a:r>
              <a:rPr lang="en-US" sz="2800" b="1" dirty="0">
                <a:solidFill>
                  <a:srgbClr val="1E2761"/>
                </a:solidFill>
                <a:latin typeface="Cambria" pitchFamily="34" charset="0"/>
                <a:ea typeface="Cambria" pitchFamily="34" charset="-122"/>
                <a:cs typeface="Cambria" pitchFamily="34" charset="-120"/>
              </a:rPr>
              <a:t>Pipes: send output to another command</a:t>
            </a:r>
            <a:endParaRPr lang="en-US" sz="2800" dirty="0"/>
          </a:p>
        </p:txBody>
      </p:sp>
      <p:sp>
        <p:nvSpPr>
          <p:cNvPr id="3" name="Shape 1"/>
          <p:cNvSpPr/>
          <p:nvPr/>
        </p:nvSpPr>
        <p:spPr>
          <a:xfrm>
            <a:off x="457200" y="868680"/>
            <a:ext cx="548640" cy="36576"/>
          </a:xfrm>
          <a:prstGeom prst="rect">
            <a:avLst/>
          </a:prstGeom>
          <a:solidFill>
            <a:srgbClr val="1E2761"/>
          </a:solidFill>
          <a:ln w="12700">
            <a:solidFill>
              <a:srgbClr val="1E2761"/>
            </a:solidFill>
            <a:prstDash val="solid"/>
          </a:ln>
        </p:spPr>
        <p:txBody>
          <a:bodyPr/>
          <a:lstStyle/>
          <a:p>
            <a:endParaRPr lang="en-US"/>
          </a:p>
        </p:txBody>
      </p:sp>
      <p:sp>
        <p:nvSpPr>
          <p:cNvPr id="4" name="Shape 2"/>
          <p:cNvSpPr/>
          <p:nvPr/>
        </p:nvSpPr>
        <p:spPr>
          <a:xfrm>
            <a:off x="457200" y="1005840"/>
            <a:ext cx="1005840" cy="292608"/>
          </a:xfrm>
          <a:prstGeom prst="rect">
            <a:avLst/>
          </a:prstGeom>
          <a:solidFill>
            <a:srgbClr val="0369A1"/>
          </a:solidFill>
          <a:ln w="12700">
            <a:solidFill>
              <a:srgbClr val="0369A1"/>
            </a:solidFill>
            <a:prstDash val="solid"/>
          </a:ln>
        </p:spPr>
        <p:txBody>
          <a:bodyPr/>
          <a:lstStyle/>
          <a:p>
            <a:endParaRPr lang="en-US"/>
          </a:p>
        </p:txBody>
      </p:sp>
      <p:sp>
        <p:nvSpPr>
          <p:cNvPr id="5" name="Text 3"/>
          <p:cNvSpPr/>
          <p:nvPr/>
        </p:nvSpPr>
        <p:spPr>
          <a:xfrm>
            <a:off x="457200" y="1005840"/>
            <a:ext cx="1005840" cy="292608"/>
          </a:xfrm>
          <a:prstGeom prst="rect">
            <a:avLst/>
          </a:prstGeom>
          <a:noFill/>
          <a:ln/>
        </p:spPr>
        <p:txBody>
          <a:bodyPr wrap="square" lIns="0" tIns="0" rIns="0" bIns="0" rtlCol="0" anchor="ctr"/>
          <a:lstStyle/>
          <a:p>
            <a:pPr marL="0" indent="0" algn="ctr">
              <a:buNone/>
            </a:pPr>
            <a:r>
              <a:rPr lang="en-US" sz="1100" b="1" kern="0" spc="200" dirty="0">
                <a:solidFill>
                  <a:srgbClr val="FFFFFF"/>
                </a:solidFill>
                <a:latin typeface="Calibri" pitchFamily="34" charset="0"/>
                <a:ea typeface="Calibri" pitchFamily="34" charset="-122"/>
                <a:cs typeface="Calibri" pitchFamily="34" charset="-120"/>
              </a:rPr>
              <a:t>DEMO</a:t>
            </a:r>
            <a:endParaRPr lang="en-US" sz="1100" dirty="0"/>
          </a:p>
        </p:txBody>
      </p:sp>
      <p:sp>
        <p:nvSpPr>
          <p:cNvPr id="6" name="Shape 4"/>
          <p:cNvSpPr/>
          <p:nvPr/>
        </p:nvSpPr>
        <p:spPr>
          <a:xfrm>
            <a:off x="548640" y="1435608"/>
            <a:ext cx="8046720" cy="925830"/>
          </a:xfrm>
          <a:prstGeom prst="rect">
            <a:avLst/>
          </a:prstGeom>
          <a:solidFill>
            <a:srgbClr val="0F172A"/>
          </a:solidFill>
          <a:ln w="12700">
            <a:solidFill>
              <a:srgbClr val="0F172A"/>
            </a:solidFill>
            <a:prstDash val="solid"/>
          </a:ln>
        </p:spPr>
        <p:txBody>
          <a:bodyPr/>
          <a:lstStyle/>
          <a:p>
            <a:endParaRPr lang="en-US"/>
          </a:p>
        </p:txBody>
      </p:sp>
      <p:sp>
        <p:nvSpPr>
          <p:cNvPr id="7" name="Text 5"/>
          <p:cNvSpPr/>
          <p:nvPr/>
        </p:nvSpPr>
        <p:spPr>
          <a:xfrm>
            <a:off x="685800" y="1508760"/>
            <a:ext cx="7772400" cy="779526"/>
          </a:xfrm>
          <a:prstGeom prst="rect">
            <a:avLst/>
          </a:prstGeom>
          <a:noFill/>
          <a:ln/>
        </p:spPr>
        <p:txBody>
          <a:bodyPr wrap="square" lIns="0" tIns="0" rIns="0" bIns="0" rtlCol="0" anchor="t"/>
          <a:lstStyle/>
          <a:p>
            <a:pPr marL="0" indent="0">
              <a:buNone/>
            </a:pPr>
            <a:r>
              <a:rPr lang="en-US" sz="1500" dirty="0">
                <a:solidFill>
                  <a:srgbClr val="E2E8F0"/>
                </a:solidFill>
                <a:latin typeface="Consolas" pitchFamily="34" charset="0"/>
                <a:ea typeface="Consolas" pitchFamily="34" charset="-122"/>
                <a:cs typeface="Consolas" pitchFamily="34" charset="-120"/>
              </a:rPr>
              <a:t>$ ls /etc              # lots of output</a:t>
            </a:r>
            <a:endParaRPr lang="en-US" sz="1500" dirty="0"/>
          </a:p>
          <a:p>
            <a:pPr marL="0" indent="0">
              <a:buNone/>
            </a:pPr>
            <a:r>
              <a:rPr lang="en-US" sz="1500" dirty="0">
                <a:solidFill>
                  <a:srgbClr val="E2E8F0"/>
                </a:solidFill>
                <a:latin typeface="Consolas" pitchFamily="34" charset="0"/>
                <a:ea typeface="Consolas" pitchFamily="34" charset="-122"/>
                <a:cs typeface="Consolas" pitchFamily="34" charset="-120"/>
              </a:rPr>
              <a:t>$ ls /etc | less       # pipe into a pager</a:t>
            </a:r>
            <a:endParaRPr lang="en-US" sz="1500" dirty="0"/>
          </a:p>
          <a:p>
            <a:pPr marL="0" indent="0">
              <a:buNone/>
            </a:pPr>
            <a:r>
              <a:rPr lang="en-US" sz="1500" dirty="0">
                <a:solidFill>
                  <a:srgbClr val="E2E8F0"/>
                </a:solidFill>
                <a:latin typeface="Consolas" pitchFamily="34" charset="0"/>
                <a:ea typeface="Consolas" pitchFamily="34" charset="-122"/>
                <a:cs typeface="Consolas" pitchFamily="34" charset="-120"/>
              </a:rPr>
              <a:t>$ ls /etc | wc -l      # count lines</a:t>
            </a:r>
            <a:endParaRPr lang="en-US" sz="1500" dirty="0"/>
          </a:p>
        </p:txBody>
      </p:sp>
      <p:sp>
        <p:nvSpPr>
          <p:cNvPr id="8" name="Text 6"/>
          <p:cNvSpPr/>
          <p:nvPr/>
        </p:nvSpPr>
        <p:spPr>
          <a:xfrm>
            <a:off x="548640" y="2407158"/>
            <a:ext cx="8046720" cy="1051560"/>
          </a:xfrm>
          <a:prstGeom prst="rect">
            <a:avLst/>
          </a:prstGeom>
          <a:solidFill>
            <a:srgbClr val="FFFFFF"/>
          </a:solidFill>
          <a:ln/>
        </p:spPr>
        <p:txBody>
          <a:bodyPr wrap="square" lIns="0" tIns="0" rIns="0" bIns="0" rtlCol="0" anchor="t"/>
          <a:lstStyle/>
          <a:p>
            <a:pPr marL="228600" indent="-228600">
              <a:spcAft>
                <a:spcPts val="600"/>
              </a:spcAft>
              <a:buSzPct val="100000"/>
              <a:buChar char="■"/>
            </a:pPr>
            <a:r>
              <a:rPr lang="en-US" sz="1600" dirty="0">
                <a:solidFill>
                  <a:srgbClr val="1E2761"/>
                </a:solidFill>
                <a:latin typeface="Consolas" pitchFamily="34" charset="0"/>
                <a:ea typeface="Consolas" pitchFamily="34" charset="-122"/>
                <a:cs typeface="Consolas" pitchFamily="34" charset="-120"/>
              </a:rPr>
              <a:t>|</a:t>
            </a:r>
            <a:r>
              <a:rPr lang="en-US" sz="1600" dirty="0">
                <a:solidFill>
                  <a:srgbClr val="1F2937"/>
                </a:solidFill>
                <a:latin typeface="Calibri" pitchFamily="34" charset="0"/>
                <a:ea typeface="Calibri" pitchFamily="34" charset="-122"/>
                <a:cs typeface="Calibri" pitchFamily="34" charset="-120"/>
              </a:rPr>
              <a:t> (pipe) takes the output of the left command and feeds it to the right command.</a:t>
            </a:r>
            <a:endParaRPr lang="en-US" sz="1600" dirty="0"/>
          </a:p>
          <a:p>
            <a:pPr marL="228600" indent="-228600">
              <a:spcAft>
                <a:spcPts val="600"/>
              </a:spcAft>
              <a:buSzPct val="100000"/>
              <a:buChar char="■"/>
            </a:pPr>
            <a:r>
              <a:rPr lang="en-US" sz="1600" dirty="0">
                <a:solidFill>
                  <a:srgbClr val="1E2761"/>
                </a:solidFill>
                <a:latin typeface="Consolas" pitchFamily="34" charset="0"/>
                <a:ea typeface="Consolas" pitchFamily="34" charset="-122"/>
                <a:cs typeface="Consolas" pitchFamily="34" charset="-120"/>
              </a:rPr>
              <a:t>wc -l</a:t>
            </a:r>
            <a:r>
              <a:rPr lang="en-US" sz="1600" dirty="0">
                <a:solidFill>
                  <a:srgbClr val="1F2937"/>
                </a:solidFill>
                <a:latin typeface="Calibri" pitchFamily="34" charset="0"/>
                <a:ea typeface="Calibri" pitchFamily="34" charset="-122"/>
                <a:cs typeface="Calibri" pitchFamily="34" charset="-120"/>
              </a:rPr>
              <a:t> counts lines → answers "how many things in </a:t>
            </a:r>
            <a:r>
              <a:rPr lang="en-US" sz="1600" dirty="0">
                <a:solidFill>
                  <a:srgbClr val="1E2761"/>
                </a:solidFill>
                <a:latin typeface="Consolas" pitchFamily="34" charset="0"/>
                <a:ea typeface="Consolas" pitchFamily="34" charset="-122"/>
                <a:cs typeface="Consolas" pitchFamily="34" charset="-120"/>
              </a:rPr>
              <a:t>/etc</a:t>
            </a:r>
            <a:r>
              <a:rPr lang="en-US" sz="1600" dirty="0">
                <a:solidFill>
                  <a:srgbClr val="1F2937"/>
                </a:solidFill>
                <a:latin typeface="Calibri" pitchFamily="34" charset="0"/>
                <a:ea typeface="Calibri" pitchFamily="34" charset="-122"/>
                <a:cs typeface="Calibri" pitchFamily="34" charset="-120"/>
              </a:rPr>
              <a:t>?"</a:t>
            </a:r>
            <a:endParaRPr lang="en-US" sz="16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a:effectLst/>
      </p:bgPr>
    </p:bg>
    <p:spTree>
      <p:nvGrpSpPr>
        <p:cNvPr id="1" name=""/>
        <p:cNvGrpSpPr/>
        <p:nvPr/>
      </p:nvGrpSpPr>
      <p:grpSpPr>
        <a:xfrm>
          <a:off x="0" y="0"/>
          <a:ext cx="0" cy="0"/>
          <a:chOff x="0" y="0"/>
          <a:chExt cx="0" cy="0"/>
        </a:xfrm>
      </p:grpSpPr>
      <p:pic>
        <p:nvPicPr>
          <p:cNvPr id="9" name="Picture 8" descr="access-footer.jpg"/>
          <p:cNvPicPr>
            <a:picLocks noChangeAspect="1"/>
          </p:cNvPicPr>
          <p:nvPr/>
        </p:nvPicPr>
        <p:blipFill>
          <a:blip r:embed="rId3"/>
          <a:stretch>
            <a:fillRect/>
          </a:stretch>
        </p:blipFill>
        <p:spPr>
          <a:xfrm>
            <a:off x="0" y="0"/>
            <a:ext cx="9144000" cy="5143500"/>
          </a:xfrm>
          <a:prstGeom prst="rect">
            <a:avLst/>
          </a:prstGeom>
        </p:spPr>
      </p:pic>
      <p:sp>
        <p:nvSpPr>
          <p:cNvPr id="2" name="Text 0"/>
          <p:cNvSpPr/>
          <p:nvPr/>
        </p:nvSpPr>
        <p:spPr>
          <a:xfrm>
            <a:off x="457200" y="274320"/>
            <a:ext cx="8229600" cy="594360"/>
          </a:xfrm>
          <a:prstGeom prst="rect">
            <a:avLst/>
          </a:prstGeom>
          <a:solidFill>
            <a:srgbClr val="FFFFFF"/>
          </a:solidFill>
          <a:ln/>
        </p:spPr>
        <p:txBody>
          <a:bodyPr wrap="square" lIns="0" tIns="0" rIns="0" bIns="0" rtlCol="0" anchor="ctr"/>
          <a:lstStyle/>
          <a:p>
            <a:pPr marL="0" indent="0">
              <a:buNone/>
            </a:pPr>
            <a:r>
              <a:rPr lang="en-US" sz="2800" b="1" dirty="0">
                <a:solidFill>
                  <a:srgbClr val="1E2761"/>
                </a:solidFill>
                <a:latin typeface="Cambria" pitchFamily="34" charset="0"/>
                <a:ea typeface="Cambria" pitchFamily="34" charset="-122"/>
                <a:cs typeface="Cambria" pitchFamily="34" charset="-120"/>
              </a:rPr>
              <a:t>A real example: searching</a:t>
            </a:r>
            <a:endParaRPr lang="en-US" sz="2800" dirty="0"/>
          </a:p>
        </p:txBody>
      </p:sp>
      <p:sp>
        <p:nvSpPr>
          <p:cNvPr id="3" name="Shape 1"/>
          <p:cNvSpPr/>
          <p:nvPr/>
        </p:nvSpPr>
        <p:spPr>
          <a:xfrm>
            <a:off x="457200" y="868680"/>
            <a:ext cx="548640" cy="36576"/>
          </a:xfrm>
          <a:prstGeom prst="rect">
            <a:avLst/>
          </a:prstGeom>
          <a:solidFill>
            <a:srgbClr val="1E2761"/>
          </a:solidFill>
          <a:ln w="12700">
            <a:solidFill>
              <a:srgbClr val="1E2761"/>
            </a:solidFill>
            <a:prstDash val="solid"/>
          </a:ln>
        </p:spPr>
        <p:txBody>
          <a:bodyPr/>
          <a:lstStyle/>
          <a:p>
            <a:endParaRPr lang="en-US"/>
          </a:p>
        </p:txBody>
      </p:sp>
      <p:sp>
        <p:nvSpPr>
          <p:cNvPr id="4" name="Shape 2"/>
          <p:cNvSpPr/>
          <p:nvPr/>
        </p:nvSpPr>
        <p:spPr>
          <a:xfrm>
            <a:off x="457200" y="1005840"/>
            <a:ext cx="1005840" cy="292608"/>
          </a:xfrm>
          <a:prstGeom prst="rect">
            <a:avLst/>
          </a:prstGeom>
          <a:solidFill>
            <a:srgbClr val="0369A1"/>
          </a:solidFill>
          <a:ln w="12700">
            <a:solidFill>
              <a:srgbClr val="0369A1"/>
            </a:solidFill>
            <a:prstDash val="solid"/>
          </a:ln>
        </p:spPr>
        <p:txBody>
          <a:bodyPr/>
          <a:lstStyle/>
          <a:p>
            <a:endParaRPr lang="en-US"/>
          </a:p>
        </p:txBody>
      </p:sp>
      <p:sp>
        <p:nvSpPr>
          <p:cNvPr id="5" name="Text 3"/>
          <p:cNvSpPr/>
          <p:nvPr/>
        </p:nvSpPr>
        <p:spPr>
          <a:xfrm>
            <a:off x="457200" y="1005840"/>
            <a:ext cx="1005840" cy="292608"/>
          </a:xfrm>
          <a:prstGeom prst="rect">
            <a:avLst/>
          </a:prstGeom>
          <a:noFill/>
          <a:ln/>
        </p:spPr>
        <p:txBody>
          <a:bodyPr wrap="square" lIns="0" tIns="0" rIns="0" bIns="0" rtlCol="0" anchor="ctr"/>
          <a:lstStyle/>
          <a:p>
            <a:pPr marL="0" indent="0" algn="ctr">
              <a:buNone/>
            </a:pPr>
            <a:r>
              <a:rPr lang="en-US" sz="1100" b="1" kern="0" spc="200" dirty="0">
                <a:solidFill>
                  <a:srgbClr val="FFFFFF"/>
                </a:solidFill>
                <a:latin typeface="Calibri" pitchFamily="34" charset="0"/>
                <a:ea typeface="Calibri" pitchFamily="34" charset="-122"/>
                <a:cs typeface="Calibri" pitchFamily="34" charset="-120"/>
              </a:rPr>
              <a:t>DEMO</a:t>
            </a:r>
            <a:endParaRPr lang="en-US" sz="1100" dirty="0"/>
          </a:p>
        </p:txBody>
      </p:sp>
      <p:sp>
        <p:nvSpPr>
          <p:cNvPr id="6" name="Shape 4"/>
          <p:cNvSpPr/>
          <p:nvPr/>
        </p:nvSpPr>
        <p:spPr>
          <a:xfrm>
            <a:off x="548640" y="1435608"/>
            <a:ext cx="8046720" cy="1173480"/>
          </a:xfrm>
          <a:prstGeom prst="rect">
            <a:avLst/>
          </a:prstGeom>
          <a:solidFill>
            <a:srgbClr val="0F172A"/>
          </a:solidFill>
          <a:ln w="12700">
            <a:solidFill>
              <a:srgbClr val="0F172A"/>
            </a:solidFill>
            <a:prstDash val="solid"/>
          </a:ln>
        </p:spPr>
        <p:txBody>
          <a:bodyPr/>
          <a:lstStyle/>
          <a:p>
            <a:endParaRPr lang="en-US"/>
          </a:p>
        </p:txBody>
      </p:sp>
      <p:sp>
        <p:nvSpPr>
          <p:cNvPr id="7" name="Text 5"/>
          <p:cNvSpPr/>
          <p:nvPr/>
        </p:nvSpPr>
        <p:spPr>
          <a:xfrm>
            <a:off x="685800" y="1508760"/>
            <a:ext cx="7772400" cy="1027176"/>
          </a:xfrm>
          <a:prstGeom prst="rect">
            <a:avLst/>
          </a:prstGeom>
          <a:noFill/>
          <a:ln/>
        </p:spPr>
        <p:txBody>
          <a:bodyPr wrap="square" lIns="0" tIns="0" rIns="0" bIns="0" rtlCol="0" anchor="t"/>
          <a:lstStyle/>
          <a:p>
            <a:pPr marL="0" indent="0">
              <a:buNone/>
            </a:pPr>
            <a:r>
              <a:rPr lang="en-US" sz="1500" dirty="0">
                <a:solidFill>
                  <a:srgbClr val="E2E8F0"/>
                </a:solidFill>
                <a:latin typeface="Consolas" pitchFamily="34" charset="0"/>
                <a:ea typeface="Consolas" pitchFamily="34" charset="-122"/>
                <a:cs typeface="Consolas" pitchFamily="34" charset="-120"/>
              </a:rPr>
              <a:t>$ grep root /etc/passwd            # find lines mentioning root</a:t>
            </a:r>
            <a:endParaRPr lang="en-US" sz="1500" dirty="0"/>
          </a:p>
          <a:p>
            <a:pPr marL="0" indent="0">
              <a:buNone/>
            </a:pPr>
            <a:r>
              <a:rPr lang="en-US" sz="1500" dirty="0">
                <a:solidFill>
                  <a:srgbClr val="E2E8F0"/>
                </a:solidFill>
                <a:latin typeface="Consolas" pitchFamily="34" charset="0"/>
                <a:ea typeface="Consolas" pitchFamily="34" charset="-122"/>
                <a:cs typeface="Consolas" pitchFamily="34" charset="-120"/>
              </a:rPr>
              <a:t>$ cat /etc/passwd | grep root      # same idea, via pipe</a:t>
            </a:r>
            <a:endParaRPr lang="en-US" sz="1500" dirty="0"/>
          </a:p>
          <a:p>
            <a:pPr marL="0" indent="0">
              <a:buNone/>
            </a:pPr>
            <a:r>
              <a:rPr lang="en-US" sz="1500" dirty="0">
                <a:solidFill>
                  <a:srgbClr val="E2E8F0"/>
                </a:solidFill>
                <a:latin typeface="Consolas" pitchFamily="34" charset="0"/>
                <a:ea typeface="Consolas" pitchFamily="34" charset="-122"/>
                <a:cs typeface="Consolas" pitchFamily="34" charset="-120"/>
              </a:rPr>
              <a:t>$ cat /etc/passwd | wc -l          # how many users?</a:t>
            </a:r>
            <a:endParaRPr lang="en-US" sz="1500" dirty="0"/>
          </a:p>
          <a:p>
            <a:pPr marL="0" indent="0">
              <a:buNone/>
            </a:pPr>
            <a:r>
              <a:rPr lang="en-US" sz="1500" dirty="0">
                <a:solidFill>
                  <a:srgbClr val="E2E8F0"/>
                </a:solidFill>
                <a:latin typeface="Consolas" pitchFamily="34" charset="0"/>
                <a:ea typeface="Consolas" pitchFamily="34" charset="-122"/>
                <a:cs typeface="Consolas" pitchFamily="34" charset="-120"/>
              </a:rPr>
              <a:t>$ ls /usr/bin | grep python        # every python program in /usr/bin</a:t>
            </a:r>
            <a:endParaRPr lang="en-US" sz="1500" dirty="0"/>
          </a:p>
        </p:txBody>
      </p:sp>
      <p:sp>
        <p:nvSpPr>
          <p:cNvPr id="8" name="Text 6"/>
          <p:cNvSpPr/>
          <p:nvPr/>
        </p:nvSpPr>
        <p:spPr>
          <a:xfrm>
            <a:off x="548640" y="2654808"/>
            <a:ext cx="8046720" cy="370840"/>
          </a:xfrm>
          <a:prstGeom prst="rect">
            <a:avLst/>
          </a:prstGeom>
          <a:solidFill>
            <a:srgbClr val="FFFFFF"/>
          </a:solidFill>
          <a:ln/>
        </p:spPr>
        <p:txBody>
          <a:bodyPr wrap="square" lIns="0" tIns="0" rIns="0" bIns="0" rtlCol="0" anchor="t"/>
          <a:lstStyle/>
          <a:p>
            <a:pPr marL="228600" indent="-228600">
              <a:spcAft>
                <a:spcPts val="600"/>
              </a:spcAft>
              <a:buSzPct val="100000"/>
              <a:buChar char="■"/>
            </a:pPr>
            <a:r>
              <a:rPr lang="en-US" sz="1400" dirty="0">
                <a:solidFill>
                  <a:srgbClr val="1E2761"/>
                </a:solidFill>
                <a:latin typeface="Consolas" pitchFamily="34" charset="0"/>
                <a:ea typeface="Consolas" pitchFamily="34" charset="-122"/>
                <a:cs typeface="Consolas" pitchFamily="34" charset="-120"/>
              </a:rPr>
              <a:t>grep</a:t>
            </a:r>
            <a:r>
              <a:rPr lang="en-US" sz="1400" dirty="0">
                <a:solidFill>
                  <a:srgbClr val="1F2937"/>
                </a:solidFill>
                <a:latin typeface="Calibri" pitchFamily="34" charset="0"/>
                <a:ea typeface="Calibri" pitchFamily="34" charset="-122"/>
                <a:cs typeface="Calibri" pitchFamily="34" charset="-120"/>
              </a:rPr>
              <a:t> searches for a pattern in text.</a:t>
            </a:r>
            <a:endParaRPr lang="en-US" sz="14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a:effectLst/>
      </p:bgPr>
    </p:bg>
    <p:spTree>
      <p:nvGrpSpPr>
        <p:cNvPr id="1" name=""/>
        <p:cNvGrpSpPr/>
        <p:nvPr/>
      </p:nvGrpSpPr>
      <p:grpSpPr>
        <a:xfrm>
          <a:off x="0" y="0"/>
          <a:ext cx="0" cy="0"/>
          <a:chOff x="0" y="0"/>
          <a:chExt cx="0" cy="0"/>
        </a:xfrm>
      </p:grpSpPr>
      <p:pic>
        <p:nvPicPr>
          <p:cNvPr id="7" name="Picture 6" descr="access-footer.jpg"/>
          <p:cNvPicPr>
            <a:picLocks noChangeAspect="1"/>
          </p:cNvPicPr>
          <p:nvPr/>
        </p:nvPicPr>
        <p:blipFill>
          <a:blip r:embed="rId3"/>
          <a:stretch>
            <a:fillRect/>
          </a:stretch>
        </p:blipFill>
        <p:spPr>
          <a:xfrm>
            <a:off x="0" y="0"/>
            <a:ext cx="9144000" cy="5143500"/>
          </a:xfrm>
          <a:prstGeom prst="rect">
            <a:avLst/>
          </a:prstGeom>
        </p:spPr>
      </p:pic>
      <p:sp>
        <p:nvSpPr>
          <p:cNvPr id="2" name="Text 0"/>
          <p:cNvSpPr/>
          <p:nvPr/>
        </p:nvSpPr>
        <p:spPr>
          <a:xfrm>
            <a:off x="457200" y="274320"/>
            <a:ext cx="8229600" cy="594360"/>
          </a:xfrm>
          <a:prstGeom prst="rect">
            <a:avLst/>
          </a:prstGeom>
          <a:solidFill>
            <a:srgbClr val="FFFFFF"/>
          </a:solidFill>
          <a:ln/>
        </p:spPr>
        <p:txBody>
          <a:bodyPr wrap="square" lIns="0" tIns="0" rIns="0" bIns="0" rtlCol="0" anchor="ctr"/>
          <a:lstStyle/>
          <a:p>
            <a:pPr marL="0" indent="0">
              <a:buNone/>
            </a:pPr>
            <a:r>
              <a:rPr lang="en-US" sz="2800" b="1" dirty="0">
                <a:solidFill>
                  <a:srgbClr val="1E2761"/>
                </a:solidFill>
                <a:latin typeface="Cambria" pitchFamily="34" charset="0"/>
                <a:ea typeface="Cambria" pitchFamily="34" charset="-122"/>
                <a:cs typeface="Cambria" pitchFamily="34" charset="-120"/>
              </a:rPr>
              <a:t>The mental model</a:t>
            </a:r>
            <a:endParaRPr lang="en-US" sz="2800" dirty="0"/>
          </a:p>
        </p:txBody>
      </p:sp>
      <p:sp>
        <p:nvSpPr>
          <p:cNvPr id="3" name="Shape 1"/>
          <p:cNvSpPr/>
          <p:nvPr/>
        </p:nvSpPr>
        <p:spPr>
          <a:xfrm>
            <a:off x="457200" y="868680"/>
            <a:ext cx="548640" cy="36576"/>
          </a:xfrm>
          <a:prstGeom prst="rect">
            <a:avLst/>
          </a:prstGeom>
          <a:solidFill>
            <a:srgbClr val="1E2761"/>
          </a:solidFill>
          <a:ln w="12700">
            <a:solidFill>
              <a:srgbClr val="1E2761"/>
            </a:solidFill>
            <a:prstDash val="solid"/>
          </a:ln>
        </p:spPr>
        <p:txBody>
          <a:bodyPr/>
          <a:lstStyle/>
          <a:p>
            <a:endParaRPr lang="en-US"/>
          </a:p>
        </p:txBody>
      </p:sp>
      <p:sp>
        <p:nvSpPr>
          <p:cNvPr id="4" name="Shape 2"/>
          <p:cNvSpPr/>
          <p:nvPr/>
        </p:nvSpPr>
        <p:spPr>
          <a:xfrm>
            <a:off x="457200" y="1005840"/>
            <a:ext cx="1005840" cy="292608"/>
          </a:xfrm>
          <a:prstGeom prst="rect">
            <a:avLst/>
          </a:prstGeom>
          <a:solidFill>
            <a:srgbClr val="1E2761"/>
          </a:solidFill>
          <a:ln w="12700">
            <a:solidFill>
              <a:srgbClr val="1E2761"/>
            </a:solidFill>
            <a:prstDash val="solid"/>
          </a:ln>
        </p:spPr>
        <p:txBody>
          <a:bodyPr/>
          <a:lstStyle/>
          <a:p>
            <a:endParaRPr lang="en-US"/>
          </a:p>
        </p:txBody>
      </p:sp>
      <p:sp>
        <p:nvSpPr>
          <p:cNvPr id="5" name="Text 3"/>
          <p:cNvSpPr/>
          <p:nvPr/>
        </p:nvSpPr>
        <p:spPr>
          <a:xfrm>
            <a:off x="457200" y="1005840"/>
            <a:ext cx="1005840" cy="292608"/>
          </a:xfrm>
          <a:prstGeom prst="rect">
            <a:avLst/>
          </a:prstGeom>
          <a:noFill/>
          <a:ln/>
        </p:spPr>
        <p:txBody>
          <a:bodyPr wrap="square" lIns="0" tIns="0" rIns="0" bIns="0" rtlCol="0" anchor="ctr"/>
          <a:lstStyle/>
          <a:p>
            <a:pPr marL="0" indent="0" algn="ctr">
              <a:buNone/>
            </a:pPr>
            <a:r>
              <a:rPr lang="en-US" sz="1100" b="1" kern="0" spc="200" dirty="0">
                <a:solidFill>
                  <a:srgbClr val="FFFFFF"/>
                </a:solidFill>
                <a:latin typeface="Calibri" pitchFamily="34" charset="0"/>
                <a:ea typeface="Calibri" pitchFamily="34" charset="-122"/>
                <a:cs typeface="Calibri" pitchFamily="34" charset="-120"/>
              </a:rPr>
              <a:t>TALK</a:t>
            </a:r>
            <a:endParaRPr lang="en-US" sz="1100" dirty="0"/>
          </a:p>
        </p:txBody>
      </p:sp>
      <p:sp>
        <p:nvSpPr>
          <p:cNvPr id="6" name="Text 4"/>
          <p:cNvSpPr/>
          <p:nvPr/>
        </p:nvSpPr>
        <p:spPr>
          <a:xfrm>
            <a:off x="548640" y="1435608"/>
            <a:ext cx="8046720" cy="1772920"/>
          </a:xfrm>
          <a:prstGeom prst="rect">
            <a:avLst/>
          </a:prstGeom>
          <a:solidFill>
            <a:srgbClr val="FFFFFF"/>
          </a:solidFill>
          <a:ln/>
        </p:spPr>
        <p:txBody>
          <a:bodyPr wrap="square" lIns="0" tIns="0" rIns="0" bIns="0" rtlCol="0" anchor="t"/>
          <a:lstStyle/>
          <a:p>
            <a:pPr marL="228600" indent="-228600">
              <a:spcAft>
                <a:spcPts val="600"/>
              </a:spcAft>
              <a:buSzPct val="100000"/>
              <a:buChar char="■"/>
            </a:pPr>
            <a:r>
              <a:rPr lang="en-US" sz="1600" dirty="0">
                <a:solidFill>
                  <a:srgbClr val="1F2937"/>
                </a:solidFill>
                <a:latin typeface="Calibri" pitchFamily="34" charset="0"/>
                <a:ea typeface="Calibri" pitchFamily="34" charset="-122"/>
                <a:cs typeface="Calibri" pitchFamily="34" charset="-120"/>
              </a:rPr>
              <a:t>Each command is a </a:t>
            </a:r>
            <a:r>
              <a:rPr lang="en-US" sz="1600" b="1" dirty="0">
                <a:solidFill>
                  <a:srgbClr val="1F2937"/>
                </a:solidFill>
                <a:latin typeface="Calibri" pitchFamily="34" charset="0"/>
                <a:ea typeface="Calibri" pitchFamily="34" charset="-122"/>
                <a:cs typeface="Calibri" pitchFamily="34" charset="-120"/>
              </a:rPr>
              <a:t>little factory</a:t>
            </a:r>
            <a:r>
              <a:rPr lang="en-US" sz="1600" dirty="0">
                <a:solidFill>
                  <a:srgbClr val="1F2937"/>
                </a:solidFill>
                <a:latin typeface="Calibri" pitchFamily="34" charset="0"/>
                <a:ea typeface="Calibri" pitchFamily="34" charset="-122"/>
                <a:cs typeface="Calibri" pitchFamily="34" charset="-120"/>
              </a:rPr>
              <a:t> with an input and an output.</a:t>
            </a:r>
            <a:endParaRPr lang="en-US" sz="1600" dirty="0"/>
          </a:p>
          <a:p>
            <a:pPr marL="228600" indent="-228600">
              <a:spcAft>
                <a:spcPts val="600"/>
              </a:spcAft>
              <a:buSzPct val="100000"/>
              <a:buChar char="■"/>
            </a:pPr>
            <a:r>
              <a:rPr lang="en-US" sz="1600" dirty="0">
                <a:solidFill>
                  <a:srgbClr val="1E2761"/>
                </a:solidFill>
                <a:latin typeface="Consolas" pitchFamily="34" charset="0"/>
                <a:ea typeface="Consolas" pitchFamily="34" charset="-122"/>
                <a:cs typeface="Consolas" pitchFamily="34" charset="-120"/>
              </a:rPr>
              <a:t>|</a:t>
            </a:r>
            <a:r>
              <a:rPr lang="en-US" sz="1600" dirty="0">
                <a:solidFill>
                  <a:srgbClr val="1F2937"/>
                </a:solidFill>
                <a:latin typeface="Calibri" pitchFamily="34" charset="0"/>
                <a:ea typeface="Calibri" pitchFamily="34" charset="-122"/>
                <a:cs typeface="Calibri" pitchFamily="34" charset="-120"/>
              </a:rPr>
              <a:t> is a </a:t>
            </a:r>
            <a:r>
              <a:rPr lang="en-US" sz="1600" b="1" dirty="0">
                <a:solidFill>
                  <a:srgbClr val="1F2937"/>
                </a:solidFill>
                <a:latin typeface="Calibri" pitchFamily="34" charset="0"/>
                <a:ea typeface="Calibri" pitchFamily="34" charset="-122"/>
                <a:cs typeface="Calibri" pitchFamily="34" charset="-120"/>
              </a:rPr>
              <a:t>conveyor belt</a:t>
            </a:r>
            <a:r>
              <a:rPr lang="en-US" sz="1600" dirty="0">
                <a:solidFill>
                  <a:srgbClr val="1F2937"/>
                </a:solidFill>
                <a:latin typeface="Calibri" pitchFamily="34" charset="0"/>
                <a:ea typeface="Calibri" pitchFamily="34" charset="-122"/>
                <a:cs typeface="Calibri" pitchFamily="34" charset="-120"/>
              </a:rPr>
              <a:t> between factories.</a:t>
            </a:r>
            <a:endParaRPr lang="en-US" sz="1600" dirty="0"/>
          </a:p>
          <a:p>
            <a:pPr marL="228600" indent="-228600">
              <a:spcAft>
                <a:spcPts val="600"/>
              </a:spcAft>
              <a:buSzPct val="100000"/>
              <a:buChar char="■"/>
            </a:pPr>
            <a:r>
              <a:rPr lang="en-US" sz="1600" dirty="0">
                <a:solidFill>
                  <a:srgbClr val="1E2761"/>
                </a:solidFill>
                <a:latin typeface="Consolas" pitchFamily="34" charset="0"/>
                <a:ea typeface="Consolas" pitchFamily="34" charset="-122"/>
                <a:cs typeface="Consolas" pitchFamily="34" charset="-120"/>
              </a:rPr>
              <a:t>&gt;</a:t>
            </a:r>
            <a:r>
              <a:rPr lang="en-US" sz="1600" dirty="0">
                <a:solidFill>
                  <a:srgbClr val="1F2937"/>
                </a:solidFill>
                <a:latin typeface="Calibri" pitchFamily="34" charset="0"/>
                <a:ea typeface="Calibri" pitchFamily="34" charset="-122"/>
                <a:cs typeface="Calibri" pitchFamily="34" charset="-120"/>
              </a:rPr>
              <a:t> and </a:t>
            </a:r>
            <a:r>
              <a:rPr lang="en-US" sz="1600" dirty="0">
                <a:solidFill>
                  <a:srgbClr val="1E2761"/>
                </a:solidFill>
                <a:latin typeface="Consolas" pitchFamily="34" charset="0"/>
                <a:ea typeface="Consolas" pitchFamily="34" charset="-122"/>
                <a:cs typeface="Consolas" pitchFamily="34" charset="-120"/>
              </a:rPr>
              <a:t>&gt;&gt;</a:t>
            </a:r>
            <a:r>
              <a:rPr lang="en-US" sz="1600" dirty="0">
                <a:solidFill>
                  <a:srgbClr val="1F2937"/>
                </a:solidFill>
                <a:latin typeface="Calibri" pitchFamily="34" charset="0"/>
                <a:ea typeface="Calibri" pitchFamily="34" charset="-122"/>
                <a:cs typeface="Calibri" pitchFamily="34" charset="-120"/>
              </a:rPr>
              <a:t> are </a:t>
            </a:r>
            <a:r>
              <a:rPr lang="en-US" sz="1600" b="1" dirty="0">
                <a:solidFill>
                  <a:srgbClr val="1F2937"/>
                </a:solidFill>
                <a:latin typeface="Calibri" pitchFamily="34" charset="0"/>
                <a:ea typeface="Calibri" pitchFamily="34" charset="-122"/>
                <a:cs typeface="Calibri" pitchFamily="34" charset="-120"/>
              </a:rPr>
              <a:t>drains</a:t>
            </a:r>
            <a:r>
              <a:rPr lang="en-US" sz="1600" dirty="0">
                <a:solidFill>
                  <a:srgbClr val="1F2937"/>
                </a:solidFill>
                <a:latin typeface="Calibri" pitchFamily="34" charset="0"/>
                <a:ea typeface="Calibri" pitchFamily="34" charset="-122"/>
                <a:cs typeface="Calibri" pitchFamily="34" charset="-120"/>
              </a:rPr>
              <a:t> into a file.</a:t>
            </a:r>
            <a:endParaRPr lang="en-US" sz="1600" dirty="0"/>
          </a:p>
          <a:p>
            <a:pPr marL="228600" indent="-228600">
              <a:spcAft>
                <a:spcPts val="600"/>
              </a:spcAft>
              <a:buSzPct val="100000"/>
              <a:buChar char="■"/>
            </a:pPr>
            <a:r>
              <a:rPr lang="en-US" sz="1600" dirty="0">
                <a:solidFill>
                  <a:srgbClr val="1F2937"/>
                </a:solidFill>
                <a:latin typeface="Calibri" pitchFamily="34" charset="0"/>
                <a:ea typeface="Calibri" pitchFamily="34" charset="-122"/>
                <a:cs typeface="Calibri" pitchFamily="34" charset="-120"/>
              </a:rPr>
              <a:t>Chain as many as you like. This is how short shell commands solve big problems.</a:t>
            </a:r>
            <a:endParaRPr lang="en-US" sz="16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FFFFF"/>
        </a:solidFill>
        <a:effectLst/>
      </p:bgPr>
    </p:bg>
    <p:spTree>
      <p:nvGrpSpPr>
        <p:cNvPr id="1" name=""/>
        <p:cNvGrpSpPr/>
        <p:nvPr/>
      </p:nvGrpSpPr>
      <p:grpSpPr>
        <a:xfrm>
          <a:off x="0" y="0"/>
          <a:ext cx="0" cy="0"/>
          <a:chOff x="0" y="0"/>
          <a:chExt cx="0" cy="0"/>
        </a:xfrm>
      </p:grpSpPr>
      <p:pic>
        <p:nvPicPr>
          <p:cNvPr id="7" name="Picture 6" descr="access-footer.jpg"/>
          <p:cNvPicPr>
            <a:picLocks noChangeAspect="1"/>
          </p:cNvPicPr>
          <p:nvPr/>
        </p:nvPicPr>
        <p:blipFill>
          <a:blip r:embed="rId3"/>
          <a:stretch>
            <a:fillRect/>
          </a:stretch>
        </p:blipFill>
        <p:spPr>
          <a:xfrm>
            <a:off x="0" y="0"/>
            <a:ext cx="9144000" cy="5143500"/>
          </a:xfrm>
          <a:prstGeom prst="rect">
            <a:avLst/>
          </a:prstGeom>
        </p:spPr>
      </p:pic>
      <p:sp>
        <p:nvSpPr>
          <p:cNvPr id="2" name="Text 0"/>
          <p:cNvSpPr/>
          <p:nvPr/>
        </p:nvSpPr>
        <p:spPr>
          <a:xfrm>
            <a:off x="457200" y="274320"/>
            <a:ext cx="8229600" cy="594360"/>
          </a:xfrm>
          <a:prstGeom prst="rect">
            <a:avLst/>
          </a:prstGeom>
          <a:solidFill>
            <a:srgbClr val="FFFFFF"/>
          </a:solidFill>
          <a:ln/>
        </p:spPr>
        <p:txBody>
          <a:bodyPr wrap="square" lIns="0" tIns="0" rIns="0" bIns="0" rtlCol="0" anchor="ctr"/>
          <a:lstStyle/>
          <a:p>
            <a:pPr marL="0" indent="0">
              <a:buNone/>
            </a:pPr>
            <a:r>
              <a:rPr lang="en-US" sz="2800" b="1" dirty="0">
                <a:solidFill>
                  <a:srgbClr val="1E2761"/>
                </a:solidFill>
                <a:latin typeface="Cambria" pitchFamily="34" charset="0"/>
                <a:ea typeface="Cambria" pitchFamily="34" charset="-122"/>
                <a:cs typeface="Cambria" pitchFamily="34" charset="-120"/>
              </a:rPr>
              <a:t>Exercise: compose a one-liner</a:t>
            </a:r>
            <a:endParaRPr lang="en-US" sz="2800" dirty="0"/>
          </a:p>
        </p:txBody>
      </p:sp>
      <p:sp>
        <p:nvSpPr>
          <p:cNvPr id="3" name="Shape 1"/>
          <p:cNvSpPr/>
          <p:nvPr/>
        </p:nvSpPr>
        <p:spPr>
          <a:xfrm>
            <a:off x="457200" y="868680"/>
            <a:ext cx="548640" cy="36576"/>
          </a:xfrm>
          <a:prstGeom prst="rect">
            <a:avLst/>
          </a:prstGeom>
          <a:solidFill>
            <a:srgbClr val="1E2761"/>
          </a:solidFill>
          <a:ln w="12700">
            <a:solidFill>
              <a:srgbClr val="1E2761"/>
            </a:solidFill>
            <a:prstDash val="solid"/>
          </a:ln>
        </p:spPr>
        <p:txBody>
          <a:bodyPr/>
          <a:lstStyle/>
          <a:p>
            <a:endParaRPr lang="en-US"/>
          </a:p>
        </p:txBody>
      </p:sp>
      <p:sp>
        <p:nvSpPr>
          <p:cNvPr id="4" name="Shape 2"/>
          <p:cNvSpPr/>
          <p:nvPr/>
        </p:nvSpPr>
        <p:spPr>
          <a:xfrm>
            <a:off x="457200" y="1005840"/>
            <a:ext cx="1005840" cy="292608"/>
          </a:xfrm>
          <a:prstGeom prst="rect">
            <a:avLst/>
          </a:prstGeom>
          <a:solidFill>
            <a:srgbClr val="047857"/>
          </a:solidFill>
          <a:ln w="12700">
            <a:solidFill>
              <a:srgbClr val="047857"/>
            </a:solidFill>
            <a:prstDash val="solid"/>
          </a:ln>
        </p:spPr>
        <p:txBody>
          <a:bodyPr/>
          <a:lstStyle/>
          <a:p>
            <a:endParaRPr lang="en-US"/>
          </a:p>
        </p:txBody>
      </p:sp>
      <p:sp>
        <p:nvSpPr>
          <p:cNvPr id="5" name="Text 3"/>
          <p:cNvSpPr/>
          <p:nvPr/>
        </p:nvSpPr>
        <p:spPr>
          <a:xfrm>
            <a:off x="457200" y="1005840"/>
            <a:ext cx="1005840" cy="292608"/>
          </a:xfrm>
          <a:prstGeom prst="rect">
            <a:avLst/>
          </a:prstGeom>
          <a:noFill/>
          <a:ln/>
        </p:spPr>
        <p:txBody>
          <a:bodyPr wrap="square" lIns="0" tIns="0" rIns="0" bIns="0" rtlCol="0" anchor="ctr"/>
          <a:lstStyle/>
          <a:p>
            <a:pPr marL="0" indent="0" algn="ctr">
              <a:buNone/>
            </a:pPr>
            <a:r>
              <a:rPr lang="en-US" sz="1100" b="1" kern="0" spc="200" dirty="0">
                <a:solidFill>
                  <a:srgbClr val="FFFFFF"/>
                </a:solidFill>
                <a:latin typeface="Calibri" pitchFamily="34" charset="0"/>
                <a:ea typeface="Calibri" pitchFamily="34" charset="-122"/>
                <a:cs typeface="Calibri" pitchFamily="34" charset="-120"/>
              </a:rPr>
              <a:t>EXERCISE</a:t>
            </a:r>
            <a:endParaRPr lang="en-US" sz="1100" dirty="0"/>
          </a:p>
        </p:txBody>
      </p:sp>
      <p:sp>
        <p:nvSpPr>
          <p:cNvPr id="6" name="Text 4"/>
          <p:cNvSpPr/>
          <p:nvPr/>
        </p:nvSpPr>
        <p:spPr>
          <a:xfrm>
            <a:off x="548640" y="1435608"/>
            <a:ext cx="8046720" cy="1844040"/>
          </a:xfrm>
          <a:prstGeom prst="rect">
            <a:avLst/>
          </a:prstGeom>
          <a:solidFill>
            <a:srgbClr val="FFFFFF"/>
          </a:solidFill>
          <a:ln/>
        </p:spPr>
        <p:txBody>
          <a:bodyPr wrap="square" lIns="0" tIns="0" rIns="0" bIns="0" rtlCol="0" anchor="t"/>
          <a:lstStyle/>
          <a:p>
            <a:pPr marL="279400" indent="-279400">
              <a:spcAft>
                <a:spcPts val="600"/>
              </a:spcAft>
              <a:buSzPct val="100000"/>
              <a:buFont typeface="+mj-lt"/>
              <a:buAutoNum type="arabicPeriod"/>
            </a:pPr>
            <a:r>
              <a:rPr lang="en-US" sz="1400" dirty="0">
                <a:solidFill>
                  <a:srgbClr val="1F2937"/>
                </a:solidFill>
                <a:latin typeface="Calibri" pitchFamily="34" charset="0"/>
                <a:ea typeface="Calibri" pitchFamily="34" charset="-122"/>
                <a:cs typeface="Calibri" pitchFamily="34" charset="-120"/>
              </a:rPr>
              <a:t>Count how many lines are in </a:t>
            </a:r>
            <a:r>
              <a:rPr lang="en-US" sz="1400" dirty="0">
                <a:solidFill>
                  <a:srgbClr val="1E2761"/>
                </a:solidFill>
                <a:latin typeface="Consolas" pitchFamily="34" charset="0"/>
                <a:ea typeface="Consolas" pitchFamily="34" charset="-122"/>
                <a:cs typeface="Consolas" pitchFamily="34" charset="-120"/>
              </a:rPr>
              <a:t>/etc/services</a:t>
            </a:r>
            <a:r>
              <a:rPr lang="en-US" sz="1400" dirty="0">
                <a:solidFill>
                  <a:srgbClr val="1F2937"/>
                </a:solidFill>
                <a:latin typeface="Calibri" pitchFamily="34" charset="0"/>
                <a:ea typeface="Calibri" pitchFamily="34" charset="-122"/>
                <a:cs typeface="Calibri" pitchFamily="34" charset="-120"/>
              </a:rPr>
              <a:t>.   (hint: </a:t>
            </a:r>
            <a:r>
              <a:rPr lang="en-US" sz="1400" dirty="0">
                <a:solidFill>
                  <a:srgbClr val="1E2761"/>
                </a:solidFill>
                <a:latin typeface="Consolas" pitchFamily="34" charset="0"/>
                <a:ea typeface="Consolas" pitchFamily="34" charset="-122"/>
                <a:cs typeface="Consolas" pitchFamily="34" charset="-120"/>
              </a:rPr>
              <a:t>wc -l /etc/services</a:t>
            </a:r>
            <a:r>
              <a:rPr lang="en-US" sz="1400" dirty="0">
                <a:solidFill>
                  <a:srgbClr val="1F2937"/>
                </a:solidFill>
                <a:latin typeface="Calibri" pitchFamily="34" charset="0"/>
                <a:ea typeface="Calibri" pitchFamily="34" charset="-122"/>
                <a:cs typeface="Calibri" pitchFamily="34" charset="-120"/>
              </a:rPr>
              <a:t>)</a:t>
            </a:r>
            <a:endParaRPr lang="en-US" sz="1400" dirty="0"/>
          </a:p>
          <a:p>
            <a:pPr marL="279400" indent="-279400">
              <a:spcAft>
                <a:spcPts val="600"/>
              </a:spcAft>
              <a:buSzPct val="100000"/>
              <a:buFont typeface="+mj-lt"/>
              <a:buAutoNum type="arabicPeriod"/>
            </a:pPr>
            <a:r>
              <a:rPr lang="en-US" sz="1400" dirty="0">
                <a:solidFill>
                  <a:srgbClr val="1F2937"/>
                </a:solidFill>
                <a:latin typeface="Calibri" pitchFamily="34" charset="0"/>
                <a:ea typeface="Calibri" pitchFamily="34" charset="-122"/>
                <a:cs typeface="Calibri" pitchFamily="34" charset="-120"/>
              </a:rPr>
              <a:t>Find lines in </a:t>
            </a:r>
            <a:r>
              <a:rPr lang="en-US" sz="1400" dirty="0">
                <a:solidFill>
                  <a:srgbClr val="1E2761"/>
                </a:solidFill>
                <a:latin typeface="Consolas" pitchFamily="34" charset="0"/>
                <a:ea typeface="Consolas" pitchFamily="34" charset="-122"/>
                <a:cs typeface="Consolas" pitchFamily="34" charset="-120"/>
              </a:rPr>
              <a:t>/etc/services</a:t>
            </a:r>
            <a:r>
              <a:rPr lang="en-US" sz="1400" dirty="0">
                <a:solidFill>
                  <a:srgbClr val="1F2937"/>
                </a:solidFill>
                <a:latin typeface="Calibri" pitchFamily="34" charset="0"/>
                <a:ea typeface="Calibri" pitchFamily="34" charset="-122"/>
                <a:cs typeface="Calibri" pitchFamily="34" charset="-120"/>
              </a:rPr>
              <a:t> that mention </a:t>
            </a:r>
            <a:r>
              <a:rPr lang="en-US" sz="1400" dirty="0">
                <a:solidFill>
                  <a:srgbClr val="1E2761"/>
                </a:solidFill>
                <a:latin typeface="Consolas" pitchFamily="34" charset="0"/>
                <a:ea typeface="Consolas" pitchFamily="34" charset="-122"/>
                <a:cs typeface="Consolas" pitchFamily="34" charset="-120"/>
              </a:rPr>
              <a:t>http</a:t>
            </a:r>
            <a:r>
              <a:rPr lang="en-US" sz="1400" dirty="0">
                <a:solidFill>
                  <a:srgbClr val="1F2937"/>
                </a:solidFill>
                <a:latin typeface="Calibri" pitchFamily="34" charset="0"/>
                <a:ea typeface="Calibri" pitchFamily="34" charset="-122"/>
                <a:cs typeface="Calibri" pitchFamily="34" charset="-120"/>
              </a:rPr>
              <a:t>.   (hint: </a:t>
            </a:r>
            <a:r>
              <a:rPr lang="en-US" sz="1400" dirty="0">
                <a:solidFill>
                  <a:srgbClr val="1E2761"/>
                </a:solidFill>
                <a:latin typeface="Consolas" pitchFamily="34" charset="0"/>
                <a:ea typeface="Consolas" pitchFamily="34" charset="-122"/>
                <a:cs typeface="Consolas" pitchFamily="34" charset="-120"/>
              </a:rPr>
              <a:t>grep http /etc/services</a:t>
            </a:r>
            <a:r>
              <a:rPr lang="en-US" sz="1400" dirty="0">
                <a:solidFill>
                  <a:srgbClr val="1F2937"/>
                </a:solidFill>
                <a:latin typeface="Calibri" pitchFamily="34" charset="0"/>
                <a:ea typeface="Calibri" pitchFamily="34" charset="-122"/>
                <a:cs typeface="Calibri" pitchFamily="34" charset="-120"/>
              </a:rPr>
              <a:t>)</a:t>
            </a:r>
            <a:endParaRPr lang="en-US" sz="1400" dirty="0"/>
          </a:p>
          <a:p>
            <a:pPr marL="279400" indent="-279400">
              <a:spcAft>
                <a:spcPts val="600"/>
              </a:spcAft>
              <a:buSzPct val="100000"/>
              <a:buFont typeface="+mj-lt"/>
              <a:buAutoNum type="arabicPeriod"/>
            </a:pPr>
            <a:r>
              <a:rPr lang="en-US" sz="1400" dirty="0">
                <a:solidFill>
                  <a:srgbClr val="1F2937"/>
                </a:solidFill>
                <a:latin typeface="Calibri" pitchFamily="34" charset="0"/>
                <a:ea typeface="Calibri" pitchFamily="34" charset="-122"/>
                <a:cs typeface="Calibri" pitchFamily="34" charset="-120"/>
              </a:rPr>
              <a:t>Count how many lines in </a:t>
            </a:r>
            <a:r>
              <a:rPr lang="en-US" sz="1400" dirty="0">
                <a:solidFill>
                  <a:srgbClr val="1E2761"/>
                </a:solidFill>
                <a:latin typeface="Consolas" pitchFamily="34" charset="0"/>
                <a:ea typeface="Consolas" pitchFamily="34" charset="-122"/>
                <a:cs typeface="Consolas" pitchFamily="34" charset="-120"/>
              </a:rPr>
              <a:t>/etc/services</a:t>
            </a:r>
            <a:r>
              <a:rPr lang="en-US" sz="1400" dirty="0">
                <a:solidFill>
                  <a:srgbClr val="1F2937"/>
                </a:solidFill>
                <a:latin typeface="Calibri" pitchFamily="34" charset="0"/>
                <a:ea typeface="Calibri" pitchFamily="34" charset="-122"/>
                <a:cs typeface="Calibri" pitchFamily="34" charset="-120"/>
              </a:rPr>
              <a:t> mention </a:t>
            </a:r>
            <a:r>
              <a:rPr lang="en-US" sz="1400" dirty="0">
                <a:solidFill>
                  <a:srgbClr val="1E2761"/>
                </a:solidFill>
                <a:latin typeface="Consolas" pitchFamily="34" charset="0"/>
                <a:ea typeface="Consolas" pitchFamily="34" charset="-122"/>
                <a:cs typeface="Consolas" pitchFamily="34" charset="-120"/>
              </a:rPr>
              <a:t>http</a:t>
            </a:r>
            <a:r>
              <a:rPr lang="en-US" sz="1400" dirty="0">
                <a:solidFill>
                  <a:srgbClr val="1F2937"/>
                </a:solidFill>
                <a:latin typeface="Calibri" pitchFamily="34" charset="0"/>
                <a:ea typeface="Calibri" pitchFamily="34" charset="-122"/>
                <a:cs typeface="Calibri" pitchFamily="34" charset="-120"/>
              </a:rPr>
              <a:t>.   (combine grep and wc with </a:t>
            </a:r>
            <a:r>
              <a:rPr lang="en-US" sz="1400" dirty="0">
                <a:solidFill>
                  <a:srgbClr val="1E2761"/>
                </a:solidFill>
                <a:latin typeface="Consolas" pitchFamily="34" charset="0"/>
                <a:ea typeface="Consolas" pitchFamily="34" charset="-122"/>
                <a:cs typeface="Consolas" pitchFamily="34" charset="-120"/>
              </a:rPr>
              <a:t>|</a:t>
            </a:r>
            <a:r>
              <a:rPr lang="en-US" sz="1400" dirty="0">
                <a:solidFill>
                  <a:srgbClr val="1F2937"/>
                </a:solidFill>
                <a:latin typeface="Calibri" pitchFamily="34" charset="0"/>
                <a:ea typeface="Calibri" pitchFamily="34" charset="-122"/>
                <a:cs typeface="Calibri" pitchFamily="34" charset="-120"/>
              </a:rPr>
              <a:t>)</a:t>
            </a:r>
            <a:endParaRPr lang="en-US" sz="1400" dirty="0"/>
          </a:p>
          <a:p>
            <a:pPr marL="279400" indent="-279400">
              <a:spcAft>
                <a:spcPts val="600"/>
              </a:spcAft>
              <a:buSzPct val="100000"/>
              <a:buFont typeface="+mj-lt"/>
              <a:buAutoNum type="arabicPeriod"/>
            </a:pPr>
            <a:r>
              <a:rPr lang="en-US" sz="1400" dirty="0">
                <a:solidFill>
                  <a:srgbClr val="1F2937"/>
                </a:solidFill>
                <a:latin typeface="Calibri" pitchFamily="34" charset="0"/>
                <a:ea typeface="Calibri" pitchFamily="34" charset="-122"/>
                <a:cs typeface="Calibri" pitchFamily="34" charset="-120"/>
              </a:rPr>
              <a:t>Save the </a:t>
            </a:r>
            <a:r>
              <a:rPr lang="en-US" sz="1400" dirty="0">
                <a:solidFill>
                  <a:srgbClr val="1E2761"/>
                </a:solidFill>
                <a:latin typeface="Consolas" pitchFamily="34" charset="0"/>
                <a:ea typeface="Consolas" pitchFamily="34" charset="-122"/>
                <a:cs typeface="Consolas" pitchFamily="34" charset="-120"/>
              </a:rPr>
              <a:t>http</a:t>
            </a:r>
            <a:r>
              <a:rPr lang="en-US" sz="1400" dirty="0">
                <a:solidFill>
                  <a:srgbClr val="1F2937"/>
                </a:solidFill>
                <a:latin typeface="Calibri" pitchFamily="34" charset="0"/>
                <a:ea typeface="Calibri" pitchFamily="34" charset="-122"/>
                <a:cs typeface="Calibri" pitchFamily="34" charset="-120"/>
              </a:rPr>
              <a:t> lines into </a:t>
            </a:r>
            <a:r>
              <a:rPr lang="en-US" sz="1400" dirty="0">
                <a:solidFill>
                  <a:srgbClr val="1E2761"/>
                </a:solidFill>
                <a:latin typeface="Consolas" pitchFamily="34" charset="0"/>
                <a:ea typeface="Consolas" pitchFamily="34" charset="-122"/>
                <a:cs typeface="Consolas" pitchFamily="34" charset="-120"/>
              </a:rPr>
              <a:t>~/http-lines.txt</a:t>
            </a:r>
            <a:r>
              <a:rPr lang="en-US" sz="1400" dirty="0">
                <a:solidFill>
                  <a:srgbClr val="1F2937"/>
                </a:solidFill>
                <a:latin typeface="Calibri" pitchFamily="34" charset="0"/>
                <a:ea typeface="Calibri" pitchFamily="34" charset="-122"/>
                <a:cs typeface="Calibri" pitchFamily="34" charset="-120"/>
              </a:rPr>
              <a:t>.   (combine grep and </a:t>
            </a:r>
            <a:r>
              <a:rPr lang="en-US" sz="1400" dirty="0">
                <a:solidFill>
                  <a:srgbClr val="1E2761"/>
                </a:solidFill>
                <a:latin typeface="Consolas" pitchFamily="34" charset="0"/>
                <a:ea typeface="Consolas" pitchFamily="34" charset="-122"/>
                <a:cs typeface="Consolas" pitchFamily="34" charset="-120"/>
              </a:rPr>
              <a:t>&gt;</a:t>
            </a:r>
            <a:r>
              <a:rPr lang="en-US" sz="1400" dirty="0">
                <a:solidFill>
                  <a:srgbClr val="1F2937"/>
                </a:solidFill>
                <a:latin typeface="Calibri" pitchFamily="34" charset="0"/>
                <a:ea typeface="Calibri" pitchFamily="34" charset="-122"/>
                <a:cs typeface="Calibri" pitchFamily="34" charset="-120"/>
              </a:rPr>
              <a:t>)</a:t>
            </a:r>
            <a:endParaRPr lang="en-US" sz="14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0">
            <a:extLst>
              <a:ext uri="{FF2B5EF4-FFF2-40B4-BE49-F238E27FC236}">
                <a16:creationId xmlns:a16="http://schemas.microsoft.com/office/drawing/2014/main" id="{C4F308D0-E16C-4CC5-260F-E28847C8B2B2}"/>
              </a:ext>
            </a:extLst>
          </p:cNvPr>
          <p:cNvSpPr/>
          <p:nvPr/>
        </p:nvSpPr>
        <p:spPr>
          <a:xfrm>
            <a:off x="548640" y="1280160"/>
            <a:ext cx="8046720" cy="457200"/>
          </a:xfrm>
          <a:prstGeom prst="rect">
            <a:avLst/>
          </a:prstGeom>
          <a:noFill/>
          <a:ln/>
        </p:spPr>
        <p:txBody>
          <a:bodyPr wrap="square" lIns="0" tIns="0" rIns="0" bIns="0" rtlCol="0" anchor="ctr"/>
          <a:lstStyle/>
          <a:p>
            <a:pPr marL="0" indent="0">
              <a:buNone/>
            </a:pPr>
            <a:r>
              <a:rPr lang="en-US" sz="1600" b="1" kern="0" spc="800" dirty="0">
                <a:latin typeface="Calibri" pitchFamily="34" charset="0"/>
                <a:ea typeface="Calibri" pitchFamily="34" charset="-122"/>
                <a:cs typeface="Calibri" pitchFamily="34" charset="-120"/>
              </a:rPr>
              <a:t>BLOCK 8</a:t>
            </a:r>
            <a:endParaRPr lang="en-US" sz="1600" dirty="0"/>
          </a:p>
        </p:txBody>
      </p:sp>
      <p:sp>
        <p:nvSpPr>
          <p:cNvPr id="4" name="Text 1">
            <a:extLst>
              <a:ext uri="{FF2B5EF4-FFF2-40B4-BE49-F238E27FC236}">
                <a16:creationId xmlns:a16="http://schemas.microsoft.com/office/drawing/2014/main" id="{39AB9CA9-4368-8FE5-AD42-55EA850B62AF}"/>
              </a:ext>
            </a:extLst>
          </p:cNvPr>
          <p:cNvSpPr/>
          <p:nvPr/>
        </p:nvSpPr>
        <p:spPr>
          <a:xfrm>
            <a:off x="548640" y="1783080"/>
            <a:ext cx="8046720" cy="1463040"/>
          </a:xfrm>
          <a:prstGeom prst="rect">
            <a:avLst/>
          </a:prstGeom>
          <a:noFill/>
          <a:ln/>
        </p:spPr>
        <p:txBody>
          <a:bodyPr wrap="square" lIns="0" tIns="0" rIns="0" bIns="0" rtlCol="0" anchor="t"/>
          <a:lstStyle/>
          <a:p>
            <a:pPr marL="0" indent="0">
              <a:buNone/>
            </a:pPr>
            <a:r>
              <a:rPr lang="en-US" sz="4000" b="1" dirty="0">
                <a:latin typeface="Cambria" pitchFamily="34" charset="0"/>
                <a:ea typeface="Cambria" pitchFamily="34" charset="-122"/>
                <a:cs typeface="Cambria" pitchFamily="34" charset="-120"/>
              </a:rPr>
              <a:t>Permissions and processes</a:t>
            </a:r>
            <a:endParaRPr lang="en-US" sz="4000" dirty="0"/>
          </a:p>
        </p:txBody>
      </p:sp>
    </p:spTree>
    <p:extLst>
      <p:ext uri="{BB962C8B-B14F-4D97-AF65-F5344CB8AC3E}">
        <p14:creationId xmlns:p14="http://schemas.microsoft.com/office/powerpoint/2010/main" val="2956951707"/>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FFFFF"/>
        </a:solidFill>
        <a:effectLst/>
      </p:bgPr>
    </p:bg>
    <p:spTree>
      <p:nvGrpSpPr>
        <p:cNvPr id="1" name=""/>
        <p:cNvGrpSpPr/>
        <p:nvPr/>
      </p:nvGrpSpPr>
      <p:grpSpPr>
        <a:xfrm>
          <a:off x="0" y="0"/>
          <a:ext cx="0" cy="0"/>
          <a:chOff x="0" y="0"/>
          <a:chExt cx="0" cy="0"/>
        </a:xfrm>
      </p:grpSpPr>
      <p:pic>
        <p:nvPicPr>
          <p:cNvPr id="7" name="Picture 6" descr="access-footer.jpg"/>
          <p:cNvPicPr>
            <a:picLocks noChangeAspect="1"/>
          </p:cNvPicPr>
          <p:nvPr/>
        </p:nvPicPr>
        <p:blipFill>
          <a:blip r:embed="rId3"/>
          <a:stretch>
            <a:fillRect/>
          </a:stretch>
        </p:blipFill>
        <p:spPr>
          <a:xfrm>
            <a:off x="0" y="0"/>
            <a:ext cx="9144000" cy="5143500"/>
          </a:xfrm>
          <a:prstGeom prst="rect">
            <a:avLst/>
          </a:prstGeom>
        </p:spPr>
      </p:pic>
      <p:sp>
        <p:nvSpPr>
          <p:cNvPr id="2" name="Text 0"/>
          <p:cNvSpPr/>
          <p:nvPr/>
        </p:nvSpPr>
        <p:spPr>
          <a:xfrm>
            <a:off x="457200" y="274320"/>
            <a:ext cx="8229600" cy="594360"/>
          </a:xfrm>
          <a:prstGeom prst="rect">
            <a:avLst/>
          </a:prstGeom>
          <a:solidFill>
            <a:srgbClr val="FFFFFF"/>
          </a:solidFill>
          <a:ln/>
        </p:spPr>
        <p:txBody>
          <a:bodyPr wrap="square" lIns="0" tIns="0" rIns="0" bIns="0" rtlCol="0" anchor="ctr"/>
          <a:lstStyle/>
          <a:p>
            <a:pPr marL="0" indent="0">
              <a:buNone/>
            </a:pPr>
            <a:r>
              <a:rPr lang="en-US" sz="2800" b="1" dirty="0">
                <a:solidFill>
                  <a:srgbClr val="1E2761"/>
                </a:solidFill>
                <a:latin typeface="Cambria" pitchFamily="34" charset="0"/>
                <a:ea typeface="Cambria" pitchFamily="34" charset="-122"/>
                <a:cs typeface="Cambria" pitchFamily="34" charset="-120"/>
              </a:rPr>
              <a:t>Why this block is short</a:t>
            </a:r>
            <a:endParaRPr lang="en-US" sz="2800" dirty="0"/>
          </a:p>
        </p:txBody>
      </p:sp>
      <p:sp>
        <p:nvSpPr>
          <p:cNvPr id="3" name="Shape 1"/>
          <p:cNvSpPr/>
          <p:nvPr/>
        </p:nvSpPr>
        <p:spPr>
          <a:xfrm>
            <a:off x="457200" y="868680"/>
            <a:ext cx="548640" cy="36576"/>
          </a:xfrm>
          <a:prstGeom prst="rect">
            <a:avLst/>
          </a:prstGeom>
          <a:solidFill>
            <a:srgbClr val="1E2761"/>
          </a:solidFill>
          <a:ln w="12700">
            <a:solidFill>
              <a:srgbClr val="1E2761"/>
            </a:solidFill>
            <a:prstDash val="solid"/>
          </a:ln>
        </p:spPr>
        <p:txBody>
          <a:bodyPr/>
          <a:lstStyle/>
          <a:p>
            <a:endParaRPr lang="en-US"/>
          </a:p>
        </p:txBody>
      </p:sp>
      <p:sp>
        <p:nvSpPr>
          <p:cNvPr id="4" name="Shape 2"/>
          <p:cNvSpPr/>
          <p:nvPr/>
        </p:nvSpPr>
        <p:spPr>
          <a:xfrm>
            <a:off x="457200" y="1005840"/>
            <a:ext cx="1005840" cy="292608"/>
          </a:xfrm>
          <a:prstGeom prst="rect">
            <a:avLst/>
          </a:prstGeom>
          <a:solidFill>
            <a:srgbClr val="1E2761"/>
          </a:solidFill>
          <a:ln w="12700">
            <a:solidFill>
              <a:srgbClr val="1E2761"/>
            </a:solidFill>
            <a:prstDash val="solid"/>
          </a:ln>
        </p:spPr>
        <p:txBody>
          <a:bodyPr/>
          <a:lstStyle/>
          <a:p>
            <a:endParaRPr lang="en-US"/>
          </a:p>
        </p:txBody>
      </p:sp>
      <p:sp>
        <p:nvSpPr>
          <p:cNvPr id="5" name="Text 3"/>
          <p:cNvSpPr/>
          <p:nvPr/>
        </p:nvSpPr>
        <p:spPr>
          <a:xfrm>
            <a:off x="457200" y="1005840"/>
            <a:ext cx="1005840" cy="292608"/>
          </a:xfrm>
          <a:prstGeom prst="rect">
            <a:avLst/>
          </a:prstGeom>
          <a:noFill/>
          <a:ln/>
        </p:spPr>
        <p:txBody>
          <a:bodyPr wrap="square" lIns="0" tIns="0" rIns="0" bIns="0" rtlCol="0" anchor="ctr"/>
          <a:lstStyle/>
          <a:p>
            <a:pPr marL="0" indent="0" algn="ctr">
              <a:buNone/>
            </a:pPr>
            <a:r>
              <a:rPr lang="en-US" sz="1100" b="1" kern="0" spc="200" dirty="0">
                <a:solidFill>
                  <a:srgbClr val="FFFFFF"/>
                </a:solidFill>
                <a:latin typeface="Calibri" pitchFamily="34" charset="0"/>
                <a:ea typeface="Calibri" pitchFamily="34" charset="-122"/>
                <a:cs typeface="Calibri" pitchFamily="34" charset="-120"/>
              </a:rPr>
              <a:t>TALK</a:t>
            </a:r>
            <a:endParaRPr lang="en-US" sz="1100" dirty="0"/>
          </a:p>
        </p:txBody>
      </p:sp>
      <p:sp>
        <p:nvSpPr>
          <p:cNvPr id="6" name="Text 4"/>
          <p:cNvSpPr/>
          <p:nvPr/>
        </p:nvSpPr>
        <p:spPr>
          <a:xfrm>
            <a:off x="548640" y="1435608"/>
            <a:ext cx="8046720" cy="1051560"/>
          </a:xfrm>
          <a:prstGeom prst="rect">
            <a:avLst/>
          </a:prstGeom>
          <a:solidFill>
            <a:srgbClr val="FFFFFF"/>
          </a:solidFill>
          <a:ln/>
        </p:spPr>
        <p:txBody>
          <a:bodyPr wrap="square" lIns="0" tIns="0" rIns="0" bIns="0" rtlCol="0" anchor="t"/>
          <a:lstStyle/>
          <a:p>
            <a:pPr marL="228600" indent="-228600">
              <a:spcAft>
                <a:spcPts val="600"/>
              </a:spcAft>
              <a:buSzPct val="100000"/>
              <a:buChar char="■"/>
            </a:pPr>
            <a:r>
              <a:rPr lang="en-US" sz="1600" dirty="0">
                <a:solidFill>
                  <a:srgbClr val="1F2937"/>
                </a:solidFill>
                <a:latin typeface="Calibri" pitchFamily="34" charset="0"/>
                <a:ea typeface="Calibri" pitchFamily="34" charset="-122"/>
                <a:cs typeface="Calibri" pitchFamily="34" charset="-120"/>
              </a:rPr>
              <a:t>We're going to </a:t>
            </a:r>
            <a:r>
              <a:rPr lang="en-US" sz="1600" b="1" dirty="0">
                <a:solidFill>
                  <a:srgbClr val="1F2937"/>
                </a:solidFill>
                <a:latin typeface="Calibri" pitchFamily="34" charset="0"/>
                <a:ea typeface="Calibri" pitchFamily="34" charset="-122"/>
                <a:cs typeface="Calibri" pitchFamily="34" charset="-120"/>
              </a:rPr>
              <a:t>introduce vocabulary</a:t>
            </a:r>
            <a:r>
              <a:rPr lang="en-US" sz="1600" dirty="0">
                <a:solidFill>
                  <a:srgbClr val="1F2937"/>
                </a:solidFill>
                <a:latin typeface="Calibri" pitchFamily="34" charset="0"/>
                <a:ea typeface="Calibri" pitchFamily="34" charset="-122"/>
                <a:cs typeface="Calibri" pitchFamily="34" charset="-120"/>
              </a:rPr>
              <a:t>, not master it.</a:t>
            </a:r>
            <a:endParaRPr lang="en-US" sz="1600" dirty="0"/>
          </a:p>
          <a:p>
            <a:pPr marL="228600" indent="-228600">
              <a:spcAft>
                <a:spcPts val="600"/>
              </a:spcAft>
              <a:buSzPct val="100000"/>
              <a:buChar char="■"/>
            </a:pPr>
            <a:r>
              <a:rPr lang="en-US" sz="1600" dirty="0">
                <a:solidFill>
                  <a:srgbClr val="1F2937"/>
                </a:solidFill>
                <a:latin typeface="Calibri" pitchFamily="34" charset="0"/>
                <a:ea typeface="Calibri" pitchFamily="34" charset="-122"/>
                <a:cs typeface="Calibri" pitchFamily="34" charset="-120"/>
              </a:rPr>
              <a:t>Goal: you can read </a:t>
            </a:r>
            <a:r>
              <a:rPr lang="en-US" sz="1600" dirty="0">
                <a:solidFill>
                  <a:srgbClr val="1E2761"/>
                </a:solidFill>
                <a:latin typeface="Consolas" pitchFamily="34" charset="0"/>
                <a:ea typeface="Consolas" pitchFamily="34" charset="-122"/>
                <a:cs typeface="Consolas" pitchFamily="34" charset="-120"/>
              </a:rPr>
              <a:t>ls -l</a:t>
            </a:r>
            <a:r>
              <a:rPr lang="en-US" sz="1600" dirty="0">
                <a:solidFill>
                  <a:srgbClr val="1F2937"/>
                </a:solidFill>
                <a:latin typeface="Calibri" pitchFamily="34" charset="0"/>
                <a:ea typeface="Calibri" pitchFamily="34" charset="-122"/>
                <a:cs typeface="Calibri" pitchFamily="34" charset="-120"/>
              </a:rPr>
              <a:t> and roughly know what's going on, and you know how to see what's running.</a:t>
            </a:r>
            <a:endParaRPr lang="en-US" sz="16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FFFFF"/>
        </a:solidFill>
        <a:effectLst/>
      </p:bgPr>
    </p:bg>
    <p:spTree>
      <p:nvGrpSpPr>
        <p:cNvPr id="1" name=""/>
        <p:cNvGrpSpPr/>
        <p:nvPr/>
      </p:nvGrpSpPr>
      <p:grpSpPr>
        <a:xfrm>
          <a:off x="0" y="0"/>
          <a:ext cx="0" cy="0"/>
          <a:chOff x="0" y="0"/>
          <a:chExt cx="0" cy="0"/>
        </a:xfrm>
      </p:grpSpPr>
      <p:pic>
        <p:nvPicPr>
          <p:cNvPr id="9" name="Picture 8" descr="access-footer.jpg"/>
          <p:cNvPicPr>
            <a:picLocks noChangeAspect="1"/>
          </p:cNvPicPr>
          <p:nvPr/>
        </p:nvPicPr>
        <p:blipFill>
          <a:blip r:embed="rId3"/>
          <a:stretch>
            <a:fillRect/>
          </a:stretch>
        </p:blipFill>
        <p:spPr>
          <a:xfrm>
            <a:off x="0" y="0"/>
            <a:ext cx="9144000" cy="5143500"/>
          </a:xfrm>
          <a:prstGeom prst="rect">
            <a:avLst/>
          </a:prstGeom>
        </p:spPr>
      </p:pic>
      <p:sp>
        <p:nvSpPr>
          <p:cNvPr id="2" name="Text 0"/>
          <p:cNvSpPr/>
          <p:nvPr/>
        </p:nvSpPr>
        <p:spPr>
          <a:xfrm>
            <a:off x="457200" y="274320"/>
            <a:ext cx="8229600" cy="594360"/>
          </a:xfrm>
          <a:prstGeom prst="rect">
            <a:avLst/>
          </a:prstGeom>
          <a:solidFill>
            <a:srgbClr val="FFFFFF"/>
          </a:solidFill>
          <a:ln/>
        </p:spPr>
        <p:txBody>
          <a:bodyPr wrap="square" lIns="0" tIns="0" rIns="0" bIns="0" rtlCol="0" anchor="ctr"/>
          <a:lstStyle/>
          <a:p>
            <a:pPr marL="0" indent="0">
              <a:buNone/>
            </a:pPr>
            <a:r>
              <a:rPr lang="en-US" sz="2800" b="1" dirty="0">
                <a:solidFill>
                  <a:srgbClr val="1E2761"/>
                </a:solidFill>
                <a:latin typeface="Cambria" pitchFamily="34" charset="0"/>
                <a:ea typeface="Cambria" pitchFamily="34" charset="-122"/>
                <a:cs typeface="Cambria" pitchFamily="34" charset="-120"/>
              </a:rPr>
              <a:t>Reading ls -l</a:t>
            </a:r>
            <a:endParaRPr lang="en-US" sz="2800" dirty="0"/>
          </a:p>
        </p:txBody>
      </p:sp>
      <p:sp>
        <p:nvSpPr>
          <p:cNvPr id="3" name="Shape 1"/>
          <p:cNvSpPr/>
          <p:nvPr/>
        </p:nvSpPr>
        <p:spPr>
          <a:xfrm>
            <a:off x="457200" y="868680"/>
            <a:ext cx="548640" cy="36576"/>
          </a:xfrm>
          <a:prstGeom prst="rect">
            <a:avLst/>
          </a:prstGeom>
          <a:solidFill>
            <a:srgbClr val="1E2761"/>
          </a:solidFill>
          <a:ln w="12700">
            <a:solidFill>
              <a:srgbClr val="1E2761"/>
            </a:solidFill>
            <a:prstDash val="solid"/>
          </a:ln>
        </p:spPr>
        <p:txBody>
          <a:bodyPr/>
          <a:lstStyle/>
          <a:p>
            <a:endParaRPr lang="en-US"/>
          </a:p>
        </p:txBody>
      </p:sp>
      <p:sp>
        <p:nvSpPr>
          <p:cNvPr id="4" name="Shape 2"/>
          <p:cNvSpPr/>
          <p:nvPr/>
        </p:nvSpPr>
        <p:spPr>
          <a:xfrm>
            <a:off x="457200" y="1005840"/>
            <a:ext cx="1005840" cy="292608"/>
          </a:xfrm>
          <a:prstGeom prst="rect">
            <a:avLst/>
          </a:prstGeom>
          <a:solidFill>
            <a:srgbClr val="0369A1"/>
          </a:solidFill>
          <a:ln w="12700">
            <a:solidFill>
              <a:srgbClr val="0369A1"/>
            </a:solidFill>
            <a:prstDash val="solid"/>
          </a:ln>
        </p:spPr>
        <p:txBody>
          <a:bodyPr/>
          <a:lstStyle/>
          <a:p>
            <a:endParaRPr lang="en-US"/>
          </a:p>
        </p:txBody>
      </p:sp>
      <p:sp>
        <p:nvSpPr>
          <p:cNvPr id="5" name="Text 3"/>
          <p:cNvSpPr/>
          <p:nvPr/>
        </p:nvSpPr>
        <p:spPr>
          <a:xfrm>
            <a:off x="457200" y="1005840"/>
            <a:ext cx="1005840" cy="292608"/>
          </a:xfrm>
          <a:prstGeom prst="rect">
            <a:avLst/>
          </a:prstGeom>
          <a:noFill/>
          <a:ln/>
        </p:spPr>
        <p:txBody>
          <a:bodyPr wrap="square" lIns="0" tIns="0" rIns="0" bIns="0" rtlCol="0" anchor="ctr"/>
          <a:lstStyle/>
          <a:p>
            <a:pPr marL="0" indent="0" algn="ctr">
              <a:buNone/>
            </a:pPr>
            <a:r>
              <a:rPr lang="en-US" sz="1100" b="1" kern="0" spc="200" dirty="0">
                <a:solidFill>
                  <a:srgbClr val="FFFFFF"/>
                </a:solidFill>
                <a:latin typeface="Calibri" pitchFamily="34" charset="0"/>
                <a:ea typeface="Calibri" pitchFamily="34" charset="-122"/>
                <a:cs typeface="Calibri" pitchFamily="34" charset="-120"/>
              </a:rPr>
              <a:t>DEMO</a:t>
            </a:r>
            <a:endParaRPr lang="en-US" sz="1100" dirty="0"/>
          </a:p>
        </p:txBody>
      </p:sp>
      <p:sp>
        <p:nvSpPr>
          <p:cNvPr id="6" name="Shape 4"/>
          <p:cNvSpPr/>
          <p:nvPr/>
        </p:nvSpPr>
        <p:spPr>
          <a:xfrm>
            <a:off x="548640" y="1435608"/>
            <a:ext cx="8046720" cy="678180"/>
          </a:xfrm>
          <a:prstGeom prst="rect">
            <a:avLst/>
          </a:prstGeom>
          <a:solidFill>
            <a:srgbClr val="0F172A"/>
          </a:solidFill>
          <a:ln w="12700">
            <a:solidFill>
              <a:srgbClr val="0F172A"/>
            </a:solidFill>
            <a:prstDash val="solid"/>
          </a:ln>
        </p:spPr>
        <p:txBody>
          <a:bodyPr/>
          <a:lstStyle/>
          <a:p>
            <a:endParaRPr lang="en-US"/>
          </a:p>
        </p:txBody>
      </p:sp>
      <p:sp>
        <p:nvSpPr>
          <p:cNvPr id="7" name="Text 5"/>
          <p:cNvSpPr/>
          <p:nvPr/>
        </p:nvSpPr>
        <p:spPr>
          <a:xfrm>
            <a:off x="685800" y="1508760"/>
            <a:ext cx="7772400" cy="531876"/>
          </a:xfrm>
          <a:prstGeom prst="rect">
            <a:avLst/>
          </a:prstGeom>
          <a:noFill/>
          <a:ln/>
        </p:spPr>
        <p:txBody>
          <a:bodyPr wrap="square" lIns="0" tIns="0" rIns="0" bIns="0" rtlCol="0" anchor="t"/>
          <a:lstStyle/>
          <a:p>
            <a:pPr marL="0" indent="0">
              <a:buNone/>
            </a:pPr>
            <a:r>
              <a:rPr lang="en-US" sz="1500" dirty="0">
                <a:solidFill>
                  <a:srgbClr val="E2E8F0"/>
                </a:solidFill>
                <a:latin typeface="Consolas" pitchFamily="34" charset="0"/>
                <a:ea typeface="Consolas" pitchFamily="34" charset="-122"/>
                <a:cs typeface="Consolas" pitchFamily="34" charset="-120"/>
              </a:rPr>
              <a:t>$ ls -l /etc/hostname</a:t>
            </a:r>
            <a:endParaRPr lang="en-US" sz="1500" dirty="0"/>
          </a:p>
          <a:p>
            <a:pPr marL="0" indent="0">
              <a:buNone/>
            </a:pPr>
            <a:r>
              <a:rPr lang="en-US" sz="1500" dirty="0">
                <a:solidFill>
                  <a:srgbClr val="E2E8F0"/>
                </a:solidFill>
                <a:latin typeface="Consolas" pitchFamily="34" charset="0"/>
                <a:ea typeface="Consolas" pitchFamily="34" charset="-122"/>
                <a:cs typeface="Consolas" pitchFamily="34" charset="-120"/>
              </a:rPr>
              <a:t>-rw-r--r-- 1 root root 8 May 10 09:00 /etc/hostname</a:t>
            </a:r>
            <a:endParaRPr lang="en-US" sz="1500" dirty="0"/>
          </a:p>
        </p:txBody>
      </p:sp>
      <p:sp>
        <p:nvSpPr>
          <p:cNvPr id="8" name="Text 6"/>
          <p:cNvSpPr/>
          <p:nvPr/>
        </p:nvSpPr>
        <p:spPr>
          <a:xfrm>
            <a:off x="548640" y="2159508"/>
            <a:ext cx="8046720" cy="370840"/>
          </a:xfrm>
          <a:prstGeom prst="rect">
            <a:avLst/>
          </a:prstGeom>
          <a:solidFill>
            <a:srgbClr val="FFFFFF"/>
          </a:solidFill>
          <a:ln/>
        </p:spPr>
        <p:txBody>
          <a:bodyPr wrap="square" lIns="0" tIns="0" rIns="0" bIns="0" rtlCol="0" anchor="t"/>
          <a:lstStyle/>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Columns, in order:  permissions, links, owner, group, size, modified, name.</a:t>
            </a:r>
            <a:endParaRPr lang="en-US" sz="14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FFFFF"/>
        </a:solidFill>
        <a:effectLst/>
      </p:bgPr>
    </p:bg>
    <p:spTree>
      <p:nvGrpSpPr>
        <p:cNvPr id="1" name=""/>
        <p:cNvGrpSpPr/>
        <p:nvPr/>
      </p:nvGrpSpPr>
      <p:grpSpPr>
        <a:xfrm>
          <a:off x="0" y="0"/>
          <a:ext cx="0" cy="0"/>
          <a:chOff x="0" y="0"/>
          <a:chExt cx="0" cy="0"/>
        </a:xfrm>
      </p:grpSpPr>
      <p:pic>
        <p:nvPicPr>
          <p:cNvPr id="8" name="Picture 7" descr="access-footer.jpg"/>
          <p:cNvPicPr>
            <a:picLocks noChangeAspect="1"/>
          </p:cNvPicPr>
          <p:nvPr/>
        </p:nvPicPr>
        <p:blipFill>
          <a:blip r:embed="rId3"/>
          <a:stretch>
            <a:fillRect/>
          </a:stretch>
        </p:blipFill>
        <p:spPr>
          <a:xfrm>
            <a:off x="0" y="0"/>
            <a:ext cx="9144000" cy="5143500"/>
          </a:xfrm>
          <a:prstGeom prst="rect">
            <a:avLst/>
          </a:prstGeom>
        </p:spPr>
      </p:pic>
      <p:sp>
        <p:nvSpPr>
          <p:cNvPr id="2" name="Text 0"/>
          <p:cNvSpPr/>
          <p:nvPr/>
        </p:nvSpPr>
        <p:spPr>
          <a:xfrm>
            <a:off x="457200" y="274320"/>
            <a:ext cx="8229600" cy="594360"/>
          </a:xfrm>
          <a:prstGeom prst="rect">
            <a:avLst/>
          </a:prstGeom>
          <a:solidFill>
            <a:srgbClr val="FFFFFF"/>
          </a:solidFill>
          <a:ln/>
        </p:spPr>
        <p:txBody>
          <a:bodyPr wrap="square" lIns="0" tIns="0" rIns="0" bIns="0" rtlCol="0" anchor="ctr"/>
          <a:lstStyle/>
          <a:p>
            <a:pPr marL="0" indent="0">
              <a:buNone/>
            </a:pPr>
            <a:r>
              <a:rPr lang="en-US" sz="2800" b="1" dirty="0">
                <a:solidFill>
                  <a:srgbClr val="1E2761"/>
                </a:solidFill>
                <a:latin typeface="Cambria" pitchFamily="34" charset="0"/>
                <a:ea typeface="Cambria" pitchFamily="34" charset="-122"/>
                <a:cs typeface="Cambria" pitchFamily="34" charset="-120"/>
              </a:rPr>
              <a:t>Decoding the permission string</a:t>
            </a:r>
            <a:endParaRPr lang="en-US" sz="2800" dirty="0"/>
          </a:p>
        </p:txBody>
      </p:sp>
      <p:sp>
        <p:nvSpPr>
          <p:cNvPr id="3" name="Shape 1"/>
          <p:cNvSpPr/>
          <p:nvPr/>
        </p:nvSpPr>
        <p:spPr>
          <a:xfrm>
            <a:off x="457200" y="868680"/>
            <a:ext cx="548640" cy="36576"/>
          </a:xfrm>
          <a:prstGeom prst="rect">
            <a:avLst/>
          </a:prstGeom>
          <a:solidFill>
            <a:srgbClr val="1E2761"/>
          </a:solidFill>
          <a:ln w="12700">
            <a:solidFill>
              <a:srgbClr val="1E2761"/>
            </a:solidFill>
            <a:prstDash val="solid"/>
          </a:ln>
        </p:spPr>
        <p:txBody>
          <a:bodyPr/>
          <a:lstStyle/>
          <a:p>
            <a:endParaRPr lang="en-US"/>
          </a:p>
        </p:txBody>
      </p:sp>
      <p:sp>
        <p:nvSpPr>
          <p:cNvPr id="4" name="Shape 2"/>
          <p:cNvSpPr/>
          <p:nvPr/>
        </p:nvSpPr>
        <p:spPr>
          <a:xfrm>
            <a:off x="548640" y="1005840"/>
            <a:ext cx="8046720" cy="777240"/>
          </a:xfrm>
          <a:prstGeom prst="rect">
            <a:avLst/>
          </a:prstGeom>
          <a:solidFill>
            <a:srgbClr val="0F172A"/>
          </a:solidFill>
          <a:ln w="12700">
            <a:solidFill>
              <a:srgbClr val="0F172A"/>
            </a:solidFill>
            <a:prstDash val="solid"/>
          </a:ln>
        </p:spPr>
        <p:txBody>
          <a:bodyPr/>
          <a:lstStyle/>
          <a:p>
            <a:endParaRPr lang="en-US"/>
          </a:p>
        </p:txBody>
      </p:sp>
      <p:sp>
        <p:nvSpPr>
          <p:cNvPr id="5" name="Text 3"/>
          <p:cNvSpPr/>
          <p:nvPr/>
        </p:nvSpPr>
        <p:spPr>
          <a:xfrm>
            <a:off x="685800" y="1078992"/>
            <a:ext cx="7772400" cy="630936"/>
          </a:xfrm>
          <a:prstGeom prst="rect">
            <a:avLst/>
          </a:prstGeom>
          <a:noFill/>
          <a:ln/>
        </p:spPr>
        <p:txBody>
          <a:bodyPr wrap="square" lIns="0" tIns="0" rIns="0" bIns="0" rtlCol="0" anchor="t"/>
          <a:lstStyle/>
          <a:p>
            <a:pPr marL="0" indent="0">
              <a:buNone/>
            </a:pPr>
            <a:r>
              <a:rPr lang="en-US" sz="1800" dirty="0">
                <a:solidFill>
                  <a:srgbClr val="E2E8F0"/>
                </a:solidFill>
                <a:latin typeface="Consolas" pitchFamily="34" charset="0"/>
                <a:ea typeface="Consolas" pitchFamily="34" charset="-122"/>
                <a:cs typeface="Consolas" pitchFamily="34" charset="-120"/>
              </a:rPr>
              <a:t>-     rw-     r--     r--</a:t>
            </a:r>
            <a:endParaRPr lang="en-US" sz="1800" dirty="0"/>
          </a:p>
          <a:p>
            <a:pPr marL="0" indent="0">
              <a:buNone/>
            </a:pPr>
            <a:r>
              <a:rPr lang="en-US" sz="1800" dirty="0">
                <a:solidFill>
                  <a:srgbClr val="E2E8F0"/>
                </a:solidFill>
                <a:latin typeface="Consolas" pitchFamily="34" charset="0"/>
                <a:ea typeface="Consolas" pitchFamily="34" charset="-122"/>
                <a:cs typeface="Consolas" pitchFamily="34" charset="-120"/>
              </a:rPr>
              <a:t>type  owner   group   others</a:t>
            </a:r>
            <a:endParaRPr lang="en-US" sz="1800" dirty="0"/>
          </a:p>
        </p:txBody>
      </p:sp>
      <p:sp>
        <p:nvSpPr>
          <p:cNvPr id="6" name="Text 4"/>
          <p:cNvSpPr/>
          <p:nvPr/>
        </p:nvSpPr>
        <p:spPr>
          <a:xfrm>
            <a:off x="548640" y="1828800"/>
            <a:ext cx="8046720" cy="1671320"/>
          </a:xfrm>
          <a:prstGeom prst="rect">
            <a:avLst/>
          </a:prstGeom>
          <a:solidFill>
            <a:srgbClr val="FFFFFF"/>
          </a:solidFill>
          <a:ln/>
        </p:spPr>
        <p:txBody>
          <a:bodyPr wrap="square" lIns="0" tIns="0" rIns="0" bIns="0" rtlCol="0" anchor="t"/>
          <a:lstStyle/>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First char: </a:t>
            </a:r>
            <a:r>
              <a:rPr lang="en-US" sz="1400" dirty="0">
                <a:solidFill>
                  <a:srgbClr val="1E2761"/>
                </a:solidFill>
                <a:latin typeface="Consolas" pitchFamily="34" charset="0"/>
                <a:ea typeface="Consolas" pitchFamily="34" charset="-122"/>
                <a:cs typeface="Consolas" pitchFamily="34" charset="-120"/>
              </a:rPr>
              <a:t>-</a:t>
            </a:r>
            <a:r>
              <a:rPr lang="en-US" sz="1400" dirty="0">
                <a:solidFill>
                  <a:srgbClr val="1F2937"/>
                </a:solidFill>
                <a:latin typeface="Calibri" pitchFamily="34" charset="0"/>
                <a:ea typeface="Calibri" pitchFamily="34" charset="-122"/>
                <a:cs typeface="Calibri" pitchFamily="34" charset="-120"/>
              </a:rPr>
              <a:t> regular file, </a:t>
            </a:r>
            <a:r>
              <a:rPr lang="en-US" sz="1400" dirty="0">
                <a:solidFill>
                  <a:srgbClr val="1E2761"/>
                </a:solidFill>
                <a:latin typeface="Consolas" pitchFamily="34" charset="0"/>
                <a:ea typeface="Consolas" pitchFamily="34" charset="-122"/>
                <a:cs typeface="Consolas" pitchFamily="34" charset="-120"/>
              </a:rPr>
              <a:t>d</a:t>
            </a:r>
            <a:r>
              <a:rPr lang="en-US" sz="1400" dirty="0">
                <a:solidFill>
                  <a:srgbClr val="1F2937"/>
                </a:solidFill>
                <a:latin typeface="Calibri" pitchFamily="34" charset="0"/>
                <a:ea typeface="Calibri" pitchFamily="34" charset="-122"/>
                <a:cs typeface="Calibri" pitchFamily="34" charset="-120"/>
              </a:rPr>
              <a:t> directory.</a:t>
            </a:r>
            <a:endParaRPr lang="en-US" sz="1400" dirty="0"/>
          </a:p>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Next three: what the </a:t>
            </a:r>
            <a:r>
              <a:rPr lang="en-US" sz="1400" b="1" dirty="0">
                <a:solidFill>
                  <a:srgbClr val="1F2937"/>
                </a:solidFill>
                <a:latin typeface="Calibri" pitchFamily="34" charset="0"/>
                <a:ea typeface="Calibri" pitchFamily="34" charset="-122"/>
                <a:cs typeface="Calibri" pitchFamily="34" charset="-120"/>
              </a:rPr>
              <a:t>owner</a:t>
            </a:r>
            <a:r>
              <a:rPr lang="en-US" sz="1400" dirty="0">
                <a:solidFill>
                  <a:srgbClr val="1F2937"/>
                </a:solidFill>
                <a:latin typeface="Calibri" pitchFamily="34" charset="0"/>
                <a:ea typeface="Calibri" pitchFamily="34" charset="-122"/>
                <a:cs typeface="Calibri" pitchFamily="34" charset="-120"/>
              </a:rPr>
              <a:t> can do.</a:t>
            </a:r>
            <a:endParaRPr lang="en-US" sz="1400" dirty="0"/>
          </a:p>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Next three: what the </a:t>
            </a:r>
            <a:r>
              <a:rPr lang="en-US" sz="1400" b="1" dirty="0">
                <a:solidFill>
                  <a:srgbClr val="1F2937"/>
                </a:solidFill>
                <a:latin typeface="Calibri" pitchFamily="34" charset="0"/>
                <a:ea typeface="Calibri" pitchFamily="34" charset="-122"/>
                <a:cs typeface="Calibri" pitchFamily="34" charset="-120"/>
              </a:rPr>
              <a:t>group</a:t>
            </a:r>
            <a:r>
              <a:rPr lang="en-US" sz="1400" dirty="0">
                <a:solidFill>
                  <a:srgbClr val="1F2937"/>
                </a:solidFill>
                <a:latin typeface="Calibri" pitchFamily="34" charset="0"/>
                <a:ea typeface="Calibri" pitchFamily="34" charset="-122"/>
                <a:cs typeface="Calibri" pitchFamily="34" charset="-120"/>
              </a:rPr>
              <a:t> can do.</a:t>
            </a:r>
            <a:endParaRPr lang="en-US" sz="1400" dirty="0"/>
          </a:p>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Last three: what </a:t>
            </a:r>
            <a:r>
              <a:rPr lang="en-US" sz="1400" b="1" dirty="0">
                <a:solidFill>
                  <a:srgbClr val="1F2937"/>
                </a:solidFill>
                <a:latin typeface="Calibri" pitchFamily="34" charset="0"/>
                <a:ea typeface="Calibri" pitchFamily="34" charset="-122"/>
                <a:cs typeface="Calibri" pitchFamily="34" charset="-120"/>
              </a:rPr>
              <a:t>everyone else</a:t>
            </a:r>
            <a:r>
              <a:rPr lang="en-US" sz="1400" dirty="0">
                <a:solidFill>
                  <a:srgbClr val="1F2937"/>
                </a:solidFill>
                <a:latin typeface="Calibri" pitchFamily="34" charset="0"/>
                <a:ea typeface="Calibri" pitchFamily="34" charset="-122"/>
                <a:cs typeface="Calibri" pitchFamily="34" charset="-120"/>
              </a:rPr>
              <a:t> can do.</a:t>
            </a:r>
            <a:endParaRPr lang="en-US" sz="1400" dirty="0"/>
          </a:p>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Each group is three slots: </a:t>
            </a:r>
            <a:r>
              <a:rPr lang="en-US" sz="1400" b="1" dirty="0">
                <a:solidFill>
                  <a:srgbClr val="1F2937"/>
                </a:solidFill>
                <a:latin typeface="Calibri" pitchFamily="34" charset="0"/>
                <a:ea typeface="Calibri" pitchFamily="34" charset="-122"/>
                <a:cs typeface="Calibri" pitchFamily="34" charset="-120"/>
              </a:rPr>
              <a:t>r</a:t>
            </a:r>
            <a:r>
              <a:rPr lang="en-US" sz="1400" dirty="0">
                <a:solidFill>
                  <a:srgbClr val="1F2937"/>
                </a:solidFill>
                <a:latin typeface="Calibri" pitchFamily="34" charset="0"/>
                <a:ea typeface="Calibri" pitchFamily="34" charset="-122"/>
                <a:cs typeface="Calibri" pitchFamily="34" charset="-120"/>
              </a:rPr>
              <a:t>ead, </a:t>
            </a:r>
            <a:r>
              <a:rPr lang="en-US" sz="1400" b="1" dirty="0">
                <a:solidFill>
                  <a:srgbClr val="1F2937"/>
                </a:solidFill>
                <a:latin typeface="Calibri" pitchFamily="34" charset="0"/>
                <a:ea typeface="Calibri" pitchFamily="34" charset="-122"/>
                <a:cs typeface="Calibri" pitchFamily="34" charset="-120"/>
              </a:rPr>
              <a:t>w</a:t>
            </a:r>
            <a:r>
              <a:rPr lang="en-US" sz="1400" dirty="0">
                <a:solidFill>
                  <a:srgbClr val="1F2937"/>
                </a:solidFill>
                <a:latin typeface="Calibri" pitchFamily="34" charset="0"/>
                <a:ea typeface="Calibri" pitchFamily="34" charset="-122"/>
                <a:cs typeface="Calibri" pitchFamily="34" charset="-120"/>
              </a:rPr>
              <a:t>rite, e</a:t>
            </a:r>
            <a:r>
              <a:rPr lang="en-US" sz="1400" b="1" dirty="0">
                <a:solidFill>
                  <a:srgbClr val="1F2937"/>
                </a:solidFill>
                <a:latin typeface="Calibri" pitchFamily="34" charset="0"/>
                <a:ea typeface="Calibri" pitchFamily="34" charset="-122"/>
                <a:cs typeface="Calibri" pitchFamily="34" charset="-120"/>
              </a:rPr>
              <a:t>x</a:t>
            </a:r>
            <a:r>
              <a:rPr lang="en-US" sz="1400" dirty="0">
                <a:solidFill>
                  <a:srgbClr val="1F2937"/>
                </a:solidFill>
                <a:latin typeface="Calibri" pitchFamily="34" charset="0"/>
                <a:ea typeface="Calibri" pitchFamily="34" charset="-122"/>
                <a:cs typeface="Calibri" pitchFamily="34" charset="-120"/>
              </a:rPr>
              <a:t>ecute.</a:t>
            </a:r>
            <a:endParaRPr lang="en-US" sz="1400" dirty="0"/>
          </a:p>
        </p:txBody>
      </p:sp>
      <p:sp>
        <p:nvSpPr>
          <p:cNvPr id="7" name="Text 5"/>
          <p:cNvSpPr/>
          <p:nvPr/>
        </p:nvSpPr>
        <p:spPr>
          <a:xfrm>
            <a:off x="548640" y="3545840"/>
            <a:ext cx="8046720" cy="276860"/>
          </a:xfrm>
          <a:prstGeom prst="rect">
            <a:avLst/>
          </a:prstGeom>
          <a:solidFill>
            <a:srgbClr val="FFFFFF"/>
          </a:solidFill>
          <a:ln/>
        </p:spPr>
        <p:txBody>
          <a:bodyPr wrap="square" rtlCol="0" anchor="t"/>
          <a:lstStyle/>
          <a:p>
            <a:pPr marL="0" indent="0">
              <a:buNone/>
            </a:pPr>
            <a:r>
              <a:rPr lang="en-US" sz="1300" i="1" dirty="0">
                <a:solidFill>
                  <a:srgbClr val="1E2761"/>
                </a:solidFill>
                <a:latin typeface="Consolas" pitchFamily="34" charset="0"/>
                <a:ea typeface="Consolas" pitchFamily="34" charset="-122"/>
                <a:cs typeface="Consolas" pitchFamily="34" charset="-120"/>
              </a:rPr>
              <a:t>-rw-r--r--</a:t>
            </a:r>
            <a:r>
              <a:rPr lang="en-US" sz="1300" i="1" dirty="0">
                <a:solidFill>
                  <a:srgbClr val="475569"/>
                </a:solidFill>
                <a:latin typeface="Calibri" pitchFamily="34" charset="0"/>
                <a:ea typeface="Calibri" pitchFamily="34" charset="-122"/>
                <a:cs typeface="Calibri" pitchFamily="34" charset="-120"/>
              </a:rPr>
              <a:t> = regular file, owner can read+write, everyone else can only read.</a:t>
            </a:r>
            <a:endParaRPr lang="en-US" sz="13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FFFFF"/>
        </a:solidFill>
        <a:effectLst/>
      </p:bgPr>
    </p:bg>
    <p:spTree>
      <p:nvGrpSpPr>
        <p:cNvPr id="1" name=""/>
        <p:cNvGrpSpPr/>
        <p:nvPr/>
      </p:nvGrpSpPr>
      <p:grpSpPr>
        <a:xfrm>
          <a:off x="0" y="0"/>
          <a:ext cx="0" cy="0"/>
          <a:chOff x="0" y="0"/>
          <a:chExt cx="0" cy="0"/>
        </a:xfrm>
      </p:grpSpPr>
      <p:pic>
        <p:nvPicPr>
          <p:cNvPr id="9" name="Picture 8" descr="access-footer.jpg"/>
          <p:cNvPicPr>
            <a:picLocks noChangeAspect="1"/>
          </p:cNvPicPr>
          <p:nvPr/>
        </p:nvPicPr>
        <p:blipFill>
          <a:blip r:embed="rId3"/>
          <a:stretch>
            <a:fillRect/>
          </a:stretch>
        </p:blipFill>
        <p:spPr>
          <a:xfrm>
            <a:off x="0" y="0"/>
            <a:ext cx="9144000" cy="5143500"/>
          </a:xfrm>
          <a:prstGeom prst="rect">
            <a:avLst/>
          </a:prstGeom>
        </p:spPr>
      </p:pic>
      <p:sp>
        <p:nvSpPr>
          <p:cNvPr id="2" name="Text 0"/>
          <p:cNvSpPr/>
          <p:nvPr/>
        </p:nvSpPr>
        <p:spPr>
          <a:xfrm>
            <a:off x="457200" y="274320"/>
            <a:ext cx="8229600" cy="594360"/>
          </a:xfrm>
          <a:prstGeom prst="rect">
            <a:avLst/>
          </a:prstGeom>
          <a:solidFill>
            <a:srgbClr val="FFFFFF"/>
          </a:solidFill>
          <a:ln/>
        </p:spPr>
        <p:txBody>
          <a:bodyPr wrap="square" lIns="0" tIns="0" rIns="0" bIns="0" rtlCol="0" anchor="ctr"/>
          <a:lstStyle/>
          <a:p>
            <a:pPr marL="0" indent="0">
              <a:buNone/>
            </a:pPr>
            <a:r>
              <a:rPr lang="en-US" sz="2800" b="1" dirty="0">
                <a:solidFill>
                  <a:srgbClr val="1E2761"/>
                </a:solidFill>
                <a:latin typeface="Cambria" pitchFamily="34" charset="0"/>
                <a:ea typeface="Cambria" pitchFamily="34" charset="-122"/>
                <a:cs typeface="Cambria" pitchFamily="34" charset="-120"/>
              </a:rPr>
              <a:t>Trying it  —  chmod +x</a:t>
            </a:r>
            <a:endParaRPr lang="en-US" sz="2800" dirty="0"/>
          </a:p>
        </p:txBody>
      </p:sp>
      <p:sp>
        <p:nvSpPr>
          <p:cNvPr id="3" name="Shape 1"/>
          <p:cNvSpPr/>
          <p:nvPr/>
        </p:nvSpPr>
        <p:spPr>
          <a:xfrm>
            <a:off x="457200" y="868680"/>
            <a:ext cx="548640" cy="36576"/>
          </a:xfrm>
          <a:prstGeom prst="rect">
            <a:avLst/>
          </a:prstGeom>
          <a:solidFill>
            <a:srgbClr val="1E2761"/>
          </a:solidFill>
          <a:ln w="12700">
            <a:solidFill>
              <a:srgbClr val="1E2761"/>
            </a:solidFill>
            <a:prstDash val="solid"/>
          </a:ln>
        </p:spPr>
        <p:txBody>
          <a:bodyPr/>
          <a:lstStyle/>
          <a:p>
            <a:endParaRPr lang="en-US"/>
          </a:p>
        </p:txBody>
      </p:sp>
      <p:sp>
        <p:nvSpPr>
          <p:cNvPr id="4" name="Shape 2"/>
          <p:cNvSpPr/>
          <p:nvPr/>
        </p:nvSpPr>
        <p:spPr>
          <a:xfrm>
            <a:off x="457200" y="1005840"/>
            <a:ext cx="1005840" cy="292608"/>
          </a:xfrm>
          <a:prstGeom prst="rect">
            <a:avLst/>
          </a:prstGeom>
          <a:solidFill>
            <a:srgbClr val="0369A1"/>
          </a:solidFill>
          <a:ln w="12700">
            <a:solidFill>
              <a:srgbClr val="0369A1"/>
            </a:solidFill>
            <a:prstDash val="solid"/>
          </a:ln>
        </p:spPr>
        <p:txBody>
          <a:bodyPr/>
          <a:lstStyle/>
          <a:p>
            <a:endParaRPr lang="en-US"/>
          </a:p>
        </p:txBody>
      </p:sp>
      <p:sp>
        <p:nvSpPr>
          <p:cNvPr id="5" name="Text 3"/>
          <p:cNvSpPr/>
          <p:nvPr/>
        </p:nvSpPr>
        <p:spPr>
          <a:xfrm>
            <a:off x="457200" y="1005840"/>
            <a:ext cx="1005840" cy="292608"/>
          </a:xfrm>
          <a:prstGeom prst="rect">
            <a:avLst/>
          </a:prstGeom>
          <a:noFill/>
          <a:ln/>
        </p:spPr>
        <p:txBody>
          <a:bodyPr wrap="square" lIns="0" tIns="0" rIns="0" bIns="0" rtlCol="0" anchor="ctr"/>
          <a:lstStyle/>
          <a:p>
            <a:pPr marL="0" indent="0" algn="ctr">
              <a:buNone/>
            </a:pPr>
            <a:r>
              <a:rPr lang="en-US" sz="1100" b="1" kern="0" spc="200" dirty="0">
                <a:solidFill>
                  <a:srgbClr val="FFFFFF"/>
                </a:solidFill>
                <a:latin typeface="Calibri" pitchFamily="34" charset="0"/>
                <a:ea typeface="Calibri" pitchFamily="34" charset="-122"/>
                <a:cs typeface="Calibri" pitchFamily="34" charset="-120"/>
              </a:rPr>
              <a:t>DEMO</a:t>
            </a:r>
            <a:endParaRPr lang="en-US" sz="1100" dirty="0"/>
          </a:p>
        </p:txBody>
      </p:sp>
      <p:sp>
        <p:nvSpPr>
          <p:cNvPr id="6" name="Shape 4"/>
          <p:cNvSpPr/>
          <p:nvPr/>
        </p:nvSpPr>
        <p:spPr>
          <a:xfrm>
            <a:off x="548640" y="1435608"/>
            <a:ext cx="8046720" cy="1668780"/>
          </a:xfrm>
          <a:prstGeom prst="rect">
            <a:avLst/>
          </a:prstGeom>
          <a:solidFill>
            <a:srgbClr val="0F172A"/>
          </a:solidFill>
          <a:ln w="12700">
            <a:solidFill>
              <a:srgbClr val="0F172A"/>
            </a:solidFill>
            <a:prstDash val="solid"/>
          </a:ln>
        </p:spPr>
        <p:txBody>
          <a:bodyPr/>
          <a:lstStyle/>
          <a:p>
            <a:endParaRPr lang="en-US"/>
          </a:p>
        </p:txBody>
      </p:sp>
      <p:sp>
        <p:nvSpPr>
          <p:cNvPr id="7" name="Text 5"/>
          <p:cNvSpPr/>
          <p:nvPr/>
        </p:nvSpPr>
        <p:spPr>
          <a:xfrm>
            <a:off x="685800" y="1508760"/>
            <a:ext cx="7772400" cy="1522476"/>
          </a:xfrm>
          <a:prstGeom prst="rect">
            <a:avLst/>
          </a:prstGeom>
          <a:noFill/>
          <a:ln/>
        </p:spPr>
        <p:txBody>
          <a:bodyPr wrap="square" lIns="0" tIns="0" rIns="0" bIns="0" rtlCol="0" anchor="t"/>
          <a:lstStyle/>
          <a:p>
            <a:pPr marL="0" indent="0">
              <a:buNone/>
            </a:pPr>
            <a:r>
              <a:rPr lang="en-US" sz="1500" dirty="0">
                <a:solidFill>
                  <a:srgbClr val="E2E8F0"/>
                </a:solidFill>
                <a:latin typeface="Consolas" pitchFamily="34" charset="0"/>
                <a:ea typeface="Consolas" pitchFamily="34" charset="-122"/>
                <a:cs typeface="Consolas" pitchFamily="34" charset="-120"/>
              </a:rPr>
              <a:t>$ touch script.sh</a:t>
            </a:r>
            <a:endParaRPr lang="en-US" sz="1500" dirty="0"/>
          </a:p>
          <a:p>
            <a:pPr marL="0" indent="0">
              <a:buNone/>
            </a:pPr>
            <a:r>
              <a:rPr lang="en-US" sz="1500" dirty="0">
                <a:solidFill>
                  <a:srgbClr val="E2E8F0"/>
                </a:solidFill>
                <a:latin typeface="Consolas" pitchFamily="34" charset="0"/>
                <a:ea typeface="Consolas" pitchFamily="34" charset="-122"/>
                <a:cs typeface="Consolas" pitchFamily="34" charset="-120"/>
              </a:rPr>
              <a:t>$ ls -l script.sh</a:t>
            </a:r>
            <a:endParaRPr lang="en-US" sz="1500" dirty="0"/>
          </a:p>
          <a:p>
            <a:pPr marL="0" indent="0">
              <a:buNone/>
            </a:pPr>
            <a:r>
              <a:rPr lang="en-US" sz="1500" dirty="0">
                <a:solidFill>
                  <a:srgbClr val="E2E8F0"/>
                </a:solidFill>
                <a:latin typeface="Consolas" pitchFamily="34" charset="0"/>
                <a:ea typeface="Consolas" pitchFamily="34" charset="-122"/>
                <a:cs typeface="Consolas" pitchFamily="34" charset="-120"/>
              </a:rPr>
              <a:t>-rw-r--r-- ...                     # not executable</a:t>
            </a:r>
            <a:endParaRPr lang="en-US" sz="1500" dirty="0"/>
          </a:p>
          <a:p>
            <a:pPr marL="0" indent="0">
              <a:buNone/>
            </a:pPr>
            <a:r>
              <a:rPr lang="en-US" sz="1500" dirty="0">
                <a:solidFill>
                  <a:srgbClr val="E2E8F0"/>
                </a:solidFill>
                <a:latin typeface="Consolas" pitchFamily="34" charset="0"/>
                <a:ea typeface="Consolas" pitchFamily="34" charset="-122"/>
                <a:cs typeface="Consolas" pitchFamily="34" charset="-120"/>
              </a:rPr>
              <a:t>$ chmod +x script.sh</a:t>
            </a:r>
            <a:endParaRPr lang="en-US" sz="1500" dirty="0"/>
          </a:p>
          <a:p>
            <a:pPr marL="0" indent="0">
              <a:buNone/>
            </a:pPr>
            <a:r>
              <a:rPr lang="en-US" sz="1500" dirty="0">
                <a:solidFill>
                  <a:srgbClr val="E2E8F0"/>
                </a:solidFill>
                <a:latin typeface="Consolas" pitchFamily="34" charset="0"/>
                <a:ea typeface="Consolas" pitchFamily="34" charset="-122"/>
                <a:cs typeface="Consolas" pitchFamily="34" charset="-120"/>
              </a:rPr>
              <a:t>$ ls -l script.sh</a:t>
            </a:r>
            <a:endParaRPr lang="en-US" sz="1500" dirty="0"/>
          </a:p>
          <a:p>
            <a:pPr marL="0" indent="0">
              <a:buNone/>
            </a:pPr>
            <a:r>
              <a:rPr lang="en-US" sz="1500" dirty="0">
                <a:solidFill>
                  <a:srgbClr val="E2E8F0"/>
                </a:solidFill>
                <a:latin typeface="Consolas" pitchFamily="34" charset="0"/>
                <a:ea typeface="Consolas" pitchFamily="34" charset="-122"/>
                <a:cs typeface="Consolas" pitchFamily="34" charset="-120"/>
              </a:rPr>
              <a:t>-rwxr-xr-x ...                     # executable now</a:t>
            </a:r>
            <a:endParaRPr lang="en-US" sz="1500" dirty="0"/>
          </a:p>
        </p:txBody>
      </p:sp>
      <p:sp>
        <p:nvSpPr>
          <p:cNvPr id="8" name="Text 6"/>
          <p:cNvSpPr/>
          <p:nvPr/>
        </p:nvSpPr>
        <p:spPr>
          <a:xfrm>
            <a:off x="548640" y="3150108"/>
            <a:ext cx="8046720" cy="370840"/>
          </a:xfrm>
          <a:prstGeom prst="rect">
            <a:avLst/>
          </a:prstGeom>
          <a:solidFill>
            <a:srgbClr val="FFFFFF"/>
          </a:solidFill>
          <a:ln/>
        </p:spPr>
        <p:txBody>
          <a:bodyPr wrap="square" lIns="0" tIns="0" rIns="0" bIns="0" rtlCol="0" anchor="t"/>
          <a:lstStyle/>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We added the </a:t>
            </a:r>
            <a:r>
              <a:rPr lang="en-US" sz="1400" b="1" dirty="0">
                <a:solidFill>
                  <a:srgbClr val="1F2937"/>
                </a:solidFill>
                <a:latin typeface="Calibri" pitchFamily="34" charset="0"/>
                <a:ea typeface="Calibri" pitchFamily="34" charset="-122"/>
                <a:cs typeface="Calibri" pitchFamily="34" charset="-120"/>
              </a:rPr>
              <a:t>executable</a:t>
            </a:r>
            <a:r>
              <a:rPr lang="en-US" sz="1400" dirty="0">
                <a:solidFill>
                  <a:srgbClr val="1F2937"/>
                </a:solidFill>
                <a:latin typeface="Calibri" pitchFamily="34" charset="0"/>
                <a:ea typeface="Calibri" pitchFamily="34" charset="-122"/>
                <a:cs typeface="Calibri" pitchFamily="34" charset="-120"/>
              </a:rPr>
              <a:t> bit. This is how you make a script runnable.</a:t>
            </a:r>
            <a:endParaRPr lang="en-US" sz="14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FFFFF"/>
        </a:solidFill>
        <a:effectLst/>
      </p:bgPr>
    </p:bg>
    <p:spTree>
      <p:nvGrpSpPr>
        <p:cNvPr id="1" name=""/>
        <p:cNvGrpSpPr/>
        <p:nvPr/>
      </p:nvGrpSpPr>
      <p:grpSpPr>
        <a:xfrm>
          <a:off x="0" y="0"/>
          <a:ext cx="0" cy="0"/>
          <a:chOff x="0" y="0"/>
          <a:chExt cx="0" cy="0"/>
        </a:xfrm>
      </p:grpSpPr>
      <p:pic>
        <p:nvPicPr>
          <p:cNvPr id="12" name="Picture 11" descr="access-footer.jpg"/>
          <p:cNvPicPr>
            <a:picLocks noChangeAspect="1"/>
          </p:cNvPicPr>
          <p:nvPr/>
        </p:nvPicPr>
        <p:blipFill>
          <a:blip r:embed="rId3"/>
          <a:stretch>
            <a:fillRect/>
          </a:stretch>
        </p:blipFill>
        <p:spPr>
          <a:xfrm>
            <a:off x="0" y="0"/>
            <a:ext cx="9144000" cy="5143500"/>
          </a:xfrm>
          <a:prstGeom prst="rect">
            <a:avLst/>
          </a:prstGeom>
        </p:spPr>
      </p:pic>
      <p:sp>
        <p:nvSpPr>
          <p:cNvPr id="2" name="Text 0"/>
          <p:cNvSpPr/>
          <p:nvPr/>
        </p:nvSpPr>
        <p:spPr>
          <a:xfrm>
            <a:off x="457200" y="274320"/>
            <a:ext cx="8229600" cy="594360"/>
          </a:xfrm>
          <a:prstGeom prst="rect">
            <a:avLst/>
          </a:prstGeom>
          <a:solidFill>
            <a:srgbClr val="FFFFFF"/>
          </a:solidFill>
          <a:ln/>
        </p:spPr>
        <p:txBody>
          <a:bodyPr wrap="square" lIns="0" tIns="0" rIns="0" bIns="0" rtlCol="0" anchor="ctr"/>
          <a:lstStyle/>
          <a:p>
            <a:pPr marL="0" indent="0">
              <a:buNone/>
            </a:pPr>
            <a:r>
              <a:rPr lang="en-US" sz="2800" b="1" dirty="0">
                <a:solidFill>
                  <a:srgbClr val="1E2761"/>
                </a:solidFill>
                <a:latin typeface="Cambria" pitchFamily="34" charset="0"/>
                <a:ea typeface="Cambria" pitchFamily="34" charset="-122"/>
                <a:cs typeface="Cambria" pitchFamily="34" charset="-120"/>
              </a:rPr>
              <a:t>What's running?  —  processes</a:t>
            </a:r>
            <a:endParaRPr lang="en-US" sz="2800" dirty="0"/>
          </a:p>
        </p:txBody>
      </p:sp>
      <p:sp>
        <p:nvSpPr>
          <p:cNvPr id="3" name="Shape 1"/>
          <p:cNvSpPr/>
          <p:nvPr/>
        </p:nvSpPr>
        <p:spPr>
          <a:xfrm>
            <a:off x="457200" y="868680"/>
            <a:ext cx="548640" cy="36576"/>
          </a:xfrm>
          <a:prstGeom prst="rect">
            <a:avLst/>
          </a:prstGeom>
          <a:solidFill>
            <a:srgbClr val="1E2761"/>
          </a:solidFill>
          <a:ln w="12700">
            <a:solidFill>
              <a:srgbClr val="1E2761"/>
            </a:solidFill>
            <a:prstDash val="solid"/>
          </a:ln>
        </p:spPr>
        <p:txBody>
          <a:bodyPr/>
          <a:lstStyle/>
          <a:p>
            <a:endParaRPr lang="en-US"/>
          </a:p>
        </p:txBody>
      </p:sp>
      <p:sp>
        <p:nvSpPr>
          <p:cNvPr id="4" name="Shape 2"/>
          <p:cNvSpPr/>
          <p:nvPr/>
        </p:nvSpPr>
        <p:spPr>
          <a:xfrm>
            <a:off x="457200" y="1005840"/>
            <a:ext cx="1005840" cy="292608"/>
          </a:xfrm>
          <a:prstGeom prst="rect">
            <a:avLst/>
          </a:prstGeom>
          <a:solidFill>
            <a:srgbClr val="1E2761"/>
          </a:solidFill>
          <a:ln w="12700">
            <a:solidFill>
              <a:srgbClr val="1E2761"/>
            </a:solidFill>
            <a:prstDash val="solid"/>
          </a:ln>
        </p:spPr>
        <p:txBody>
          <a:bodyPr/>
          <a:lstStyle/>
          <a:p>
            <a:endParaRPr lang="en-US"/>
          </a:p>
        </p:txBody>
      </p:sp>
      <p:sp>
        <p:nvSpPr>
          <p:cNvPr id="5" name="Text 3"/>
          <p:cNvSpPr/>
          <p:nvPr/>
        </p:nvSpPr>
        <p:spPr>
          <a:xfrm>
            <a:off x="457200" y="1005840"/>
            <a:ext cx="1005840" cy="292608"/>
          </a:xfrm>
          <a:prstGeom prst="rect">
            <a:avLst/>
          </a:prstGeom>
          <a:noFill/>
          <a:ln/>
        </p:spPr>
        <p:txBody>
          <a:bodyPr wrap="square" lIns="0" tIns="0" rIns="0" bIns="0" rtlCol="0" anchor="ctr"/>
          <a:lstStyle/>
          <a:p>
            <a:pPr marL="0" indent="0" algn="ctr">
              <a:buNone/>
            </a:pPr>
            <a:r>
              <a:rPr lang="en-US" sz="1100" b="1" kern="0" spc="200" dirty="0">
                <a:solidFill>
                  <a:srgbClr val="FFFFFF"/>
                </a:solidFill>
                <a:latin typeface="Calibri" pitchFamily="34" charset="0"/>
                <a:ea typeface="Calibri" pitchFamily="34" charset="-122"/>
                <a:cs typeface="Calibri" pitchFamily="34" charset="-120"/>
              </a:rPr>
              <a:t>TALK</a:t>
            </a:r>
            <a:endParaRPr lang="en-US" sz="1100" dirty="0"/>
          </a:p>
        </p:txBody>
      </p:sp>
      <p:sp>
        <p:nvSpPr>
          <p:cNvPr id="6" name="Text 4"/>
          <p:cNvSpPr/>
          <p:nvPr/>
        </p:nvSpPr>
        <p:spPr>
          <a:xfrm>
            <a:off x="548640" y="1435608"/>
            <a:ext cx="8046720" cy="695960"/>
          </a:xfrm>
          <a:prstGeom prst="rect">
            <a:avLst/>
          </a:prstGeom>
          <a:solidFill>
            <a:srgbClr val="FFFFFF"/>
          </a:solidFill>
          <a:ln/>
        </p:spPr>
        <p:txBody>
          <a:bodyPr wrap="square" lIns="0" tIns="0" rIns="0" bIns="0" rtlCol="0" anchor="t"/>
          <a:lstStyle/>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A </a:t>
            </a:r>
            <a:r>
              <a:rPr lang="en-US" sz="1400" b="1" dirty="0">
                <a:solidFill>
                  <a:srgbClr val="1F2937"/>
                </a:solidFill>
                <a:latin typeface="Calibri" pitchFamily="34" charset="0"/>
                <a:ea typeface="Calibri" pitchFamily="34" charset="-122"/>
                <a:cs typeface="Calibri" pitchFamily="34" charset="-120"/>
              </a:rPr>
              <a:t>process</a:t>
            </a:r>
            <a:r>
              <a:rPr lang="en-US" sz="1400" dirty="0">
                <a:solidFill>
                  <a:srgbClr val="1F2937"/>
                </a:solidFill>
                <a:latin typeface="Calibri" pitchFamily="34" charset="0"/>
                <a:ea typeface="Calibri" pitchFamily="34" charset="-122"/>
                <a:cs typeface="Calibri" pitchFamily="34" charset="-120"/>
              </a:rPr>
              <a:t> is a running program. Every command you run starts one.</a:t>
            </a:r>
            <a:endParaRPr lang="en-US" sz="1400" dirty="0"/>
          </a:p>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Every browser tab, every background service — all processes.</a:t>
            </a:r>
            <a:endParaRPr lang="en-US" sz="1400" dirty="0"/>
          </a:p>
        </p:txBody>
      </p:sp>
      <p:sp>
        <p:nvSpPr>
          <p:cNvPr id="7" name="Shape 5"/>
          <p:cNvSpPr/>
          <p:nvPr/>
        </p:nvSpPr>
        <p:spPr>
          <a:xfrm>
            <a:off x="457200" y="2177288"/>
            <a:ext cx="1005840" cy="292608"/>
          </a:xfrm>
          <a:prstGeom prst="rect">
            <a:avLst/>
          </a:prstGeom>
          <a:solidFill>
            <a:srgbClr val="0369A1"/>
          </a:solidFill>
          <a:ln w="12700">
            <a:solidFill>
              <a:srgbClr val="0369A1"/>
            </a:solidFill>
            <a:prstDash val="solid"/>
          </a:ln>
        </p:spPr>
        <p:txBody>
          <a:bodyPr/>
          <a:lstStyle/>
          <a:p>
            <a:endParaRPr lang="en-US"/>
          </a:p>
        </p:txBody>
      </p:sp>
      <p:sp>
        <p:nvSpPr>
          <p:cNvPr id="8" name="Text 6"/>
          <p:cNvSpPr/>
          <p:nvPr/>
        </p:nvSpPr>
        <p:spPr>
          <a:xfrm>
            <a:off x="457200" y="2177288"/>
            <a:ext cx="1005840" cy="292608"/>
          </a:xfrm>
          <a:prstGeom prst="rect">
            <a:avLst/>
          </a:prstGeom>
          <a:noFill/>
          <a:ln/>
        </p:spPr>
        <p:txBody>
          <a:bodyPr wrap="square" lIns="0" tIns="0" rIns="0" bIns="0" rtlCol="0" anchor="ctr"/>
          <a:lstStyle/>
          <a:p>
            <a:pPr marL="0" indent="0" algn="ctr">
              <a:buNone/>
            </a:pPr>
            <a:r>
              <a:rPr lang="en-US" sz="1100" b="1" kern="0" spc="200" dirty="0">
                <a:solidFill>
                  <a:srgbClr val="FFFFFF"/>
                </a:solidFill>
                <a:latin typeface="Calibri" pitchFamily="34" charset="0"/>
                <a:ea typeface="Calibri" pitchFamily="34" charset="-122"/>
                <a:cs typeface="Calibri" pitchFamily="34" charset="-120"/>
              </a:rPr>
              <a:t>DEMO</a:t>
            </a:r>
            <a:endParaRPr lang="en-US" sz="1100" dirty="0"/>
          </a:p>
        </p:txBody>
      </p:sp>
      <p:sp>
        <p:nvSpPr>
          <p:cNvPr id="9" name="Shape 7"/>
          <p:cNvSpPr/>
          <p:nvPr/>
        </p:nvSpPr>
        <p:spPr>
          <a:xfrm>
            <a:off x="548640" y="2607056"/>
            <a:ext cx="8046720" cy="678180"/>
          </a:xfrm>
          <a:prstGeom prst="rect">
            <a:avLst/>
          </a:prstGeom>
          <a:solidFill>
            <a:srgbClr val="0F172A"/>
          </a:solidFill>
          <a:ln w="12700">
            <a:solidFill>
              <a:srgbClr val="0F172A"/>
            </a:solidFill>
            <a:prstDash val="solid"/>
          </a:ln>
        </p:spPr>
        <p:txBody>
          <a:bodyPr/>
          <a:lstStyle/>
          <a:p>
            <a:endParaRPr lang="en-US"/>
          </a:p>
        </p:txBody>
      </p:sp>
      <p:sp>
        <p:nvSpPr>
          <p:cNvPr id="10" name="Text 8"/>
          <p:cNvSpPr/>
          <p:nvPr/>
        </p:nvSpPr>
        <p:spPr>
          <a:xfrm>
            <a:off x="685800" y="2680208"/>
            <a:ext cx="7772400" cy="531876"/>
          </a:xfrm>
          <a:prstGeom prst="rect">
            <a:avLst/>
          </a:prstGeom>
          <a:noFill/>
          <a:ln/>
        </p:spPr>
        <p:txBody>
          <a:bodyPr wrap="square" lIns="0" tIns="0" rIns="0" bIns="0" rtlCol="0" anchor="t"/>
          <a:lstStyle/>
          <a:p>
            <a:pPr marL="0" indent="0">
              <a:buNone/>
            </a:pPr>
            <a:r>
              <a:rPr lang="en-US" sz="1500" dirty="0">
                <a:solidFill>
                  <a:srgbClr val="E2E8F0"/>
                </a:solidFill>
                <a:latin typeface="Consolas" pitchFamily="34" charset="0"/>
                <a:ea typeface="Consolas" pitchFamily="34" charset="-122"/>
                <a:cs typeface="Consolas" pitchFamily="34" charset="-120"/>
              </a:rPr>
              <a:t>$ ps                    # processes in this terminal</a:t>
            </a:r>
            <a:endParaRPr lang="en-US" sz="1500" dirty="0"/>
          </a:p>
          <a:p>
            <a:pPr marL="0" indent="0">
              <a:buNone/>
            </a:pPr>
            <a:r>
              <a:rPr lang="en-US" sz="1500" dirty="0">
                <a:solidFill>
                  <a:srgbClr val="E2E8F0"/>
                </a:solidFill>
                <a:latin typeface="Consolas" pitchFamily="34" charset="0"/>
                <a:ea typeface="Consolas" pitchFamily="34" charset="-122"/>
                <a:cs typeface="Consolas" pitchFamily="34" charset="-120"/>
              </a:rPr>
              <a:t>$ ps aux | head -n 20   # all processes, first 20 lines</a:t>
            </a:r>
            <a:endParaRPr lang="en-US" sz="1500" dirty="0"/>
          </a:p>
        </p:txBody>
      </p:sp>
      <p:sp>
        <p:nvSpPr>
          <p:cNvPr id="11" name="Text 9"/>
          <p:cNvSpPr/>
          <p:nvPr/>
        </p:nvSpPr>
        <p:spPr>
          <a:xfrm>
            <a:off x="548640" y="3330956"/>
            <a:ext cx="8046720" cy="276860"/>
          </a:xfrm>
          <a:prstGeom prst="rect">
            <a:avLst/>
          </a:prstGeom>
          <a:solidFill>
            <a:srgbClr val="FFFFFF"/>
          </a:solidFill>
          <a:ln/>
        </p:spPr>
        <p:txBody>
          <a:bodyPr wrap="square" rtlCol="0" anchor="t"/>
          <a:lstStyle/>
          <a:p>
            <a:pPr marL="0" indent="0">
              <a:buNone/>
            </a:pPr>
            <a:r>
              <a:rPr lang="en-US" sz="1300" i="1" dirty="0">
                <a:solidFill>
                  <a:srgbClr val="475569"/>
                </a:solidFill>
                <a:latin typeface="Calibri" pitchFamily="34" charset="0"/>
                <a:ea typeface="Calibri" pitchFamily="34" charset="-122"/>
                <a:cs typeface="Calibri" pitchFamily="34" charset="-120"/>
              </a:rPr>
              <a:t>Each row: a </a:t>
            </a:r>
            <a:r>
              <a:rPr lang="en-US" sz="1300" b="1" i="1" dirty="0">
                <a:solidFill>
                  <a:srgbClr val="475569"/>
                </a:solidFill>
                <a:latin typeface="Calibri" pitchFamily="34" charset="0"/>
                <a:ea typeface="Calibri" pitchFamily="34" charset="-122"/>
                <a:cs typeface="Calibri" pitchFamily="34" charset="-120"/>
              </a:rPr>
              <a:t>PID</a:t>
            </a:r>
            <a:r>
              <a:rPr lang="en-US" sz="1300" i="1" dirty="0">
                <a:solidFill>
                  <a:srgbClr val="475569"/>
                </a:solidFill>
                <a:latin typeface="Calibri" pitchFamily="34" charset="0"/>
                <a:ea typeface="Calibri" pitchFamily="34" charset="-122"/>
                <a:cs typeface="Calibri" pitchFamily="34" charset="-120"/>
              </a:rPr>
              <a:t> (process ID), owner, CPU/memory, command.</a:t>
            </a:r>
            <a:endParaRPr lang="en-US" sz="13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FFFFF"/>
        </a:solidFill>
        <a:effectLst/>
      </p:bgPr>
    </p:bg>
    <p:spTree>
      <p:nvGrpSpPr>
        <p:cNvPr id="1" name=""/>
        <p:cNvGrpSpPr/>
        <p:nvPr/>
      </p:nvGrpSpPr>
      <p:grpSpPr>
        <a:xfrm>
          <a:off x="0" y="0"/>
          <a:ext cx="0" cy="0"/>
          <a:chOff x="0" y="0"/>
          <a:chExt cx="0" cy="0"/>
        </a:xfrm>
      </p:grpSpPr>
      <p:pic>
        <p:nvPicPr>
          <p:cNvPr id="9" name="Picture 8" descr="access-footer.jpg"/>
          <p:cNvPicPr>
            <a:picLocks noChangeAspect="1"/>
          </p:cNvPicPr>
          <p:nvPr/>
        </p:nvPicPr>
        <p:blipFill>
          <a:blip r:embed="rId3"/>
          <a:stretch>
            <a:fillRect/>
          </a:stretch>
        </p:blipFill>
        <p:spPr>
          <a:xfrm>
            <a:off x="0" y="0"/>
            <a:ext cx="9144000" cy="5143500"/>
          </a:xfrm>
          <a:prstGeom prst="rect">
            <a:avLst/>
          </a:prstGeom>
        </p:spPr>
      </p:pic>
      <p:sp>
        <p:nvSpPr>
          <p:cNvPr id="2" name="Text 0"/>
          <p:cNvSpPr/>
          <p:nvPr/>
        </p:nvSpPr>
        <p:spPr>
          <a:xfrm>
            <a:off x="457200" y="274320"/>
            <a:ext cx="8229600" cy="594360"/>
          </a:xfrm>
          <a:prstGeom prst="rect">
            <a:avLst/>
          </a:prstGeom>
          <a:solidFill>
            <a:srgbClr val="FFFFFF"/>
          </a:solidFill>
          <a:ln/>
        </p:spPr>
        <p:txBody>
          <a:bodyPr wrap="square" lIns="0" tIns="0" rIns="0" bIns="0" rtlCol="0" anchor="ctr"/>
          <a:lstStyle/>
          <a:p>
            <a:pPr marL="0" indent="0">
              <a:buNone/>
            </a:pPr>
            <a:r>
              <a:rPr lang="en-US" sz="2800" b="1" dirty="0">
                <a:solidFill>
                  <a:srgbClr val="1E2761"/>
                </a:solidFill>
                <a:latin typeface="Cambria" pitchFamily="34" charset="0"/>
                <a:ea typeface="Cambria" pitchFamily="34" charset="-122"/>
                <a:cs typeface="Cambria" pitchFamily="34" charset="-120"/>
              </a:rPr>
              <a:t>Watching live: top  /  htop</a:t>
            </a:r>
            <a:endParaRPr lang="en-US" sz="2800" dirty="0"/>
          </a:p>
        </p:txBody>
      </p:sp>
      <p:sp>
        <p:nvSpPr>
          <p:cNvPr id="3" name="Shape 1"/>
          <p:cNvSpPr/>
          <p:nvPr/>
        </p:nvSpPr>
        <p:spPr>
          <a:xfrm>
            <a:off x="457200" y="868680"/>
            <a:ext cx="548640" cy="36576"/>
          </a:xfrm>
          <a:prstGeom prst="rect">
            <a:avLst/>
          </a:prstGeom>
          <a:solidFill>
            <a:srgbClr val="1E2761"/>
          </a:solidFill>
          <a:ln w="12700">
            <a:solidFill>
              <a:srgbClr val="1E2761"/>
            </a:solidFill>
            <a:prstDash val="solid"/>
          </a:ln>
        </p:spPr>
        <p:txBody>
          <a:bodyPr/>
          <a:lstStyle/>
          <a:p>
            <a:endParaRPr lang="en-US"/>
          </a:p>
        </p:txBody>
      </p:sp>
      <p:sp>
        <p:nvSpPr>
          <p:cNvPr id="4" name="Shape 2"/>
          <p:cNvSpPr/>
          <p:nvPr/>
        </p:nvSpPr>
        <p:spPr>
          <a:xfrm>
            <a:off x="457200" y="1005840"/>
            <a:ext cx="1005840" cy="292608"/>
          </a:xfrm>
          <a:prstGeom prst="rect">
            <a:avLst/>
          </a:prstGeom>
          <a:solidFill>
            <a:srgbClr val="0369A1"/>
          </a:solidFill>
          <a:ln w="12700">
            <a:solidFill>
              <a:srgbClr val="0369A1"/>
            </a:solidFill>
            <a:prstDash val="solid"/>
          </a:ln>
        </p:spPr>
        <p:txBody>
          <a:bodyPr/>
          <a:lstStyle/>
          <a:p>
            <a:endParaRPr lang="en-US"/>
          </a:p>
        </p:txBody>
      </p:sp>
      <p:sp>
        <p:nvSpPr>
          <p:cNvPr id="5" name="Text 3"/>
          <p:cNvSpPr/>
          <p:nvPr/>
        </p:nvSpPr>
        <p:spPr>
          <a:xfrm>
            <a:off x="457200" y="1005840"/>
            <a:ext cx="1005840" cy="292608"/>
          </a:xfrm>
          <a:prstGeom prst="rect">
            <a:avLst/>
          </a:prstGeom>
          <a:noFill/>
          <a:ln/>
        </p:spPr>
        <p:txBody>
          <a:bodyPr wrap="square" lIns="0" tIns="0" rIns="0" bIns="0" rtlCol="0" anchor="ctr"/>
          <a:lstStyle/>
          <a:p>
            <a:pPr marL="0" indent="0" algn="ctr">
              <a:buNone/>
            </a:pPr>
            <a:r>
              <a:rPr lang="en-US" sz="1100" b="1" kern="0" spc="200" dirty="0">
                <a:solidFill>
                  <a:srgbClr val="FFFFFF"/>
                </a:solidFill>
                <a:latin typeface="Calibri" pitchFamily="34" charset="0"/>
                <a:ea typeface="Calibri" pitchFamily="34" charset="-122"/>
                <a:cs typeface="Calibri" pitchFamily="34" charset="-120"/>
              </a:rPr>
              <a:t>DEMO</a:t>
            </a:r>
            <a:endParaRPr lang="en-US" sz="1100" dirty="0"/>
          </a:p>
        </p:txBody>
      </p:sp>
      <p:sp>
        <p:nvSpPr>
          <p:cNvPr id="6" name="Shape 4"/>
          <p:cNvSpPr/>
          <p:nvPr/>
        </p:nvSpPr>
        <p:spPr>
          <a:xfrm>
            <a:off x="548640" y="1435608"/>
            <a:ext cx="8046720" cy="678180"/>
          </a:xfrm>
          <a:prstGeom prst="rect">
            <a:avLst/>
          </a:prstGeom>
          <a:solidFill>
            <a:srgbClr val="0F172A"/>
          </a:solidFill>
          <a:ln w="12700">
            <a:solidFill>
              <a:srgbClr val="0F172A"/>
            </a:solidFill>
            <a:prstDash val="solid"/>
          </a:ln>
        </p:spPr>
        <p:txBody>
          <a:bodyPr/>
          <a:lstStyle/>
          <a:p>
            <a:endParaRPr lang="en-US"/>
          </a:p>
        </p:txBody>
      </p:sp>
      <p:sp>
        <p:nvSpPr>
          <p:cNvPr id="7" name="Text 5"/>
          <p:cNvSpPr/>
          <p:nvPr/>
        </p:nvSpPr>
        <p:spPr>
          <a:xfrm>
            <a:off x="685800" y="1508760"/>
            <a:ext cx="7772400" cy="531876"/>
          </a:xfrm>
          <a:prstGeom prst="rect">
            <a:avLst/>
          </a:prstGeom>
          <a:noFill/>
          <a:ln/>
        </p:spPr>
        <p:txBody>
          <a:bodyPr wrap="square" lIns="0" tIns="0" rIns="0" bIns="0" rtlCol="0" anchor="t"/>
          <a:lstStyle/>
          <a:p>
            <a:pPr marL="0" indent="0">
              <a:buNone/>
            </a:pPr>
            <a:r>
              <a:rPr lang="en-US" sz="1500" dirty="0">
                <a:solidFill>
                  <a:srgbClr val="E2E8F0"/>
                </a:solidFill>
                <a:latin typeface="Consolas" pitchFamily="34" charset="0"/>
                <a:ea typeface="Consolas" pitchFamily="34" charset="-122"/>
                <a:cs typeface="Consolas" pitchFamily="34" charset="-120"/>
              </a:rPr>
              <a:t>$ top      # live, updating view  (q to quit)</a:t>
            </a:r>
            <a:endParaRPr lang="en-US" sz="1500" dirty="0"/>
          </a:p>
          <a:p>
            <a:pPr marL="0" indent="0">
              <a:buNone/>
            </a:pPr>
            <a:r>
              <a:rPr lang="en-US" sz="1500" dirty="0">
                <a:solidFill>
                  <a:srgbClr val="E2E8F0"/>
                </a:solidFill>
                <a:latin typeface="Consolas" pitchFamily="34" charset="0"/>
                <a:ea typeface="Consolas" pitchFamily="34" charset="-122"/>
                <a:cs typeface="Consolas" pitchFamily="34" charset="-120"/>
              </a:rPr>
              <a:t>$ htop     # nicer version with colors, if installed</a:t>
            </a:r>
            <a:endParaRPr lang="en-US" sz="1500" dirty="0"/>
          </a:p>
        </p:txBody>
      </p:sp>
      <p:sp>
        <p:nvSpPr>
          <p:cNvPr id="8" name="Text 6"/>
          <p:cNvSpPr/>
          <p:nvPr/>
        </p:nvSpPr>
        <p:spPr>
          <a:xfrm>
            <a:off x="548640" y="2159508"/>
            <a:ext cx="8046720" cy="767080"/>
          </a:xfrm>
          <a:prstGeom prst="rect">
            <a:avLst/>
          </a:prstGeom>
          <a:solidFill>
            <a:srgbClr val="FFFFFF"/>
          </a:solidFill>
          <a:ln/>
        </p:spPr>
        <p:txBody>
          <a:bodyPr wrap="square" lIns="0" tIns="0" rIns="0" bIns="0" rtlCol="0" anchor="t"/>
          <a:lstStyle/>
          <a:p>
            <a:pPr marL="228600" indent="-228600">
              <a:spcAft>
                <a:spcPts val="600"/>
              </a:spcAft>
              <a:buSzPct val="100000"/>
              <a:buChar char="■"/>
            </a:pPr>
            <a:r>
              <a:rPr lang="en-US" sz="1600" dirty="0">
                <a:solidFill>
                  <a:srgbClr val="1F2937"/>
                </a:solidFill>
                <a:latin typeface="Calibri" pitchFamily="34" charset="0"/>
                <a:ea typeface="Calibri" pitchFamily="34" charset="-122"/>
                <a:cs typeface="Calibri" pitchFamily="34" charset="-120"/>
              </a:rPr>
              <a:t>Like Activity Monitor / Task Manager, but in the terminal.</a:t>
            </a:r>
            <a:endParaRPr lang="en-US" sz="1600" dirty="0"/>
          </a:p>
          <a:p>
            <a:pPr marL="228600" indent="-228600">
              <a:spcAft>
                <a:spcPts val="600"/>
              </a:spcAft>
              <a:buSzPct val="100000"/>
              <a:buChar char="■"/>
            </a:pPr>
            <a:r>
              <a:rPr lang="en-US" sz="1600" dirty="0">
                <a:solidFill>
                  <a:srgbClr val="1F2937"/>
                </a:solidFill>
                <a:latin typeface="Calibri" pitchFamily="34" charset="0"/>
                <a:ea typeface="Calibri" pitchFamily="34" charset="-122"/>
                <a:cs typeface="Calibri" pitchFamily="34" charset="-120"/>
              </a:rPr>
              <a:t>Sorted by CPU usage by default.</a:t>
            </a:r>
            <a:endParaRPr lang="en-US" sz="16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FFFFF"/>
        </a:solidFill>
        <a:effectLst/>
      </p:bgPr>
    </p:bg>
    <p:spTree>
      <p:nvGrpSpPr>
        <p:cNvPr id="1" name=""/>
        <p:cNvGrpSpPr/>
        <p:nvPr/>
      </p:nvGrpSpPr>
      <p:grpSpPr>
        <a:xfrm>
          <a:off x="0" y="0"/>
          <a:ext cx="0" cy="0"/>
          <a:chOff x="0" y="0"/>
          <a:chExt cx="0" cy="0"/>
        </a:xfrm>
      </p:grpSpPr>
      <p:pic>
        <p:nvPicPr>
          <p:cNvPr id="11" name="Picture 10" descr="access-footer.jpg"/>
          <p:cNvPicPr>
            <a:picLocks noChangeAspect="1"/>
          </p:cNvPicPr>
          <p:nvPr/>
        </p:nvPicPr>
        <p:blipFill>
          <a:blip r:embed="rId3"/>
          <a:stretch>
            <a:fillRect/>
          </a:stretch>
        </p:blipFill>
        <p:spPr>
          <a:xfrm>
            <a:off x="0" y="0"/>
            <a:ext cx="9144000" cy="5143500"/>
          </a:xfrm>
          <a:prstGeom prst="rect">
            <a:avLst/>
          </a:prstGeom>
        </p:spPr>
      </p:pic>
      <p:sp>
        <p:nvSpPr>
          <p:cNvPr id="2" name="Text 0"/>
          <p:cNvSpPr/>
          <p:nvPr/>
        </p:nvSpPr>
        <p:spPr>
          <a:xfrm>
            <a:off x="457200" y="274320"/>
            <a:ext cx="8229600" cy="594360"/>
          </a:xfrm>
          <a:prstGeom prst="rect">
            <a:avLst/>
          </a:prstGeom>
          <a:solidFill>
            <a:srgbClr val="FFFFFF"/>
          </a:solidFill>
          <a:ln/>
        </p:spPr>
        <p:txBody>
          <a:bodyPr wrap="square" lIns="0" tIns="0" rIns="0" bIns="0" rtlCol="0" anchor="ctr"/>
          <a:lstStyle/>
          <a:p>
            <a:pPr marL="0" indent="0">
              <a:buNone/>
            </a:pPr>
            <a:r>
              <a:rPr lang="en-US" sz="2800" b="1" dirty="0">
                <a:solidFill>
                  <a:srgbClr val="1E2761"/>
                </a:solidFill>
                <a:latin typeface="Cambria" pitchFamily="34" charset="0"/>
                <a:ea typeface="Cambria" pitchFamily="34" charset="-122"/>
                <a:cs typeface="Cambria" pitchFamily="34" charset="-120"/>
              </a:rPr>
              <a:t>Stopping a process</a:t>
            </a:r>
            <a:endParaRPr lang="en-US" sz="2800" dirty="0"/>
          </a:p>
        </p:txBody>
      </p:sp>
      <p:sp>
        <p:nvSpPr>
          <p:cNvPr id="3" name="Shape 1"/>
          <p:cNvSpPr/>
          <p:nvPr/>
        </p:nvSpPr>
        <p:spPr>
          <a:xfrm>
            <a:off x="457200" y="868680"/>
            <a:ext cx="548640" cy="36576"/>
          </a:xfrm>
          <a:prstGeom prst="rect">
            <a:avLst/>
          </a:prstGeom>
          <a:solidFill>
            <a:srgbClr val="1E2761"/>
          </a:solidFill>
          <a:ln w="12700">
            <a:solidFill>
              <a:srgbClr val="1E2761"/>
            </a:solidFill>
            <a:prstDash val="solid"/>
          </a:ln>
        </p:spPr>
        <p:txBody>
          <a:bodyPr/>
          <a:lstStyle/>
          <a:p>
            <a:endParaRPr lang="en-US"/>
          </a:p>
        </p:txBody>
      </p:sp>
      <p:sp>
        <p:nvSpPr>
          <p:cNvPr id="4" name="Shape 2"/>
          <p:cNvSpPr/>
          <p:nvPr/>
        </p:nvSpPr>
        <p:spPr>
          <a:xfrm>
            <a:off x="457200" y="1005840"/>
            <a:ext cx="1005840" cy="292608"/>
          </a:xfrm>
          <a:prstGeom prst="rect">
            <a:avLst/>
          </a:prstGeom>
          <a:solidFill>
            <a:srgbClr val="1E2761"/>
          </a:solidFill>
          <a:ln w="12700">
            <a:solidFill>
              <a:srgbClr val="1E2761"/>
            </a:solidFill>
            <a:prstDash val="solid"/>
          </a:ln>
        </p:spPr>
        <p:txBody>
          <a:bodyPr/>
          <a:lstStyle/>
          <a:p>
            <a:endParaRPr lang="en-US"/>
          </a:p>
        </p:txBody>
      </p:sp>
      <p:sp>
        <p:nvSpPr>
          <p:cNvPr id="5" name="Text 3"/>
          <p:cNvSpPr/>
          <p:nvPr/>
        </p:nvSpPr>
        <p:spPr>
          <a:xfrm>
            <a:off x="457200" y="1005840"/>
            <a:ext cx="1005840" cy="292608"/>
          </a:xfrm>
          <a:prstGeom prst="rect">
            <a:avLst/>
          </a:prstGeom>
          <a:noFill/>
          <a:ln/>
        </p:spPr>
        <p:txBody>
          <a:bodyPr wrap="square" lIns="0" tIns="0" rIns="0" bIns="0" rtlCol="0" anchor="ctr"/>
          <a:lstStyle/>
          <a:p>
            <a:pPr marL="0" indent="0" algn="ctr">
              <a:buNone/>
            </a:pPr>
            <a:r>
              <a:rPr lang="en-US" sz="1100" b="1" kern="0" spc="200" dirty="0">
                <a:solidFill>
                  <a:srgbClr val="FFFFFF"/>
                </a:solidFill>
                <a:latin typeface="Calibri" pitchFamily="34" charset="0"/>
                <a:ea typeface="Calibri" pitchFamily="34" charset="-122"/>
                <a:cs typeface="Calibri" pitchFamily="34" charset="-120"/>
              </a:rPr>
              <a:t>TALK</a:t>
            </a:r>
            <a:endParaRPr lang="en-US" sz="1100" dirty="0"/>
          </a:p>
        </p:txBody>
      </p:sp>
      <p:sp>
        <p:nvSpPr>
          <p:cNvPr id="6" name="Text 4"/>
          <p:cNvSpPr/>
          <p:nvPr/>
        </p:nvSpPr>
        <p:spPr>
          <a:xfrm>
            <a:off x="548640" y="1435608"/>
            <a:ext cx="8046720" cy="1412240"/>
          </a:xfrm>
          <a:prstGeom prst="rect">
            <a:avLst/>
          </a:prstGeom>
          <a:solidFill>
            <a:srgbClr val="FFFFFF"/>
          </a:solidFill>
          <a:ln/>
        </p:spPr>
        <p:txBody>
          <a:bodyPr wrap="square" lIns="0" tIns="0" rIns="0" bIns="0" rtlCol="0" anchor="t"/>
          <a:lstStyle/>
          <a:p>
            <a:pPr marL="228600" indent="-228600">
              <a:spcAft>
                <a:spcPts val="600"/>
              </a:spcAft>
              <a:buSzPct val="100000"/>
              <a:buChar char="■"/>
            </a:pPr>
            <a:r>
              <a:rPr lang="en-US" sz="1600" dirty="0">
                <a:solidFill>
                  <a:srgbClr val="1E2761"/>
                </a:solidFill>
                <a:latin typeface="Consolas" pitchFamily="34" charset="0"/>
                <a:ea typeface="Consolas" pitchFamily="34" charset="-122"/>
                <a:cs typeface="Consolas" pitchFamily="34" charset="-120"/>
              </a:rPr>
              <a:t>kill 1234</a:t>
            </a:r>
            <a:r>
              <a:rPr lang="en-US" sz="1600" dirty="0">
                <a:solidFill>
                  <a:srgbClr val="1F2937"/>
                </a:solidFill>
                <a:latin typeface="Calibri" pitchFamily="34" charset="0"/>
                <a:ea typeface="Calibri" pitchFamily="34" charset="-122"/>
                <a:cs typeface="Calibri" pitchFamily="34" charset="-120"/>
              </a:rPr>
              <a:t> — politely ask process 1234 to stop.</a:t>
            </a:r>
            <a:endParaRPr lang="en-US" sz="1600" dirty="0"/>
          </a:p>
          <a:p>
            <a:pPr marL="228600" indent="-228600">
              <a:spcAft>
                <a:spcPts val="600"/>
              </a:spcAft>
              <a:buSzPct val="100000"/>
              <a:buChar char="■"/>
            </a:pPr>
            <a:r>
              <a:rPr lang="en-US" sz="1600" dirty="0">
                <a:solidFill>
                  <a:srgbClr val="1E2761"/>
                </a:solidFill>
                <a:latin typeface="Consolas" pitchFamily="34" charset="0"/>
                <a:ea typeface="Consolas" pitchFamily="34" charset="-122"/>
                <a:cs typeface="Consolas" pitchFamily="34" charset="-120"/>
              </a:rPr>
              <a:t>kill -9 1234</a:t>
            </a:r>
            <a:r>
              <a:rPr lang="en-US" sz="1600" dirty="0">
                <a:solidFill>
                  <a:srgbClr val="1F2937"/>
                </a:solidFill>
                <a:latin typeface="Calibri" pitchFamily="34" charset="0"/>
                <a:ea typeface="Calibri" pitchFamily="34" charset="-122"/>
                <a:cs typeface="Calibri" pitchFamily="34" charset="-120"/>
              </a:rPr>
              <a:t> — force it to stop. Use sparingly.</a:t>
            </a:r>
            <a:endParaRPr lang="en-US" sz="1600" dirty="0"/>
          </a:p>
          <a:p>
            <a:pPr marL="228600" indent="-228600">
              <a:spcAft>
                <a:spcPts val="600"/>
              </a:spcAft>
              <a:buSzPct val="100000"/>
              <a:buChar char="■"/>
            </a:pPr>
            <a:r>
              <a:rPr lang="en-US" sz="1600" b="1" dirty="0">
                <a:solidFill>
                  <a:srgbClr val="1F2937"/>
                </a:solidFill>
                <a:latin typeface="Calibri" pitchFamily="34" charset="0"/>
                <a:ea typeface="Calibri" pitchFamily="34" charset="-122"/>
                <a:cs typeface="Calibri" pitchFamily="34" charset="-120"/>
              </a:rPr>
              <a:t>Ctrl-C</a:t>
            </a:r>
            <a:r>
              <a:rPr lang="en-US" sz="1600" dirty="0">
                <a:solidFill>
                  <a:srgbClr val="1F2937"/>
                </a:solidFill>
                <a:latin typeface="Calibri" pitchFamily="34" charset="0"/>
                <a:ea typeface="Calibri" pitchFamily="34" charset="-122"/>
                <a:cs typeface="Calibri" pitchFamily="34" charset="-120"/>
              </a:rPr>
              <a:t> — stop the currently running command. One of the most useful keys to know.</a:t>
            </a:r>
            <a:endParaRPr lang="en-US" sz="1600" dirty="0"/>
          </a:p>
        </p:txBody>
      </p:sp>
      <p:sp>
        <p:nvSpPr>
          <p:cNvPr id="7" name="Shape 5"/>
          <p:cNvSpPr/>
          <p:nvPr/>
        </p:nvSpPr>
        <p:spPr>
          <a:xfrm>
            <a:off x="457200" y="2893568"/>
            <a:ext cx="1005840" cy="292608"/>
          </a:xfrm>
          <a:prstGeom prst="rect">
            <a:avLst/>
          </a:prstGeom>
          <a:solidFill>
            <a:srgbClr val="0369A1"/>
          </a:solidFill>
          <a:ln w="12700">
            <a:solidFill>
              <a:srgbClr val="0369A1"/>
            </a:solidFill>
            <a:prstDash val="solid"/>
          </a:ln>
        </p:spPr>
        <p:txBody>
          <a:bodyPr/>
          <a:lstStyle/>
          <a:p>
            <a:endParaRPr lang="en-US"/>
          </a:p>
        </p:txBody>
      </p:sp>
      <p:sp>
        <p:nvSpPr>
          <p:cNvPr id="8" name="Text 6"/>
          <p:cNvSpPr/>
          <p:nvPr/>
        </p:nvSpPr>
        <p:spPr>
          <a:xfrm>
            <a:off x="457200" y="2893568"/>
            <a:ext cx="1005840" cy="292608"/>
          </a:xfrm>
          <a:prstGeom prst="rect">
            <a:avLst/>
          </a:prstGeom>
          <a:noFill/>
          <a:ln/>
        </p:spPr>
        <p:txBody>
          <a:bodyPr wrap="square" lIns="0" tIns="0" rIns="0" bIns="0" rtlCol="0" anchor="ctr"/>
          <a:lstStyle/>
          <a:p>
            <a:pPr marL="0" indent="0" algn="ctr">
              <a:buNone/>
            </a:pPr>
            <a:r>
              <a:rPr lang="en-US" sz="1100" b="1" kern="0" spc="200" dirty="0">
                <a:solidFill>
                  <a:srgbClr val="FFFFFF"/>
                </a:solidFill>
                <a:latin typeface="Calibri" pitchFamily="34" charset="0"/>
                <a:ea typeface="Calibri" pitchFamily="34" charset="-122"/>
                <a:cs typeface="Calibri" pitchFamily="34" charset="-120"/>
              </a:rPr>
              <a:t>DEMO</a:t>
            </a:r>
            <a:endParaRPr lang="en-US" sz="1100" dirty="0"/>
          </a:p>
        </p:txBody>
      </p:sp>
      <p:sp>
        <p:nvSpPr>
          <p:cNvPr id="9" name="Shape 7"/>
          <p:cNvSpPr/>
          <p:nvPr/>
        </p:nvSpPr>
        <p:spPr>
          <a:xfrm>
            <a:off x="548640" y="3323336"/>
            <a:ext cx="8046720" cy="678180"/>
          </a:xfrm>
          <a:prstGeom prst="rect">
            <a:avLst/>
          </a:prstGeom>
          <a:solidFill>
            <a:srgbClr val="0F172A"/>
          </a:solidFill>
          <a:ln w="12700">
            <a:solidFill>
              <a:srgbClr val="0F172A"/>
            </a:solidFill>
            <a:prstDash val="solid"/>
          </a:ln>
        </p:spPr>
        <p:txBody>
          <a:bodyPr/>
          <a:lstStyle/>
          <a:p>
            <a:endParaRPr lang="en-US"/>
          </a:p>
        </p:txBody>
      </p:sp>
      <p:sp>
        <p:nvSpPr>
          <p:cNvPr id="10" name="Text 8"/>
          <p:cNvSpPr/>
          <p:nvPr/>
        </p:nvSpPr>
        <p:spPr>
          <a:xfrm>
            <a:off x="685800" y="3396488"/>
            <a:ext cx="7772400" cy="531876"/>
          </a:xfrm>
          <a:prstGeom prst="rect">
            <a:avLst/>
          </a:prstGeom>
          <a:noFill/>
          <a:ln/>
        </p:spPr>
        <p:txBody>
          <a:bodyPr wrap="square" lIns="0" tIns="0" rIns="0" bIns="0" rtlCol="0" anchor="t"/>
          <a:lstStyle/>
          <a:p>
            <a:pPr marL="0" indent="0">
              <a:buNone/>
            </a:pPr>
            <a:r>
              <a:rPr lang="en-US" sz="1500" dirty="0">
                <a:solidFill>
                  <a:srgbClr val="E2E8F0"/>
                </a:solidFill>
                <a:latin typeface="Consolas" pitchFamily="34" charset="0"/>
                <a:ea typeface="Consolas" pitchFamily="34" charset="-122"/>
                <a:cs typeface="Consolas" pitchFamily="34" charset="-120"/>
              </a:rPr>
              <a:t>$ sleep 60          # shell hangs</a:t>
            </a:r>
            <a:endParaRPr lang="en-US" sz="1500" dirty="0"/>
          </a:p>
          <a:p>
            <a:pPr marL="0" indent="0">
              <a:buNone/>
            </a:pPr>
            <a:r>
              <a:rPr lang="en-US" sz="1500" dirty="0">
                <a:solidFill>
                  <a:srgbClr val="E2E8F0"/>
                </a:solidFill>
                <a:latin typeface="Consolas" pitchFamily="34" charset="0"/>
                <a:ea typeface="Consolas" pitchFamily="34" charset="-122"/>
                <a:cs typeface="Consolas" pitchFamily="34" charset="-120"/>
              </a:rPr>
              <a:t>^C                  # press Ctrl-C — you're back</a:t>
            </a:r>
            <a:endParaRPr lang="en-US" sz="15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0">
            <a:extLst>
              <a:ext uri="{FF2B5EF4-FFF2-40B4-BE49-F238E27FC236}">
                <a16:creationId xmlns:a16="http://schemas.microsoft.com/office/drawing/2014/main" id="{C4F308D0-E16C-4CC5-260F-E28847C8B2B2}"/>
              </a:ext>
            </a:extLst>
          </p:cNvPr>
          <p:cNvSpPr/>
          <p:nvPr/>
        </p:nvSpPr>
        <p:spPr>
          <a:xfrm>
            <a:off x="548640" y="1280160"/>
            <a:ext cx="8046720" cy="457200"/>
          </a:xfrm>
          <a:prstGeom prst="rect">
            <a:avLst/>
          </a:prstGeom>
          <a:noFill/>
          <a:ln/>
        </p:spPr>
        <p:txBody>
          <a:bodyPr wrap="square" lIns="0" tIns="0" rIns="0" bIns="0" rtlCol="0" anchor="ctr"/>
          <a:lstStyle/>
          <a:p>
            <a:pPr marL="0" indent="0">
              <a:buNone/>
            </a:pPr>
            <a:r>
              <a:rPr lang="en-US" sz="1600" b="1" kern="0" spc="800" dirty="0">
                <a:latin typeface="Calibri" pitchFamily="34" charset="0"/>
                <a:ea typeface="Calibri" pitchFamily="34" charset="-122"/>
                <a:cs typeface="Calibri" pitchFamily="34" charset="-120"/>
              </a:rPr>
              <a:t>BLOCK 9</a:t>
            </a:r>
            <a:endParaRPr lang="en-US" sz="1600" dirty="0"/>
          </a:p>
        </p:txBody>
      </p:sp>
      <p:sp>
        <p:nvSpPr>
          <p:cNvPr id="4" name="Text 1">
            <a:extLst>
              <a:ext uri="{FF2B5EF4-FFF2-40B4-BE49-F238E27FC236}">
                <a16:creationId xmlns:a16="http://schemas.microsoft.com/office/drawing/2014/main" id="{39AB9CA9-4368-8FE5-AD42-55EA850B62AF}"/>
              </a:ext>
            </a:extLst>
          </p:cNvPr>
          <p:cNvSpPr/>
          <p:nvPr/>
        </p:nvSpPr>
        <p:spPr>
          <a:xfrm>
            <a:off x="548640" y="1783080"/>
            <a:ext cx="8046720" cy="1463040"/>
          </a:xfrm>
          <a:prstGeom prst="rect">
            <a:avLst/>
          </a:prstGeom>
          <a:noFill/>
          <a:ln/>
        </p:spPr>
        <p:txBody>
          <a:bodyPr wrap="square" lIns="0" tIns="0" rIns="0" bIns="0" rtlCol="0" anchor="t"/>
          <a:lstStyle/>
          <a:p>
            <a:pPr marL="0" indent="0">
              <a:buNone/>
            </a:pPr>
            <a:r>
              <a:rPr lang="en-US" sz="4000" b="1" dirty="0">
                <a:latin typeface="Cambria" pitchFamily="34" charset="0"/>
                <a:ea typeface="Cambria" pitchFamily="34" charset="-122"/>
                <a:cs typeface="Cambria" pitchFamily="34" charset="-120"/>
              </a:rPr>
              <a:t>Users, root, and sudo</a:t>
            </a:r>
            <a:endParaRPr lang="en-US" sz="4000" dirty="0"/>
          </a:p>
        </p:txBody>
      </p:sp>
    </p:spTree>
    <p:extLst>
      <p:ext uri="{BB962C8B-B14F-4D97-AF65-F5344CB8AC3E}">
        <p14:creationId xmlns:p14="http://schemas.microsoft.com/office/powerpoint/2010/main" val="2956951707"/>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FFFFF"/>
        </a:solidFill>
        <a:effectLst/>
      </p:bgPr>
    </p:bg>
    <p:spTree>
      <p:nvGrpSpPr>
        <p:cNvPr id="1" name=""/>
        <p:cNvGrpSpPr/>
        <p:nvPr/>
      </p:nvGrpSpPr>
      <p:grpSpPr>
        <a:xfrm>
          <a:off x="0" y="0"/>
          <a:ext cx="0" cy="0"/>
          <a:chOff x="0" y="0"/>
          <a:chExt cx="0" cy="0"/>
        </a:xfrm>
      </p:grpSpPr>
      <p:pic>
        <p:nvPicPr>
          <p:cNvPr id="7" name="Picture 6" descr="access-footer.jpg"/>
          <p:cNvPicPr>
            <a:picLocks noChangeAspect="1"/>
          </p:cNvPicPr>
          <p:nvPr/>
        </p:nvPicPr>
        <p:blipFill>
          <a:blip r:embed="rId3"/>
          <a:stretch>
            <a:fillRect/>
          </a:stretch>
        </p:blipFill>
        <p:spPr>
          <a:xfrm>
            <a:off x="0" y="0"/>
            <a:ext cx="9144000" cy="5143500"/>
          </a:xfrm>
          <a:prstGeom prst="rect">
            <a:avLst/>
          </a:prstGeom>
        </p:spPr>
      </p:pic>
      <p:sp>
        <p:nvSpPr>
          <p:cNvPr id="2" name="Text 0"/>
          <p:cNvSpPr/>
          <p:nvPr/>
        </p:nvSpPr>
        <p:spPr>
          <a:xfrm>
            <a:off x="457200" y="274320"/>
            <a:ext cx="8229600" cy="594360"/>
          </a:xfrm>
          <a:prstGeom prst="rect">
            <a:avLst/>
          </a:prstGeom>
          <a:solidFill>
            <a:srgbClr val="FFFFFF"/>
          </a:solidFill>
          <a:ln/>
        </p:spPr>
        <p:txBody>
          <a:bodyPr wrap="square" lIns="0" tIns="0" rIns="0" bIns="0" rtlCol="0" anchor="ctr"/>
          <a:lstStyle/>
          <a:p>
            <a:pPr marL="0" indent="0">
              <a:buNone/>
            </a:pPr>
            <a:r>
              <a:rPr lang="en-US" sz="2800" b="1" dirty="0">
                <a:solidFill>
                  <a:srgbClr val="1E2761"/>
                </a:solidFill>
                <a:latin typeface="Cambria" pitchFamily="34" charset="0"/>
                <a:ea typeface="Cambria" pitchFamily="34" charset="-122"/>
                <a:cs typeface="Cambria" pitchFamily="34" charset="-120"/>
              </a:rPr>
              <a:t>Linux is a multi-user system</a:t>
            </a:r>
            <a:endParaRPr lang="en-US" sz="2800" dirty="0"/>
          </a:p>
        </p:txBody>
      </p:sp>
      <p:sp>
        <p:nvSpPr>
          <p:cNvPr id="3" name="Shape 1"/>
          <p:cNvSpPr/>
          <p:nvPr/>
        </p:nvSpPr>
        <p:spPr>
          <a:xfrm>
            <a:off x="457200" y="868680"/>
            <a:ext cx="548640" cy="36576"/>
          </a:xfrm>
          <a:prstGeom prst="rect">
            <a:avLst/>
          </a:prstGeom>
          <a:solidFill>
            <a:srgbClr val="1E2761"/>
          </a:solidFill>
          <a:ln w="12700">
            <a:solidFill>
              <a:srgbClr val="1E2761"/>
            </a:solidFill>
            <a:prstDash val="solid"/>
          </a:ln>
        </p:spPr>
        <p:txBody>
          <a:bodyPr/>
          <a:lstStyle/>
          <a:p>
            <a:endParaRPr lang="en-US"/>
          </a:p>
        </p:txBody>
      </p:sp>
      <p:sp>
        <p:nvSpPr>
          <p:cNvPr id="4" name="Shape 2"/>
          <p:cNvSpPr/>
          <p:nvPr/>
        </p:nvSpPr>
        <p:spPr>
          <a:xfrm>
            <a:off x="457200" y="1005840"/>
            <a:ext cx="1005840" cy="292608"/>
          </a:xfrm>
          <a:prstGeom prst="rect">
            <a:avLst/>
          </a:prstGeom>
          <a:solidFill>
            <a:srgbClr val="1E2761"/>
          </a:solidFill>
          <a:ln w="12700">
            <a:solidFill>
              <a:srgbClr val="1E2761"/>
            </a:solidFill>
            <a:prstDash val="solid"/>
          </a:ln>
        </p:spPr>
        <p:txBody>
          <a:bodyPr/>
          <a:lstStyle/>
          <a:p>
            <a:endParaRPr lang="en-US"/>
          </a:p>
        </p:txBody>
      </p:sp>
      <p:sp>
        <p:nvSpPr>
          <p:cNvPr id="5" name="Text 3"/>
          <p:cNvSpPr/>
          <p:nvPr/>
        </p:nvSpPr>
        <p:spPr>
          <a:xfrm>
            <a:off x="457200" y="1005840"/>
            <a:ext cx="1005840" cy="292608"/>
          </a:xfrm>
          <a:prstGeom prst="rect">
            <a:avLst/>
          </a:prstGeom>
          <a:noFill/>
          <a:ln/>
        </p:spPr>
        <p:txBody>
          <a:bodyPr wrap="square" lIns="0" tIns="0" rIns="0" bIns="0" rtlCol="0" anchor="ctr"/>
          <a:lstStyle/>
          <a:p>
            <a:pPr marL="0" indent="0" algn="ctr">
              <a:buNone/>
            </a:pPr>
            <a:r>
              <a:rPr lang="en-US" sz="1100" b="1" kern="0" spc="200" dirty="0">
                <a:solidFill>
                  <a:srgbClr val="FFFFFF"/>
                </a:solidFill>
                <a:latin typeface="Calibri" pitchFamily="34" charset="0"/>
                <a:ea typeface="Calibri" pitchFamily="34" charset="-122"/>
                <a:cs typeface="Calibri" pitchFamily="34" charset="-120"/>
              </a:rPr>
              <a:t>TALK</a:t>
            </a:r>
            <a:endParaRPr lang="en-US" sz="1100" dirty="0"/>
          </a:p>
        </p:txBody>
      </p:sp>
      <p:sp>
        <p:nvSpPr>
          <p:cNvPr id="6" name="Text 4"/>
          <p:cNvSpPr/>
          <p:nvPr/>
        </p:nvSpPr>
        <p:spPr>
          <a:xfrm>
            <a:off x="548640" y="1435608"/>
            <a:ext cx="8046720" cy="2057400"/>
          </a:xfrm>
          <a:prstGeom prst="rect">
            <a:avLst/>
          </a:prstGeom>
          <a:solidFill>
            <a:srgbClr val="FFFFFF"/>
          </a:solidFill>
          <a:ln/>
        </p:spPr>
        <p:txBody>
          <a:bodyPr wrap="square" lIns="0" tIns="0" rIns="0" bIns="0" rtlCol="0" anchor="t"/>
          <a:lstStyle/>
          <a:p>
            <a:pPr marL="228600" indent="-228600">
              <a:spcAft>
                <a:spcPts val="600"/>
              </a:spcAft>
              <a:buSzPct val="100000"/>
              <a:buChar char="■"/>
            </a:pPr>
            <a:r>
              <a:rPr lang="en-US" sz="1600" dirty="0">
                <a:solidFill>
                  <a:srgbClr val="1F2937"/>
                </a:solidFill>
                <a:latin typeface="Calibri" pitchFamily="34" charset="0"/>
                <a:ea typeface="Calibri" pitchFamily="34" charset="-122"/>
                <a:cs typeface="Calibri" pitchFamily="34" charset="-120"/>
              </a:rPr>
              <a:t>Every Linux machine has the concept of </a:t>
            </a:r>
            <a:r>
              <a:rPr lang="en-US" sz="1600" b="1" dirty="0">
                <a:solidFill>
                  <a:srgbClr val="1F2937"/>
                </a:solidFill>
                <a:latin typeface="Calibri" pitchFamily="34" charset="0"/>
                <a:ea typeface="Calibri" pitchFamily="34" charset="-122"/>
                <a:cs typeface="Calibri" pitchFamily="34" charset="-120"/>
              </a:rPr>
              <a:t>users</a:t>
            </a:r>
            <a:r>
              <a:rPr lang="en-US" sz="1600" dirty="0">
                <a:solidFill>
                  <a:srgbClr val="1F2937"/>
                </a:solidFill>
                <a:latin typeface="Calibri" pitchFamily="34" charset="0"/>
                <a:ea typeface="Calibri" pitchFamily="34" charset="-122"/>
                <a:cs typeface="Calibri" pitchFamily="34" charset="-120"/>
              </a:rPr>
              <a:t>.</a:t>
            </a:r>
            <a:endParaRPr lang="en-US" sz="1600" dirty="0"/>
          </a:p>
          <a:p>
            <a:pPr marL="228600" indent="-228600">
              <a:spcAft>
                <a:spcPts val="600"/>
              </a:spcAft>
              <a:buSzPct val="100000"/>
              <a:buChar char="■"/>
            </a:pPr>
            <a:r>
              <a:rPr lang="en-US" sz="1600" dirty="0">
                <a:solidFill>
                  <a:srgbClr val="1F2937"/>
                </a:solidFill>
                <a:latin typeface="Calibri" pitchFamily="34" charset="0"/>
                <a:ea typeface="Calibri" pitchFamily="34" charset="-122"/>
                <a:cs typeface="Calibri" pitchFamily="34" charset="-120"/>
              </a:rPr>
              <a:t>Each user has a username, a numeric ID, and a home directory.</a:t>
            </a:r>
            <a:endParaRPr lang="en-US" sz="1600" dirty="0"/>
          </a:p>
          <a:p>
            <a:pPr marL="228600" indent="-228600">
              <a:spcAft>
                <a:spcPts val="600"/>
              </a:spcAft>
              <a:buSzPct val="100000"/>
              <a:buChar char="■"/>
            </a:pPr>
            <a:r>
              <a:rPr lang="en-US" sz="1600" dirty="0">
                <a:solidFill>
                  <a:srgbClr val="1F2937"/>
                </a:solidFill>
                <a:latin typeface="Calibri" pitchFamily="34" charset="0"/>
                <a:ea typeface="Calibri" pitchFamily="34" charset="-122"/>
                <a:cs typeface="Calibri" pitchFamily="34" charset="-120"/>
              </a:rPr>
              <a:t>You saw this already: </a:t>
            </a:r>
            <a:r>
              <a:rPr lang="en-US" sz="1600" dirty="0">
                <a:solidFill>
                  <a:srgbClr val="1E2761"/>
                </a:solidFill>
                <a:latin typeface="Consolas" pitchFamily="34" charset="0"/>
                <a:ea typeface="Consolas" pitchFamily="34" charset="-122"/>
                <a:cs typeface="Consolas" pitchFamily="34" charset="-120"/>
              </a:rPr>
              <a:t>whoami</a:t>
            </a:r>
            <a:r>
              <a:rPr lang="en-US" sz="1600" dirty="0">
                <a:solidFill>
                  <a:srgbClr val="1F2937"/>
                </a:solidFill>
                <a:latin typeface="Calibri" pitchFamily="34" charset="0"/>
                <a:ea typeface="Calibri" pitchFamily="34" charset="-122"/>
                <a:cs typeface="Calibri" pitchFamily="34" charset="-120"/>
              </a:rPr>
              <a:t> printed your username, and </a:t>
            </a:r>
            <a:r>
              <a:rPr lang="en-US" sz="1600" dirty="0">
                <a:solidFill>
                  <a:srgbClr val="1E2761"/>
                </a:solidFill>
                <a:latin typeface="Consolas" pitchFamily="34" charset="0"/>
                <a:ea typeface="Consolas" pitchFamily="34" charset="-122"/>
                <a:cs typeface="Consolas" pitchFamily="34" charset="-120"/>
              </a:rPr>
              <a:t>ls -l</a:t>
            </a:r>
            <a:r>
              <a:rPr lang="en-US" sz="1600" dirty="0">
                <a:solidFill>
                  <a:srgbClr val="1F2937"/>
                </a:solidFill>
                <a:latin typeface="Calibri" pitchFamily="34" charset="0"/>
                <a:ea typeface="Calibri" pitchFamily="34" charset="-122"/>
                <a:cs typeface="Calibri" pitchFamily="34" charset="-120"/>
              </a:rPr>
              <a:t> showed file owners.</a:t>
            </a:r>
            <a:endParaRPr lang="en-US" sz="1600" dirty="0"/>
          </a:p>
          <a:p>
            <a:pPr marL="228600" indent="-228600">
              <a:spcAft>
                <a:spcPts val="600"/>
              </a:spcAft>
              <a:buSzPct val="100000"/>
              <a:buChar char="■"/>
            </a:pPr>
            <a:r>
              <a:rPr lang="en-US" sz="1600" b="1" dirty="0">
                <a:solidFill>
                  <a:srgbClr val="1F2937"/>
                </a:solidFill>
                <a:latin typeface="Calibri" pitchFamily="34" charset="0"/>
                <a:ea typeface="Calibri" pitchFamily="34" charset="-122"/>
                <a:cs typeface="Calibri" pitchFamily="34" charset="-120"/>
              </a:rPr>
              <a:t>Files and processes always belong to *some* user.</a:t>
            </a:r>
            <a:r>
              <a:rPr lang="en-US" sz="1600" dirty="0">
                <a:solidFill>
                  <a:srgbClr val="1F2937"/>
                </a:solidFill>
                <a:latin typeface="Calibri" pitchFamily="34" charset="0"/>
                <a:ea typeface="Calibri" pitchFamily="34" charset="-122"/>
                <a:cs typeface="Calibri" pitchFamily="34" charset="-120"/>
              </a:rPr>
              <a:t> Permissions decide who else can touch them.</a:t>
            </a:r>
            <a:endParaRPr lang="en-US" sz="16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FFFFF"/>
        </a:solidFill>
        <a:effectLst/>
      </p:bgPr>
    </p:bg>
    <p:spTree>
      <p:nvGrpSpPr>
        <p:cNvPr id="1" name=""/>
        <p:cNvGrpSpPr/>
        <p:nvPr/>
      </p:nvGrpSpPr>
      <p:grpSpPr>
        <a:xfrm>
          <a:off x="0" y="0"/>
          <a:ext cx="0" cy="0"/>
          <a:chOff x="0" y="0"/>
          <a:chExt cx="0" cy="0"/>
        </a:xfrm>
      </p:grpSpPr>
      <p:pic>
        <p:nvPicPr>
          <p:cNvPr id="6" name="Picture 5" descr="access-footer.jpg"/>
          <p:cNvPicPr>
            <a:picLocks noChangeAspect="1"/>
          </p:cNvPicPr>
          <p:nvPr/>
        </p:nvPicPr>
        <p:blipFill>
          <a:blip r:embed="rId3"/>
          <a:stretch>
            <a:fillRect/>
          </a:stretch>
        </p:blipFill>
        <p:spPr>
          <a:xfrm>
            <a:off x="0" y="0"/>
            <a:ext cx="9144000" cy="5143500"/>
          </a:xfrm>
          <a:prstGeom prst="rect">
            <a:avLst/>
          </a:prstGeom>
        </p:spPr>
      </p:pic>
      <p:sp>
        <p:nvSpPr>
          <p:cNvPr id="2" name="Text 0"/>
          <p:cNvSpPr/>
          <p:nvPr/>
        </p:nvSpPr>
        <p:spPr>
          <a:xfrm>
            <a:off x="457200" y="274320"/>
            <a:ext cx="8229600" cy="594360"/>
          </a:xfrm>
          <a:prstGeom prst="rect">
            <a:avLst/>
          </a:prstGeom>
          <a:solidFill>
            <a:srgbClr val="FFFFFF"/>
          </a:solidFill>
          <a:ln/>
        </p:spPr>
        <p:txBody>
          <a:bodyPr wrap="square" lIns="0" tIns="0" rIns="0" bIns="0" rtlCol="0" anchor="ctr"/>
          <a:lstStyle/>
          <a:p>
            <a:pPr marL="0" indent="0">
              <a:buNone/>
            </a:pPr>
            <a:r>
              <a:rPr lang="en-US" sz="2800" b="1" dirty="0">
                <a:solidFill>
                  <a:srgbClr val="1E2761"/>
                </a:solidFill>
                <a:latin typeface="Cambria" pitchFamily="34" charset="0"/>
                <a:ea typeface="Cambria" pitchFamily="34" charset="-122"/>
                <a:cs typeface="Cambria" pitchFamily="34" charset="-120"/>
              </a:rPr>
              <a:t>Two kinds of users</a:t>
            </a:r>
            <a:endParaRPr lang="en-US" sz="2800" dirty="0"/>
          </a:p>
        </p:txBody>
      </p:sp>
      <p:sp>
        <p:nvSpPr>
          <p:cNvPr id="3" name="Shape 1"/>
          <p:cNvSpPr/>
          <p:nvPr/>
        </p:nvSpPr>
        <p:spPr>
          <a:xfrm>
            <a:off x="457200" y="868680"/>
            <a:ext cx="548640" cy="36576"/>
          </a:xfrm>
          <a:prstGeom prst="rect">
            <a:avLst/>
          </a:prstGeom>
          <a:solidFill>
            <a:srgbClr val="1E2761"/>
          </a:solidFill>
          <a:ln w="12700">
            <a:solidFill>
              <a:srgbClr val="1E2761"/>
            </a:solidFill>
            <a:prstDash val="solid"/>
          </a:ln>
        </p:spPr>
        <p:txBody>
          <a:bodyPr/>
          <a:lstStyle/>
          <a:p>
            <a:endParaRPr lang="en-US"/>
          </a:p>
        </p:txBody>
      </p:sp>
      <p:sp>
        <p:nvSpPr>
          <p:cNvPr id="4" name="Text 2"/>
          <p:cNvSpPr/>
          <p:nvPr/>
        </p:nvSpPr>
        <p:spPr>
          <a:xfrm>
            <a:off x="548640" y="1005840"/>
            <a:ext cx="8046720" cy="2819400"/>
          </a:xfrm>
          <a:prstGeom prst="rect">
            <a:avLst/>
          </a:prstGeom>
          <a:solidFill>
            <a:srgbClr val="FFFFFF"/>
          </a:solidFill>
          <a:ln/>
        </p:spPr>
        <p:txBody>
          <a:bodyPr wrap="square" lIns="0" tIns="0" rIns="0" bIns="0" rtlCol="0" anchor="t"/>
          <a:lstStyle/>
          <a:p>
            <a:pPr marL="228600" indent="-228600">
              <a:spcAft>
                <a:spcPts val="600"/>
              </a:spcAft>
              <a:buSzPct val="100000"/>
              <a:buChar char="■"/>
            </a:pPr>
            <a:r>
              <a:rPr lang="en-US" sz="1400" b="1" dirty="0">
                <a:solidFill>
                  <a:srgbClr val="1F2937"/>
                </a:solidFill>
                <a:latin typeface="Calibri" pitchFamily="34" charset="0"/>
                <a:ea typeface="Calibri" pitchFamily="34" charset="-122"/>
                <a:cs typeface="Calibri" pitchFamily="34" charset="-120"/>
              </a:rPr>
              <a:t>Regular users</a:t>
            </a:r>
            <a:r>
              <a:rPr lang="en-US" sz="1400" dirty="0">
                <a:solidFill>
                  <a:srgbClr val="1F2937"/>
                </a:solidFill>
                <a:latin typeface="Calibri" pitchFamily="34" charset="0"/>
                <a:ea typeface="Calibri" pitchFamily="34" charset="-122"/>
                <a:cs typeface="Calibri" pitchFamily="34" charset="-120"/>
              </a:rPr>
              <a:t> (like you) — can read/write/run their own files plus anything permissions allow. Cannot change the system itself.</a:t>
            </a:r>
            <a:endParaRPr lang="en-US" sz="1400" dirty="0"/>
          </a:p>
          <a:p>
            <a:pPr marL="228600" indent="-228600">
              <a:spcAft>
                <a:spcPts val="600"/>
              </a:spcAft>
              <a:buSzPct val="100000"/>
              <a:buChar char="■"/>
            </a:pPr>
            <a:r>
              <a:rPr lang="en-US" sz="1400" b="1" dirty="0">
                <a:solidFill>
                  <a:srgbClr val="1F2937"/>
                </a:solidFill>
                <a:latin typeface="Calibri" pitchFamily="34" charset="0"/>
                <a:ea typeface="Calibri" pitchFamily="34" charset="-122"/>
                <a:cs typeface="Calibri" pitchFamily="34" charset="-120"/>
              </a:rPr>
              <a:t>The `root` user</a:t>
            </a:r>
            <a:r>
              <a:rPr lang="en-US" sz="1400" dirty="0">
                <a:solidFill>
                  <a:srgbClr val="1F2937"/>
                </a:solidFill>
                <a:latin typeface="Calibri" pitchFamily="34" charset="0"/>
                <a:ea typeface="Calibri" pitchFamily="34" charset="-122"/>
                <a:cs typeface="Calibri" pitchFamily="34" charset="-120"/>
              </a:rPr>
              <a:t> — the administrator. Unique. Numeric ID 0. Bypasses almost all permission checks:</a:t>
            </a:r>
            <a:endParaRPr lang="en-US" sz="1400" dirty="0"/>
          </a:p>
          <a:p>
            <a:pPr marL="457200" lvl="1"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Can read any file.</a:t>
            </a:r>
            <a:endParaRPr lang="en-US" sz="1400" dirty="0"/>
          </a:p>
          <a:p>
            <a:pPr marL="457200" lvl="1"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Can modify any file.</a:t>
            </a:r>
            <a:endParaRPr lang="en-US" sz="1400" dirty="0"/>
          </a:p>
          <a:p>
            <a:pPr marL="457200" lvl="1"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Can kill any process.</a:t>
            </a:r>
            <a:endParaRPr lang="en-US" sz="1400" dirty="0"/>
          </a:p>
          <a:p>
            <a:pPr marL="457200" lvl="1"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Can install or remove software for the whole machine.</a:t>
            </a:r>
            <a:endParaRPr lang="en-US" sz="1400" dirty="0"/>
          </a:p>
          <a:p>
            <a:pPr marL="457200" lvl="1"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Can also wreck the system in one command.</a:t>
            </a:r>
            <a:endParaRPr lang="en-US" sz="1400" dirty="0"/>
          </a:p>
        </p:txBody>
      </p:sp>
      <p:sp>
        <p:nvSpPr>
          <p:cNvPr id="5" name="Text 3"/>
          <p:cNvSpPr/>
          <p:nvPr/>
        </p:nvSpPr>
        <p:spPr>
          <a:xfrm>
            <a:off x="548640" y="3870960"/>
            <a:ext cx="8046720" cy="276860"/>
          </a:xfrm>
          <a:prstGeom prst="rect">
            <a:avLst/>
          </a:prstGeom>
          <a:solidFill>
            <a:srgbClr val="FFFFFF"/>
          </a:solidFill>
          <a:ln/>
        </p:spPr>
        <p:txBody>
          <a:bodyPr wrap="square" rtlCol="0" anchor="t"/>
          <a:lstStyle/>
          <a:p>
            <a:pPr marL="0" indent="0">
              <a:buNone/>
            </a:pPr>
            <a:r>
              <a:rPr lang="en-US" sz="1300" i="1" dirty="0">
                <a:solidFill>
                  <a:srgbClr val="475569"/>
                </a:solidFill>
                <a:latin typeface="Calibri" pitchFamily="34" charset="0"/>
                <a:ea typeface="Calibri" pitchFamily="34" charset="-122"/>
                <a:cs typeface="Calibri" pitchFamily="34" charset="-120"/>
              </a:rPr>
              <a:t>There is exactly </a:t>
            </a:r>
            <a:r>
              <a:rPr lang="en-US" sz="1300" b="1" i="1" dirty="0">
                <a:solidFill>
                  <a:srgbClr val="475569"/>
                </a:solidFill>
                <a:latin typeface="Calibri" pitchFamily="34" charset="0"/>
                <a:ea typeface="Calibri" pitchFamily="34" charset="-122"/>
                <a:cs typeface="Calibri" pitchFamily="34" charset="-120"/>
              </a:rPr>
              <a:t>one</a:t>
            </a:r>
            <a:r>
              <a:rPr lang="en-US" sz="1300" i="1" dirty="0">
                <a:solidFill>
                  <a:srgbClr val="475569"/>
                </a:solidFill>
                <a:latin typeface="Calibri" pitchFamily="34" charset="0"/>
                <a:ea typeface="Calibri" pitchFamily="34" charset="-122"/>
                <a:cs typeface="Calibri" pitchFamily="34" charset="-120"/>
              </a:rPr>
              <a:t> root account per Linux machine. That's a feature, not a limitation.</a:t>
            </a:r>
            <a:endParaRPr lang="en-US" sz="13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FFFFF"/>
        </a:solidFill>
        <a:effectLst/>
      </p:bgPr>
    </p:bg>
    <p:spTree>
      <p:nvGrpSpPr>
        <p:cNvPr id="1" name=""/>
        <p:cNvGrpSpPr/>
        <p:nvPr/>
      </p:nvGrpSpPr>
      <p:grpSpPr>
        <a:xfrm>
          <a:off x="0" y="0"/>
          <a:ext cx="0" cy="0"/>
          <a:chOff x="0" y="0"/>
          <a:chExt cx="0" cy="0"/>
        </a:xfrm>
      </p:grpSpPr>
      <p:pic>
        <p:nvPicPr>
          <p:cNvPr id="7" name="Picture 6" descr="access-footer.jpg"/>
          <p:cNvPicPr>
            <a:picLocks noChangeAspect="1"/>
          </p:cNvPicPr>
          <p:nvPr/>
        </p:nvPicPr>
        <p:blipFill>
          <a:blip r:embed="rId3"/>
          <a:stretch>
            <a:fillRect/>
          </a:stretch>
        </p:blipFill>
        <p:spPr>
          <a:xfrm>
            <a:off x="0" y="0"/>
            <a:ext cx="9144000" cy="5143500"/>
          </a:xfrm>
          <a:prstGeom prst="rect">
            <a:avLst/>
          </a:prstGeom>
        </p:spPr>
      </p:pic>
      <p:sp>
        <p:nvSpPr>
          <p:cNvPr id="2" name="Text 0"/>
          <p:cNvSpPr/>
          <p:nvPr/>
        </p:nvSpPr>
        <p:spPr>
          <a:xfrm>
            <a:off x="457200" y="274320"/>
            <a:ext cx="8229600" cy="594360"/>
          </a:xfrm>
          <a:prstGeom prst="rect">
            <a:avLst/>
          </a:prstGeom>
          <a:solidFill>
            <a:srgbClr val="FFFFFF"/>
          </a:solidFill>
          <a:ln/>
        </p:spPr>
        <p:txBody>
          <a:bodyPr wrap="square" lIns="0" tIns="0" rIns="0" bIns="0" rtlCol="0" anchor="ctr"/>
          <a:lstStyle/>
          <a:p>
            <a:pPr marL="0" indent="0">
              <a:buNone/>
            </a:pPr>
            <a:r>
              <a:rPr lang="en-US" sz="2800" b="1" dirty="0">
                <a:solidFill>
                  <a:srgbClr val="1E2761"/>
                </a:solidFill>
                <a:latin typeface="Cambria" pitchFamily="34" charset="0"/>
                <a:ea typeface="Cambria" pitchFamily="34" charset="-122"/>
                <a:cs typeface="Cambria" pitchFamily="34" charset="-120"/>
              </a:rPr>
              <a:t>Why the split exists</a:t>
            </a:r>
            <a:endParaRPr lang="en-US" sz="2800" dirty="0"/>
          </a:p>
        </p:txBody>
      </p:sp>
      <p:sp>
        <p:nvSpPr>
          <p:cNvPr id="3" name="Shape 1"/>
          <p:cNvSpPr/>
          <p:nvPr/>
        </p:nvSpPr>
        <p:spPr>
          <a:xfrm>
            <a:off x="457200" y="868680"/>
            <a:ext cx="548640" cy="36576"/>
          </a:xfrm>
          <a:prstGeom prst="rect">
            <a:avLst/>
          </a:prstGeom>
          <a:solidFill>
            <a:srgbClr val="1E2761"/>
          </a:solidFill>
          <a:ln w="12700">
            <a:solidFill>
              <a:srgbClr val="1E2761"/>
            </a:solidFill>
            <a:prstDash val="solid"/>
          </a:ln>
        </p:spPr>
        <p:txBody>
          <a:bodyPr/>
          <a:lstStyle/>
          <a:p>
            <a:endParaRPr lang="en-US"/>
          </a:p>
        </p:txBody>
      </p:sp>
      <p:sp>
        <p:nvSpPr>
          <p:cNvPr id="4" name="Shape 2"/>
          <p:cNvSpPr/>
          <p:nvPr/>
        </p:nvSpPr>
        <p:spPr>
          <a:xfrm>
            <a:off x="457200" y="1005840"/>
            <a:ext cx="1005840" cy="292608"/>
          </a:xfrm>
          <a:prstGeom prst="rect">
            <a:avLst/>
          </a:prstGeom>
          <a:solidFill>
            <a:srgbClr val="1E2761"/>
          </a:solidFill>
          <a:ln w="12700">
            <a:solidFill>
              <a:srgbClr val="1E2761"/>
            </a:solidFill>
            <a:prstDash val="solid"/>
          </a:ln>
        </p:spPr>
        <p:txBody>
          <a:bodyPr/>
          <a:lstStyle/>
          <a:p>
            <a:endParaRPr lang="en-US"/>
          </a:p>
        </p:txBody>
      </p:sp>
      <p:sp>
        <p:nvSpPr>
          <p:cNvPr id="5" name="Text 3"/>
          <p:cNvSpPr/>
          <p:nvPr/>
        </p:nvSpPr>
        <p:spPr>
          <a:xfrm>
            <a:off x="457200" y="1005840"/>
            <a:ext cx="1005840" cy="292608"/>
          </a:xfrm>
          <a:prstGeom prst="rect">
            <a:avLst/>
          </a:prstGeom>
          <a:noFill/>
          <a:ln/>
        </p:spPr>
        <p:txBody>
          <a:bodyPr wrap="square" lIns="0" tIns="0" rIns="0" bIns="0" rtlCol="0" anchor="ctr"/>
          <a:lstStyle/>
          <a:p>
            <a:pPr marL="0" indent="0" algn="ctr">
              <a:buNone/>
            </a:pPr>
            <a:r>
              <a:rPr lang="en-US" sz="1100" b="1" kern="0" spc="200" dirty="0">
                <a:solidFill>
                  <a:srgbClr val="FFFFFF"/>
                </a:solidFill>
                <a:latin typeface="Calibri" pitchFamily="34" charset="0"/>
                <a:ea typeface="Calibri" pitchFamily="34" charset="-122"/>
                <a:cs typeface="Calibri" pitchFamily="34" charset="-120"/>
              </a:rPr>
              <a:t>TALK</a:t>
            </a:r>
            <a:endParaRPr lang="en-US" sz="1100" dirty="0"/>
          </a:p>
        </p:txBody>
      </p:sp>
      <p:sp>
        <p:nvSpPr>
          <p:cNvPr id="6" name="Text 4"/>
          <p:cNvSpPr/>
          <p:nvPr/>
        </p:nvSpPr>
        <p:spPr>
          <a:xfrm>
            <a:off x="548640" y="1435608"/>
            <a:ext cx="8046720" cy="2626360"/>
          </a:xfrm>
          <a:prstGeom prst="rect">
            <a:avLst/>
          </a:prstGeom>
          <a:solidFill>
            <a:srgbClr val="FFFFFF"/>
          </a:solidFill>
          <a:ln/>
        </p:spPr>
        <p:txBody>
          <a:bodyPr wrap="square" lIns="0" tIns="0" rIns="0" bIns="0" rtlCol="0" anchor="t"/>
          <a:lstStyle/>
          <a:p>
            <a:pPr marL="228600" indent="-228600">
              <a:spcAft>
                <a:spcPts val="600"/>
              </a:spcAft>
              <a:buSzPct val="100000"/>
              <a:buChar char="■"/>
            </a:pPr>
            <a:r>
              <a:rPr lang="en-US" sz="1600" dirty="0">
                <a:solidFill>
                  <a:srgbClr val="1F2937"/>
                </a:solidFill>
                <a:latin typeface="Calibri" pitchFamily="34" charset="0"/>
                <a:ea typeface="Calibri" pitchFamily="34" charset="-122"/>
                <a:cs typeface="Calibri" pitchFamily="34" charset="-120"/>
              </a:rPr>
              <a:t>Most of the time you should </a:t>
            </a:r>
            <a:r>
              <a:rPr lang="en-US" sz="1600" b="1" dirty="0">
                <a:solidFill>
                  <a:srgbClr val="1F2937"/>
                </a:solidFill>
                <a:latin typeface="Calibri" pitchFamily="34" charset="0"/>
                <a:ea typeface="Calibri" pitchFamily="34" charset="-122"/>
                <a:cs typeface="Calibri" pitchFamily="34" charset="-120"/>
              </a:rPr>
              <a:t>not</a:t>
            </a:r>
            <a:r>
              <a:rPr lang="en-US" sz="1600" dirty="0">
                <a:solidFill>
                  <a:srgbClr val="1F2937"/>
                </a:solidFill>
                <a:latin typeface="Calibri" pitchFamily="34" charset="0"/>
                <a:ea typeface="Calibri" pitchFamily="34" charset="-122"/>
                <a:cs typeface="Calibri" pitchFamily="34" charset="-120"/>
              </a:rPr>
              <a:t> be able to break the system — even by accident.</a:t>
            </a:r>
            <a:endParaRPr lang="en-US" sz="1600" dirty="0"/>
          </a:p>
          <a:p>
            <a:pPr marL="228600" indent="-228600">
              <a:spcAft>
                <a:spcPts val="600"/>
              </a:spcAft>
              <a:buSzPct val="100000"/>
              <a:buChar char="■"/>
            </a:pPr>
            <a:r>
              <a:rPr lang="en-US" sz="1600" dirty="0">
                <a:solidFill>
                  <a:srgbClr val="1F2937"/>
                </a:solidFill>
                <a:latin typeface="Calibri" pitchFamily="34" charset="0"/>
                <a:ea typeface="Calibri" pitchFamily="34" charset="-122"/>
                <a:cs typeface="Calibri" pitchFamily="34" charset="-120"/>
              </a:rPr>
              <a:t>Separating "the user doing work" from "the user with system-wide power" means a typo, a buggy program, or malware running as you can damage </a:t>
            </a:r>
            <a:r>
              <a:rPr lang="en-US" sz="1600" b="1" dirty="0">
                <a:solidFill>
                  <a:srgbClr val="1F2937"/>
                </a:solidFill>
                <a:latin typeface="Calibri" pitchFamily="34" charset="0"/>
                <a:ea typeface="Calibri" pitchFamily="34" charset="-122"/>
                <a:cs typeface="Calibri" pitchFamily="34" charset="-120"/>
              </a:rPr>
              <a:t>your stuff</a:t>
            </a:r>
            <a:r>
              <a:rPr lang="en-US" sz="1600" dirty="0">
                <a:solidFill>
                  <a:srgbClr val="1F2937"/>
                </a:solidFill>
                <a:latin typeface="Calibri" pitchFamily="34" charset="0"/>
                <a:ea typeface="Calibri" pitchFamily="34" charset="-122"/>
                <a:cs typeface="Calibri" pitchFamily="34" charset="-120"/>
              </a:rPr>
              <a:t> but not the OS.</a:t>
            </a:r>
            <a:endParaRPr lang="en-US" sz="1600" dirty="0"/>
          </a:p>
          <a:p>
            <a:pPr marL="228600" indent="-228600">
              <a:spcAft>
                <a:spcPts val="600"/>
              </a:spcAft>
              <a:buSzPct val="100000"/>
              <a:buChar char="■"/>
            </a:pPr>
            <a:r>
              <a:rPr lang="en-US" sz="1600" dirty="0">
                <a:solidFill>
                  <a:srgbClr val="1F2937"/>
                </a:solidFill>
                <a:latin typeface="Calibri" pitchFamily="34" charset="0"/>
                <a:ea typeface="Calibri" pitchFamily="34" charset="-122"/>
                <a:cs typeface="Calibri" pitchFamily="34" charset="-120"/>
              </a:rPr>
              <a:t>Same logic protects other users on shared systems — your mistakes don't affect them.</a:t>
            </a:r>
            <a:endParaRPr lang="en-US" sz="1600" dirty="0"/>
          </a:p>
          <a:p>
            <a:pPr marL="228600" indent="-228600">
              <a:spcAft>
                <a:spcPts val="600"/>
              </a:spcAft>
              <a:buSzPct val="100000"/>
              <a:buChar char="■"/>
            </a:pPr>
            <a:r>
              <a:rPr lang="en-US" sz="1600" b="1" dirty="0">
                <a:solidFill>
                  <a:srgbClr val="1F2937"/>
                </a:solidFill>
                <a:latin typeface="Calibri" pitchFamily="34" charset="0"/>
                <a:ea typeface="Calibri" pitchFamily="34" charset="-122"/>
                <a:cs typeface="Calibri" pitchFamily="34" charset="-120"/>
              </a:rPr>
              <a:t>This is one of the reasons Linux servers stay up for years.</a:t>
            </a:r>
            <a:endParaRPr lang="en-US" sz="16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FFFFF"/>
        </a:solidFill>
        <a:effectLst/>
      </p:bgPr>
    </p:bg>
    <p:spTree>
      <p:nvGrpSpPr>
        <p:cNvPr id="1" name=""/>
        <p:cNvGrpSpPr/>
        <p:nvPr/>
      </p:nvGrpSpPr>
      <p:grpSpPr>
        <a:xfrm>
          <a:off x="0" y="0"/>
          <a:ext cx="0" cy="0"/>
          <a:chOff x="0" y="0"/>
          <a:chExt cx="0" cy="0"/>
        </a:xfrm>
      </p:grpSpPr>
      <p:pic>
        <p:nvPicPr>
          <p:cNvPr id="12" name="Picture 11" descr="access-footer.jpg"/>
          <p:cNvPicPr>
            <a:picLocks noChangeAspect="1"/>
          </p:cNvPicPr>
          <p:nvPr/>
        </p:nvPicPr>
        <p:blipFill>
          <a:blip r:embed="rId3"/>
          <a:stretch>
            <a:fillRect/>
          </a:stretch>
        </p:blipFill>
        <p:spPr>
          <a:xfrm>
            <a:off x="0" y="0"/>
            <a:ext cx="9144000" cy="5143500"/>
          </a:xfrm>
          <a:prstGeom prst="rect">
            <a:avLst/>
          </a:prstGeom>
        </p:spPr>
      </p:pic>
      <p:sp>
        <p:nvSpPr>
          <p:cNvPr id="2" name="Text 0"/>
          <p:cNvSpPr/>
          <p:nvPr/>
        </p:nvSpPr>
        <p:spPr>
          <a:xfrm>
            <a:off x="457200" y="274320"/>
            <a:ext cx="8229600" cy="594360"/>
          </a:xfrm>
          <a:prstGeom prst="rect">
            <a:avLst/>
          </a:prstGeom>
          <a:solidFill>
            <a:srgbClr val="FFFFFF"/>
          </a:solidFill>
          <a:ln/>
        </p:spPr>
        <p:txBody>
          <a:bodyPr wrap="square" lIns="0" tIns="0" rIns="0" bIns="0" rtlCol="0" anchor="ctr"/>
          <a:lstStyle/>
          <a:p>
            <a:pPr marL="0" indent="0">
              <a:buNone/>
            </a:pPr>
            <a:r>
              <a:rPr lang="en-US" sz="2800" b="1" dirty="0">
                <a:solidFill>
                  <a:srgbClr val="1E2761"/>
                </a:solidFill>
                <a:latin typeface="Cambria" pitchFamily="34" charset="0"/>
                <a:ea typeface="Cambria" pitchFamily="34" charset="-122"/>
                <a:cs typeface="Cambria" pitchFamily="34" charset="-120"/>
              </a:rPr>
              <a:t>Why you can't install packages as a normal user</a:t>
            </a:r>
            <a:endParaRPr lang="en-US" sz="2800" dirty="0"/>
          </a:p>
        </p:txBody>
      </p:sp>
      <p:sp>
        <p:nvSpPr>
          <p:cNvPr id="3" name="Shape 1"/>
          <p:cNvSpPr/>
          <p:nvPr/>
        </p:nvSpPr>
        <p:spPr>
          <a:xfrm>
            <a:off x="457200" y="868680"/>
            <a:ext cx="548640" cy="36576"/>
          </a:xfrm>
          <a:prstGeom prst="rect">
            <a:avLst/>
          </a:prstGeom>
          <a:solidFill>
            <a:srgbClr val="1E2761"/>
          </a:solidFill>
          <a:ln w="12700">
            <a:solidFill>
              <a:srgbClr val="1E2761"/>
            </a:solidFill>
            <a:prstDash val="solid"/>
          </a:ln>
        </p:spPr>
        <p:txBody>
          <a:bodyPr/>
          <a:lstStyle/>
          <a:p>
            <a:endParaRPr lang="en-US"/>
          </a:p>
        </p:txBody>
      </p:sp>
      <p:sp>
        <p:nvSpPr>
          <p:cNvPr id="4" name="Shape 2"/>
          <p:cNvSpPr/>
          <p:nvPr/>
        </p:nvSpPr>
        <p:spPr>
          <a:xfrm>
            <a:off x="457200" y="1005840"/>
            <a:ext cx="1005840" cy="292608"/>
          </a:xfrm>
          <a:prstGeom prst="rect">
            <a:avLst/>
          </a:prstGeom>
          <a:solidFill>
            <a:srgbClr val="1E2761"/>
          </a:solidFill>
          <a:ln w="12700">
            <a:solidFill>
              <a:srgbClr val="1E2761"/>
            </a:solidFill>
            <a:prstDash val="solid"/>
          </a:ln>
        </p:spPr>
        <p:txBody>
          <a:bodyPr/>
          <a:lstStyle/>
          <a:p>
            <a:endParaRPr lang="en-US"/>
          </a:p>
        </p:txBody>
      </p:sp>
      <p:sp>
        <p:nvSpPr>
          <p:cNvPr id="5" name="Text 3"/>
          <p:cNvSpPr/>
          <p:nvPr/>
        </p:nvSpPr>
        <p:spPr>
          <a:xfrm>
            <a:off x="457200" y="1005840"/>
            <a:ext cx="1005840" cy="292608"/>
          </a:xfrm>
          <a:prstGeom prst="rect">
            <a:avLst/>
          </a:prstGeom>
          <a:noFill/>
          <a:ln/>
        </p:spPr>
        <p:txBody>
          <a:bodyPr wrap="square" lIns="0" tIns="0" rIns="0" bIns="0" rtlCol="0" anchor="ctr"/>
          <a:lstStyle/>
          <a:p>
            <a:pPr marL="0" indent="0" algn="ctr">
              <a:buNone/>
            </a:pPr>
            <a:r>
              <a:rPr lang="en-US" sz="1100" b="1" kern="0" spc="200" dirty="0">
                <a:solidFill>
                  <a:srgbClr val="FFFFFF"/>
                </a:solidFill>
                <a:latin typeface="Calibri" pitchFamily="34" charset="0"/>
                <a:ea typeface="Calibri" pitchFamily="34" charset="-122"/>
                <a:cs typeface="Calibri" pitchFamily="34" charset="-120"/>
              </a:rPr>
              <a:t>TALK</a:t>
            </a:r>
            <a:endParaRPr lang="en-US" sz="1100" dirty="0"/>
          </a:p>
        </p:txBody>
      </p:sp>
      <p:sp>
        <p:nvSpPr>
          <p:cNvPr id="6" name="Text 4"/>
          <p:cNvSpPr/>
          <p:nvPr/>
        </p:nvSpPr>
        <p:spPr>
          <a:xfrm>
            <a:off x="548640" y="1435608"/>
            <a:ext cx="8046720" cy="660400"/>
          </a:xfrm>
          <a:prstGeom prst="rect">
            <a:avLst/>
          </a:prstGeom>
          <a:solidFill>
            <a:srgbClr val="FFFFFF"/>
          </a:solidFill>
          <a:ln/>
        </p:spPr>
        <p:txBody>
          <a:bodyPr wrap="square" lIns="0" tIns="0" rIns="0" bIns="0" rtlCol="0" anchor="t"/>
          <a:lstStyle/>
          <a:p>
            <a:pPr marL="228600" indent="-228600">
              <a:spcAft>
                <a:spcPts val="600"/>
              </a:spcAft>
              <a:buSzPct val="100000"/>
              <a:buChar char="■"/>
            </a:pPr>
            <a:r>
              <a:rPr lang="en-US" sz="1300" dirty="0">
                <a:solidFill>
                  <a:srgbClr val="1F2937"/>
                </a:solidFill>
                <a:latin typeface="Calibri" pitchFamily="34" charset="0"/>
                <a:ea typeface="Calibri" pitchFamily="34" charset="-122"/>
                <a:cs typeface="Calibri" pitchFamily="34" charset="-120"/>
              </a:rPr>
              <a:t>Installing a package puts files into directories like </a:t>
            </a:r>
            <a:r>
              <a:rPr lang="en-US" sz="1300" dirty="0">
                <a:solidFill>
                  <a:srgbClr val="1E2761"/>
                </a:solidFill>
                <a:latin typeface="Consolas" pitchFamily="34" charset="0"/>
                <a:ea typeface="Consolas" pitchFamily="34" charset="-122"/>
                <a:cs typeface="Consolas" pitchFamily="34" charset="-120"/>
              </a:rPr>
              <a:t>/usr/bin/</a:t>
            </a:r>
            <a:r>
              <a:rPr lang="en-US" sz="1300" dirty="0">
                <a:solidFill>
                  <a:srgbClr val="1F2937"/>
                </a:solidFill>
                <a:latin typeface="Calibri" pitchFamily="34" charset="0"/>
                <a:ea typeface="Calibri" pitchFamily="34" charset="-122"/>
                <a:cs typeface="Calibri" pitchFamily="34" charset="-120"/>
              </a:rPr>
              <a:t>, </a:t>
            </a:r>
            <a:r>
              <a:rPr lang="en-US" sz="1300" dirty="0">
                <a:solidFill>
                  <a:srgbClr val="1E2761"/>
                </a:solidFill>
                <a:latin typeface="Consolas" pitchFamily="34" charset="0"/>
                <a:ea typeface="Consolas" pitchFamily="34" charset="-122"/>
                <a:cs typeface="Consolas" pitchFamily="34" charset="-120"/>
              </a:rPr>
              <a:t>/usr/lib/</a:t>
            </a:r>
            <a:r>
              <a:rPr lang="en-US" sz="1300" dirty="0">
                <a:solidFill>
                  <a:srgbClr val="1F2937"/>
                </a:solidFill>
                <a:latin typeface="Calibri" pitchFamily="34" charset="0"/>
                <a:ea typeface="Calibri" pitchFamily="34" charset="-122"/>
                <a:cs typeface="Calibri" pitchFamily="34" charset="-120"/>
              </a:rPr>
              <a:t>, </a:t>
            </a:r>
            <a:r>
              <a:rPr lang="en-US" sz="1300" dirty="0">
                <a:solidFill>
                  <a:srgbClr val="1E2761"/>
                </a:solidFill>
                <a:latin typeface="Consolas" pitchFamily="34" charset="0"/>
                <a:ea typeface="Consolas" pitchFamily="34" charset="-122"/>
                <a:cs typeface="Consolas" pitchFamily="34" charset="-120"/>
              </a:rPr>
              <a:t>/etc/</a:t>
            </a:r>
            <a:r>
              <a:rPr lang="en-US" sz="1300" dirty="0">
                <a:solidFill>
                  <a:srgbClr val="1F2937"/>
                </a:solidFill>
                <a:latin typeface="Calibri" pitchFamily="34" charset="0"/>
                <a:ea typeface="Calibri" pitchFamily="34" charset="-122"/>
                <a:cs typeface="Calibri" pitchFamily="34" charset="-120"/>
              </a:rPr>
              <a:t>.</a:t>
            </a:r>
            <a:endParaRPr lang="en-US" sz="1300" dirty="0"/>
          </a:p>
          <a:p>
            <a:pPr marL="228600" indent="-228600">
              <a:spcAft>
                <a:spcPts val="600"/>
              </a:spcAft>
              <a:buSzPct val="100000"/>
              <a:buChar char="■"/>
            </a:pPr>
            <a:r>
              <a:rPr lang="en-US" sz="1300" dirty="0">
                <a:solidFill>
                  <a:srgbClr val="1F2937"/>
                </a:solidFill>
                <a:latin typeface="Calibri" pitchFamily="34" charset="0"/>
                <a:ea typeface="Calibri" pitchFamily="34" charset="-122"/>
                <a:cs typeface="Calibri" pitchFamily="34" charset="-120"/>
              </a:rPr>
              <a:t>Those directories are owned by </a:t>
            </a:r>
            <a:r>
              <a:rPr lang="en-US" sz="1300" dirty="0">
                <a:solidFill>
                  <a:srgbClr val="1E2761"/>
                </a:solidFill>
                <a:latin typeface="Consolas" pitchFamily="34" charset="0"/>
                <a:ea typeface="Consolas" pitchFamily="34" charset="-122"/>
                <a:cs typeface="Consolas" pitchFamily="34" charset="-120"/>
              </a:rPr>
              <a:t>root</a:t>
            </a:r>
            <a:r>
              <a:rPr lang="en-US" sz="1300" dirty="0">
                <a:solidFill>
                  <a:srgbClr val="1F2937"/>
                </a:solidFill>
                <a:latin typeface="Calibri" pitchFamily="34" charset="0"/>
                <a:ea typeface="Calibri" pitchFamily="34" charset="-122"/>
                <a:cs typeface="Calibri" pitchFamily="34" charset="-120"/>
              </a:rPr>
              <a:t>. Look:</a:t>
            </a:r>
            <a:endParaRPr lang="en-US" sz="1300" dirty="0"/>
          </a:p>
        </p:txBody>
      </p:sp>
      <p:sp>
        <p:nvSpPr>
          <p:cNvPr id="7" name="Shape 5"/>
          <p:cNvSpPr/>
          <p:nvPr/>
        </p:nvSpPr>
        <p:spPr>
          <a:xfrm>
            <a:off x="457200" y="2141728"/>
            <a:ext cx="1005840" cy="292608"/>
          </a:xfrm>
          <a:prstGeom prst="rect">
            <a:avLst/>
          </a:prstGeom>
          <a:solidFill>
            <a:srgbClr val="0369A1"/>
          </a:solidFill>
          <a:ln w="12700">
            <a:solidFill>
              <a:srgbClr val="0369A1"/>
            </a:solidFill>
            <a:prstDash val="solid"/>
          </a:ln>
        </p:spPr>
        <p:txBody>
          <a:bodyPr/>
          <a:lstStyle/>
          <a:p>
            <a:endParaRPr lang="en-US"/>
          </a:p>
        </p:txBody>
      </p:sp>
      <p:sp>
        <p:nvSpPr>
          <p:cNvPr id="8" name="Text 6"/>
          <p:cNvSpPr/>
          <p:nvPr/>
        </p:nvSpPr>
        <p:spPr>
          <a:xfrm>
            <a:off x="457200" y="2141728"/>
            <a:ext cx="1005840" cy="292608"/>
          </a:xfrm>
          <a:prstGeom prst="rect">
            <a:avLst/>
          </a:prstGeom>
          <a:noFill/>
          <a:ln/>
        </p:spPr>
        <p:txBody>
          <a:bodyPr wrap="square" lIns="0" tIns="0" rIns="0" bIns="0" rtlCol="0" anchor="ctr"/>
          <a:lstStyle/>
          <a:p>
            <a:pPr marL="0" indent="0" algn="ctr">
              <a:buNone/>
            </a:pPr>
            <a:r>
              <a:rPr lang="en-US" sz="1100" b="1" kern="0" spc="200" dirty="0">
                <a:solidFill>
                  <a:srgbClr val="FFFFFF"/>
                </a:solidFill>
                <a:latin typeface="Calibri" pitchFamily="34" charset="0"/>
                <a:ea typeface="Calibri" pitchFamily="34" charset="-122"/>
                <a:cs typeface="Calibri" pitchFamily="34" charset="-120"/>
              </a:rPr>
              <a:t>DEMO</a:t>
            </a:r>
            <a:endParaRPr lang="en-US" sz="1100" dirty="0"/>
          </a:p>
        </p:txBody>
      </p:sp>
      <p:sp>
        <p:nvSpPr>
          <p:cNvPr id="9" name="Shape 7"/>
          <p:cNvSpPr/>
          <p:nvPr/>
        </p:nvSpPr>
        <p:spPr>
          <a:xfrm>
            <a:off x="548640" y="2571496"/>
            <a:ext cx="8046720" cy="1569720"/>
          </a:xfrm>
          <a:prstGeom prst="rect">
            <a:avLst/>
          </a:prstGeom>
          <a:solidFill>
            <a:srgbClr val="0F172A"/>
          </a:solidFill>
          <a:ln w="12700">
            <a:solidFill>
              <a:srgbClr val="0F172A"/>
            </a:solidFill>
            <a:prstDash val="solid"/>
          </a:ln>
        </p:spPr>
        <p:txBody>
          <a:bodyPr/>
          <a:lstStyle/>
          <a:p>
            <a:endParaRPr lang="en-US"/>
          </a:p>
        </p:txBody>
      </p:sp>
      <p:sp>
        <p:nvSpPr>
          <p:cNvPr id="10" name="Text 8"/>
          <p:cNvSpPr/>
          <p:nvPr/>
        </p:nvSpPr>
        <p:spPr>
          <a:xfrm>
            <a:off x="685800" y="2644648"/>
            <a:ext cx="7772400" cy="1423416"/>
          </a:xfrm>
          <a:prstGeom prst="rect">
            <a:avLst/>
          </a:prstGeom>
          <a:noFill/>
          <a:ln/>
        </p:spPr>
        <p:txBody>
          <a:bodyPr wrap="square" lIns="0" tIns="0" rIns="0" bIns="0" rtlCol="0" anchor="t"/>
          <a:lstStyle/>
          <a:p>
            <a:pPr marL="0" indent="0">
              <a:buNone/>
            </a:pPr>
            <a:r>
              <a:rPr lang="en-US" sz="1200" dirty="0">
                <a:solidFill>
                  <a:srgbClr val="E2E8F0"/>
                </a:solidFill>
                <a:latin typeface="Consolas" pitchFamily="34" charset="0"/>
                <a:ea typeface="Consolas" pitchFamily="34" charset="-122"/>
                <a:cs typeface="Consolas" pitchFamily="34" charset="-120"/>
              </a:rPr>
              <a:t>$ ls -ld /usr/bin /usr/lib /etc</a:t>
            </a:r>
            <a:endParaRPr lang="en-US" sz="1200" dirty="0"/>
          </a:p>
          <a:p>
            <a:pPr marL="0" indent="0">
              <a:buNone/>
            </a:pPr>
            <a:r>
              <a:rPr lang="en-US" sz="1200" dirty="0">
                <a:solidFill>
                  <a:srgbClr val="E2E8F0"/>
                </a:solidFill>
                <a:latin typeface="Consolas" pitchFamily="34" charset="0"/>
                <a:ea typeface="Consolas" pitchFamily="34" charset="-122"/>
                <a:cs typeface="Consolas" pitchFamily="34" charset="-120"/>
              </a:rPr>
              <a:t>drwxr-xr-x ... root root ...   /usr/bin</a:t>
            </a:r>
            <a:endParaRPr lang="en-US" sz="1200" dirty="0"/>
          </a:p>
          <a:p>
            <a:pPr marL="0" indent="0">
              <a:buNone/>
            </a:pPr>
            <a:r>
              <a:rPr lang="en-US" sz="1200" dirty="0">
                <a:solidFill>
                  <a:srgbClr val="E2E8F0"/>
                </a:solidFill>
                <a:latin typeface="Consolas" pitchFamily="34" charset="0"/>
                <a:ea typeface="Consolas" pitchFamily="34" charset="-122"/>
                <a:cs typeface="Consolas" pitchFamily="34" charset="-120"/>
              </a:rPr>
              <a:t>drwxr-xr-x ... root root ...   /usr/lib</a:t>
            </a:r>
            <a:endParaRPr lang="en-US" sz="1200" dirty="0"/>
          </a:p>
          <a:p>
            <a:pPr marL="0" indent="0">
              <a:buNone/>
            </a:pPr>
            <a:r>
              <a:rPr lang="en-US" sz="1200" dirty="0">
                <a:solidFill>
                  <a:srgbClr val="E2E8F0"/>
                </a:solidFill>
                <a:latin typeface="Consolas" pitchFamily="34" charset="0"/>
                <a:ea typeface="Consolas" pitchFamily="34" charset="-122"/>
                <a:cs typeface="Consolas" pitchFamily="34" charset="-120"/>
              </a:rPr>
              <a:t>drwxr-xr-x ... root root ...   /etc</a:t>
            </a:r>
            <a:endParaRPr lang="en-US" sz="1200" dirty="0"/>
          </a:p>
          <a:p>
            <a:pPr marL="0" indent="0">
              <a:buNone/>
            </a:pPr>
            <a:r>
              <a:rPr lang="en-US" sz="1200" dirty="0">
                <a:solidFill>
                  <a:srgbClr val="E2E8F0"/>
                </a:solidFill>
                <a:latin typeface="Consolas" pitchFamily="34" charset="0"/>
                <a:ea typeface="Consolas" pitchFamily="34" charset="-122"/>
                <a:cs typeface="Consolas" pitchFamily="34" charset="-120"/>
              </a:rPr>
              <a:t> </a:t>
            </a:r>
            <a:endParaRPr lang="en-US" sz="1200" dirty="0"/>
          </a:p>
          <a:p>
            <a:pPr marL="0" indent="0">
              <a:buNone/>
            </a:pPr>
            <a:r>
              <a:rPr lang="en-US" sz="1200" dirty="0">
                <a:solidFill>
                  <a:srgbClr val="E2E8F0"/>
                </a:solidFill>
                <a:latin typeface="Consolas" pitchFamily="34" charset="0"/>
                <a:ea typeface="Consolas" pitchFamily="34" charset="-122"/>
                <a:cs typeface="Consolas" pitchFamily="34" charset="-120"/>
              </a:rPr>
              <a:t>$ apt install cowsay</a:t>
            </a:r>
            <a:endParaRPr lang="en-US" sz="1200" dirty="0"/>
          </a:p>
          <a:p>
            <a:pPr marL="0" indent="0">
              <a:buNone/>
            </a:pPr>
            <a:r>
              <a:rPr lang="en-US" sz="1200" dirty="0">
                <a:solidFill>
                  <a:srgbClr val="E2E8F0"/>
                </a:solidFill>
                <a:latin typeface="Consolas" pitchFamily="34" charset="0"/>
                <a:ea typeface="Consolas" pitchFamily="34" charset="-122"/>
                <a:cs typeface="Consolas" pitchFamily="34" charset="-120"/>
              </a:rPr>
              <a:t>E: Could not open lock file ... Permission denied</a:t>
            </a:r>
            <a:endParaRPr lang="en-US" sz="1200" dirty="0"/>
          </a:p>
        </p:txBody>
      </p:sp>
      <p:sp>
        <p:nvSpPr>
          <p:cNvPr id="11" name="Text 9"/>
          <p:cNvSpPr/>
          <p:nvPr/>
        </p:nvSpPr>
        <p:spPr>
          <a:xfrm>
            <a:off x="548640" y="4186936"/>
            <a:ext cx="8046720" cy="508000"/>
          </a:xfrm>
          <a:prstGeom prst="rect">
            <a:avLst/>
          </a:prstGeom>
          <a:solidFill>
            <a:srgbClr val="FFFFFF"/>
          </a:solidFill>
          <a:ln/>
        </p:spPr>
        <p:txBody>
          <a:bodyPr wrap="square" rtlCol="0" anchor="t"/>
          <a:lstStyle/>
          <a:p>
            <a:pPr marL="0" indent="0">
              <a:buNone/>
            </a:pPr>
            <a:r>
              <a:rPr lang="en-US" sz="1300" i="1" dirty="0">
                <a:solidFill>
                  <a:srgbClr val="475569"/>
                </a:solidFill>
                <a:latin typeface="Calibri" pitchFamily="34" charset="0"/>
                <a:ea typeface="Calibri" pitchFamily="34" charset="-122"/>
                <a:cs typeface="Calibri" pitchFamily="34" charset="-120"/>
              </a:rPr>
              <a:t>Not </a:t>
            </a:r>
            <a:r>
              <a:rPr lang="en-US" sz="1300" i="1" dirty="0">
                <a:solidFill>
                  <a:srgbClr val="1E2761"/>
                </a:solidFill>
                <a:latin typeface="Consolas" pitchFamily="34" charset="0"/>
                <a:ea typeface="Consolas" pitchFamily="34" charset="-122"/>
                <a:cs typeface="Consolas" pitchFamily="34" charset="-120"/>
              </a:rPr>
              <a:t>apt</a:t>
            </a:r>
            <a:r>
              <a:rPr lang="en-US" sz="1300" i="1" dirty="0">
                <a:solidFill>
                  <a:srgbClr val="475569"/>
                </a:solidFill>
                <a:latin typeface="Calibri" pitchFamily="34" charset="0"/>
                <a:ea typeface="Calibri" pitchFamily="34" charset="-122"/>
                <a:cs typeface="Calibri" pitchFamily="34" charset="-120"/>
              </a:rPr>
              <a:t> being unfriendly — the filesystem doing its job. To install system-wide, you need to act as </a:t>
            </a:r>
            <a:r>
              <a:rPr lang="en-US" sz="1300" b="1" i="1" dirty="0">
                <a:solidFill>
                  <a:srgbClr val="475569"/>
                </a:solidFill>
                <a:latin typeface="Calibri" pitchFamily="34" charset="0"/>
                <a:ea typeface="Calibri" pitchFamily="34" charset="-122"/>
                <a:cs typeface="Calibri" pitchFamily="34" charset="-120"/>
              </a:rPr>
              <a:t>root</a:t>
            </a:r>
            <a:r>
              <a:rPr lang="en-US" sz="1300" i="1" dirty="0">
                <a:solidFill>
                  <a:srgbClr val="475569"/>
                </a:solidFill>
                <a:latin typeface="Calibri" pitchFamily="34" charset="0"/>
                <a:ea typeface="Calibri" pitchFamily="34" charset="-122"/>
                <a:cs typeface="Calibri" pitchFamily="34" charset="-120"/>
              </a:rPr>
              <a:t>.</a:t>
            </a:r>
            <a:endParaRPr lang="en-US" sz="13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FFFFFF"/>
        </a:solidFill>
        <a:effectLst/>
      </p:bgPr>
    </p:bg>
    <p:spTree>
      <p:nvGrpSpPr>
        <p:cNvPr id="1" name=""/>
        <p:cNvGrpSpPr/>
        <p:nvPr/>
      </p:nvGrpSpPr>
      <p:grpSpPr>
        <a:xfrm>
          <a:off x="0" y="0"/>
          <a:ext cx="0" cy="0"/>
          <a:chOff x="0" y="0"/>
          <a:chExt cx="0" cy="0"/>
        </a:xfrm>
      </p:grpSpPr>
      <p:pic>
        <p:nvPicPr>
          <p:cNvPr id="7" name="Picture 6" descr="access-footer.jpg"/>
          <p:cNvPicPr>
            <a:picLocks noChangeAspect="1"/>
          </p:cNvPicPr>
          <p:nvPr/>
        </p:nvPicPr>
        <p:blipFill>
          <a:blip r:embed="rId3"/>
          <a:stretch>
            <a:fillRect/>
          </a:stretch>
        </p:blipFill>
        <p:spPr>
          <a:xfrm>
            <a:off x="0" y="0"/>
            <a:ext cx="9144000" cy="5143500"/>
          </a:xfrm>
          <a:prstGeom prst="rect">
            <a:avLst/>
          </a:prstGeom>
        </p:spPr>
      </p:pic>
      <p:sp>
        <p:nvSpPr>
          <p:cNvPr id="2" name="Text 0"/>
          <p:cNvSpPr/>
          <p:nvPr/>
        </p:nvSpPr>
        <p:spPr>
          <a:xfrm>
            <a:off x="457200" y="274320"/>
            <a:ext cx="8229600" cy="594360"/>
          </a:xfrm>
          <a:prstGeom prst="rect">
            <a:avLst/>
          </a:prstGeom>
          <a:solidFill>
            <a:srgbClr val="FFFFFF"/>
          </a:solidFill>
          <a:ln/>
        </p:spPr>
        <p:txBody>
          <a:bodyPr wrap="square" lIns="0" tIns="0" rIns="0" bIns="0" rtlCol="0" anchor="ctr"/>
          <a:lstStyle/>
          <a:p>
            <a:pPr marL="0" indent="0">
              <a:buNone/>
            </a:pPr>
            <a:r>
              <a:rPr lang="en-US" sz="2800" b="1" dirty="0">
                <a:solidFill>
                  <a:srgbClr val="1E2761"/>
                </a:solidFill>
                <a:latin typeface="Cambria" pitchFamily="34" charset="0"/>
                <a:ea typeface="Cambria" pitchFamily="34" charset="-122"/>
                <a:cs typeface="Cambria" pitchFamily="34" charset="-120"/>
              </a:rPr>
              <a:t>What sudo is</a:t>
            </a:r>
            <a:endParaRPr lang="en-US" sz="2800" dirty="0"/>
          </a:p>
        </p:txBody>
      </p:sp>
      <p:sp>
        <p:nvSpPr>
          <p:cNvPr id="3" name="Shape 1"/>
          <p:cNvSpPr/>
          <p:nvPr/>
        </p:nvSpPr>
        <p:spPr>
          <a:xfrm>
            <a:off x="457200" y="868680"/>
            <a:ext cx="548640" cy="36576"/>
          </a:xfrm>
          <a:prstGeom prst="rect">
            <a:avLst/>
          </a:prstGeom>
          <a:solidFill>
            <a:srgbClr val="1E2761"/>
          </a:solidFill>
          <a:ln w="12700">
            <a:solidFill>
              <a:srgbClr val="1E2761"/>
            </a:solidFill>
            <a:prstDash val="solid"/>
          </a:ln>
        </p:spPr>
        <p:txBody>
          <a:bodyPr/>
          <a:lstStyle/>
          <a:p>
            <a:endParaRPr lang="en-US"/>
          </a:p>
        </p:txBody>
      </p:sp>
      <p:sp>
        <p:nvSpPr>
          <p:cNvPr id="4" name="Shape 2"/>
          <p:cNvSpPr/>
          <p:nvPr/>
        </p:nvSpPr>
        <p:spPr>
          <a:xfrm>
            <a:off x="457200" y="1005840"/>
            <a:ext cx="1005840" cy="292608"/>
          </a:xfrm>
          <a:prstGeom prst="rect">
            <a:avLst/>
          </a:prstGeom>
          <a:solidFill>
            <a:srgbClr val="1E2761"/>
          </a:solidFill>
          <a:ln w="12700">
            <a:solidFill>
              <a:srgbClr val="1E2761"/>
            </a:solidFill>
            <a:prstDash val="solid"/>
          </a:ln>
        </p:spPr>
        <p:txBody>
          <a:bodyPr/>
          <a:lstStyle/>
          <a:p>
            <a:endParaRPr lang="en-US"/>
          </a:p>
        </p:txBody>
      </p:sp>
      <p:sp>
        <p:nvSpPr>
          <p:cNvPr id="5" name="Text 3"/>
          <p:cNvSpPr/>
          <p:nvPr/>
        </p:nvSpPr>
        <p:spPr>
          <a:xfrm>
            <a:off x="457200" y="1005840"/>
            <a:ext cx="1005840" cy="292608"/>
          </a:xfrm>
          <a:prstGeom prst="rect">
            <a:avLst/>
          </a:prstGeom>
          <a:noFill/>
          <a:ln/>
        </p:spPr>
        <p:txBody>
          <a:bodyPr wrap="square" lIns="0" tIns="0" rIns="0" bIns="0" rtlCol="0" anchor="ctr"/>
          <a:lstStyle/>
          <a:p>
            <a:pPr marL="0" indent="0" algn="ctr">
              <a:buNone/>
            </a:pPr>
            <a:r>
              <a:rPr lang="en-US" sz="1100" b="1" kern="0" spc="200" dirty="0">
                <a:solidFill>
                  <a:srgbClr val="FFFFFF"/>
                </a:solidFill>
                <a:latin typeface="Calibri" pitchFamily="34" charset="0"/>
                <a:ea typeface="Calibri" pitchFamily="34" charset="-122"/>
                <a:cs typeface="Calibri" pitchFamily="34" charset="-120"/>
              </a:rPr>
              <a:t>TALK</a:t>
            </a:r>
            <a:endParaRPr lang="en-US" sz="1100" dirty="0"/>
          </a:p>
        </p:txBody>
      </p:sp>
      <p:sp>
        <p:nvSpPr>
          <p:cNvPr id="6" name="Text 4"/>
          <p:cNvSpPr/>
          <p:nvPr/>
        </p:nvSpPr>
        <p:spPr>
          <a:xfrm>
            <a:off x="548640" y="1435608"/>
            <a:ext cx="8046720" cy="1920240"/>
          </a:xfrm>
          <a:prstGeom prst="rect">
            <a:avLst/>
          </a:prstGeom>
          <a:solidFill>
            <a:srgbClr val="FFFFFF"/>
          </a:solidFill>
          <a:ln/>
        </p:spPr>
        <p:txBody>
          <a:bodyPr wrap="square" lIns="0" tIns="0" rIns="0" bIns="0" rtlCol="0" anchor="t"/>
          <a:lstStyle/>
          <a:p>
            <a:pPr marL="228600" indent="-228600">
              <a:spcAft>
                <a:spcPts val="600"/>
              </a:spcAft>
              <a:buSzPct val="100000"/>
              <a:buChar char="■"/>
            </a:pPr>
            <a:r>
              <a:rPr lang="en-US" sz="1400" dirty="0">
                <a:solidFill>
                  <a:srgbClr val="1E2761"/>
                </a:solidFill>
                <a:latin typeface="Consolas" pitchFamily="34" charset="0"/>
                <a:ea typeface="Consolas" pitchFamily="34" charset="-122"/>
                <a:cs typeface="Consolas" pitchFamily="34" charset="-120"/>
              </a:rPr>
              <a:t>sudo</a:t>
            </a:r>
            <a:r>
              <a:rPr lang="en-US" sz="1400" dirty="0">
                <a:solidFill>
                  <a:srgbClr val="1F2937"/>
                </a:solidFill>
                <a:latin typeface="Calibri" pitchFamily="34" charset="0"/>
                <a:ea typeface="Calibri" pitchFamily="34" charset="-122"/>
                <a:cs typeface="Calibri" pitchFamily="34" charset="-120"/>
              </a:rPr>
              <a:t> = "</a:t>
            </a:r>
            <a:r>
              <a:rPr lang="en-US" sz="1400" b="1" dirty="0">
                <a:solidFill>
                  <a:srgbClr val="1F2937"/>
                </a:solidFill>
                <a:latin typeface="Calibri" pitchFamily="34" charset="0"/>
                <a:ea typeface="Calibri" pitchFamily="34" charset="-122"/>
                <a:cs typeface="Calibri" pitchFamily="34" charset="-120"/>
              </a:rPr>
              <a:t>s</a:t>
            </a:r>
            <a:r>
              <a:rPr lang="en-US" sz="1400" dirty="0">
                <a:solidFill>
                  <a:srgbClr val="1F2937"/>
                </a:solidFill>
                <a:latin typeface="Calibri" pitchFamily="34" charset="0"/>
                <a:ea typeface="Calibri" pitchFamily="34" charset="-122"/>
                <a:cs typeface="Calibri" pitchFamily="34" charset="-120"/>
              </a:rPr>
              <a:t>ubstitute </a:t>
            </a:r>
            <a:r>
              <a:rPr lang="en-US" sz="1400" b="1" dirty="0">
                <a:solidFill>
                  <a:srgbClr val="1F2937"/>
                </a:solidFill>
                <a:latin typeface="Calibri" pitchFamily="34" charset="0"/>
                <a:ea typeface="Calibri" pitchFamily="34" charset="-122"/>
                <a:cs typeface="Calibri" pitchFamily="34" charset="-120"/>
              </a:rPr>
              <a:t>u</a:t>
            </a:r>
            <a:r>
              <a:rPr lang="en-US" sz="1400" dirty="0">
                <a:solidFill>
                  <a:srgbClr val="1F2937"/>
                </a:solidFill>
                <a:latin typeface="Calibri" pitchFamily="34" charset="0"/>
                <a:ea typeface="Calibri" pitchFamily="34" charset="-122"/>
                <a:cs typeface="Calibri" pitchFamily="34" charset="-120"/>
              </a:rPr>
              <a:t>ser, </a:t>
            </a:r>
            <a:r>
              <a:rPr lang="en-US" sz="1400" b="1" dirty="0">
                <a:solidFill>
                  <a:srgbClr val="1F2937"/>
                </a:solidFill>
                <a:latin typeface="Calibri" pitchFamily="34" charset="0"/>
                <a:ea typeface="Calibri" pitchFamily="34" charset="-122"/>
                <a:cs typeface="Calibri" pitchFamily="34" charset="-120"/>
              </a:rPr>
              <a:t>do</a:t>
            </a:r>
            <a:r>
              <a:rPr lang="en-US" sz="1400" dirty="0">
                <a:solidFill>
                  <a:srgbClr val="1F2937"/>
                </a:solidFill>
                <a:latin typeface="Calibri" pitchFamily="34" charset="0"/>
                <a:ea typeface="Calibri" pitchFamily="34" charset="-122"/>
                <a:cs typeface="Calibri" pitchFamily="34" charset="-120"/>
              </a:rPr>
              <a:t>" — run a single command as another user, defaulting to root.</a:t>
            </a:r>
            <a:endParaRPr lang="en-US" sz="1400" dirty="0"/>
          </a:p>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You authenticate with </a:t>
            </a:r>
            <a:r>
              <a:rPr lang="en-US" sz="1400" b="1" dirty="0">
                <a:solidFill>
                  <a:srgbClr val="1F2937"/>
                </a:solidFill>
                <a:latin typeface="Calibri" pitchFamily="34" charset="0"/>
                <a:ea typeface="Calibri" pitchFamily="34" charset="-122"/>
                <a:cs typeface="Calibri" pitchFamily="34" charset="-120"/>
              </a:rPr>
              <a:t>your own password</a:t>
            </a:r>
            <a:r>
              <a:rPr lang="en-US" sz="1400" dirty="0">
                <a:solidFill>
                  <a:srgbClr val="1F2937"/>
                </a:solidFill>
                <a:latin typeface="Calibri" pitchFamily="34" charset="0"/>
                <a:ea typeface="Calibri" pitchFamily="34" charset="-122"/>
                <a:cs typeface="Calibri" pitchFamily="34" charset="-120"/>
              </a:rPr>
              <a:t>, not root's password.</a:t>
            </a:r>
            <a:endParaRPr lang="en-US" sz="1400" dirty="0"/>
          </a:p>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(You usually don't even know root's password, and you don't need to.)</a:t>
            </a:r>
            <a:endParaRPr lang="en-US" sz="1400" dirty="0"/>
          </a:p>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Whether you're </a:t>
            </a:r>
            <a:r>
              <a:rPr lang="en-US" sz="1400" i="1" dirty="0">
                <a:solidFill>
                  <a:srgbClr val="1F2937"/>
                </a:solidFill>
                <a:latin typeface="Calibri" pitchFamily="34" charset="0"/>
                <a:ea typeface="Calibri" pitchFamily="34" charset="-122"/>
                <a:cs typeface="Calibri" pitchFamily="34" charset="-120"/>
              </a:rPr>
              <a:t>allowed</a:t>
            </a:r>
            <a:r>
              <a:rPr lang="en-US" sz="1400" dirty="0">
                <a:solidFill>
                  <a:srgbClr val="1F2937"/>
                </a:solidFill>
                <a:latin typeface="Calibri" pitchFamily="34" charset="0"/>
                <a:ea typeface="Calibri" pitchFamily="34" charset="-122"/>
                <a:cs typeface="Calibri" pitchFamily="34" charset="-120"/>
              </a:rPr>
              <a:t> to use sudo is configured by a sysadmin in </a:t>
            </a:r>
            <a:r>
              <a:rPr lang="en-US" sz="1400" dirty="0">
                <a:solidFill>
                  <a:srgbClr val="1E2761"/>
                </a:solidFill>
                <a:latin typeface="Consolas" pitchFamily="34" charset="0"/>
                <a:ea typeface="Consolas" pitchFamily="34" charset="-122"/>
                <a:cs typeface="Consolas" pitchFamily="34" charset="-120"/>
              </a:rPr>
              <a:t>/etc/sudoers</a:t>
            </a:r>
            <a:r>
              <a:rPr lang="en-US" sz="1400" dirty="0">
                <a:solidFill>
                  <a:srgbClr val="1F2937"/>
                </a:solidFill>
                <a:latin typeface="Calibri" pitchFamily="34" charset="0"/>
                <a:ea typeface="Calibri" pitchFamily="34" charset="-122"/>
                <a:cs typeface="Calibri" pitchFamily="34" charset="-120"/>
              </a:rPr>
              <a:t>.</a:t>
            </a:r>
            <a:endParaRPr lang="en-US" sz="1400" dirty="0"/>
          </a:p>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On your workshop VM: your account has sudo. On a random server: likely not.</a:t>
            </a:r>
            <a:endParaRPr lang="en-US" sz="14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FFFFFF"/>
        </a:solidFill>
        <a:effectLst/>
      </p:bgPr>
    </p:bg>
    <p:spTree>
      <p:nvGrpSpPr>
        <p:cNvPr id="1" name=""/>
        <p:cNvGrpSpPr/>
        <p:nvPr/>
      </p:nvGrpSpPr>
      <p:grpSpPr>
        <a:xfrm>
          <a:off x="0" y="0"/>
          <a:ext cx="0" cy="0"/>
          <a:chOff x="0" y="0"/>
          <a:chExt cx="0" cy="0"/>
        </a:xfrm>
      </p:grpSpPr>
      <p:pic>
        <p:nvPicPr>
          <p:cNvPr id="9" name="Picture 8" descr="access-footer.jpg"/>
          <p:cNvPicPr>
            <a:picLocks noChangeAspect="1"/>
          </p:cNvPicPr>
          <p:nvPr/>
        </p:nvPicPr>
        <p:blipFill>
          <a:blip r:embed="rId3"/>
          <a:stretch>
            <a:fillRect/>
          </a:stretch>
        </p:blipFill>
        <p:spPr>
          <a:xfrm>
            <a:off x="0" y="0"/>
            <a:ext cx="9144000" cy="5143500"/>
          </a:xfrm>
          <a:prstGeom prst="rect">
            <a:avLst/>
          </a:prstGeom>
        </p:spPr>
      </p:pic>
      <p:sp>
        <p:nvSpPr>
          <p:cNvPr id="2" name="Text 0"/>
          <p:cNvSpPr/>
          <p:nvPr/>
        </p:nvSpPr>
        <p:spPr>
          <a:xfrm>
            <a:off x="457200" y="274320"/>
            <a:ext cx="8229600" cy="594360"/>
          </a:xfrm>
          <a:prstGeom prst="rect">
            <a:avLst/>
          </a:prstGeom>
          <a:solidFill>
            <a:srgbClr val="FFFFFF"/>
          </a:solidFill>
          <a:ln/>
        </p:spPr>
        <p:txBody>
          <a:bodyPr wrap="square" lIns="0" tIns="0" rIns="0" bIns="0" rtlCol="0" anchor="ctr"/>
          <a:lstStyle/>
          <a:p>
            <a:pPr marL="0" indent="0">
              <a:buNone/>
            </a:pPr>
            <a:r>
              <a:rPr lang="en-US" sz="2800" b="1" dirty="0">
                <a:solidFill>
                  <a:srgbClr val="1E2761"/>
                </a:solidFill>
                <a:latin typeface="Cambria" pitchFamily="34" charset="0"/>
                <a:ea typeface="Cambria" pitchFamily="34" charset="-122"/>
                <a:cs typeface="Cambria" pitchFamily="34" charset="-120"/>
              </a:rPr>
              <a:t>How sudo behaves</a:t>
            </a:r>
            <a:endParaRPr lang="en-US" sz="2800" dirty="0"/>
          </a:p>
        </p:txBody>
      </p:sp>
      <p:sp>
        <p:nvSpPr>
          <p:cNvPr id="3" name="Shape 1"/>
          <p:cNvSpPr/>
          <p:nvPr/>
        </p:nvSpPr>
        <p:spPr>
          <a:xfrm>
            <a:off x="457200" y="868680"/>
            <a:ext cx="548640" cy="36576"/>
          </a:xfrm>
          <a:prstGeom prst="rect">
            <a:avLst/>
          </a:prstGeom>
          <a:solidFill>
            <a:srgbClr val="1E2761"/>
          </a:solidFill>
          <a:ln w="12700">
            <a:solidFill>
              <a:srgbClr val="1E2761"/>
            </a:solidFill>
            <a:prstDash val="solid"/>
          </a:ln>
        </p:spPr>
        <p:txBody>
          <a:bodyPr/>
          <a:lstStyle/>
          <a:p>
            <a:endParaRPr lang="en-US"/>
          </a:p>
        </p:txBody>
      </p:sp>
      <p:sp>
        <p:nvSpPr>
          <p:cNvPr id="4" name="Shape 2"/>
          <p:cNvSpPr/>
          <p:nvPr/>
        </p:nvSpPr>
        <p:spPr>
          <a:xfrm>
            <a:off x="457200" y="1005840"/>
            <a:ext cx="1005840" cy="292608"/>
          </a:xfrm>
          <a:prstGeom prst="rect">
            <a:avLst/>
          </a:prstGeom>
          <a:solidFill>
            <a:srgbClr val="0369A1"/>
          </a:solidFill>
          <a:ln w="12700">
            <a:solidFill>
              <a:srgbClr val="0369A1"/>
            </a:solidFill>
            <a:prstDash val="solid"/>
          </a:ln>
        </p:spPr>
        <p:txBody>
          <a:bodyPr/>
          <a:lstStyle/>
          <a:p>
            <a:endParaRPr lang="en-US"/>
          </a:p>
        </p:txBody>
      </p:sp>
      <p:sp>
        <p:nvSpPr>
          <p:cNvPr id="5" name="Text 3"/>
          <p:cNvSpPr/>
          <p:nvPr/>
        </p:nvSpPr>
        <p:spPr>
          <a:xfrm>
            <a:off x="457200" y="1005840"/>
            <a:ext cx="1005840" cy="292608"/>
          </a:xfrm>
          <a:prstGeom prst="rect">
            <a:avLst/>
          </a:prstGeom>
          <a:noFill/>
          <a:ln/>
        </p:spPr>
        <p:txBody>
          <a:bodyPr wrap="square" lIns="0" tIns="0" rIns="0" bIns="0" rtlCol="0" anchor="ctr"/>
          <a:lstStyle/>
          <a:p>
            <a:pPr marL="0" indent="0" algn="ctr">
              <a:buNone/>
            </a:pPr>
            <a:r>
              <a:rPr lang="en-US" sz="1100" b="1" kern="0" spc="200" dirty="0">
                <a:solidFill>
                  <a:srgbClr val="FFFFFF"/>
                </a:solidFill>
                <a:latin typeface="Calibri" pitchFamily="34" charset="0"/>
                <a:ea typeface="Calibri" pitchFamily="34" charset="-122"/>
                <a:cs typeface="Calibri" pitchFamily="34" charset="-120"/>
              </a:rPr>
              <a:t>DEMO</a:t>
            </a:r>
            <a:endParaRPr lang="en-US" sz="1100" dirty="0"/>
          </a:p>
        </p:txBody>
      </p:sp>
      <p:sp>
        <p:nvSpPr>
          <p:cNvPr id="6" name="Shape 4"/>
          <p:cNvSpPr/>
          <p:nvPr/>
        </p:nvSpPr>
        <p:spPr>
          <a:xfrm>
            <a:off x="548640" y="1435608"/>
            <a:ext cx="8046720" cy="1800860"/>
          </a:xfrm>
          <a:prstGeom prst="rect">
            <a:avLst/>
          </a:prstGeom>
          <a:solidFill>
            <a:srgbClr val="0F172A"/>
          </a:solidFill>
          <a:ln w="12700">
            <a:solidFill>
              <a:srgbClr val="0F172A"/>
            </a:solidFill>
            <a:prstDash val="solid"/>
          </a:ln>
        </p:spPr>
        <p:txBody>
          <a:bodyPr/>
          <a:lstStyle/>
          <a:p>
            <a:endParaRPr lang="en-US"/>
          </a:p>
        </p:txBody>
      </p:sp>
      <p:sp>
        <p:nvSpPr>
          <p:cNvPr id="7" name="Text 5"/>
          <p:cNvSpPr/>
          <p:nvPr/>
        </p:nvSpPr>
        <p:spPr>
          <a:xfrm>
            <a:off x="685800" y="1508760"/>
            <a:ext cx="7772400" cy="1654556"/>
          </a:xfrm>
          <a:prstGeom prst="rect">
            <a:avLst/>
          </a:prstGeom>
          <a:noFill/>
          <a:ln/>
        </p:spPr>
        <p:txBody>
          <a:bodyPr wrap="square" lIns="0" tIns="0" rIns="0" bIns="0" rtlCol="0" anchor="t"/>
          <a:lstStyle/>
          <a:p>
            <a:pPr marL="0" indent="0">
              <a:buNone/>
            </a:pPr>
            <a:r>
              <a:rPr lang="en-US" sz="1400" dirty="0">
                <a:solidFill>
                  <a:srgbClr val="E2E8F0"/>
                </a:solidFill>
                <a:latin typeface="Consolas" pitchFamily="34" charset="0"/>
                <a:ea typeface="Consolas" pitchFamily="34" charset="-122"/>
                <a:cs typeface="Consolas" pitchFamily="34" charset="-120"/>
              </a:rPr>
              <a:t>$ whoami</a:t>
            </a:r>
            <a:endParaRPr lang="en-US" sz="1400" dirty="0"/>
          </a:p>
          <a:p>
            <a:pPr marL="0" indent="0">
              <a:buNone/>
            </a:pPr>
            <a:r>
              <a:rPr lang="en-US" sz="1400" dirty="0">
                <a:solidFill>
                  <a:srgbClr val="E2E8F0"/>
                </a:solidFill>
                <a:latin typeface="Consolas" pitchFamily="34" charset="0"/>
                <a:ea typeface="Consolas" pitchFamily="34" charset="-122"/>
                <a:cs typeface="Consolas" pitchFamily="34" charset="-120"/>
              </a:rPr>
              <a:t>exouser</a:t>
            </a:r>
            <a:endParaRPr lang="en-US" sz="1400" dirty="0"/>
          </a:p>
          <a:p>
            <a:pPr marL="0" indent="0">
              <a:buNone/>
            </a:pPr>
            <a:r>
              <a:rPr lang="en-US" sz="1400" dirty="0">
                <a:solidFill>
                  <a:srgbClr val="E2E8F0"/>
                </a:solidFill>
                <a:latin typeface="Consolas" pitchFamily="34" charset="0"/>
                <a:ea typeface="Consolas" pitchFamily="34" charset="-122"/>
                <a:cs typeface="Consolas" pitchFamily="34" charset="-120"/>
              </a:rPr>
              <a:t>$ sudo whoami</a:t>
            </a:r>
            <a:endParaRPr lang="en-US" sz="1400" dirty="0"/>
          </a:p>
          <a:p>
            <a:pPr marL="0" indent="0">
              <a:buNone/>
            </a:pPr>
            <a:r>
              <a:rPr lang="en-US" sz="1400" dirty="0">
                <a:solidFill>
                  <a:srgbClr val="E2E8F0"/>
                </a:solidFill>
                <a:latin typeface="Consolas" pitchFamily="34" charset="0"/>
                <a:ea typeface="Consolas" pitchFamily="34" charset="-122"/>
                <a:cs typeface="Consolas" pitchFamily="34" charset="-120"/>
              </a:rPr>
              <a:t>[sudo] password for exouser:</a:t>
            </a:r>
            <a:endParaRPr lang="en-US" sz="1400" dirty="0"/>
          </a:p>
          <a:p>
            <a:pPr marL="0" indent="0">
              <a:buNone/>
            </a:pPr>
            <a:r>
              <a:rPr lang="en-US" sz="1400" dirty="0">
                <a:solidFill>
                  <a:srgbClr val="E2E8F0"/>
                </a:solidFill>
                <a:latin typeface="Consolas" pitchFamily="34" charset="0"/>
                <a:ea typeface="Consolas" pitchFamily="34" charset="-122"/>
                <a:cs typeface="Consolas" pitchFamily="34" charset="-120"/>
              </a:rPr>
              <a:t>root</a:t>
            </a:r>
            <a:endParaRPr lang="en-US" sz="1400" dirty="0"/>
          </a:p>
          <a:p>
            <a:pPr marL="0" indent="0">
              <a:buNone/>
            </a:pPr>
            <a:r>
              <a:rPr lang="en-US" sz="1400" dirty="0">
                <a:solidFill>
                  <a:srgbClr val="E2E8F0"/>
                </a:solidFill>
                <a:latin typeface="Consolas" pitchFamily="34" charset="0"/>
                <a:ea typeface="Consolas" pitchFamily="34" charset="-122"/>
                <a:cs typeface="Consolas" pitchFamily="34" charset="-120"/>
              </a:rPr>
              <a:t> </a:t>
            </a:r>
            <a:endParaRPr lang="en-US" sz="1400" dirty="0"/>
          </a:p>
          <a:p>
            <a:pPr marL="0" indent="0">
              <a:buNone/>
            </a:pPr>
            <a:r>
              <a:rPr lang="en-US" sz="1400" dirty="0">
                <a:solidFill>
                  <a:srgbClr val="E2E8F0"/>
                </a:solidFill>
                <a:latin typeface="Consolas" pitchFamily="34" charset="0"/>
                <a:ea typeface="Consolas" pitchFamily="34" charset="-122"/>
                <a:cs typeface="Consolas" pitchFamily="34" charset="-120"/>
              </a:rPr>
              <a:t>$ sudo apt install cowsay      # now it works</a:t>
            </a:r>
            <a:endParaRPr lang="en-US" sz="1400" dirty="0"/>
          </a:p>
        </p:txBody>
      </p:sp>
      <p:sp>
        <p:nvSpPr>
          <p:cNvPr id="8" name="Text 6"/>
          <p:cNvSpPr/>
          <p:nvPr/>
        </p:nvSpPr>
        <p:spPr>
          <a:xfrm>
            <a:off x="548640" y="3282188"/>
            <a:ext cx="8046720" cy="967740"/>
          </a:xfrm>
          <a:prstGeom prst="rect">
            <a:avLst/>
          </a:prstGeom>
          <a:solidFill>
            <a:srgbClr val="FFFFFF"/>
          </a:solidFill>
          <a:ln/>
        </p:spPr>
        <p:txBody>
          <a:bodyPr wrap="square" lIns="0" tIns="0" rIns="0" bIns="0" rtlCol="0" anchor="t"/>
          <a:lstStyle/>
          <a:p>
            <a:pPr marL="228600" indent="-228600">
              <a:spcAft>
                <a:spcPts val="600"/>
              </a:spcAft>
              <a:buSzPct val="100000"/>
              <a:buChar char="■"/>
            </a:pPr>
            <a:r>
              <a:rPr lang="en-US" sz="1300" dirty="0">
                <a:solidFill>
                  <a:srgbClr val="1F2937"/>
                </a:solidFill>
                <a:latin typeface="Calibri" pitchFamily="34" charset="0"/>
                <a:ea typeface="Calibri" pitchFamily="34" charset="-122"/>
                <a:cs typeface="Calibri" pitchFamily="34" charset="-120"/>
              </a:rPr>
              <a:t>Your shell is still </a:t>
            </a:r>
            <a:r>
              <a:rPr lang="en-US" sz="1300" b="1" dirty="0">
                <a:solidFill>
                  <a:srgbClr val="1F2937"/>
                </a:solidFill>
                <a:latin typeface="Calibri" pitchFamily="34" charset="0"/>
                <a:ea typeface="Calibri" pitchFamily="34" charset="-122"/>
                <a:cs typeface="Calibri" pitchFamily="34" charset="-120"/>
              </a:rPr>
              <a:t>you</a:t>
            </a:r>
            <a:r>
              <a:rPr lang="en-US" sz="1300" dirty="0">
                <a:solidFill>
                  <a:srgbClr val="1F2937"/>
                </a:solidFill>
                <a:latin typeface="Calibri" pitchFamily="34" charset="0"/>
                <a:ea typeface="Calibri" pitchFamily="34" charset="-122"/>
                <a:cs typeface="Calibri" pitchFamily="34" charset="-120"/>
              </a:rPr>
              <a:t> — only the one command was elevated.</a:t>
            </a:r>
            <a:endParaRPr lang="en-US" sz="1300" dirty="0"/>
          </a:p>
          <a:p>
            <a:pPr marL="228600" indent="-228600">
              <a:spcAft>
                <a:spcPts val="600"/>
              </a:spcAft>
              <a:buSzPct val="100000"/>
              <a:buChar char="■"/>
            </a:pPr>
            <a:r>
              <a:rPr lang="en-US" sz="1300" dirty="0">
                <a:solidFill>
                  <a:srgbClr val="1F2937"/>
                </a:solidFill>
                <a:latin typeface="Calibri" pitchFamily="34" charset="0"/>
                <a:ea typeface="Calibri" pitchFamily="34" charset="-122"/>
                <a:cs typeface="Calibri" pitchFamily="34" charset="-120"/>
              </a:rPr>
              <a:t>First sudo asks for your password. </a:t>
            </a:r>
            <a:r>
              <a:rPr lang="en-US" sz="1300" b="1" dirty="0">
                <a:solidFill>
                  <a:srgbClr val="1F2937"/>
                </a:solidFill>
                <a:latin typeface="Calibri" pitchFamily="34" charset="0"/>
                <a:ea typeface="Calibri" pitchFamily="34" charset="-122"/>
                <a:cs typeface="Calibri" pitchFamily="34" charset="-120"/>
              </a:rPr>
              <a:t>Nothing shows up as you type</a:t>
            </a:r>
            <a:r>
              <a:rPr lang="en-US" sz="1300" dirty="0">
                <a:solidFill>
                  <a:srgbClr val="1F2937"/>
                </a:solidFill>
                <a:latin typeface="Calibri" pitchFamily="34" charset="0"/>
                <a:ea typeface="Calibri" pitchFamily="34" charset="-122"/>
                <a:cs typeface="Calibri" pitchFamily="34" charset="-120"/>
              </a:rPr>
              <a:t> — that's intentional.</a:t>
            </a:r>
            <a:endParaRPr lang="en-US" sz="1300" dirty="0"/>
          </a:p>
          <a:p>
            <a:pPr marL="228600" indent="-228600">
              <a:spcAft>
                <a:spcPts val="600"/>
              </a:spcAft>
              <a:buSzPct val="100000"/>
              <a:buChar char="■"/>
            </a:pPr>
            <a:r>
              <a:rPr lang="en-US" sz="1300" dirty="0">
                <a:solidFill>
                  <a:srgbClr val="1F2937"/>
                </a:solidFill>
                <a:latin typeface="Calibri" pitchFamily="34" charset="0"/>
                <a:ea typeface="Calibri" pitchFamily="34" charset="-122"/>
                <a:cs typeface="Calibri" pitchFamily="34" charset="-120"/>
              </a:rPr>
              <a:t>Sudo caches your authentication for ~15 minutes.</a:t>
            </a:r>
            <a:endParaRPr lang="en-US" sz="13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FFFFFF"/>
        </a:solidFill>
        <a:effectLst/>
      </p:bgPr>
    </p:bg>
    <p:spTree>
      <p:nvGrpSpPr>
        <p:cNvPr id="1" name=""/>
        <p:cNvGrpSpPr/>
        <p:nvPr/>
      </p:nvGrpSpPr>
      <p:grpSpPr>
        <a:xfrm>
          <a:off x="0" y="0"/>
          <a:ext cx="0" cy="0"/>
          <a:chOff x="0" y="0"/>
          <a:chExt cx="0" cy="0"/>
        </a:xfrm>
      </p:grpSpPr>
      <p:pic>
        <p:nvPicPr>
          <p:cNvPr id="9" name="Picture 8" descr="access-footer.jpg"/>
          <p:cNvPicPr>
            <a:picLocks noChangeAspect="1"/>
          </p:cNvPicPr>
          <p:nvPr/>
        </p:nvPicPr>
        <p:blipFill>
          <a:blip r:embed="rId3"/>
          <a:stretch>
            <a:fillRect/>
          </a:stretch>
        </p:blipFill>
        <p:spPr>
          <a:xfrm>
            <a:off x="0" y="0"/>
            <a:ext cx="9144000" cy="5143500"/>
          </a:xfrm>
          <a:prstGeom prst="rect">
            <a:avLst/>
          </a:prstGeom>
        </p:spPr>
      </p:pic>
      <p:sp>
        <p:nvSpPr>
          <p:cNvPr id="2" name="Text 0"/>
          <p:cNvSpPr/>
          <p:nvPr/>
        </p:nvSpPr>
        <p:spPr>
          <a:xfrm>
            <a:off x="457200" y="274320"/>
            <a:ext cx="8229600" cy="594360"/>
          </a:xfrm>
          <a:prstGeom prst="rect">
            <a:avLst/>
          </a:prstGeom>
          <a:solidFill>
            <a:srgbClr val="FFFFFF"/>
          </a:solidFill>
          <a:ln/>
        </p:spPr>
        <p:txBody>
          <a:bodyPr wrap="square" lIns="0" tIns="0" rIns="0" bIns="0" rtlCol="0" anchor="ctr"/>
          <a:lstStyle/>
          <a:p>
            <a:pPr marL="0" indent="0">
              <a:buNone/>
            </a:pPr>
            <a:r>
              <a:rPr lang="en-US" sz="2800" b="1" dirty="0">
                <a:solidFill>
                  <a:srgbClr val="1E2761"/>
                </a:solidFill>
                <a:latin typeface="Cambria" pitchFamily="34" charset="0"/>
                <a:ea typeface="Cambria" pitchFamily="34" charset="-122"/>
                <a:cs typeface="Cambria" pitchFamily="34" charset="-120"/>
              </a:rPr>
              <a:t>Getting a root shell: sudo -i</a:t>
            </a:r>
            <a:endParaRPr lang="en-US" sz="2800" dirty="0"/>
          </a:p>
        </p:txBody>
      </p:sp>
      <p:sp>
        <p:nvSpPr>
          <p:cNvPr id="3" name="Shape 1"/>
          <p:cNvSpPr/>
          <p:nvPr/>
        </p:nvSpPr>
        <p:spPr>
          <a:xfrm>
            <a:off x="457200" y="868680"/>
            <a:ext cx="548640" cy="36576"/>
          </a:xfrm>
          <a:prstGeom prst="rect">
            <a:avLst/>
          </a:prstGeom>
          <a:solidFill>
            <a:srgbClr val="1E2761"/>
          </a:solidFill>
          <a:ln w="12700">
            <a:solidFill>
              <a:srgbClr val="1E2761"/>
            </a:solidFill>
            <a:prstDash val="solid"/>
          </a:ln>
        </p:spPr>
        <p:txBody>
          <a:bodyPr/>
          <a:lstStyle/>
          <a:p>
            <a:endParaRPr lang="en-US"/>
          </a:p>
        </p:txBody>
      </p:sp>
      <p:sp>
        <p:nvSpPr>
          <p:cNvPr id="4" name="Shape 2"/>
          <p:cNvSpPr/>
          <p:nvPr/>
        </p:nvSpPr>
        <p:spPr>
          <a:xfrm>
            <a:off x="457200" y="1005840"/>
            <a:ext cx="1005840" cy="292608"/>
          </a:xfrm>
          <a:prstGeom prst="rect">
            <a:avLst/>
          </a:prstGeom>
          <a:solidFill>
            <a:srgbClr val="0369A1"/>
          </a:solidFill>
          <a:ln w="12700">
            <a:solidFill>
              <a:srgbClr val="0369A1"/>
            </a:solidFill>
            <a:prstDash val="solid"/>
          </a:ln>
        </p:spPr>
        <p:txBody>
          <a:bodyPr/>
          <a:lstStyle/>
          <a:p>
            <a:endParaRPr lang="en-US"/>
          </a:p>
        </p:txBody>
      </p:sp>
      <p:sp>
        <p:nvSpPr>
          <p:cNvPr id="5" name="Text 3"/>
          <p:cNvSpPr/>
          <p:nvPr/>
        </p:nvSpPr>
        <p:spPr>
          <a:xfrm>
            <a:off x="457200" y="1005840"/>
            <a:ext cx="1005840" cy="292608"/>
          </a:xfrm>
          <a:prstGeom prst="rect">
            <a:avLst/>
          </a:prstGeom>
          <a:noFill/>
          <a:ln/>
        </p:spPr>
        <p:txBody>
          <a:bodyPr wrap="square" lIns="0" tIns="0" rIns="0" bIns="0" rtlCol="0" anchor="ctr"/>
          <a:lstStyle/>
          <a:p>
            <a:pPr marL="0" indent="0" algn="ctr">
              <a:buNone/>
            </a:pPr>
            <a:r>
              <a:rPr lang="en-US" sz="1100" b="1" kern="0" spc="200" dirty="0">
                <a:solidFill>
                  <a:srgbClr val="FFFFFF"/>
                </a:solidFill>
                <a:latin typeface="Calibri" pitchFamily="34" charset="0"/>
                <a:ea typeface="Calibri" pitchFamily="34" charset="-122"/>
                <a:cs typeface="Calibri" pitchFamily="34" charset="-120"/>
              </a:rPr>
              <a:t>DEMO</a:t>
            </a:r>
            <a:endParaRPr lang="en-US" sz="1100" dirty="0"/>
          </a:p>
        </p:txBody>
      </p:sp>
      <p:sp>
        <p:nvSpPr>
          <p:cNvPr id="6" name="Shape 4"/>
          <p:cNvSpPr/>
          <p:nvPr/>
        </p:nvSpPr>
        <p:spPr>
          <a:xfrm>
            <a:off x="548640" y="1435608"/>
            <a:ext cx="8046720" cy="1668780"/>
          </a:xfrm>
          <a:prstGeom prst="rect">
            <a:avLst/>
          </a:prstGeom>
          <a:solidFill>
            <a:srgbClr val="0F172A"/>
          </a:solidFill>
          <a:ln w="12700">
            <a:solidFill>
              <a:srgbClr val="0F172A"/>
            </a:solidFill>
            <a:prstDash val="solid"/>
          </a:ln>
        </p:spPr>
        <p:txBody>
          <a:bodyPr/>
          <a:lstStyle/>
          <a:p>
            <a:endParaRPr lang="en-US"/>
          </a:p>
        </p:txBody>
      </p:sp>
      <p:sp>
        <p:nvSpPr>
          <p:cNvPr id="7" name="Text 5"/>
          <p:cNvSpPr/>
          <p:nvPr/>
        </p:nvSpPr>
        <p:spPr>
          <a:xfrm>
            <a:off x="685800" y="1508760"/>
            <a:ext cx="7772400" cy="1522476"/>
          </a:xfrm>
          <a:prstGeom prst="rect">
            <a:avLst/>
          </a:prstGeom>
          <a:noFill/>
          <a:ln/>
        </p:spPr>
        <p:txBody>
          <a:bodyPr wrap="square" lIns="0" tIns="0" rIns="0" bIns="0" rtlCol="0" anchor="t"/>
          <a:lstStyle/>
          <a:p>
            <a:pPr marL="0" indent="0">
              <a:buNone/>
            </a:pPr>
            <a:r>
              <a:rPr lang="en-US" sz="1500" dirty="0">
                <a:solidFill>
                  <a:srgbClr val="E2E8F0"/>
                </a:solidFill>
                <a:latin typeface="Consolas" pitchFamily="34" charset="0"/>
                <a:ea typeface="Consolas" pitchFamily="34" charset="-122"/>
                <a:cs typeface="Consolas" pitchFamily="34" charset="-120"/>
              </a:rPr>
              <a:t>$ sudo -i              # drop into an interactive root shell</a:t>
            </a:r>
            <a:endParaRPr lang="en-US" sz="1500" dirty="0"/>
          </a:p>
          <a:p>
            <a:pPr marL="0" indent="0">
              <a:buNone/>
            </a:pPr>
            <a:r>
              <a:rPr lang="en-US" sz="1500" dirty="0">
                <a:solidFill>
                  <a:srgbClr val="E2E8F0"/>
                </a:solidFill>
                <a:latin typeface="Consolas" pitchFamily="34" charset="0"/>
                <a:ea typeface="Consolas" pitchFamily="34" charset="-122"/>
                <a:cs typeface="Consolas" pitchFamily="34" charset="-120"/>
              </a:rPr>
              <a:t># whoami</a:t>
            </a:r>
            <a:endParaRPr lang="en-US" sz="1500" dirty="0"/>
          </a:p>
          <a:p>
            <a:pPr marL="0" indent="0">
              <a:buNone/>
            </a:pPr>
            <a:r>
              <a:rPr lang="en-US" sz="1500" dirty="0">
                <a:solidFill>
                  <a:srgbClr val="E2E8F0"/>
                </a:solidFill>
                <a:latin typeface="Consolas" pitchFamily="34" charset="0"/>
                <a:ea typeface="Consolas" pitchFamily="34" charset="-122"/>
                <a:cs typeface="Consolas" pitchFamily="34" charset="-120"/>
              </a:rPr>
              <a:t>root</a:t>
            </a:r>
            <a:endParaRPr lang="en-US" sz="1500" dirty="0"/>
          </a:p>
          <a:p>
            <a:pPr marL="0" indent="0">
              <a:buNone/>
            </a:pPr>
            <a:r>
              <a:rPr lang="en-US" sz="1500" dirty="0">
                <a:solidFill>
                  <a:srgbClr val="E2E8F0"/>
                </a:solidFill>
                <a:latin typeface="Consolas" pitchFamily="34" charset="0"/>
                <a:ea typeface="Consolas" pitchFamily="34" charset="-122"/>
                <a:cs typeface="Consolas" pitchFamily="34" charset="-120"/>
              </a:rPr>
              <a:t># pwd</a:t>
            </a:r>
            <a:endParaRPr lang="en-US" sz="1500" dirty="0"/>
          </a:p>
          <a:p>
            <a:pPr marL="0" indent="0">
              <a:buNone/>
            </a:pPr>
            <a:r>
              <a:rPr lang="en-US" sz="1500" dirty="0">
                <a:solidFill>
                  <a:srgbClr val="E2E8F0"/>
                </a:solidFill>
                <a:latin typeface="Consolas" pitchFamily="34" charset="0"/>
                <a:ea typeface="Consolas" pitchFamily="34" charset="-122"/>
                <a:cs typeface="Consolas" pitchFamily="34" charset="-120"/>
              </a:rPr>
              <a:t>/root</a:t>
            </a:r>
            <a:endParaRPr lang="en-US" sz="1500" dirty="0"/>
          </a:p>
          <a:p>
            <a:pPr marL="0" indent="0">
              <a:buNone/>
            </a:pPr>
            <a:r>
              <a:rPr lang="en-US" sz="1500" dirty="0">
                <a:solidFill>
                  <a:srgbClr val="E2E8F0"/>
                </a:solidFill>
                <a:latin typeface="Consolas" pitchFamily="34" charset="0"/>
                <a:ea typeface="Consolas" pitchFamily="34" charset="-122"/>
                <a:cs typeface="Consolas" pitchFamily="34" charset="-120"/>
              </a:rPr>
              <a:t># exit                 # back to your normal shell</a:t>
            </a:r>
            <a:endParaRPr lang="en-US" sz="1500" dirty="0"/>
          </a:p>
        </p:txBody>
      </p:sp>
      <p:sp>
        <p:nvSpPr>
          <p:cNvPr id="8" name="Text 6"/>
          <p:cNvSpPr/>
          <p:nvPr/>
        </p:nvSpPr>
        <p:spPr>
          <a:xfrm>
            <a:off x="548640" y="3150108"/>
            <a:ext cx="8046720" cy="1021080"/>
          </a:xfrm>
          <a:prstGeom prst="rect">
            <a:avLst/>
          </a:prstGeom>
          <a:solidFill>
            <a:srgbClr val="FFFFFF"/>
          </a:solidFill>
          <a:ln/>
        </p:spPr>
        <p:txBody>
          <a:bodyPr wrap="square" lIns="0" tIns="0" rIns="0" bIns="0" rtlCol="0" anchor="t"/>
          <a:lstStyle/>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Prompt typically changes: </a:t>
            </a:r>
            <a:r>
              <a:rPr lang="en-US" sz="1400" dirty="0">
                <a:solidFill>
                  <a:srgbClr val="1E2761"/>
                </a:solidFill>
                <a:latin typeface="Consolas" pitchFamily="34" charset="0"/>
                <a:ea typeface="Consolas" pitchFamily="34" charset="-122"/>
                <a:cs typeface="Consolas" pitchFamily="34" charset="-120"/>
              </a:rPr>
              <a:t>$</a:t>
            </a:r>
            <a:r>
              <a:rPr lang="en-US" sz="1400" dirty="0">
                <a:solidFill>
                  <a:srgbClr val="1F2937"/>
                </a:solidFill>
                <a:latin typeface="Calibri" pitchFamily="34" charset="0"/>
                <a:ea typeface="Calibri" pitchFamily="34" charset="-122"/>
                <a:cs typeface="Calibri" pitchFamily="34" charset="-120"/>
              </a:rPr>
              <a:t> → </a:t>
            </a:r>
            <a:r>
              <a:rPr lang="en-US" sz="1400" dirty="0">
                <a:solidFill>
                  <a:srgbClr val="1E2761"/>
                </a:solidFill>
                <a:latin typeface="Consolas" pitchFamily="34" charset="0"/>
                <a:ea typeface="Consolas" pitchFamily="34" charset="-122"/>
                <a:cs typeface="Consolas" pitchFamily="34" charset="-120"/>
              </a:rPr>
              <a:t>#</a:t>
            </a:r>
            <a:r>
              <a:rPr lang="en-US" sz="1400" dirty="0">
                <a:solidFill>
                  <a:srgbClr val="1F2937"/>
                </a:solidFill>
                <a:latin typeface="Calibri" pitchFamily="34" charset="0"/>
                <a:ea typeface="Calibri" pitchFamily="34" charset="-122"/>
                <a:cs typeface="Calibri" pitchFamily="34" charset="-120"/>
              </a:rPr>
              <a:t>.</a:t>
            </a:r>
            <a:endParaRPr lang="en-US" sz="1400" dirty="0"/>
          </a:p>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Useful for a </a:t>
            </a:r>
            <a:r>
              <a:rPr lang="en-US" sz="1400" b="1" dirty="0">
                <a:solidFill>
                  <a:srgbClr val="1F2937"/>
                </a:solidFill>
                <a:latin typeface="Calibri" pitchFamily="34" charset="0"/>
                <a:ea typeface="Calibri" pitchFamily="34" charset="-122"/>
                <a:cs typeface="Calibri" pitchFamily="34" charset="-120"/>
              </a:rPr>
              <a:t>series</a:t>
            </a:r>
            <a:r>
              <a:rPr lang="en-US" sz="1400" dirty="0">
                <a:solidFill>
                  <a:srgbClr val="1F2937"/>
                </a:solidFill>
                <a:latin typeface="Calibri" pitchFamily="34" charset="0"/>
                <a:ea typeface="Calibri" pitchFamily="34" charset="-122"/>
                <a:cs typeface="Calibri" pitchFamily="34" charset="-120"/>
              </a:rPr>
              <a:t> of admin commands.</a:t>
            </a:r>
            <a:endParaRPr lang="en-US" sz="1400" dirty="0"/>
          </a:p>
          <a:p>
            <a:pPr marL="228600" indent="-228600">
              <a:spcAft>
                <a:spcPts val="600"/>
              </a:spcAft>
              <a:buSzPct val="100000"/>
              <a:buChar char="■"/>
            </a:pPr>
            <a:r>
              <a:rPr lang="en-US" sz="1400" b="1" dirty="0">
                <a:solidFill>
                  <a:srgbClr val="1F2937"/>
                </a:solidFill>
                <a:latin typeface="Calibri" pitchFamily="34" charset="0"/>
                <a:ea typeface="Calibri" pitchFamily="34" charset="-122"/>
                <a:cs typeface="Calibri" pitchFamily="34" charset="-120"/>
              </a:rPr>
              <a:t>Use sparingly.</a:t>
            </a:r>
            <a:r>
              <a:rPr lang="en-US" sz="1400" dirty="0">
                <a:solidFill>
                  <a:srgbClr val="1F2937"/>
                </a:solidFill>
                <a:latin typeface="Calibri" pitchFamily="34" charset="0"/>
                <a:ea typeface="Calibri" pitchFamily="34" charset="-122"/>
                <a:cs typeface="Calibri" pitchFamily="34" charset="-120"/>
              </a:rPr>
              <a:t> The longer you stay root, the more damage a typo can do.</a:t>
            </a:r>
            <a:endParaRPr lang="en-US" sz="140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bg>
      <p:bgPr>
        <a:solidFill>
          <a:srgbClr val="FFFFFF"/>
        </a:solidFill>
        <a:effectLst/>
      </p:bgPr>
    </p:bg>
    <p:spTree>
      <p:nvGrpSpPr>
        <p:cNvPr id="1" name=""/>
        <p:cNvGrpSpPr/>
        <p:nvPr/>
      </p:nvGrpSpPr>
      <p:grpSpPr>
        <a:xfrm>
          <a:off x="0" y="0"/>
          <a:ext cx="0" cy="0"/>
          <a:chOff x="0" y="0"/>
          <a:chExt cx="0" cy="0"/>
        </a:xfrm>
      </p:grpSpPr>
      <p:pic>
        <p:nvPicPr>
          <p:cNvPr id="7" name="Picture 6" descr="access-footer.jpg"/>
          <p:cNvPicPr>
            <a:picLocks noChangeAspect="1"/>
          </p:cNvPicPr>
          <p:nvPr/>
        </p:nvPicPr>
        <p:blipFill>
          <a:blip r:embed="rId3"/>
          <a:stretch>
            <a:fillRect/>
          </a:stretch>
        </p:blipFill>
        <p:spPr>
          <a:xfrm>
            <a:off x="0" y="0"/>
            <a:ext cx="9144000" cy="5143500"/>
          </a:xfrm>
          <a:prstGeom prst="rect">
            <a:avLst/>
          </a:prstGeom>
        </p:spPr>
      </p:pic>
      <p:sp>
        <p:nvSpPr>
          <p:cNvPr id="2" name="Text 0"/>
          <p:cNvSpPr/>
          <p:nvPr/>
        </p:nvSpPr>
        <p:spPr>
          <a:xfrm>
            <a:off x="457200" y="274320"/>
            <a:ext cx="8229600" cy="594360"/>
          </a:xfrm>
          <a:prstGeom prst="rect">
            <a:avLst/>
          </a:prstGeom>
          <a:solidFill>
            <a:srgbClr val="FFFFFF"/>
          </a:solidFill>
          <a:ln/>
        </p:spPr>
        <p:txBody>
          <a:bodyPr wrap="square" lIns="0" tIns="0" rIns="0" bIns="0" rtlCol="0" anchor="ctr"/>
          <a:lstStyle/>
          <a:p>
            <a:pPr marL="0" indent="0">
              <a:buNone/>
            </a:pPr>
            <a:r>
              <a:rPr lang="en-US" sz="2800" b="1" dirty="0">
                <a:solidFill>
                  <a:srgbClr val="1E2761"/>
                </a:solidFill>
                <a:latin typeface="Cambria" pitchFamily="34" charset="0"/>
                <a:ea typeface="Cambria" pitchFamily="34" charset="-122"/>
                <a:cs typeface="Cambria" pitchFamily="34" charset="-120"/>
              </a:rPr>
              <a:t>Watch out</a:t>
            </a:r>
            <a:endParaRPr lang="en-US" sz="2800" dirty="0"/>
          </a:p>
        </p:txBody>
      </p:sp>
      <p:sp>
        <p:nvSpPr>
          <p:cNvPr id="3" name="Shape 1"/>
          <p:cNvSpPr/>
          <p:nvPr/>
        </p:nvSpPr>
        <p:spPr>
          <a:xfrm>
            <a:off x="457200" y="868680"/>
            <a:ext cx="548640" cy="36576"/>
          </a:xfrm>
          <a:prstGeom prst="rect">
            <a:avLst/>
          </a:prstGeom>
          <a:solidFill>
            <a:srgbClr val="1E2761"/>
          </a:solidFill>
          <a:ln w="12700">
            <a:solidFill>
              <a:srgbClr val="1E2761"/>
            </a:solidFill>
            <a:prstDash val="solid"/>
          </a:ln>
        </p:spPr>
        <p:txBody>
          <a:bodyPr/>
          <a:lstStyle/>
          <a:p>
            <a:endParaRPr lang="en-US"/>
          </a:p>
        </p:txBody>
      </p:sp>
      <p:sp>
        <p:nvSpPr>
          <p:cNvPr id="4" name="Shape 2"/>
          <p:cNvSpPr/>
          <p:nvPr/>
        </p:nvSpPr>
        <p:spPr>
          <a:xfrm>
            <a:off x="457200" y="1005840"/>
            <a:ext cx="1005840" cy="292608"/>
          </a:xfrm>
          <a:prstGeom prst="rect">
            <a:avLst/>
          </a:prstGeom>
          <a:solidFill>
            <a:srgbClr val="B45309"/>
          </a:solidFill>
          <a:ln w="12700">
            <a:solidFill>
              <a:srgbClr val="B45309"/>
            </a:solidFill>
            <a:prstDash val="solid"/>
          </a:ln>
        </p:spPr>
        <p:txBody>
          <a:bodyPr/>
          <a:lstStyle/>
          <a:p>
            <a:endParaRPr lang="en-US"/>
          </a:p>
        </p:txBody>
      </p:sp>
      <p:sp>
        <p:nvSpPr>
          <p:cNvPr id="5" name="Text 3"/>
          <p:cNvSpPr/>
          <p:nvPr/>
        </p:nvSpPr>
        <p:spPr>
          <a:xfrm>
            <a:off x="457200" y="1005840"/>
            <a:ext cx="1005840" cy="292608"/>
          </a:xfrm>
          <a:prstGeom prst="rect">
            <a:avLst/>
          </a:prstGeom>
          <a:noFill/>
          <a:ln/>
        </p:spPr>
        <p:txBody>
          <a:bodyPr wrap="square" lIns="0" tIns="0" rIns="0" bIns="0" rtlCol="0" anchor="ctr"/>
          <a:lstStyle/>
          <a:p>
            <a:pPr marL="0" indent="0" algn="ctr">
              <a:buNone/>
            </a:pPr>
            <a:r>
              <a:rPr lang="en-US" sz="1100" b="1" kern="0" spc="200" dirty="0">
                <a:solidFill>
                  <a:srgbClr val="FFFFFF"/>
                </a:solidFill>
                <a:latin typeface="Calibri" pitchFamily="34" charset="0"/>
                <a:ea typeface="Calibri" pitchFamily="34" charset="-122"/>
                <a:cs typeface="Calibri" pitchFamily="34" charset="-120"/>
              </a:rPr>
              <a:t>WATCH OUT</a:t>
            </a:r>
            <a:endParaRPr lang="en-US" sz="1100" dirty="0"/>
          </a:p>
        </p:txBody>
      </p:sp>
      <p:sp>
        <p:nvSpPr>
          <p:cNvPr id="6" name="Text 4"/>
          <p:cNvSpPr/>
          <p:nvPr/>
        </p:nvSpPr>
        <p:spPr>
          <a:xfrm>
            <a:off x="548640" y="1435608"/>
            <a:ext cx="8046720" cy="2092960"/>
          </a:xfrm>
          <a:prstGeom prst="rect">
            <a:avLst/>
          </a:prstGeom>
          <a:solidFill>
            <a:srgbClr val="FFFFFF"/>
          </a:solidFill>
          <a:ln/>
        </p:spPr>
        <p:txBody>
          <a:bodyPr wrap="square" lIns="0" tIns="0" rIns="0" bIns="0" rtlCol="0" anchor="t"/>
          <a:lstStyle/>
          <a:p>
            <a:pPr marL="228600" indent="-228600">
              <a:spcAft>
                <a:spcPts val="600"/>
              </a:spcAft>
              <a:buSzPct val="100000"/>
              <a:buChar char="■"/>
            </a:pPr>
            <a:r>
              <a:rPr lang="en-US" sz="1400" b="1" dirty="0">
                <a:solidFill>
                  <a:srgbClr val="1F2937"/>
                </a:solidFill>
                <a:latin typeface="Calibri" pitchFamily="34" charset="0"/>
                <a:ea typeface="Calibri" pitchFamily="34" charset="-122"/>
                <a:cs typeface="Calibri" pitchFamily="34" charset="-120"/>
              </a:rPr>
              <a:t>Don't habitually `sudo` everything.</a:t>
            </a:r>
            <a:r>
              <a:rPr lang="en-US" sz="1400" dirty="0">
                <a:solidFill>
                  <a:srgbClr val="1F2937"/>
                </a:solidFill>
                <a:latin typeface="Calibri" pitchFamily="34" charset="0"/>
                <a:ea typeface="Calibri" pitchFamily="34" charset="-122"/>
                <a:cs typeface="Calibri" pitchFamily="34" charset="-120"/>
              </a:rPr>
              <a:t> Run as yourself; sudo only when you need to.</a:t>
            </a:r>
            <a:endParaRPr lang="en-US" sz="1400" dirty="0"/>
          </a:p>
          <a:p>
            <a:pPr marL="228600" indent="-228600">
              <a:spcAft>
                <a:spcPts val="600"/>
              </a:spcAft>
              <a:buSzPct val="100000"/>
              <a:buChar char="■"/>
            </a:pPr>
            <a:r>
              <a:rPr lang="en-US" sz="1400" dirty="0">
                <a:solidFill>
                  <a:srgbClr val="1E2761"/>
                </a:solidFill>
                <a:latin typeface="Consolas" pitchFamily="34" charset="0"/>
                <a:ea typeface="Consolas" pitchFamily="34" charset="-122"/>
                <a:cs typeface="Consolas" pitchFamily="34" charset="-120"/>
              </a:rPr>
              <a:t>sudo rm -rf /</a:t>
            </a:r>
            <a:r>
              <a:rPr lang="en-US" sz="1400" dirty="0">
                <a:solidFill>
                  <a:srgbClr val="1F2937"/>
                </a:solidFill>
                <a:latin typeface="Calibri" pitchFamily="34" charset="0"/>
                <a:ea typeface="Calibri" pitchFamily="34" charset="-122"/>
                <a:cs typeface="Calibri" pitchFamily="34" charset="-120"/>
              </a:rPr>
              <a:t> really does try to wipe the system. </a:t>
            </a:r>
            <a:r>
              <a:rPr lang="en-US" sz="1400" b="1" dirty="0">
                <a:solidFill>
                  <a:srgbClr val="1F2937"/>
                </a:solidFill>
                <a:latin typeface="Calibri" pitchFamily="34" charset="0"/>
                <a:ea typeface="Calibri" pitchFamily="34" charset="-122"/>
                <a:cs typeface="Calibri" pitchFamily="34" charset="-120"/>
              </a:rPr>
              <a:t>Look before you press Enter when sudo is on the line.</a:t>
            </a:r>
            <a:endParaRPr lang="en-US" sz="1400" dirty="0"/>
          </a:p>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For security, </a:t>
            </a:r>
            <a:r>
              <a:rPr lang="en-US" sz="1400" dirty="0">
                <a:solidFill>
                  <a:srgbClr val="1E2761"/>
                </a:solidFill>
                <a:latin typeface="Consolas" pitchFamily="34" charset="0"/>
                <a:ea typeface="Consolas" pitchFamily="34" charset="-122"/>
                <a:cs typeface="Consolas" pitchFamily="34" charset="-120"/>
              </a:rPr>
              <a:t>sudo</a:t>
            </a:r>
            <a:r>
              <a:rPr lang="en-US" sz="1400" dirty="0">
                <a:solidFill>
                  <a:srgbClr val="1F2937"/>
                </a:solidFill>
                <a:latin typeface="Calibri" pitchFamily="34" charset="0"/>
                <a:ea typeface="Calibri" pitchFamily="34" charset="-122"/>
                <a:cs typeface="Calibri" pitchFamily="34" charset="-120"/>
              </a:rPr>
              <a:t> strips most environment variables — including </a:t>
            </a:r>
            <a:r>
              <a:rPr lang="en-US" sz="1400" dirty="0">
                <a:solidFill>
                  <a:srgbClr val="1E2761"/>
                </a:solidFill>
                <a:latin typeface="Consolas" pitchFamily="34" charset="0"/>
                <a:ea typeface="Consolas" pitchFamily="34" charset="-122"/>
                <a:cs typeface="Consolas" pitchFamily="34" charset="-120"/>
              </a:rPr>
              <a:t>LD_LIBRARY_PATH</a:t>
            </a:r>
            <a:r>
              <a:rPr lang="en-US" sz="1400" dirty="0">
                <a:solidFill>
                  <a:srgbClr val="1F2937"/>
                </a:solidFill>
                <a:latin typeface="Calibri" pitchFamily="34" charset="0"/>
                <a:ea typeface="Calibri" pitchFamily="34" charset="-122"/>
                <a:cs typeface="Calibri" pitchFamily="34" charset="-120"/>
              </a:rPr>
              <a:t>, and </a:t>
            </a:r>
            <a:r>
              <a:rPr lang="en-US" sz="1400" dirty="0">
                <a:solidFill>
                  <a:srgbClr val="1E2761"/>
                </a:solidFill>
                <a:latin typeface="Consolas" pitchFamily="34" charset="0"/>
                <a:ea typeface="Consolas" pitchFamily="34" charset="-122"/>
                <a:cs typeface="Consolas" pitchFamily="34" charset="-120"/>
              </a:rPr>
              <a:t>PATH</a:t>
            </a:r>
            <a:r>
              <a:rPr lang="en-US" sz="1400" dirty="0">
                <a:solidFill>
                  <a:srgbClr val="1F2937"/>
                </a:solidFill>
                <a:latin typeface="Calibri" pitchFamily="34" charset="0"/>
                <a:ea typeface="Calibri" pitchFamily="34" charset="-122"/>
                <a:cs typeface="Calibri" pitchFamily="34" charset="-120"/>
              </a:rPr>
              <a:t> is reset to a safe default. (Next block.)</a:t>
            </a:r>
            <a:endParaRPr lang="en-US" sz="1400" dirty="0"/>
          </a:p>
          <a:p>
            <a:pPr marL="228600" indent="-228600">
              <a:spcAft>
                <a:spcPts val="600"/>
              </a:spcAft>
              <a:buSzPct val="100000"/>
              <a:buChar char="■"/>
            </a:pPr>
            <a:r>
              <a:rPr lang="en-US" sz="1400" dirty="0">
                <a:solidFill>
                  <a:srgbClr val="1E2761"/>
                </a:solidFill>
                <a:latin typeface="Consolas" pitchFamily="34" charset="0"/>
                <a:ea typeface="Consolas" pitchFamily="34" charset="-122"/>
                <a:cs typeface="Consolas" pitchFamily="34" charset="-120"/>
              </a:rPr>
              <a:t>sudo !!</a:t>
            </a:r>
            <a:r>
              <a:rPr lang="en-US" sz="1400" dirty="0">
                <a:solidFill>
                  <a:srgbClr val="1F2937"/>
                </a:solidFill>
                <a:latin typeface="Calibri" pitchFamily="34" charset="0"/>
                <a:ea typeface="Calibri" pitchFamily="34" charset="-122"/>
                <a:cs typeface="Calibri" pitchFamily="34" charset="-120"/>
              </a:rPr>
              <a:t> re-runs your last command with sudo — useful when you forgot it the first time.</a:t>
            </a:r>
            <a:endParaRPr lang="en-US" sz="140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bg>
      <p:bgPr>
        <a:solidFill>
          <a:srgbClr val="FFFFFF"/>
        </a:solidFill>
        <a:effectLst/>
      </p:bgPr>
    </p:bg>
    <p:spTree>
      <p:nvGrpSpPr>
        <p:cNvPr id="1" name=""/>
        <p:cNvGrpSpPr/>
        <p:nvPr/>
      </p:nvGrpSpPr>
      <p:grpSpPr>
        <a:xfrm>
          <a:off x="0" y="0"/>
          <a:ext cx="0" cy="0"/>
          <a:chOff x="0" y="0"/>
          <a:chExt cx="0" cy="0"/>
        </a:xfrm>
      </p:grpSpPr>
      <p:pic>
        <p:nvPicPr>
          <p:cNvPr id="7" name="Picture 6" descr="access-footer.jpg"/>
          <p:cNvPicPr>
            <a:picLocks noChangeAspect="1"/>
          </p:cNvPicPr>
          <p:nvPr/>
        </p:nvPicPr>
        <p:blipFill>
          <a:blip r:embed="rId3"/>
          <a:stretch>
            <a:fillRect/>
          </a:stretch>
        </p:blipFill>
        <p:spPr>
          <a:xfrm>
            <a:off x="0" y="0"/>
            <a:ext cx="9144000" cy="5143500"/>
          </a:xfrm>
          <a:prstGeom prst="rect">
            <a:avLst/>
          </a:prstGeom>
        </p:spPr>
      </p:pic>
      <p:sp>
        <p:nvSpPr>
          <p:cNvPr id="2" name="Text 0"/>
          <p:cNvSpPr/>
          <p:nvPr/>
        </p:nvSpPr>
        <p:spPr>
          <a:xfrm>
            <a:off x="457200" y="274320"/>
            <a:ext cx="8229600" cy="594360"/>
          </a:xfrm>
          <a:prstGeom prst="rect">
            <a:avLst/>
          </a:prstGeom>
          <a:solidFill>
            <a:srgbClr val="FFFFFF"/>
          </a:solidFill>
          <a:ln/>
        </p:spPr>
        <p:txBody>
          <a:bodyPr wrap="square" lIns="0" tIns="0" rIns="0" bIns="0" rtlCol="0" anchor="ctr"/>
          <a:lstStyle/>
          <a:p>
            <a:pPr marL="0" indent="0">
              <a:buNone/>
            </a:pPr>
            <a:r>
              <a:rPr lang="en-US" sz="2800" b="1" dirty="0">
                <a:solidFill>
                  <a:srgbClr val="1E2761"/>
                </a:solidFill>
                <a:latin typeface="Cambria" pitchFamily="34" charset="0"/>
                <a:ea typeface="Cambria" pitchFamily="34" charset="-122"/>
                <a:cs typeface="Cambria" pitchFamily="34" charset="-120"/>
              </a:rPr>
              <a:t>Try it</a:t>
            </a:r>
            <a:endParaRPr lang="en-US" sz="2800" dirty="0"/>
          </a:p>
        </p:txBody>
      </p:sp>
      <p:sp>
        <p:nvSpPr>
          <p:cNvPr id="3" name="Shape 1"/>
          <p:cNvSpPr/>
          <p:nvPr/>
        </p:nvSpPr>
        <p:spPr>
          <a:xfrm>
            <a:off x="457200" y="868680"/>
            <a:ext cx="548640" cy="36576"/>
          </a:xfrm>
          <a:prstGeom prst="rect">
            <a:avLst/>
          </a:prstGeom>
          <a:solidFill>
            <a:srgbClr val="1E2761"/>
          </a:solidFill>
          <a:ln w="12700">
            <a:solidFill>
              <a:srgbClr val="1E2761"/>
            </a:solidFill>
            <a:prstDash val="solid"/>
          </a:ln>
        </p:spPr>
        <p:txBody>
          <a:bodyPr/>
          <a:lstStyle/>
          <a:p>
            <a:endParaRPr lang="en-US"/>
          </a:p>
        </p:txBody>
      </p:sp>
      <p:sp>
        <p:nvSpPr>
          <p:cNvPr id="4" name="Shape 2"/>
          <p:cNvSpPr/>
          <p:nvPr/>
        </p:nvSpPr>
        <p:spPr>
          <a:xfrm>
            <a:off x="457200" y="1005840"/>
            <a:ext cx="1005840" cy="292608"/>
          </a:xfrm>
          <a:prstGeom prst="rect">
            <a:avLst/>
          </a:prstGeom>
          <a:solidFill>
            <a:srgbClr val="047857"/>
          </a:solidFill>
          <a:ln w="12700">
            <a:solidFill>
              <a:srgbClr val="047857"/>
            </a:solidFill>
            <a:prstDash val="solid"/>
          </a:ln>
        </p:spPr>
        <p:txBody>
          <a:bodyPr/>
          <a:lstStyle/>
          <a:p>
            <a:endParaRPr lang="en-US"/>
          </a:p>
        </p:txBody>
      </p:sp>
      <p:sp>
        <p:nvSpPr>
          <p:cNvPr id="5" name="Text 3"/>
          <p:cNvSpPr/>
          <p:nvPr/>
        </p:nvSpPr>
        <p:spPr>
          <a:xfrm>
            <a:off x="457200" y="1005840"/>
            <a:ext cx="1005840" cy="292608"/>
          </a:xfrm>
          <a:prstGeom prst="rect">
            <a:avLst/>
          </a:prstGeom>
          <a:noFill/>
          <a:ln/>
        </p:spPr>
        <p:txBody>
          <a:bodyPr wrap="square" lIns="0" tIns="0" rIns="0" bIns="0" rtlCol="0" anchor="ctr"/>
          <a:lstStyle/>
          <a:p>
            <a:pPr marL="0" indent="0" algn="ctr">
              <a:buNone/>
            </a:pPr>
            <a:r>
              <a:rPr lang="en-US" sz="1100" b="1" kern="0" spc="200" dirty="0">
                <a:solidFill>
                  <a:srgbClr val="FFFFFF"/>
                </a:solidFill>
                <a:latin typeface="Calibri" pitchFamily="34" charset="0"/>
                <a:ea typeface="Calibri" pitchFamily="34" charset="-122"/>
                <a:cs typeface="Calibri" pitchFamily="34" charset="-120"/>
              </a:rPr>
              <a:t>EXERCISE</a:t>
            </a:r>
            <a:endParaRPr lang="en-US" sz="1100" dirty="0"/>
          </a:p>
        </p:txBody>
      </p:sp>
      <p:sp>
        <p:nvSpPr>
          <p:cNvPr id="6" name="Text 4"/>
          <p:cNvSpPr/>
          <p:nvPr/>
        </p:nvSpPr>
        <p:spPr>
          <a:xfrm>
            <a:off x="548640" y="1435608"/>
            <a:ext cx="8046720" cy="1996440"/>
          </a:xfrm>
          <a:prstGeom prst="rect">
            <a:avLst/>
          </a:prstGeom>
          <a:solidFill>
            <a:srgbClr val="FFFFFF"/>
          </a:solidFill>
          <a:ln/>
        </p:spPr>
        <p:txBody>
          <a:bodyPr wrap="square" lIns="0" tIns="0" rIns="0" bIns="0" rtlCol="0" anchor="t"/>
          <a:lstStyle/>
          <a:p>
            <a:pPr marL="279400" indent="-279400">
              <a:spcAft>
                <a:spcPts val="600"/>
              </a:spcAft>
              <a:buSzPct val="100000"/>
              <a:buFont typeface="+mj-lt"/>
              <a:buAutoNum type="arabicPeriod"/>
            </a:pPr>
            <a:r>
              <a:rPr lang="en-US" sz="1400" dirty="0">
                <a:solidFill>
                  <a:srgbClr val="1F2937"/>
                </a:solidFill>
                <a:latin typeface="Calibri" pitchFamily="34" charset="0"/>
                <a:ea typeface="Calibri" pitchFamily="34" charset="-122"/>
                <a:cs typeface="Calibri" pitchFamily="34" charset="-120"/>
              </a:rPr>
              <a:t>Run </a:t>
            </a:r>
            <a:r>
              <a:rPr lang="en-US" sz="1400" dirty="0">
                <a:solidFill>
                  <a:srgbClr val="1E2761"/>
                </a:solidFill>
                <a:latin typeface="Consolas" pitchFamily="34" charset="0"/>
                <a:ea typeface="Consolas" pitchFamily="34" charset="-122"/>
                <a:cs typeface="Consolas" pitchFamily="34" charset="-120"/>
              </a:rPr>
              <a:t>whoami</a:t>
            </a:r>
            <a:r>
              <a:rPr lang="en-US" sz="1400" dirty="0">
                <a:solidFill>
                  <a:srgbClr val="1F2937"/>
                </a:solidFill>
                <a:latin typeface="Calibri" pitchFamily="34" charset="0"/>
                <a:ea typeface="Calibri" pitchFamily="34" charset="-122"/>
                <a:cs typeface="Calibri" pitchFamily="34" charset="-120"/>
              </a:rPr>
              <a:t>. Note your username.</a:t>
            </a:r>
            <a:endParaRPr lang="en-US" sz="1400" dirty="0"/>
          </a:p>
          <a:p>
            <a:pPr marL="279400" indent="-279400">
              <a:spcAft>
                <a:spcPts val="600"/>
              </a:spcAft>
              <a:buSzPct val="100000"/>
              <a:buFont typeface="+mj-lt"/>
              <a:buAutoNum type="arabicPeriod"/>
            </a:pPr>
            <a:r>
              <a:rPr lang="en-US" sz="1400" dirty="0">
                <a:solidFill>
                  <a:srgbClr val="1F2937"/>
                </a:solidFill>
                <a:latin typeface="Calibri" pitchFamily="34" charset="0"/>
                <a:ea typeface="Calibri" pitchFamily="34" charset="-122"/>
                <a:cs typeface="Calibri" pitchFamily="34" charset="-120"/>
              </a:rPr>
              <a:t>Run </a:t>
            </a:r>
            <a:r>
              <a:rPr lang="en-US" sz="1400" dirty="0">
                <a:solidFill>
                  <a:srgbClr val="1E2761"/>
                </a:solidFill>
                <a:latin typeface="Consolas" pitchFamily="34" charset="0"/>
                <a:ea typeface="Consolas" pitchFamily="34" charset="-122"/>
                <a:cs typeface="Consolas" pitchFamily="34" charset="-120"/>
              </a:rPr>
              <a:t>sudo whoami</a:t>
            </a:r>
            <a:r>
              <a:rPr lang="en-US" sz="1400" dirty="0">
                <a:solidFill>
                  <a:srgbClr val="1F2937"/>
                </a:solidFill>
                <a:latin typeface="Calibri" pitchFamily="34" charset="0"/>
                <a:ea typeface="Calibri" pitchFamily="34" charset="-122"/>
                <a:cs typeface="Calibri" pitchFamily="34" charset="-120"/>
              </a:rPr>
              <a:t>. Note the output.</a:t>
            </a:r>
            <a:endParaRPr lang="en-US" sz="1400" dirty="0"/>
          </a:p>
          <a:p>
            <a:pPr marL="279400" indent="-279400">
              <a:spcAft>
                <a:spcPts val="600"/>
              </a:spcAft>
              <a:buSzPct val="100000"/>
              <a:buFont typeface="+mj-lt"/>
              <a:buAutoNum type="arabicPeriod"/>
            </a:pPr>
            <a:r>
              <a:rPr lang="en-US" sz="1400" dirty="0">
                <a:solidFill>
                  <a:srgbClr val="1F2937"/>
                </a:solidFill>
                <a:latin typeface="Calibri" pitchFamily="34" charset="0"/>
                <a:ea typeface="Calibri" pitchFamily="34" charset="-122"/>
                <a:cs typeface="Calibri" pitchFamily="34" charset="-120"/>
              </a:rPr>
              <a:t>Run </a:t>
            </a:r>
            <a:r>
              <a:rPr lang="en-US" sz="1400" dirty="0">
                <a:solidFill>
                  <a:srgbClr val="1E2761"/>
                </a:solidFill>
                <a:latin typeface="Consolas" pitchFamily="34" charset="0"/>
                <a:ea typeface="Consolas" pitchFamily="34" charset="-122"/>
                <a:cs typeface="Consolas" pitchFamily="34" charset="-120"/>
              </a:rPr>
              <a:t>id</a:t>
            </a:r>
            <a:r>
              <a:rPr lang="en-US" sz="1400" dirty="0">
                <a:solidFill>
                  <a:srgbClr val="1F2937"/>
                </a:solidFill>
                <a:latin typeface="Calibri" pitchFamily="34" charset="0"/>
                <a:ea typeface="Calibri" pitchFamily="34" charset="-122"/>
                <a:cs typeface="Calibri" pitchFamily="34" charset="-120"/>
              </a:rPr>
              <a:t> and </a:t>
            </a:r>
            <a:r>
              <a:rPr lang="en-US" sz="1400" dirty="0">
                <a:solidFill>
                  <a:srgbClr val="1E2761"/>
                </a:solidFill>
                <a:latin typeface="Consolas" pitchFamily="34" charset="0"/>
                <a:ea typeface="Consolas" pitchFamily="34" charset="-122"/>
                <a:cs typeface="Consolas" pitchFamily="34" charset="-120"/>
              </a:rPr>
              <a:t>sudo id</a:t>
            </a:r>
            <a:r>
              <a:rPr lang="en-US" sz="1400" dirty="0">
                <a:solidFill>
                  <a:srgbClr val="1F2937"/>
                </a:solidFill>
                <a:latin typeface="Calibri" pitchFamily="34" charset="0"/>
                <a:ea typeface="Calibri" pitchFamily="34" charset="-122"/>
                <a:cs typeface="Calibri" pitchFamily="34" charset="-120"/>
              </a:rPr>
              <a:t>. Compare. The </a:t>
            </a:r>
            <a:r>
              <a:rPr lang="en-US" sz="1400" dirty="0">
                <a:solidFill>
                  <a:srgbClr val="1E2761"/>
                </a:solidFill>
                <a:latin typeface="Consolas" pitchFamily="34" charset="0"/>
                <a:ea typeface="Consolas" pitchFamily="34" charset="-122"/>
                <a:cs typeface="Consolas" pitchFamily="34" charset="-120"/>
              </a:rPr>
              <a:t>uid=</a:t>
            </a:r>
            <a:r>
              <a:rPr lang="en-US" sz="1400" dirty="0">
                <a:solidFill>
                  <a:srgbClr val="1F2937"/>
                </a:solidFill>
                <a:latin typeface="Calibri" pitchFamily="34" charset="0"/>
                <a:ea typeface="Calibri" pitchFamily="34" charset="-122"/>
                <a:cs typeface="Calibri" pitchFamily="34" charset="-120"/>
              </a:rPr>
              <a:t> and </a:t>
            </a:r>
            <a:r>
              <a:rPr lang="en-US" sz="1400" dirty="0">
                <a:solidFill>
                  <a:srgbClr val="1E2761"/>
                </a:solidFill>
                <a:latin typeface="Consolas" pitchFamily="34" charset="0"/>
                <a:ea typeface="Consolas" pitchFamily="34" charset="-122"/>
                <a:cs typeface="Consolas" pitchFamily="34" charset="-120"/>
              </a:rPr>
              <a:t>gid=</a:t>
            </a:r>
            <a:r>
              <a:rPr lang="en-US" sz="1400" dirty="0">
                <a:solidFill>
                  <a:srgbClr val="1F2937"/>
                </a:solidFill>
                <a:latin typeface="Calibri" pitchFamily="34" charset="0"/>
                <a:ea typeface="Calibri" pitchFamily="34" charset="-122"/>
                <a:cs typeface="Calibri" pitchFamily="34" charset="-120"/>
              </a:rPr>
              <a:t> change.</a:t>
            </a:r>
            <a:endParaRPr lang="en-US" sz="1400" dirty="0"/>
          </a:p>
          <a:p>
            <a:pPr marL="279400" indent="-279400">
              <a:spcAft>
                <a:spcPts val="600"/>
              </a:spcAft>
              <a:buSzPct val="100000"/>
              <a:buFont typeface="+mj-lt"/>
              <a:buAutoNum type="arabicPeriod"/>
            </a:pPr>
            <a:r>
              <a:rPr lang="en-US" sz="1400" dirty="0">
                <a:solidFill>
                  <a:srgbClr val="1F2937"/>
                </a:solidFill>
                <a:latin typeface="Calibri" pitchFamily="34" charset="0"/>
                <a:ea typeface="Calibri" pitchFamily="34" charset="-122"/>
                <a:cs typeface="Calibri" pitchFamily="34" charset="-120"/>
              </a:rPr>
              <a:t>Try </a:t>
            </a:r>
            <a:r>
              <a:rPr lang="en-US" sz="1400" dirty="0">
                <a:solidFill>
                  <a:srgbClr val="1E2761"/>
                </a:solidFill>
                <a:latin typeface="Consolas" pitchFamily="34" charset="0"/>
                <a:ea typeface="Consolas" pitchFamily="34" charset="-122"/>
                <a:cs typeface="Consolas" pitchFamily="34" charset="-120"/>
              </a:rPr>
              <a:t>apt update</a:t>
            </a:r>
            <a:r>
              <a:rPr lang="en-US" sz="1400" dirty="0">
                <a:solidFill>
                  <a:srgbClr val="1F2937"/>
                </a:solidFill>
                <a:latin typeface="Calibri" pitchFamily="34" charset="0"/>
                <a:ea typeface="Calibri" pitchFamily="34" charset="-122"/>
                <a:cs typeface="Calibri" pitchFamily="34" charset="-120"/>
              </a:rPr>
              <a:t> (no sudo) — fails.</a:t>
            </a:r>
            <a:endParaRPr lang="en-US" sz="1400" dirty="0"/>
          </a:p>
          <a:p>
            <a:pPr marL="279400" indent="-279400">
              <a:spcAft>
                <a:spcPts val="600"/>
              </a:spcAft>
              <a:buSzPct val="100000"/>
              <a:buFont typeface="+mj-lt"/>
              <a:buAutoNum type="arabicPeriod"/>
            </a:pPr>
            <a:r>
              <a:rPr lang="en-US" sz="1400" dirty="0">
                <a:solidFill>
                  <a:srgbClr val="1F2937"/>
                </a:solidFill>
                <a:latin typeface="Calibri" pitchFamily="34" charset="0"/>
                <a:ea typeface="Calibri" pitchFamily="34" charset="-122"/>
                <a:cs typeface="Calibri" pitchFamily="34" charset="-120"/>
              </a:rPr>
              <a:t>Run </a:t>
            </a:r>
            <a:r>
              <a:rPr lang="en-US" sz="1400" dirty="0">
                <a:solidFill>
                  <a:srgbClr val="1E2761"/>
                </a:solidFill>
                <a:latin typeface="Consolas" pitchFamily="34" charset="0"/>
                <a:ea typeface="Consolas" pitchFamily="34" charset="-122"/>
                <a:cs typeface="Consolas" pitchFamily="34" charset="-120"/>
              </a:rPr>
              <a:t>sudo apt update</a:t>
            </a:r>
            <a:r>
              <a:rPr lang="en-US" sz="1400" dirty="0">
                <a:solidFill>
                  <a:srgbClr val="1F2937"/>
                </a:solidFill>
                <a:latin typeface="Calibri" pitchFamily="34" charset="0"/>
                <a:ea typeface="Calibri" pitchFamily="34" charset="-122"/>
                <a:cs typeface="Calibri" pitchFamily="34" charset="-120"/>
              </a:rPr>
              <a:t> — works.</a:t>
            </a:r>
            <a:endParaRPr lang="en-US" sz="1400" dirty="0"/>
          </a:p>
          <a:p>
            <a:pPr marL="279400" indent="-279400">
              <a:spcAft>
                <a:spcPts val="600"/>
              </a:spcAft>
              <a:buSzPct val="100000"/>
              <a:buFont typeface="+mj-lt"/>
              <a:buAutoNum type="arabicPeriod"/>
            </a:pPr>
            <a:r>
              <a:rPr lang="en-US" sz="1400" dirty="0">
                <a:solidFill>
                  <a:srgbClr val="1F2937"/>
                </a:solidFill>
                <a:latin typeface="Calibri" pitchFamily="34" charset="0"/>
                <a:ea typeface="Calibri" pitchFamily="34" charset="-122"/>
                <a:cs typeface="Calibri" pitchFamily="34" charset="-120"/>
              </a:rPr>
              <a:t>(Optional) </a:t>
            </a:r>
            <a:r>
              <a:rPr lang="en-US" sz="1400" dirty="0">
                <a:solidFill>
                  <a:srgbClr val="1E2761"/>
                </a:solidFill>
                <a:latin typeface="Consolas" pitchFamily="34" charset="0"/>
                <a:ea typeface="Consolas" pitchFamily="34" charset="-122"/>
                <a:cs typeface="Consolas" pitchFamily="34" charset="-120"/>
              </a:rPr>
              <a:t>sudo -i</a:t>
            </a:r>
            <a:r>
              <a:rPr lang="en-US" sz="1400" dirty="0">
                <a:solidFill>
                  <a:srgbClr val="1F2937"/>
                </a:solidFill>
                <a:latin typeface="Calibri" pitchFamily="34" charset="0"/>
                <a:ea typeface="Calibri" pitchFamily="34" charset="-122"/>
                <a:cs typeface="Calibri" pitchFamily="34" charset="-120"/>
              </a:rPr>
              <a:t>, then </a:t>
            </a:r>
            <a:r>
              <a:rPr lang="en-US" sz="1400" dirty="0">
                <a:solidFill>
                  <a:srgbClr val="1E2761"/>
                </a:solidFill>
                <a:latin typeface="Consolas" pitchFamily="34" charset="0"/>
                <a:ea typeface="Consolas" pitchFamily="34" charset="-122"/>
                <a:cs typeface="Consolas" pitchFamily="34" charset="-120"/>
              </a:rPr>
              <a:t>whoami</a:t>
            </a:r>
            <a:r>
              <a:rPr lang="en-US" sz="1400" dirty="0">
                <a:solidFill>
                  <a:srgbClr val="1F2937"/>
                </a:solidFill>
                <a:latin typeface="Calibri" pitchFamily="34" charset="0"/>
                <a:ea typeface="Calibri" pitchFamily="34" charset="-122"/>
                <a:cs typeface="Calibri" pitchFamily="34" charset="-120"/>
              </a:rPr>
              <a:t>, then </a:t>
            </a:r>
            <a:r>
              <a:rPr lang="en-US" sz="1400" dirty="0">
                <a:solidFill>
                  <a:srgbClr val="1E2761"/>
                </a:solidFill>
                <a:latin typeface="Consolas" pitchFamily="34" charset="0"/>
                <a:ea typeface="Consolas" pitchFamily="34" charset="-122"/>
                <a:cs typeface="Consolas" pitchFamily="34" charset="-120"/>
              </a:rPr>
              <a:t>exit</a:t>
            </a:r>
            <a:r>
              <a:rPr lang="en-US" sz="1400" dirty="0">
                <a:solidFill>
                  <a:srgbClr val="1F2937"/>
                </a:solidFill>
                <a:latin typeface="Calibri" pitchFamily="34" charset="0"/>
                <a:ea typeface="Calibri" pitchFamily="34" charset="-122"/>
                <a:cs typeface="Calibri" pitchFamily="34" charset="-120"/>
              </a:rPr>
              <a:t>.</a:t>
            </a:r>
            <a:endParaRPr lang="en-US" sz="140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0">
            <a:extLst>
              <a:ext uri="{FF2B5EF4-FFF2-40B4-BE49-F238E27FC236}">
                <a16:creationId xmlns:a16="http://schemas.microsoft.com/office/drawing/2014/main" id="{C4F308D0-E16C-4CC5-260F-E28847C8B2B2}"/>
              </a:ext>
            </a:extLst>
          </p:cNvPr>
          <p:cNvSpPr/>
          <p:nvPr/>
        </p:nvSpPr>
        <p:spPr>
          <a:xfrm>
            <a:off x="548640" y="1280160"/>
            <a:ext cx="8046720" cy="457200"/>
          </a:xfrm>
          <a:prstGeom prst="rect">
            <a:avLst/>
          </a:prstGeom>
          <a:noFill/>
          <a:ln/>
        </p:spPr>
        <p:txBody>
          <a:bodyPr wrap="square" lIns="0" tIns="0" rIns="0" bIns="0" rtlCol="0" anchor="ctr"/>
          <a:lstStyle/>
          <a:p>
            <a:pPr marL="0" indent="0">
              <a:buNone/>
            </a:pPr>
            <a:r>
              <a:rPr lang="en-US" sz="1600" b="1" kern="0" spc="800" dirty="0">
                <a:latin typeface="Calibri" pitchFamily="34" charset="0"/>
                <a:ea typeface="Calibri" pitchFamily="34" charset="-122"/>
                <a:cs typeface="Calibri" pitchFamily="34" charset="-120"/>
              </a:rPr>
              <a:t>BLOCK 10</a:t>
            </a:r>
            <a:endParaRPr lang="en-US" sz="1600" dirty="0"/>
          </a:p>
        </p:txBody>
      </p:sp>
      <p:sp>
        <p:nvSpPr>
          <p:cNvPr id="4" name="Text 1">
            <a:extLst>
              <a:ext uri="{FF2B5EF4-FFF2-40B4-BE49-F238E27FC236}">
                <a16:creationId xmlns:a16="http://schemas.microsoft.com/office/drawing/2014/main" id="{39AB9CA9-4368-8FE5-AD42-55EA850B62AF}"/>
              </a:ext>
            </a:extLst>
          </p:cNvPr>
          <p:cNvSpPr/>
          <p:nvPr/>
        </p:nvSpPr>
        <p:spPr>
          <a:xfrm>
            <a:off x="548640" y="1783080"/>
            <a:ext cx="8046720" cy="1463040"/>
          </a:xfrm>
          <a:prstGeom prst="rect">
            <a:avLst/>
          </a:prstGeom>
          <a:noFill/>
          <a:ln/>
        </p:spPr>
        <p:txBody>
          <a:bodyPr wrap="square" lIns="0" tIns="0" rIns="0" bIns="0" rtlCol="0" anchor="t"/>
          <a:lstStyle/>
          <a:p>
            <a:pPr marL="0" indent="0">
              <a:buNone/>
            </a:pPr>
            <a:r>
              <a:rPr lang="en-US" sz="4000" b="1" dirty="0">
                <a:latin typeface="Cambria" pitchFamily="34" charset="0"/>
                <a:ea typeface="Cambria" pitchFamily="34" charset="-122"/>
                <a:cs typeface="Cambria" pitchFamily="34" charset="-120"/>
              </a:rPr>
              <a:t>Environment variables, PATH, LD_LIBRARY_PATH</a:t>
            </a:r>
            <a:endParaRPr lang="en-US" sz="4000" dirty="0"/>
          </a:p>
        </p:txBody>
      </p:sp>
    </p:spTree>
    <p:extLst>
      <p:ext uri="{BB962C8B-B14F-4D97-AF65-F5344CB8AC3E}">
        <p14:creationId xmlns:p14="http://schemas.microsoft.com/office/powerpoint/2010/main" val="2956951707"/>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bg>
      <p:bgPr>
        <a:solidFill>
          <a:srgbClr val="FFFFFF"/>
        </a:solidFill>
        <a:effectLst/>
      </p:bgPr>
    </p:bg>
    <p:spTree>
      <p:nvGrpSpPr>
        <p:cNvPr id="1" name=""/>
        <p:cNvGrpSpPr/>
        <p:nvPr/>
      </p:nvGrpSpPr>
      <p:grpSpPr>
        <a:xfrm>
          <a:off x="0" y="0"/>
          <a:ext cx="0" cy="0"/>
          <a:chOff x="0" y="0"/>
          <a:chExt cx="0" cy="0"/>
        </a:xfrm>
      </p:grpSpPr>
      <p:pic>
        <p:nvPicPr>
          <p:cNvPr id="11" name="Picture 10" descr="access-footer.jpg"/>
          <p:cNvPicPr>
            <a:picLocks noChangeAspect="1"/>
          </p:cNvPicPr>
          <p:nvPr/>
        </p:nvPicPr>
        <p:blipFill>
          <a:blip r:embed="rId3"/>
          <a:stretch>
            <a:fillRect/>
          </a:stretch>
        </p:blipFill>
        <p:spPr>
          <a:xfrm>
            <a:off x="0" y="0"/>
            <a:ext cx="9144000" cy="5143500"/>
          </a:xfrm>
          <a:prstGeom prst="rect">
            <a:avLst/>
          </a:prstGeom>
        </p:spPr>
      </p:pic>
      <p:sp>
        <p:nvSpPr>
          <p:cNvPr id="2" name="Text 0"/>
          <p:cNvSpPr/>
          <p:nvPr/>
        </p:nvSpPr>
        <p:spPr>
          <a:xfrm>
            <a:off x="457200" y="274320"/>
            <a:ext cx="8229600" cy="594360"/>
          </a:xfrm>
          <a:prstGeom prst="rect">
            <a:avLst/>
          </a:prstGeom>
          <a:solidFill>
            <a:srgbClr val="FFFFFF"/>
          </a:solidFill>
          <a:ln/>
        </p:spPr>
        <p:txBody>
          <a:bodyPr wrap="square" lIns="0" tIns="0" rIns="0" bIns="0" rtlCol="0" anchor="ctr"/>
          <a:lstStyle/>
          <a:p>
            <a:pPr marL="0" indent="0">
              <a:buNone/>
            </a:pPr>
            <a:r>
              <a:rPr lang="en-US" sz="2800" b="1" dirty="0">
                <a:solidFill>
                  <a:srgbClr val="1E2761"/>
                </a:solidFill>
                <a:latin typeface="Cambria" pitchFamily="34" charset="0"/>
                <a:ea typeface="Cambria" pitchFamily="34" charset="-122"/>
                <a:cs typeface="Cambria" pitchFamily="34" charset="-120"/>
              </a:rPr>
              <a:t>What are environment variables?</a:t>
            </a:r>
            <a:endParaRPr lang="en-US" sz="2800" dirty="0"/>
          </a:p>
        </p:txBody>
      </p:sp>
      <p:sp>
        <p:nvSpPr>
          <p:cNvPr id="3" name="Shape 1"/>
          <p:cNvSpPr/>
          <p:nvPr/>
        </p:nvSpPr>
        <p:spPr>
          <a:xfrm>
            <a:off x="457200" y="868680"/>
            <a:ext cx="548640" cy="36576"/>
          </a:xfrm>
          <a:prstGeom prst="rect">
            <a:avLst/>
          </a:prstGeom>
          <a:solidFill>
            <a:srgbClr val="1E2761"/>
          </a:solidFill>
          <a:ln w="12700">
            <a:solidFill>
              <a:srgbClr val="1E2761"/>
            </a:solidFill>
            <a:prstDash val="solid"/>
          </a:ln>
        </p:spPr>
        <p:txBody>
          <a:bodyPr/>
          <a:lstStyle/>
          <a:p>
            <a:endParaRPr lang="en-US"/>
          </a:p>
        </p:txBody>
      </p:sp>
      <p:sp>
        <p:nvSpPr>
          <p:cNvPr id="4" name="Shape 2"/>
          <p:cNvSpPr/>
          <p:nvPr/>
        </p:nvSpPr>
        <p:spPr>
          <a:xfrm>
            <a:off x="457200" y="1005840"/>
            <a:ext cx="1005840" cy="292608"/>
          </a:xfrm>
          <a:prstGeom prst="rect">
            <a:avLst/>
          </a:prstGeom>
          <a:solidFill>
            <a:srgbClr val="1E2761"/>
          </a:solidFill>
          <a:ln w="12700">
            <a:solidFill>
              <a:srgbClr val="1E2761"/>
            </a:solidFill>
            <a:prstDash val="solid"/>
          </a:ln>
        </p:spPr>
        <p:txBody>
          <a:bodyPr/>
          <a:lstStyle/>
          <a:p>
            <a:endParaRPr lang="en-US"/>
          </a:p>
        </p:txBody>
      </p:sp>
      <p:sp>
        <p:nvSpPr>
          <p:cNvPr id="5" name="Text 3"/>
          <p:cNvSpPr/>
          <p:nvPr/>
        </p:nvSpPr>
        <p:spPr>
          <a:xfrm>
            <a:off x="457200" y="1005840"/>
            <a:ext cx="1005840" cy="292608"/>
          </a:xfrm>
          <a:prstGeom prst="rect">
            <a:avLst/>
          </a:prstGeom>
          <a:noFill/>
          <a:ln/>
        </p:spPr>
        <p:txBody>
          <a:bodyPr wrap="square" lIns="0" tIns="0" rIns="0" bIns="0" rtlCol="0" anchor="ctr"/>
          <a:lstStyle/>
          <a:p>
            <a:pPr marL="0" indent="0" algn="ctr">
              <a:buNone/>
            </a:pPr>
            <a:r>
              <a:rPr lang="en-US" sz="1100" b="1" kern="0" spc="200" dirty="0">
                <a:solidFill>
                  <a:srgbClr val="FFFFFF"/>
                </a:solidFill>
                <a:latin typeface="Calibri" pitchFamily="34" charset="0"/>
                <a:ea typeface="Calibri" pitchFamily="34" charset="-122"/>
                <a:cs typeface="Calibri" pitchFamily="34" charset="-120"/>
              </a:rPr>
              <a:t>TALK</a:t>
            </a:r>
            <a:endParaRPr lang="en-US" sz="1100" dirty="0"/>
          </a:p>
        </p:txBody>
      </p:sp>
      <p:sp>
        <p:nvSpPr>
          <p:cNvPr id="6" name="Text 4"/>
          <p:cNvSpPr/>
          <p:nvPr/>
        </p:nvSpPr>
        <p:spPr>
          <a:xfrm>
            <a:off x="548640" y="1435608"/>
            <a:ext cx="8046720" cy="1270000"/>
          </a:xfrm>
          <a:prstGeom prst="rect">
            <a:avLst/>
          </a:prstGeom>
          <a:solidFill>
            <a:srgbClr val="FFFFFF"/>
          </a:solidFill>
          <a:ln/>
        </p:spPr>
        <p:txBody>
          <a:bodyPr wrap="square" lIns="0" tIns="0" rIns="0" bIns="0" rtlCol="0" anchor="t"/>
          <a:lstStyle/>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Your shell carries a bag of </a:t>
            </a:r>
            <a:r>
              <a:rPr lang="en-US" sz="1400" b="1" dirty="0">
                <a:solidFill>
                  <a:srgbClr val="1F2937"/>
                </a:solidFill>
                <a:latin typeface="Calibri" pitchFamily="34" charset="0"/>
                <a:ea typeface="Calibri" pitchFamily="34" charset="-122"/>
                <a:cs typeface="Calibri" pitchFamily="34" charset="-120"/>
              </a:rPr>
              <a:t>named settings</a:t>
            </a:r>
            <a:r>
              <a:rPr lang="en-US" sz="1400" dirty="0">
                <a:solidFill>
                  <a:srgbClr val="1F2937"/>
                </a:solidFill>
                <a:latin typeface="Calibri" pitchFamily="34" charset="0"/>
                <a:ea typeface="Calibri" pitchFamily="34" charset="-122"/>
                <a:cs typeface="Calibri" pitchFamily="34" charset="-120"/>
              </a:rPr>
              <a:t> called environment variables.</a:t>
            </a:r>
            <a:endParaRPr lang="en-US" sz="1400" dirty="0"/>
          </a:p>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They're how programs discover things about their environment: who you are, your home, your language, where to look for things.</a:t>
            </a:r>
            <a:endParaRPr lang="en-US" sz="1400" dirty="0"/>
          </a:p>
          <a:p>
            <a:pPr marL="228600" indent="-228600">
              <a:spcAft>
                <a:spcPts val="600"/>
              </a:spcAft>
              <a:buSzPct val="100000"/>
              <a:buChar char="■"/>
            </a:pPr>
            <a:r>
              <a:rPr lang="en-US" sz="1400" b="1" dirty="0">
                <a:solidFill>
                  <a:srgbClr val="1F2937"/>
                </a:solidFill>
                <a:latin typeface="Calibri" pitchFamily="34" charset="0"/>
                <a:ea typeface="Calibri" pitchFamily="34" charset="-122"/>
                <a:cs typeface="Calibri" pitchFamily="34" charset="-120"/>
              </a:rPr>
              <a:t>Every program you launch inherits a copy of this bag.</a:t>
            </a:r>
            <a:endParaRPr lang="en-US" sz="1400" dirty="0"/>
          </a:p>
        </p:txBody>
      </p:sp>
      <p:sp>
        <p:nvSpPr>
          <p:cNvPr id="7" name="Shape 5"/>
          <p:cNvSpPr/>
          <p:nvPr/>
        </p:nvSpPr>
        <p:spPr>
          <a:xfrm>
            <a:off x="457200" y="2751328"/>
            <a:ext cx="1005840" cy="292608"/>
          </a:xfrm>
          <a:prstGeom prst="rect">
            <a:avLst/>
          </a:prstGeom>
          <a:solidFill>
            <a:srgbClr val="0369A1"/>
          </a:solidFill>
          <a:ln w="12700">
            <a:solidFill>
              <a:srgbClr val="0369A1"/>
            </a:solidFill>
            <a:prstDash val="solid"/>
          </a:ln>
        </p:spPr>
        <p:txBody>
          <a:bodyPr/>
          <a:lstStyle/>
          <a:p>
            <a:endParaRPr lang="en-US"/>
          </a:p>
        </p:txBody>
      </p:sp>
      <p:sp>
        <p:nvSpPr>
          <p:cNvPr id="8" name="Text 6"/>
          <p:cNvSpPr/>
          <p:nvPr/>
        </p:nvSpPr>
        <p:spPr>
          <a:xfrm>
            <a:off x="457200" y="2751328"/>
            <a:ext cx="1005840" cy="292608"/>
          </a:xfrm>
          <a:prstGeom prst="rect">
            <a:avLst/>
          </a:prstGeom>
          <a:noFill/>
          <a:ln/>
        </p:spPr>
        <p:txBody>
          <a:bodyPr wrap="square" lIns="0" tIns="0" rIns="0" bIns="0" rtlCol="0" anchor="ctr"/>
          <a:lstStyle/>
          <a:p>
            <a:pPr marL="0" indent="0" algn="ctr">
              <a:buNone/>
            </a:pPr>
            <a:r>
              <a:rPr lang="en-US" sz="1100" b="1" kern="0" spc="200" dirty="0">
                <a:solidFill>
                  <a:srgbClr val="FFFFFF"/>
                </a:solidFill>
                <a:latin typeface="Calibri" pitchFamily="34" charset="0"/>
                <a:ea typeface="Calibri" pitchFamily="34" charset="-122"/>
                <a:cs typeface="Calibri" pitchFamily="34" charset="-120"/>
              </a:rPr>
              <a:t>DEMO</a:t>
            </a:r>
            <a:endParaRPr lang="en-US" sz="1100" dirty="0"/>
          </a:p>
        </p:txBody>
      </p:sp>
      <p:sp>
        <p:nvSpPr>
          <p:cNvPr id="9" name="Shape 7"/>
          <p:cNvSpPr/>
          <p:nvPr/>
        </p:nvSpPr>
        <p:spPr>
          <a:xfrm>
            <a:off x="548640" y="3181096"/>
            <a:ext cx="8046720" cy="1107440"/>
          </a:xfrm>
          <a:prstGeom prst="rect">
            <a:avLst/>
          </a:prstGeom>
          <a:solidFill>
            <a:srgbClr val="0F172A"/>
          </a:solidFill>
          <a:ln w="12700">
            <a:solidFill>
              <a:srgbClr val="0F172A"/>
            </a:solidFill>
            <a:prstDash val="solid"/>
          </a:ln>
        </p:spPr>
        <p:txBody>
          <a:bodyPr/>
          <a:lstStyle/>
          <a:p>
            <a:endParaRPr lang="en-US"/>
          </a:p>
        </p:txBody>
      </p:sp>
      <p:sp>
        <p:nvSpPr>
          <p:cNvPr id="10" name="Text 8"/>
          <p:cNvSpPr/>
          <p:nvPr/>
        </p:nvSpPr>
        <p:spPr>
          <a:xfrm>
            <a:off x="685800" y="3254248"/>
            <a:ext cx="7772400" cy="961136"/>
          </a:xfrm>
          <a:prstGeom prst="rect">
            <a:avLst/>
          </a:prstGeom>
          <a:noFill/>
          <a:ln/>
        </p:spPr>
        <p:txBody>
          <a:bodyPr wrap="square" lIns="0" tIns="0" rIns="0" bIns="0" rtlCol="0" anchor="t"/>
          <a:lstStyle/>
          <a:p>
            <a:pPr marL="0" indent="0">
              <a:buNone/>
            </a:pPr>
            <a:r>
              <a:rPr lang="en-US" sz="1400" dirty="0">
                <a:solidFill>
                  <a:srgbClr val="E2E8F0"/>
                </a:solidFill>
                <a:latin typeface="Consolas" pitchFamily="34" charset="0"/>
                <a:ea typeface="Consolas" pitchFamily="34" charset="-122"/>
                <a:cs typeface="Consolas" pitchFamily="34" charset="-120"/>
              </a:rPr>
              <a:t>$ env | head -n 20</a:t>
            </a:r>
            <a:endParaRPr lang="en-US" sz="1400" dirty="0"/>
          </a:p>
          <a:p>
            <a:pPr marL="0" indent="0">
              <a:buNone/>
            </a:pPr>
            <a:r>
              <a:rPr lang="en-US" sz="1400" dirty="0">
                <a:solidFill>
                  <a:srgbClr val="E2E8F0"/>
                </a:solidFill>
                <a:latin typeface="Consolas" pitchFamily="34" charset="0"/>
                <a:ea typeface="Consolas" pitchFamily="34" charset="-122"/>
                <a:cs typeface="Consolas" pitchFamily="34" charset="-120"/>
              </a:rPr>
              <a:t>$ echo $HOME       # /home/exouser</a:t>
            </a:r>
            <a:endParaRPr lang="en-US" sz="1400" dirty="0"/>
          </a:p>
          <a:p>
            <a:pPr marL="0" indent="0">
              <a:buNone/>
            </a:pPr>
            <a:r>
              <a:rPr lang="en-US" sz="1400" dirty="0">
                <a:solidFill>
                  <a:srgbClr val="E2E8F0"/>
                </a:solidFill>
                <a:latin typeface="Consolas" pitchFamily="34" charset="0"/>
                <a:ea typeface="Consolas" pitchFamily="34" charset="-122"/>
                <a:cs typeface="Consolas" pitchFamily="34" charset="-120"/>
              </a:rPr>
              <a:t>$ echo $USER       # exouser</a:t>
            </a:r>
            <a:endParaRPr lang="en-US" sz="1400" dirty="0"/>
          </a:p>
          <a:p>
            <a:pPr marL="0" indent="0">
              <a:buNone/>
            </a:pPr>
            <a:r>
              <a:rPr lang="en-US" sz="1400" dirty="0">
                <a:solidFill>
                  <a:srgbClr val="E2E8F0"/>
                </a:solidFill>
                <a:latin typeface="Consolas" pitchFamily="34" charset="0"/>
                <a:ea typeface="Consolas" pitchFamily="34" charset="-122"/>
                <a:cs typeface="Consolas" pitchFamily="34" charset="-120"/>
              </a:rPr>
              <a:t>$ echo $SHELL      # /bin/bash</a:t>
            </a:r>
            <a:endParaRPr lang="en-US" sz="140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bg>
      <p:bgPr>
        <a:solidFill>
          <a:srgbClr val="FFFFFF"/>
        </a:solidFill>
        <a:effectLst/>
      </p:bgPr>
    </p:bg>
    <p:spTree>
      <p:nvGrpSpPr>
        <p:cNvPr id="1" name=""/>
        <p:cNvGrpSpPr/>
        <p:nvPr/>
      </p:nvGrpSpPr>
      <p:grpSpPr>
        <a:xfrm>
          <a:off x="0" y="0"/>
          <a:ext cx="0" cy="0"/>
          <a:chOff x="0" y="0"/>
          <a:chExt cx="0" cy="0"/>
        </a:xfrm>
      </p:grpSpPr>
      <p:pic>
        <p:nvPicPr>
          <p:cNvPr id="12" name="Picture 11" descr="access-footer.jpg"/>
          <p:cNvPicPr>
            <a:picLocks noChangeAspect="1"/>
          </p:cNvPicPr>
          <p:nvPr/>
        </p:nvPicPr>
        <p:blipFill>
          <a:blip r:embed="rId3"/>
          <a:stretch>
            <a:fillRect/>
          </a:stretch>
        </p:blipFill>
        <p:spPr>
          <a:xfrm>
            <a:off x="0" y="0"/>
            <a:ext cx="9144000" cy="5143500"/>
          </a:xfrm>
          <a:prstGeom prst="rect">
            <a:avLst/>
          </a:prstGeom>
        </p:spPr>
      </p:pic>
      <p:sp>
        <p:nvSpPr>
          <p:cNvPr id="2" name="Text 0"/>
          <p:cNvSpPr/>
          <p:nvPr/>
        </p:nvSpPr>
        <p:spPr>
          <a:xfrm>
            <a:off x="457200" y="274320"/>
            <a:ext cx="8229600" cy="594360"/>
          </a:xfrm>
          <a:prstGeom prst="rect">
            <a:avLst/>
          </a:prstGeom>
          <a:solidFill>
            <a:srgbClr val="FFFFFF"/>
          </a:solidFill>
          <a:ln/>
        </p:spPr>
        <p:txBody>
          <a:bodyPr wrap="square" lIns="0" tIns="0" rIns="0" bIns="0" rtlCol="0" anchor="ctr"/>
          <a:lstStyle/>
          <a:p>
            <a:pPr marL="0" indent="0">
              <a:buNone/>
            </a:pPr>
            <a:r>
              <a:rPr lang="en-US" sz="2800" b="1" dirty="0">
                <a:solidFill>
                  <a:srgbClr val="1E2761"/>
                </a:solidFill>
                <a:latin typeface="Cambria" pitchFamily="34" charset="0"/>
                <a:ea typeface="Cambria" pitchFamily="34" charset="-122"/>
                <a:cs typeface="Cambria" pitchFamily="34" charset="-120"/>
              </a:rPr>
              <a:t>PATH  —  how the shell finds commands</a:t>
            </a:r>
            <a:endParaRPr lang="en-US" sz="2800" dirty="0"/>
          </a:p>
        </p:txBody>
      </p:sp>
      <p:sp>
        <p:nvSpPr>
          <p:cNvPr id="3" name="Shape 1"/>
          <p:cNvSpPr/>
          <p:nvPr/>
        </p:nvSpPr>
        <p:spPr>
          <a:xfrm>
            <a:off x="457200" y="868680"/>
            <a:ext cx="548640" cy="36576"/>
          </a:xfrm>
          <a:prstGeom prst="rect">
            <a:avLst/>
          </a:prstGeom>
          <a:solidFill>
            <a:srgbClr val="1E2761"/>
          </a:solidFill>
          <a:ln w="12700">
            <a:solidFill>
              <a:srgbClr val="1E2761"/>
            </a:solidFill>
            <a:prstDash val="solid"/>
          </a:ln>
        </p:spPr>
        <p:txBody>
          <a:bodyPr/>
          <a:lstStyle/>
          <a:p>
            <a:endParaRPr lang="en-US"/>
          </a:p>
        </p:txBody>
      </p:sp>
      <p:sp>
        <p:nvSpPr>
          <p:cNvPr id="4" name="Shape 2"/>
          <p:cNvSpPr/>
          <p:nvPr/>
        </p:nvSpPr>
        <p:spPr>
          <a:xfrm>
            <a:off x="457200" y="1005840"/>
            <a:ext cx="1005840" cy="292608"/>
          </a:xfrm>
          <a:prstGeom prst="rect">
            <a:avLst/>
          </a:prstGeom>
          <a:solidFill>
            <a:srgbClr val="1E2761"/>
          </a:solidFill>
          <a:ln w="12700">
            <a:solidFill>
              <a:srgbClr val="1E2761"/>
            </a:solidFill>
            <a:prstDash val="solid"/>
          </a:ln>
        </p:spPr>
        <p:txBody>
          <a:bodyPr/>
          <a:lstStyle/>
          <a:p>
            <a:endParaRPr lang="en-US"/>
          </a:p>
        </p:txBody>
      </p:sp>
      <p:sp>
        <p:nvSpPr>
          <p:cNvPr id="5" name="Text 3"/>
          <p:cNvSpPr/>
          <p:nvPr/>
        </p:nvSpPr>
        <p:spPr>
          <a:xfrm>
            <a:off x="457200" y="1005840"/>
            <a:ext cx="1005840" cy="292608"/>
          </a:xfrm>
          <a:prstGeom prst="rect">
            <a:avLst/>
          </a:prstGeom>
          <a:noFill/>
          <a:ln/>
        </p:spPr>
        <p:txBody>
          <a:bodyPr wrap="square" lIns="0" tIns="0" rIns="0" bIns="0" rtlCol="0" anchor="ctr"/>
          <a:lstStyle/>
          <a:p>
            <a:pPr marL="0" indent="0" algn="ctr">
              <a:buNone/>
            </a:pPr>
            <a:r>
              <a:rPr lang="en-US" sz="1100" b="1" kern="0" spc="200" dirty="0">
                <a:solidFill>
                  <a:srgbClr val="FFFFFF"/>
                </a:solidFill>
                <a:latin typeface="Calibri" pitchFamily="34" charset="0"/>
                <a:ea typeface="Calibri" pitchFamily="34" charset="-122"/>
                <a:cs typeface="Calibri" pitchFamily="34" charset="-120"/>
              </a:rPr>
              <a:t>TALK</a:t>
            </a:r>
            <a:endParaRPr lang="en-US" sz="1100" dirty="0"/>
          </a:p>
        </p:txBody>
      </p:sp>
      <p:sp>
        <p:nvSpPr>
          <p:cNvPr id="6" name="Text 4"/>
          <p:cNvSpPr/>
          <p:nvPr/>
        </p:nvSpPr>
        <p:spPr>
          <a:xfrm>
            <a:off x="548640" y="1435608"/>
            <a:ext cx="8046720" cy="695960"/>
          </a:xfrm>
          <a:prstGeom prst="rect">
            <a:avLst/>
          </a:prstGeom>
          <a:solidFill>
            <a:srgbClr val="FFFFFF"/>
          </a:solidFill>
          <a:ln/>
        </p:spPr>
        <p:txBody>
          <a:bodyPr wrap="square" lIns="0" tIns="0" rIns="0" bIns="0" rtlCol="0" anchor="t"/>
          <a:lstStyle/>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When you type </a:t>
            </a:r>
            <a:r>
              <a:rPr lang="en-US" sz="1400" dirty="0">
                <a:solidFill>
                  <a:srgbClr val="1E2761"/>
                </a:solidFill>
                <a:latin typeface="Consolas" pitchFamily="34" charset="0"/>
                <a:ea typeface="Consolas" pitchFamily="34" charset="-122"/>
                <a:cs typeface="Consolas" pitchFamily="34" charset="-120"/>
              </a:rPr>
              <a:t>ls</a:t>
            </a:r>
            <a:r>
              <a:rPr lang="en-US" sz="1400" dirty="0">
                <a:solidFill>
                  <a:srgbClr val="1F2937"/>
                </a:solidFill>
                <a:latin typeface="Calibri" pitchFamily="34" charset="0"/>
                <a:ea typeface="Calibri" pitchFamily="34" charset="-122"/>
                <a:cs typeface="Calibri" pitchFamily="34" charset="-120"/>
              </a:rPr>
              <a:t>, how does the shell know that </a:t>
            </a:r>
            <a:r>
              <a:rPr lang="en-US" sz="1400" dirty="0">
                <a:solidFill>
                  <a:srgbClr val="1E2761"/>
                </a:solidFill>
                <a:latin typeface="Consolas" pitchFamily="34" charset="0"/>
                <a:ea typeface="Consolas" pitchFamily="34" charset="-122"/>
                <a:cs typeface="Consolas" pitchFamily="34" charset="-120"/>
              </a:rPr>
              <a:t>ls</a:t>
            </a:r>
            <a:r>
              <a:rPr lang="en-US" sz="1400" dirty="0">
                <a:solidFill>
                  <a:srgbClr val="1F2937"/>
                </a:solidFill>
                <a:latin typeface="Calibri" pitchFamily="34" charset="0"/>
                <a:ea typeface="Calibri" pitchFamily="34" charset="-122"/>
                <a:cs typeface="Calibri" pitchFamily="34" charset="-120"/>
              </a:rPr>
              <a:t> is a program in </a:t>
            </a:r>
            <a:r>
              <a:rPr lang="en-US" sz="1400" dirty="0">
                <a:solidFill>
                  <a:srgbClr val="1E2761"/>
                </a:solidFill>
                <a:latin typeface="Consolas" pitchFamily="34" charset="0"/>
                <a:ea typeface="Consolas" pitchFamily="34" charset="-122"/>
                <a:cs typeface="Consolas" pitchFamily="34" charset="-120"/>
              </a:rPr>
              <a:t>/usr/bin</a:t>
            </a:r>
            <a:r>
              <a:rPr lang="en-US" sz="1400" dirty="0">
                <a:solidFill>
                  <a:srgbClr val="1F2937"/>
                </a:solidFill>
                <a:latin typeface="Calibri" pitchFamily="34" charset="0"/>
                <a:ea typeface="Calibri" pitchFamily="34" charset="-122"/>
                <a:cs typeface="Calibri" pitchFamily="34" charset="-120"/>
              </a:rPr>
              <a:t>?</a:t>
            </a:r>
            <a:endParaRPr lang="en-US" sz="1400" dirty="0"/>
          </a:p>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It looks in the directories listed in </a:t>
            </a:r>
            <a:r>
              <a:rPr lang="en-US" sz="1400" b="1" dirty="0">
                <a:solidFill>
                  <a:srgbClr val="1F2937"/>
                </a:solidFill>
                <a:latin typeface="Calibri" pitchFamily="34" charset="0"/>
                <a:ea typeface="Calibri" pitchFamily="34" charset="-122"/>
                <a:cs typeface="Calibri" pitchFamily="34" charset="-120"/>
              </a:rPr>
              <a:t>`PATH`</a:t>
            </a:r>
            <a:r>
              <a:rPr lang="en-US" sz="1400" dirty="0">
                <a:solidFill>
                  <a:srgbClr val="1F2937"/>
                </a:solidFill>
                <a:latin typeface="Calibri" pitchFamily="34" charset="0"/>
                <a:ea typeface="Calibri" pitchFamily="34" charset="-122"/>
                <a:cs typeface="Calibri" pitchFamily="34" charset="-120"/>
              </a:rPr>
              <a:t>, </a:t>
            </a:r>
            <a:r>
              <a:rPr lang="en-US" sz="1400" b="1" dirty="0">
                <a:solidFill>
                  <a:srgbClr val="1F2937"/>
                </a:solidFill>
                <a:latin typeface="Calibri" pitchFamily="34" charset="0"/>
                <a:ea typeface="Calibri" pitchFamily="34" charset="-122"/>
                <a:cs typeface="Calibri" pitchFamily="34" charset="-120"/>
              </a:rPr>
              <a:t>in order</a:t>
            </a:r>
            <a:r>
              <a:rPr lang="en-US" sz="1400" dirty="0">
                <a:solidFill>
                  <a:srgbClr val="1F2937"/>
                </a:solidFill>
                <a:latin typeface="Calibri" pitchFamily="34" charset="0"/>
                <a:ea typeface="Calibri" pitchFamily="34" charset="-122"/>
                <a:cs typeface="Calibri" pitchFamily="34" charset="-120"/>
              </a:rPr>
              <a:t>, and runs the first match.</a:t>
            </a:r>
            <a:endParaRPr lang="en-US" sz="1400" dirty="0"/>
          </a:p>
        </p:txBody>
      </p:sp>
      <p:sp>
        <p:nvSpPr>
          <p:cNvPr id="7" name="Shape 5"/>
          <p:cNvSpPr/>
          <p:nvPr/>
        </p:nvSpPr>
        <p:spPr>
          <a:xfrm>
            <a:off x="457200" y="2177288"/>
            <a:ext cx="1005840" cy="292608"/>
          </a:xfrm>
          <a:prstGeom prst="rect">
            <a:avLst/>
          </a:prstGeom>
          <a:solidFill>
            <a:srgbClr val="0369A1"/>
          </a:solidFill>
          <a:ln w="12700">
            <a:solidFill>
              <a:srgbClr val="0369A1"/>
            </a:solidFill>
            <a:prstDash val="solid"/>
          </a:ln>
        </p:spPr>
        <p:txBody>
          <a:bodyPr/>
          <a:lstStyle/>
          <a:p>
            <a:endParaRPr lang="en-US"/>
          </a:p>
        </p:txBody>
      </p:sp>
      <p:sp>
        <p:nvSpPr>
          <p:cNvPr id="8" name="Text 6"/>
          <p:cNvSpPr/>
          <p:nvPr/>
        </p:nvSpPr>
        <p:spPr>
          <a:xfrm>
            <a:off x="457200" y="2177288"/>
            <a:ext cx="1005840" cy="292608"/>
          </a:xfrm>
          <a:prstGeom prst="rect">
            <a:avLst/>
          </a:prstGeom>
          <a:noFill/>
          <a:ln/>
        </p:spPr>
        <p:txBody>
          <a:bodyPr wrap="square" lIns="0" tIns="0" rIns="0" bIns="0" rtlCol="0" anchor="ctr"/>
          <a:lstStyle/>
          <a:p>
            <a:pPr marL="0" indent="0" algn="ctr">
              <a:buNone/>
            </a:pPr>
            <a:r>
              <a:rPr lang="en-US" sz="1100" b="1" kern="0" spc="200" dirty="0">
                <a:solidFill>
                  <a:srgbClr val="FFFFFF"/>
                </a:solidFill>
                <a:latin typeface="Calibri" pitchFamily="34" charset="0"/>
                <a:ea typeface="Calibri" pitchFamily="34" charset="-122"/>
                <a:cs typeface="Calibri" pitchFamily="34" charset="-120"/>
              </a:rPr>
              <a:t>DEMO</a:t>
            </a:r>
            <a:endParaRPr lang="en-US" sz="1100" dirty="0"/>
          </a:p>
        </p:txBody>
      </p:sp>
      <p:sp>
        <p:nvSpPr>
          <p:cNvPr id="9" name="Shape 7"/>
          <p:cNvSpPr/>
          <p:nvPr/>
        </p:nvSpPr>
        <p:spPr>
          <a:xfrm>
            <a:off x="548640" y="2607056"/>
            <a:ext cx="8046720" cy="1256030"/>
          </a:xfrm>
          <a:prstGeom prst="rect">
            <a:avLst/>
          </a:prstGeom>
          <a:solidFill>
            <a:srgbClr val="0F172A"/>
          </a:solidFill>
          <a:ln w="12700">
            <a:solidFill>
              <a:srgbClr val="0F172A"/>
            </a:solidFill>
            <a:prstDash val="solid"/>
          </a:ln>
        </p:spPr>
        <p:txBody>
          <a:bodyPr/>
          <a:lstStyle/>
          <a:p>
            <a:endParaRPr lang="en-US"/>
          </a:p>
        </p:txBody>
      </p:sp>
      <p:sp>
        <p:nvSpPr>
          <p:cNvPr id="10" name="Text 8"/>
          <p:cNvSpPr/>
          <p:nvPr/>
        </p:nvSpPr>
        <p:spPr>
          <a:xfrm>
            <a:off x="685800" y="2680208"/>
            <a:ext cx="7772400" cy="1109726"/>
          </a:xfrm>
          <a:prstGeom prst="rect">
            <a:avLst/>
          </a:prstGeom>
          <a:noFill/>
          <a:ln/>
        </p:spPr>
        <p:txBody>
          <a:bodyPr wrap="square" lIns="0" tIns="0" rIns="0" bIns="0" rtlCol="0" anchor="t"/>
          <a:lstStyle/>
          <a:p>
            <a:pPr marL="0" indent="0">
              <a:buNone/>
            </a:pPr>
            <a:r>
              <a:rPr lang="en-US" sz="1300" dirty="0">
                <a:solidFill>
                  <a:srgbClr val="E2E8F0"/>
                </a:solidFill>
                <a:latin typeface="Consolas" pitchFamily="34" charset="0"/>
                <a:ea typeface="Consolas" pitchFamily="34" charset="-122"/>
                <a:cs typeface="Consolas" pitchFamily="34" charset="-120"/>
              </a:rPr>
              <a:t>$ echo $PATH</a:t>
            </a:r>
            <a:endParaRPr lang="en-US" sz="1300" dirty="0"/>
          </a:p>
          <a:p>
            <a:pPr marL="0" indent="0">
              <a:buNone/>
            </a:pPr>
            <a:r>
              <a:rPr lang="en-US" sz="1300" dirty="0">
                <a:solidFill>
                  <a:srgbClr val="E2E8F0"/>
                </a:solidFill>
                <a:latin typeface="Consolas" pitchFamily="34" charset="0"/>
                <a:ea typeface="Consolas" pitchFamily="34" charset="-122"/>
                <a:cs typeface="Consolas" pitchFamily="34" charset="-120"/>
              </a:rPr>
              <a:t>/home/exouser/.local/bin:/usr/local/bin:/usr/bin:/bin:/usr/games</a:t>
            </a:r>
            <a:endParaRPr lang="en-US" sz="1300" dirty="0"/>
          </a:p>
          <a:p>
            <a:pPr marL="0" indent="0">
              <a:buNone/>
            </a:pPr>
            <a:r>
              <a:rPr lang="en-US" sz="1300" dirty="0">
                <a:solidFill>
                  <a:srgbClr val="E2E8F0"/>
                </a:solidFill>
                <a:latin typeface="Consolas" pitchFamily="34" charset="0"/>
                <a:ea typeface="Consolas" pitchFamily="34" charset="-122"/>
                <a:cs typeface="Consolas" pitchFamily="34" charset="-120"/>
              </a:rPr>
              <a:t> </a:t>
            </a:r>
            <a:endParaRPr lang="en-US" sz="1300" dirty="0"/>
          </a:p>
          <a:p>
            <a:pPr marL="0" indent="0">
              <a:buNone/>
            </a:pPr>
            <a:r>
              <a:rPr lang="en-US" sz="1300" dirty="0">
                <a:solidFill>
                  <a:srgbClr val="E2E8F0"/>
                </a:solidFill>
                <a:latin typeface="Consolas" pitchFamily="34" charset="0"/>
                <a:ea typeface="Consolas" pitchFamily="34" charset="-122"/>
                <a:cs typeface="Consolas" pitchFamily="34" charset="-120"/>
              </a:rPr>
              <a:t>$ which ls           # which PATH entry won?</a:t>
            </a:r>
            <a:endParaRPr lang="en-US" sz="1300" dirty="0"/>
          </a:p>
          <a:p>
            <a:pPr marL="0" indent="0">
              <a:buNone/>
            </a:pPr>
            <a:r>
              <a:rPr lang="en-US" sz="1300" dirty="0">
                <a:solidFill>
                  <a:srgbClr val="E2E8F0"/>
                </a:solidFill>
                <a:latin typeface="Consolas" pitchFamily="34" charset="0"/>
                <a:ea typeface="Consolas" pitchFamily="34" charset="-122"/>
                <a:cs typeface="Consolas" pitchFamily="34" charset="-120"/>
              </a:rPr>
              <a:t>/usr/bin/ls</a:t>
            </a:r>
            <a:endParaRPr lang="en-US" sz="1300" dirty="0"/>
          </a:p>
        </p:txBody>
      </p:sp>
      <p:sp>
        <p:nvSpPr>
          <p:cNvPr id="11" name="Text 9"/>
          <p:cNvSpPr/>
          <p:nvPr/>
        </p:nvSpPr>
        <p:spPr>
          <a:xfrm>
            <a:off x="548640" y="3908806"/>
            <a:ext cx="8046720" cy="276860"/>
          </a:xfrm>
          <a:prstGeom prst="rect">
            <a:avLst/>
          </a:prstGeom>
          <a:solidFill>
            <a:srgbClr val="FFFFFF"/>
          </a:solidFill>
          <a:ln/>
        </p:spPr>
        <p:txBody>
          <a:bodyPr wrap="square" rtlCol="0" anchor="t"/>
          <a:lstStyle/>
          <a:p>
            <a:pPr marL="0" indent="0">
              <a:buNone/>
            </a:pPr>
            <a:r>
              <a:rPr lang="en-US" sz="1300" i="1" dirty="0">
                <a:solidFill>
                  <a:srgbClr val="475569"/>
                </a:solidFill>
                <a:latin typeface="Calibri" pitchFamily="34" charset="0"/>
                <a:ea typeface="Calibri" pitchFamily="34" charset="-122"/>
                <a:cs typeface="Calibri" pitchFamily="34" charset="-120"/>
              </a:rPr>
              <a:t>Colon-separated list. The shell tries each left to right. </a:t>
            </a:r>
            <a:r>
              <a:rPr lang="en-US" sz="1300" b="1" i="1" dirty="0">
                <a:solidFill>
                  <a:srgbClr val="475569"/>
                </a:solidFill>
                <a:latin typeface="Calibri" pitchFamily="34" charset="0"/>
                <a:ea typeface="Calibri" pitchFamily="34" charset="-122"/>
                <a:cs typeface="Calibri" pitchFamily="34" charset="-120"/>
              </a:rPr>
              <a:t>Earlier wins.</a:t>
            </a:r>
            <a:endParaRPr lang="en-US" sz="130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bg>
      <p:bgPr>
        <a:solidFill>
          <a:srgbClr val="FFFFFF"/>
        </a:solidFill>
        <a:effectLst/>
      </p:bgPr>
    </p:bg>
    <p:spTree>
      <p:nvGrpSpPr>
        <p:cNvPr id="1" name=""/>
        <p:cNvGrpSpPr/>
        <p:nvPr/>
      </p:nvGrpSpPr>
      <p:grpSpPr>
        <a:xfrm>
          <a:off x="0" y="0"/>
          <a:ext cx="0" cy="0"/>
          <a:chOff x="0" y="0"/>
          <a:chExt cx="0" cy="0"/>
        </a:xfrm>
      </p:grpSpPr>
      <p:pic>
        <p:nvPicPr>
          <p:cNvPr id="12" name="Picture 11" descr="access-footer.jpg"/>
          <p:cNvPicPr>
            <a:picLocks noChangeAspect="1"/>
          </p:cNvPicPr>
          <p:nvPr/>
        </p:nvPicPr>
        <p:blipFill>
          <a:blip r:embed="rId3"/>
          <a:stretch>
            <a:fillRect/>
          </a:stretch>
        </p:blipFill>
        <p:spPr>
          <a:xfrm>
            <a:off x="0" y="0"/>
            <a:ext cx="9144000" cy="5143500"/>
          </a:xfrm>
          <a:prstGeom prst="rect">
            <a:avLst/>
          </a:prstGeom>
        </p:spPr>
      </p:pic>
      <p:sp>
        <p:nvSpPr>
          <p:cNvPr id="2" name="Text 0"/>
          <p:cNvSpPr/>
          <p:nvPr/>
        </p:nvSpPr>
        <p:spPr>
          <a:xfrm>
            <a:off x="457200" y="274320"/>
            <a:ext cx="8229600" cy="594360"/>
          </a:xfrm>
          <a:prstGeom prst="rect">
            <a:avLst/>
          </a:prstGeom>
          <a:solidFill>
            <a:srgbClr val="FFFFFF"/>
          </a:solidFill>
          <a:ln/>
        </p:spPr>
        <p:txBody>
          <a:bodyPr wrap="square" lIns="0" tIns="0" rIns="0" bIns="0" rtlCol="0" anchor="ctr"/>
          <a:lstStyle/>
          <a:p>
            <a:pPr marL="0" indent="0">
              <a:buNone/>
            </a:pPr>
            <a:r>
              <a:rPr lang="en-US" sz="2800" b="1" dirty="0">
                <a:solidFill>
                  <a:srgbClr val="1E2761"/>
                </a:solidFill>
                <a:latin typeface="Cambria" pitchFamily="34" charset="0"/>
                <a:ea typeface="Cambria" pitchFamily="34" charset="-122"/>
                <a:cs typeface="Cambria" pitchFamily="34" charset="-120"/>
              </a:rPr>
              <a:t>Why PATH matters in this workshop</a:t>
            </a:r>
            <a:endParaRPr lang="en-US" sz="2800" dirty="0"/>
          </a:p>
        </p:txBody>
      </p:sp>
      <p:sp>
        <p:nvSpPr>
          <p:cNvPr id="3" name="Shape 1"/>
          <p:cNvSpPr/>
          <p:nvPr/>
        </p:nvSpPr>
        <p:spPr>
          <a:xfrm>
            <a:off x="457200" y="868680"/>
            <a:ext cx="548640" cy="36576"/>
          </a:xfrm>
          <a:prstGeom prst="rect">
            <a:avLst/>
          </a:prstGeom>
          <a:solidFill>
            <a:srgbClr val="1E2761"/>
          </a:solidFill>
          <a:ln w="12700">
            <a:solidFill>
              <a:srgbClr val="1E2761"/>
            </a:solidFill>
            <a:prstDash val="solid"/>
          </a:ln>
        </p:spPr>
        <p:txBody>
          <a:bodyPr/>
          <a:lstStyle/>
          <a:p>
            <a:endParaRPr lang="en-US"/>
          </a:p>
        </p:txBody>
      </p:sp>
      <p:sp>
        <p:nvSpPr>
          <p:cNvPr id="4" name="Shape 2"/>
          <p:cNvSpPr/>
          <p:nvPr/>
        </p:nvSpPr>
        <p:spPr>
          <a:xfrm>
            <a:off x="457200" y="1005840"/>
            <a:ext cx="1005840" cy="292608"/>
          </a:xfrm>
          <a:prstGeom prst="rect">
            <a:avLst/>
          </a:prstGeom>
          <a:solidFill>
            <a:srgbClr val="1E2761"/>
          </a:solidFill>
          <a:ln w="12700">
            <a:solidFill>
              <a:srgbClr val="1E2761"/>
            </a:solidFill>
            <a:prstDash val="solid"/>
          </a:ln>
        </p:spPr>
        <p:txBody>
          <a:bodyPr/>
          <a:lstStyle/>
          <a:p>
            <a:endParaRPr lang="en-US"/>
          </a:p>
        </p:txBody>
      </p:sp>
      <p:sp>
        <p:nvSpPr>
          <p:cNvPr id="5" name="Text 3"/>
          <p:cNvSpPr/>
          <p:nvPr/>
        </p:nvSpPr>
        <p:spPr>
          <a:xfrm>
            <a:off x="457200" y="1005840"/>
            <a:ext cx="1005840" cy="292608"/>
          </a:xfrm>
          <a:prstGeom prst="rect">
            <a:avLst/>
          </a:prstGeom>
          <a:noFill/>
          <a:ln/>
        </p:spPr>
        <p:txBody>
          <a:bodyPr wrap="square" lIns="0" tIns="0" rIns="0" bIns="0" rtlCol="0" anchor="ctr"/>
          <a:lstStyle/>
          <a:p>
            <a:pPr marL="0" indent="0" algn="ctr">
              <a:buNone/>
            </a:pPr>
            <a:r>
              <a:rPr lang="en-US" sz="1100" b="1" kern="0" spc="200" dirty="0">
                <a:solidFill>
                  <a:srgbClr val="FFFFFF"/>
                </a:solidFill>
                <a:latin typeface="Calibri" pitchFamily="34" charset="0"/>
                <a:ea typeface="Calibri" pitchFamily="34" charset="-122"/>
                <a:cs typeface="Calibri" pitchFamily="34" charset="-120"/>
              </a:rPr>
              <a:t>TALK</a:t>
            </a:r>
            <a:endParaRPr lang="en-US" sz="1100" dirty="0"/>
          </a:p>
        </p:txBody>
      </p:sp>
      <p:sp>
        <p:nvSpPr>
          <p:cNvPr id="6" name="Text 4"/>
          <p:cNvSpPr/>
          <p:nvPr/>
        </p:nvSpPr>
        <p:spPr>
          <a:xfrm>
            <a:off x="548640" y="1435608"/>
            <a:ext cx="8046720" cy="1518920"/>
          </a:xfrm>
          <a:prstGeom prst="rect">
            <a:avLst/>
          </a:prstGeom>
          <a:solidFill>
            <a:srgbClr val="FFFFFF"/>
          </a:solidFill>
          <a:ln/>
        </p:spPr>
        <p:txBody>
          <a:bodyPr wrap="square" lIns="0" tIns="0" rIns="0" bIns="0" rtlCol="0" anchor="t"/>
          <a:lstStyle/>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This is exactly </a:t>
            </a:r>
            <a:r>
              <a:rPr lang="en-US" sz="1400" b="1" dirty="0">
                <a:solidFill>
                  <a:srgbClr val="1F2937"/>
                </a:solidFill>
                <a:latin typeface="Calibri" pitchFamily="34" charset="0"/>
                <a:ea typeface="Calibri" pitchFamily="34" charset="-122"/>
                <a:cs typeface="Calibri" pitchFamily="34" charset="-120"/>
              </a:rPr>
              <a:t>why activating a venv works</a:t>
            </a:r>
            <a:r>
              <a:rPr lang="en-US" sz="1400" dirty="0">
                <a:solidFill>
                  <a:srgbClr val="1F2937"/>
                </a:solidFill>
                <a:latin typeface="Calibri" pitchFamily="34" charset="0"/>
                <a:ea typeface="Calibri" pitchFamily="34" charset="-122"/>
                <a:cs typeface="Calibri" pitchFamily="34" charset="-120"/>
              </a:rPr>
              <a:t>. </a:t>
            </a:r>
            <a:r>
              <a:rPr lang="en-US" sz="1400" dirty="0">
                <a:solidFill>
                  <a:srgbClr val="1E2761"/>
                </a:solidFill>
                <a:latin typeface="Consolas" pitchFamily="34" charset="0"/>
                <a:ea typeface="Consolas" pitchFamily="34" charset="-122"/>
                <a:cs typeface="Consolas" pitchFamily="34" charset="-120"/>
              </a:rPr>
              <a:t>activate</a:t>
            </a:r>
            <a:r>
              <a:rPr lang="en-US" sz="1400" dirty="0">
                <a:solidFill>
                  <a:srgbClr val="1F2937"/>
                </a:solidFill>
                <a:latin typeface="Calibri" pitchFamily="34" charset="0"/>
                <a:ea typeface="Calibri" pitchFamily="34" charset="-122"/>
                <a:cs typeface="Calibri" pitchFamily="34" charset="-120"/>
              </a:rPr>
              <a:t> prepends the venv's </a:t>
            </a:r>
            <a:r>
              <a:rPr lang="en-US" sz="1400" dirty="0">
                <a:solidFill>
                  <a:srgbClr val="1E2761"/>
                </a:solidFill>
                <a:latin typeface="Consolas" pitchFamily="34" charset="0"/>
                <a:ea typeface="Consolas" pitchFamily="34" charset="-122"/>
                <a:cs typeface="Consolas" pitchFamily="34" charset="-120"/>
              </a:rPr>
              <a:t>bin/</a:t>
            </a:r>
            <a:r>
              <a:rPr lang="en-US" sz="1400" dirty="0">
                <a:solidFill>
                  <a:srgbClr val="1F2937"/>
                </a:solidFill>
                <a:latin typeface="Calibri" pitchFamily="34" charset="0"/>
                <a:ea typeface="Calibri" pitchFamily="34" charset="-122"/>
                <a:cs typeface="Calibri" pitchFamily="34" charset="-120"/>
              </a:rPr>
              <a:t> to </a:t>
            </a:r>
            <a:r>
              <a:rPr lang="en-US" sz="1400" dirty="0">
                <a:solidFill>
                  <a:srgbClr val="1E2761"/>
                </a:solidFill>
                <a:latin typeface="Consolas" pitchFamily="34" charset="0"/>
                <a:ea typeface="Consolas" pitchFamily="34" charset="-122"/>
                <a:cs typeface="Consolas" pitchFamily="34" charset="-120"/>
              </a:rPr>
              <a:t>PATH</a:t>
            </a:r>
            <a:r>
              <a:rPr lang="en-US" sz="1400" dirty="0">
                <a:solidFill>
                  <a:srgbClr val="1F2937"/>
                </a:solidFill>
                <a:latin typeface="Calibri" pitchFamily="34" charset="0"/>
                <a:ea typeface="Calibri" pitchFamily="34" charset="-122"/>
                <a:cs typeface="Calibri" pitchFamily="34" charset="-120"/>
              </a:rPr>
              <a:t>, so </a:t>
            </a:r>
            <a:r>
              <a:rPr lang="en-US" sz="1400" dirty="0">
                <a:solidFill>
                  <a:srgbClr val="1E2761"/>
                </a:solidFill>
                <a:latin typeface="Consolas" pitchFamily="34" charset="0"/>
                <a:ea typeface="Consolas" pitchFamily="34" charset="-122"/>
                <a:cs typeface="Consolas" pitchFamily="34" charset="-120"/>
              </a:rPr>
              <a:t>python</a:t>
            </a:r>
            <a:r>
              <a:rPr lang="en-US" sz="1400" dirty="0">
                <a:solidFill>
                  <a:srgbClr val="1F2937"/>
                </a:solidFill>
                <a:latin typeface="Calibri" pitchFamily="34" charset="0"/>
                <a:ea typeface="Calibri" pitchFamily="34" charset="-122"/>
                <a:cs typeface="Calibri" pitchFamily="34" charset="-120"/>
              </a:rPr>
              <a:t> and </a:t>
            </a:r>
            <a:r>
              <a:rPr lang="en-US" sz="1400" dirty="0">
                <a:solidFill>
                  <a:srgbClr val="1E2761"/>
                </a:solidFill>
                <a:latin typeface="Consolas" pitchFamily="34" charset="0"/>
                <a:ea typeface="Consolas" pitchFamily="34" charset="-122"/>
                <a:cs typeface="Consolas" pitchFamily="34" charset="-120"/>
              </a:rPr>
              <a:t>pip</a:t>
            </a:r>
            <a:r>
              <a:rPr lang="en-US" sz="1400" dirty="0">
                <a:solidFill>
                  <a:srgbClr val="1F2937"/>
                </a:solidFill>
                <a:latin typeface="Calibri" pitchFamily="34" charset="0"/>
                <a:ea typeface="Calibri" pitchFamily="34" charset="-122"/>
                <a:cs typeface="Calibri" pitchFamily="34" charset="-120"/>
              </a:rPr>
              <a:t> point into the venv.</a:t>
            </a:r>
            <a:endParaRPr lang="en-US" sz="1400" dirty="0"/>
          </a:p>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If you write your own script in some random directory, the shell </a:t>
            </a:r>
            <a:r>
              <a:rPr lang="en-US" sz="1400" b="1" dirty="0">
                <a:solidFill>
                  <a:srgbClr val="1F2937"/>
                </a:solidFill>
                <a:latin typeface="Calibri" pitchFamily="34" charset="0"/>
                <a:ea typeface="Calibri" pitchFamily="34" charset="-122"/>
                <a:cs typeface="Calibri" pitchFamily="34" charset="-120"/>
              </a:rPr>
              <a:t>won't find it by name</a:t>
            </a:r>
            <a:r>
              <a:rPr lang="en-US" sz="1400" dirty="0">
                <a:solidFill>
                  <a:srgbClr val="1F2937"/>
                </a:solidFill>
                <a:latin typeface="Calibri" pitchFamily="34" charset="0"/>
                <a:ea typeface="Calibri" pitchFamily="34" charset="-122"/>
                <a:cs typeface="Calibri" pitchFamily="34" charset="-120"/>
              </a:rPr>
              <a:t> — you'd call it by full path.</a:t>
            </a:r>
            <a:endParaRPr lang="en-US" sz="1400" dirty="0"/>
          </a:p>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Adding a directory to </a:t>
            </a:r>
            <a:r>
              <a:rPr lang="en-US" sz="1400" dirty="0">
                <a:solidFill>
                  <a:srgbClr val="1E2761"/>
                </a:solidFill>
                <a:latin typeface="Consolas" pitchFamily="34" charset="0"/>
                <a:ea typeface="Consolas" pitchFamily="34" charset="-122"/>
                <a:cs typeface="Consolas" pitchFamily="34" charset="-120"/>
              </a:rPr>
              <a:t>PATH</a:t>
            </a:r>
            <a:r>
              <a:rPr lang="en-US" sz="1400" dirty="0">
                <a:solidFill>
                  <a:srgbClr val="1F2937"/>
                </a:solidFill>
                <a:latin typeface="Calibri" pitchFamily="34" charset="0"/>
                <a:ea typeface="Calibri" pitchFamily="34" charset="-122"/>
                <a:cs typeface="Calibri" pitchFamily="34" charset="-120"/>
              </a:rPr>
              <a:t> is how you make your own programs callable by name.</a:t>
            </a:r>
            <a:endParaRPr lang="en-US" sz="1400" dirty="0"/>
          </a:p>
        </p:txBody>
      </p:sp>
      <p:sp>
        <p:nvSpPr>
          <p:cNvPr id="7" name="Shape 5"/>
          <p:cNvSpPr/>
          <p:nvPr/>
        </p:nvSpPr>
        <p:spPr>
          <a:xfrm>
            <a:off x="457200" y="3000248"/>
            <a:ext cx="1005840" cy="292608"/>
          </a:xfrm>
          <a:prstGeom prst="rect">
            <a:avLst/>
          </a:prstGeom>
          <a:solidFill>
            <a:srgbClr val="0369A1"/>
          </a:solidFill>
          <a:ln w="12700">
            <a:solidFill>
              <a:srgbClr val="0369A1"/>
            </a:solidFill>
            <a:prstDash val="solid"/>
          </a:ln>
        </p:spPr>
        <p:txBody>
          <a:bodyPr/>
          <a:lstStyle/>
          <a:p>
            <a:endParaRPr lang="en-US"/>
          </a:p>
        </p:txBody>
      </p:sp>
      <p:sp>
        <p:nvSpPr>
          <p:cNvPr id="8" name="Text 6"/>
          <p:cNvSpPr/>
          <p:nvPr/>
        </p:nvSpPr>
        <p:spPr>
          <a:xfrm>
            <a:off x="457200" y="3000248"/>
            <a:ext cx="1005840" cy="292608"/>
          </a:xfrm>
          <a:prstGeom prst="rect">
            <a:avLst/>
          </a:prstGeom>
          <a:noFill/>
          <a:ln/>
        </p:spPr>
        <p:txBody>
          <a:bodyPr wrap="square" lIns="0" tIns="0" rIns="0" bIns="0" rtlCol="0" anchor="ctr"/>
          <a:lstStyle/>
          <a:p>
            <a:pPr marL="0" indent="0" algn="ctr">
              <a:buNone/>
            </a:pPr>
            <a:r>
              <a:rPr lang="en-US" sz="1100" b="1" kern="0" spc="200" dirty="0">
                <a:solidFill>
                  <a:srgbClr val="FFFFFF"/>
                </a:solidFill>
                <a:latin typeface="Calibri" pitchFamily="34" charset="0"/>
                <a:ea typeface="Calibri" pitchFamily="34" charset="-122"/>
                <a:cs typeface="Calibri" pitchFamily="34" charset="-120"/>
              </a:rPr>
              <a:t>DEMO</a:t>
            </a:r>
            <a:endParaRPr lang="en-US" sz="1100" dirty="0"/>
          </a:p>
        </p:txBody>
      </p:sp>
      <p:sp>
        <p:nvSpPr>
          <p:cNvPr id="9" name="Shape 7"/>
          <p:cNvSpPr/>
          <p:nvPr/>
        </p:nvSpPr>
        <p:spPr>
          <a:xfrm>
            <a:off x="548640" y="3430016"/>
            <a:ext cx="8046720" cy="678180"/>
          </a:xfrm>
          <a:prstGeom prst="rect">
            <a:avLst/>
          </a:prstGeom>
          <a:solidFill>
            <a:srgbClr val="0F172A"/>
          </a:solidFill>
          <a:ln w="12700">
            <a:solidFill>
              <a:srgbClr val="0F172A"/>
            </a:solidFill>
            <a:prstDash val="solid"/>
          </a:ln>
        </p:spPr>
        <p:txBody>
          <a:bodyPr/>
          <a:lstStyle/>
          <a:p>
            <a:endParaRPr lang="en-US"/>
          </a:p>
        </p:txBody>
      </p:sp>
      <p:sp>
        <p:nvSpPr>
          <p:cNvPr id="10" name="Text 8"/>
          <p:cNvSpPr/>
          <p:nvPr/>
        </p:nvSpPr>
        <p:spPr>
          <a:xfrm>
            <a:off x="685800" y="3503168"/>
            <a:ext cx="7772400" cy="531876"/>
          </a:xfrm>
          <a:prstGeom prst="rect">
            <a:avLst/>
          </a:prstGeom>
          <a:noFill/>
          <a:ln/>
        </p:spPr>
        <p:txBody>
          <a:bodyPr wrap="square" lIns="0" tIns="0" rIns="0" bIns="0" rtlCol="0" anchor="t"/>
          <a:lstStyle/>
          <a:p>
            <a:pPr marL="0" indent="0">
              <a:buNone/>
            </a:pPr>
            <a:r>
              <a:rPr lang="en-US" sz="1500" dirty="0">
                <a:solidFill>
                  <a:srgbClr val="E2E8F0"/>
                </a:solidFill>
                <a:latin typeface="Consolas" pitchFamily="34" charset="0"/>
                <a:ea typeface="Consolas" pitchFamily="34" charset="-122"/>
                <a:cs typeface="Consolas" pitchFamily="34" charset="-120"/>
              </a:rPr>
              <a:t>$ export PATH=$HOME/scripts:$PATH</a:t>
            </a:r>
            <a:endParaRPr lang="en-US" sz="1500" dirty="0"/>
          </a:p>
          <a:p>
            <a:pPr marL="0" indent="0">
              <a:buNone/>
            </a:pPr>
            <a:r>
              <a:rPr lang="en-US" sz="1500" dirty="0">
                <a:solidFill>
                  <a:srgbClr val="E2E8F0"/>
                </a:solidFill>
                <a:latin typeface="Consolas" pitchFamily="34" charset="0"/>
                <a:ea typeface="Consolas" pitchFamily="34" charset="-122"/>
                <a:cs typeface="Consolas" pitchFamily="34" charset="-120"/>
              </a:rPr>
              <a:t>$ echo $PATH</a:t>
            </a:r>
            <a:endParaRPr lang="en-US" sz="1500" dirty="0"/>
          </a:p>
        </p:txBody>
      </p:sp>
      <p:sp>
        <p:nvSpPr>
          <p:cNvPr id="11" name="Text 9"/>
          <p:cNvSpPr/>
          <p:nvPr/>
        </p:nvSpPr>
        <p:spPr>
          <a:xfrm>
            <a:off x="548640" y="4153916"/>
            <a:ext cx="8046720" cy="276860"/>
          </a:xfrm>
          <a:prstGeom prst="rect">
            <a:avLst/>
          </a:prstGeom>
          <a:solidFill>
            <a:srgbClr val="FFFFFF"/>
          </a:solidFill>
          <a:ln/>
        </p:spPr>
        <p:txBody>
          <a:bodyPr wrap="square" rtlCol="0" anchor="t"/>
          <a:lstStyle/>
          <a:p>
            <a:pPr marL="0" indent="0">
              <a:buNone/>
            </a:pPr>
            <a:r>
              <a:rPr lang="en-US" sz="1300" i="1" dirty="0">
                <a:solidFill>
                  <a:srgbClr val="475569"/>
                </a:solidFill>
                <a:latin typeface="Calibri" pitchFamily="34" charset="0"/>
                <a:ea typeface="Calibri" pitchFamily="34" charset="-122"/>
                <a:cs typeface="Calibri" pitchFamily="34" charset="-120"/>
              </a:rPr>
              <a:t>The change lasts only for </a:t>
            </a:r>
            <a:r>
              <a:rPr lang="en-US" sz="1300" b="1" i="1" dirty="0">
                <a:solidFill>
                  <a:srgbClr val="475569"/>
                </a:solidFill>
                <a:latin typeface="Calibri" pitchFamily="34" charset="0"/>
                <a:ea typeface="Calibri" pitchFamily="34" charset="-122"/>
                <a:cs typeface="Calibri" pitchFamily="34" charset="-120"/>
              </a:rPr>
              <a:t>this</a:t>
            </a:r>
            <a:r>
              <a:rPr lang="en-US" sz="1300" i="1" dirty="0">
                <a:solidFill>
                  <a:srgbClr val="475569"/>
                </a:solidFill>
                <a:latin typeface="Calibri" pitchFamily="34" charset="0"/>
                <a:ea typeface="Calibri" pitchFamily="34" charset="-122"/>
                <a:cs typeface="Calibri" pitchFamily="34" charset="-120"/>
              </a:rPr>
              <a:t> shell session.</a:t>
            </a:r>
            <a:endParaRPr lang="en-US" sz="130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bg>
      <p:bgPr>
        <a:solidFill>
          <a:srgbClr val="FFFFFF"/>
        </a:solidFill>
        <a:effectLst/>
      </p:bgPr>
    </p:bg>
    <p:spTree>
      <p:nvGrpSpPr>
        <p:cNvPr id="1" name=""/>
        <p:cNvGrpSpPr/>
        <p:nvPr/>
      </p:nvGrpSpPr>
      <p:grpSpPr>
        <a:xfrm>
          <a:off x="0" y="0"/>
          <a:ext cx="0" cy="0"/>
          <a:chOff x="0" y="0"/>
          <a:chExt cx="0" cy="0"/>
        </a:xfrm>
      </p:grpSpPr>
      <p:pic>
        <p:nvPicPr>
          <p:cNvPr id="9" name="Picture 8" descr="access-footer.jpg"/>
          <p:cNvPicPr>
            <a:picLocks noChangeAspect="1"/>
          </p:cNvPicPr>
          <p:nvPr/>
        </p:nvPicPr>
        <p:blipFill>
          <a:blip r:embed="rId3"/>
          <a:stretch>
            <a:fillRect/>
          </a:stretch>
        </p:blipFill>
        <p:spPr>
          <a:xfrm>
            <a:off x="0" y="0"/>
            <a:ext cx="9144000" cy="5143500"/>
          </a:xfrm>
          <a:prstGeom prst="rect">
            <a:avLst/>
          </a:prstGeom>
        </p:spPr>
      </p:pic>
      <p:sp>
        <p:nvSpPr>
          <p:cNvPr id="2" name="Text 0"/>
          <p:cNvSpPr/>
          <p:nvPr/>
        </p:nvSpPr>
        <p:spPr>
          <a:xfrm>
            <a:off x="457200" y="274320"/>
            <a:ext cx="8229600" cy="594360"/>
          </a:xfrm>
          <a:prstGeom prst="rect">
            <a:avLst/>
          </a:prstGeom>
          <a:solidFill>
            <a:srgbClr val="FFFFFF"/>
          </a:solidFill>
          <a:ln/>
        </p:spPr>
        <p:txBody>
          <a:bodyPr wrap="square" lIns="0" tIns="0" rIns="0" bIns="0" rtlCol="0" anchor="ctr"/>
          <a:lstStyle/>
          <a:p>
            <a:pPr marL="0" indent="0">
              <a:buNone/>
            </a:pPr>
            <a:r>
              <a:rPr lang="en-US" sz="2800" b="1" dirty="0">
                <a:solidFill>
                  <a:srgbClr val="1E2761"/>
                </a:solidFill>
                <a:latin typeface="Cambria" pitchFamily="34" charset="0"/>
                <a:ea typeface="Cambria" pitchFamily="34" charset="-122"/>
                <a:cs typeface="Cambria" pitchFamily="34" charset="-120"/>
              </a:rPr>
              <a:t>A small PATH foot-gun</a:t>
            </a:r>
            <a:endParaRPr lang="en-US" sz="2800" dirty="0"/>
          </a:p>
        </p:txBody>
      </p:sp>
      <p:sp>
        <p:nvSpPr>
          <p:cNvPr id="3" name="Shape 1"/>
          <p:cNvSpPr/>
          <p:nvPr/>
        </p:nvSpPr>
        <p:spPr>
          <a:xfrm>
            <a:off x="457200" y="868680"/>
            <a:ext cx="548640" cy="36576"/>
          </a:xfrm>
          <a:prstGeom prst="rect">
            <a:avLst/>
          </a:prstGeom>
          <a:solidFill>
            <a:srgbClr val="1E2761"/>
          </a:solidFill>
          <a:ln w="12700">
            <a:solidFill>
              <a:srgbClr val="1E2761"/>
            </a:solidFill>
            <a:prstDash val="solid"/>
          </a:ln>
        </p:spPr>
        <p:txBody>
          <a:bodyPr/>
          <a:lstStyle/>
          <a:p>
            <a:endParaRPr lang="en-US"/>
          </a:p>
        </p:txBody>
      </p:sp>
      <p:sp>
        <p:nvSpPr>
          <p:cNvPr id="4" name="Shape 2"/>
          <p:cNvSpPr/>
          <p:nvPr/>
        </p:nvSpPr>
        <p:spPr>
          <a:xfrm>
            <a:off x="457200" y="1005840"/>
            <a:ext cx="1005840" cy="292608"/>
          </a:xfrm>
          <a:prstGeom prst="rect">
            <a:avLst/>
          </a:prstGeom>
          <a:solidFill>
            <a:srgbClr val="B45309"/>
          </a:solidFill>
          <a:ln w="12700">
            <a:solidFill>
              <a:srgbClr val="B45309"/>
            </a:solidFill>
            <a:prstDash val="solid"/>
          </a:ln>
        </p:spPr>
        <p:txBody>
          <a:bodyPr/>
          <a:lstStyle/>
          <a:p>
            <a:endParaRPr lang="en-US"/>
          </a:p>
        </p:txBody>
      </p:sp>
      <p:sp>
        <p:nvSpPr>
          <p:cNvPr id="5" name="Text 3"/>
          <p:cNvSpPr/>
          <p:nvPr/>
        </p:nvSpPr>
        <p:spPr>
          <a:xfrm>
            <a:off x="457200" y="1005840"/>
            <a:ext cx="1005840" cy="292608"/>
          </a:xfrm>
          <a:prstGeom prst="rect">
            <a:avLst/>
          </a:prstGeom>
          <a:noFill/>
          <a:ln/>
        </p:spPr>
        <p:txBody>
          <a:bodyPr wrap="square" lIns="0" tIns="0" rIns="0" bIns="0" rtlCol="0" anchor="ctr"/>
          <a:lstStyle/>
          <a:p>
            <a:pPr marL="0" indent="0" algn="ctr">
              <a:buNone/>
            </a:pPr>
            <a:r>
              <a:rPr lang="en-US" sz="1100" b="1" kern="0" spc="200" dirty="0">
                <a:solidFill>
                  <a:srgbClr val="FFFFFF"/>
                </a:solidFill>
                <a:latin typeface="Calibri" pitchFamily="34" charset="0"/>
                <a:ea typeface="Calibri" pitchFamily="34" charset="-122"/>
                <a:cs typeface="Calibri" pitchFamily="34" charset="-120"/>
              </a:rPr>
              <a:t>WATCH OUT</a:t>
            </a:r>
            <a:endParaRPr lang="en-US" sz="1100" dirty="0"/>
          </a:p>
        </p:txBody>
      </p:sp>
      <p:sp>
        <p:nvSpPr>
          <p:cNvPr id="6" name="Text 4"/>
          <p:cNvSpPr/>
          <p:nvPr/>
        </p:nvSpPr>
        <p:spPr>
          <a:xfrm>
            <a:off x="548640" y="1435608"/>
            <a:ext cx="8046720" cy="1270000"/>
          </a:xfrm>
          <a:prstGeom prst="rect">
            <a:avLst/>
          </a:prstGeom>
          <a:solidFill>
            <a:srgbClr val="FFFFFF"/>
          </a:solidFill>
          <a:ln/>
        </p:spPr>
        <p:txBody>
          <a:bodyPr wrap="square" lIns="0" tIns="0" rIns="0" bIns="0" rtlCol="0" anchor="t"/>
          <a:lstStyle/>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If you typo PATH — e.g., </a:t>
            </a:r>
            <a:r>
              <a:rPr lang="en-US" sz="1400" dirty="0">
                <a:solidFill>
                  <a:srgbClr val="1E2761"/>
                </a:solidFill>
                <a:latin typeface="Consolas" pitchFamily="34" charset="0"/>
                <a:ea typeface="Consolas" pitchFamily="34" charset="-122"/>
                <a:cs typeface="Consolas" pitchFamily="34" charset="-120"/>
              </a:rPr>
              <a:t>export PATH=$HOME/scripts</a:t>
            </a:r>
            <a:r>
              <a:rPr lang="en-US" sz="1400" dirty="0">
                <a:solidFill>
                  <a:srgbClr val="1F2937"/>
                </a:solidFill>
                <a:latin typeface="Calibri" pitchFamily="34" charset="0"/>
                <a:ea typeface="Calibri" pitchFamily="34" charset="-122"/>
                <a:cs typeface="Calibri" pitchFamily="34" charset="-120"/>
              </a:rPr>
              <a:t> (forgetting </a:t>
            </a:r>
            <a:r>
              <a:rPr lang="en-US" sz="1400" dirty="0">
                <a:solidFill>
                  <a:srgbClr val="1E2761"/>
                </a:solidFill>
                <a:latin typeface="Consolas" pitchFamily="34" charset="0"/>
                <a:ea typeface="Consolas" pitchFamily="34" charset="-122"/>
                <a:cs typeface="Consolas" pitchFamily="34" charset="-120"/>
              </a:rPr>
              <a:t>:$PATH</a:t>
            </a:r>
            <a:r>
              <a:rPr lang="en-US" sz="1400" dirty="0">
                <a:solidFill>
                  <a:srgbClr val="1F2937"/>
                </a:solidFill>
                <a:latin typeface="Calibri" pitchFamily="34" charset="0"/>
                <a:ea typeface="Calibri" pitchFamily="34" charset="-122"/>
                <a:cs typeface="Calibri" pitchFamily="34" charset="-120"/>
              </a:rPr>
              <a:t> at the end) — you can suddenly lose access to </a:t>
            </a:r>
            <a:r>
              <a:rPr lang="en-US" sz="1400" dirty="0">
                <a:solidFill>
                  <a:srgbClr val="1E2761"/>
                </a:solidFill>
                <a:latin typeface="Consolas" pitchFamily="34" charset="0"/>
                <a:ea typeface="Consolas" pitchFamily="34" charset="-122"/>
                <a:cs typeface="Consolas" pitchFamily="34" charset="-120"/>
              </a:rPr>
              <a:t>ls</a:t>
            </a:r>
            <a:r>
              <a:rPr lang="en-US" sz="1400" dirty="0">
                <a:solidFill>
                  <a:srgbClr val="1F2937"/>
                </a:solidFill>
                <a:latin typeface="Calibri" pitchFamily="34" charset="0"/>
                <a:ea typeface="Calibri" pitchFamily="34" charset="-122"/>
                <a:cs typeface="Calibri" pitchFamily="34" charset="-120"/>
              </a:rPr>
              <a:t>, </a:t>
            </a:r>
            <a:r>
              <a:rPr lang="en-US" sz="1400" dirty="0">
                <a:solidFill>
                  <a:srgbClr val="1E2761"/>
                </a:solidFill>
                <a:latin typeface="Consolas" pitchFamily="34" charset="0"/>
                <a:ea typeface="Consolas" pitchFamily="34" charset="-122"/>
                <a:cs typeface="Consolas" pitchFamily="34" charset="-120"/>
              </a:rPr>
              <a:t>cat</a:t>
            </a:r>
            <a:r>
              <a:rPr lang="en-US" sz="1400" dirty="0">
                <a:solidFill>
                  <a:srgbClr val="1F2937"/>
                </a:solidFill>
                <a:latin typeface="Calibri" pitchFamily="34" charset="0"/>
                <a:ea typeface="Calibri" pitchFamily="34" charset="-122"/>
                <a:cs typeface="Calibri" pitchFamily="34" charset="-120"/>
              </a:rPr>
              <a:t>, almost everything.</a:t>
            </a:r>
            <a:endParaRPr lang="en-US" sz="1400" dirty="0"/>
          </a:p>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The programs still exist on disk. The shell just can't find them.</a:t>
            </a:r>
            <a:endParaRPr lang="en-US" sz="1400" dirty="0"/>
          </a:p>
          <a:p>
            <a:pPr marL="228600" indent="-228600">
              <a:spcAft>
                <a:spcPts val="600"/>
              </a:spcAft>
              <a:buSzPct val="100000"/>
              <a:buChar char="■"/>
            </a:pPr>
            <a:r>
              <a:rPr lang="en-US" sz="1400" b="1" dirty="0">
                <a:solidFill>
                  <a:srgbClr val="1F2937"/>
                </a:solidFill>
                <a:latin typeface="Calibri" pitchFamily="34" charset="0"/>
                <a:ea typeface="Calibri" pitchFamily="34" charset="-122"/>
                <a:cs typeface="Calibri" pitchFamily="34" charset="-120"/>
              </a:rPr>
              <a:t>Fix:</a:t>
            </a:r>
            <a:r>
              <a:rPr lang="en-US" sz="1400" dirty="0">
                <a:solidFill>
                  <a:srgbClr val="1F2937"/>
                </a:solidFill>
                <a:latin typeface="Calibri" pitchFamily="34" charset="0"/>
                <a:ea typeface="Calibri" pitchFamily="34" charset="-122"/>
                <a:cs typeface="Calibri" pitchFamily="34" charset="-120"/>
              </a:rPr>
              <a:t> open a new terminal (the bad change doesn't persist), or restore manually:</a:t>
            </a:r>
            <a:endParaRPr lang="en-US" sz="1400" dirty="0"/>
          </a:p>
        </p:txBody>
      </p:sp>
      <p:sp>
        <p:nvSpPr>
          <p:cNvPr id="7" name="Shape 5"/>
          <p:cNvSpPr/>
          <p:nvPr/>
        </p:nvSpPr>
        <p:spPr>
          <a:xfrm>
            <a:off x="548640" y="2751328"/>
            <a:ext cx="8046720" cy="430530"/>
          </a:xfrm>
          <a:prstGeom prst="rect">
            <a:avLst/>
          </a:prstGeom>
          <a:solidFill>
            <a:srgbClr val="0F172A"/>
          </a:solidFill>
          <a:ln w="12700">
            <a:solidFill>
              <a:srgbClr val="0F172A"/>
            </a:solidFill>
            <a:prstDash val="solid"/>
          </a:ln>
        </p:spPr>
        <p:txBody>
          <a:bodyPr/>
          <a:lstStyle/>
          <a:p>
            <a:endParaRPr lang="en-US"/>
          </a:p>
        </p:txBody>
      </p:sp>
      <p:sp>
        <p:nvSpPr>
          <p:cNvPr id="8" name="Text 6"/>
          <p:cNvSpPr/>
          <p:nvPr/>
        </p:nvSpPr>
        <p:spPr>
          <a:xfrm>
            <a:off x="685800" y="2824480"/>
            <a:ext cx="7772400" cy="284226"/>
          </a:xfrm>
          <a:prstGeom prst="rect">
            <a:avLst/>
          </a:prstGeom>
          <a:noFill/>
          <a:ln/>
        </p:spPr>
        <p:txBody>
          <a:bodyPr wrap="square" lIns="0" tIns="0" rIns="0" bIns="0" rtlCol="0" anchor="t"/>
          <a:lstStyle/>
          <a:p>
            <a:pPr marL="0" indent="0">
              <a:buNone/>
            </a:pPr>
            <a:r>
              <a:rPr lang="en-US" sz="1500" dirty="0">
                <a:solidFill>
                  <a:srgbClr val="E2E8F0"/>
                </a:solidFill>
                <a:latin typeface="Consolas" pitchFamily="34" charset="0"/>
                <a:ea typeface="Consolas" pitchFamily="34" charset="-122"/>
                <a:cs typeface="Consolas" pitchFamily="34" charset="-120"/>
              </a:rPr>
              <a:t>$ export PATH=/usr/bin:/bin:$PATH</a:t>
            </a:r>
            <a:endParaRPr lang="en-US" sz="150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bg>
      <p:bgPr>
        <a:solidFill>
          <a:srgbClr val="FFFFFF"/>
        </a:solidFill>
        <a:effectLst/>
      </p:bgPr>
    </p:bg>
    <p:spTree>
      <p:nvGrpSpPr>
        <p:cNvPr id="1" name=""/>
        <p:cNvGrpSpPr/>
        <p:nvPr/>
      </p:nvGrpSpPr>
      <p:grpSpPr>
        <a:xfrm>
          <a:off x="0" y="0"/>
          <a:ext cx="0" cy="0"/>
          <a:chOff x="0" y="0"/>
          <a:chExt cx="0" cy="0"/>
        </a:xfrm>
      </p:grpSpPr>
      <p:pic>
        <p:nvPicPr>
          <p:cNvPr id="11" name="Picture 10" descr="access-footer.jpg"/>
          <p:cNvPicPr>
            <a:picLocks noChangeAspect="1"/>
          </p:cNvPicPr>
          <p:nvPr/>
        </p:nvPicPr>
        <p:blipFill>
          <a:blip r:embed="rId3"/>
          <a:stretch>
            <a:fillRect/>
          </a:stretch>
        </p:blipFill>
        <p:spPr>
          <a:xfrm>
            <a:off x="0" y="0"/>
            <a:ext cx="9144000" cy="5143500"/>
          </a:xfrm>
          <a:prstGeom prst="rect">
            <a:avLst/>
          </a:prstGeom>
        </p:spPr>
      </p:pic>
      <p:sp>
        <p:nvSpPr>
          <p:cNvPr id="2" name="Text 0"/>
          <p:cNvSpPr/>
          <p:nvPr/>
        </p:nvSpPr>
        <p:spPr>
          <a:xfrm>
            <a:off x="457200" y="274320"/>
            <a:ext cx="8229600" cy="594360"/>
          </a:xfrm>
          <a:prstGeom prst="rect">
            <a:avLst/>
          </a:prstGeom>
          <a:solidFill>
            <a:srgbClr val="FFFFFF"/>
          </a:solidFill>
          <a:ln/>
        </p:spPr>
        <p:txBody>
          <a:bodyPr wrap="square" lIns="0" tIns="0" rIns="0" bIns="0" rtlCol="0" anchor="ctr"/>
          <a:lstStyle/>
          <a:p>
            <a:pPr marL="0" indent="0">
              <a:buNone/>
            </a:pPr>
            <a:r>
              <a:rPr lang="en-US" sz="2800" b="1" dirty="0">
                <a:solidFill>
                  <a:srgbClr val="1E2761"/>
                </a:solidFill>
                <a:latin typeface="Cambria" pitchFamily="34" charset="0"/>
                <a:ea typeface="Cambria" pitchFamily="34" charset="-122"/>
                <a:cs typeface="Cambria" pitchFamily="34" charset="-120"/>
              </a:rPr>
              <a:t>LD_LIBRARY_PATH  —  how programs find shared libraries</a:t>
            </a:r>
            <a:endParaRPr lang="en-US" sz="2800" dirty="0"/>
          </a:p>
        </p:txBody>
      </p:sp>
      <p:sp>
        <p:nvSpPr>
          <p:cNvPr id="3" name="Shape 1"/>
          <p:cNvSpPr/>
          <p:nvPr/>
        </p:nvSpPr>
        <p:spPr>
          <a:xfrm>
            <a:off x="457200" y="868680"/>
            <a:ext cx="548640" cy="36576"/>
          </a:xfrm>
          <a:prstGeom prst="rect">
            <a:avLst/>
          </a:prstGeom>
          <a:solidFill>
            <a:srgbClr val="1E2761"/>
          </a:solidFill>
          <a:ln w="12700">
            <a:solidFill>
              <a:srgbClr val="1E2761"/>
            </a:solidFill>
            <a:prstDash val="solid"/>
          </a:ln>
        </p:spPr>
        <p:txBody>
          <a:bodyPr/>
          <a:lstStyle/>
          <a:p>
            <a:endParaRPr lang="en-US"/>
          </a:p>
        </p:txBody>
      </p:sp>
      <p:sp>
        <p:nvSpPr>
          <p:cNvPr id="4" name="Shape 2"/>
          <p:cNvSpPr/>
          <p:nvPr/>
        </p:nvSpPr>
        <p:spPr>
          <a:xfrm>
            <a:off x="457200" y="1005840"/>
            <a:ext cx="1005840" cy="292608"/>
          </a:xfrm>
          <a:prstGeom prst="rect">
            <a:avLst/>
          </a:prstGeom>
          <a:solidFill>
            <a:srgbClr val="1E2761"/>
          </a:solidFill>
          <a:ln w="12700">
            <a:solidFill>
              <a:srgbClr val="1E2761"/>
            </a:solidFill>
            <a:prstDash val="solid"/>
          </a:ln>
        </p:spPr>
        <p:txBody>
          <a:bodyPr/>
          <a:lstStyle/>
          <a:p>
            <a:endParaRPr lang="en-US"/>
          </a:p>
        </p:txBody>
      </p:sp>
      <p:sp>
        <p:nvSpPr>
          <p:cNvPr id="5" name="Text 3"/>
          <p:cNvSpPr/>
          <p:nvPr/>
        </p:nvSpPr>
        <p:spPr>
          <a:xfrm>
            <a:off x="457200" y="1005840"/>
            <a:ext cx="1005840" cy="292608"/>
          </a:xfrm>
          <a:prstGeom prst="rect">
            <a:avLst/>
          </a:prstGeom>
          <a:noFill/>
          <a:ln/>
        </p:spPr>
        <p:txBody>
          <a:bodyPr wrap="square" lIns="0" tIns="0" rIns="0" bIns="0" rtlCol="0" anchor="ctr"/>
          <a:lstStyle/>
          <a:p>
            <a:pPr marL="0" indent="0" algn="ctr">
              <a:buNone/>
            </a:pPr>
            <a:r>
              <a:rPr lang="en-US" sz="1100" b="1" kern="0" spc="200" dirty="0">
                <a:solidFill>
                  <a:srgbClr val="FFFFFF"/>
                </a:solidFill>
                <a:latin typeface="Calibri" pitchFamily="34" charset="0"/>
                <a:ea typeface="Calibri" pitchFamily="34" charset="-122"/>
                <a:cs typeface="Calibri" pitchFamily="34" charset="-120"/>
              </a:rPr>
              <a:t>TALK</a:t>
            </a:r>
            <a:endParaRPr lang="en-US" sz="1100" dirty="0"/>
          </a:p>
        </p:txBody>
      </p:sp>
      <p:sp>
        <p:nvSpPr>
          <p:cNvPr id="6" name="Text 4"/>
          <p:cNvSpPr/>
          <p:nvPr/>
        </p:nvSpPr>
        <p:spPr>
          <a:xfrm>
            <a:off x="548640" y="1435608"/>
            <a:ext cx="8046720" cy="1346200"/>
          </a:xfrm>
          <a:prstGeom prst="rect">
            <a:avLst/>
          </a:prstGeom>
          <a:solidFill>
            <a:srgbClr val="FFFFFF"/>
          </a:solidFill>
          <a:ln/>
        </p:spPr>
        <p:txBody>
          <a:bodyPr wrap="square" lIns="0" tIns="0" rIns="0" bIns="0" rtlCol="0" anchor="t"/>
          <a:lstStyle/>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Most programs don't carry all their code with them.</a:t>
            </a:r>
            <a:endParaRPr lang="en-US" sz="1400" dirty="0"/>
          </a:p>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They depend on </a:t>
            </a:r>
            <a:r>
              <a:rPr lang="en-US" sz="1400" b="1" dirty="0">
                <a:solidFill>
                  <a:srgbClr val="1F2937"/>
                </a:solidFill>
                <a:latin typeface="Calibri" pitchFamily="34" charset="0"/>
                <a:ea typeface="Calibri" pitchFamily="34" charset="-122"/>
                <a:cs typeface="Calibri" pitchFamily="34" charset="-120"/>
              </a:rPr>
              <a:t>shared libraries</a:t>
            </a:r>
            <a:r>
              <a:rPr lang="en-US" sz="1400" dirty="0">
                <a:solidFill>
                  <a:srgbClr val="1F2937"/>
                </a:solidFill>
                <a:latin typeface="Calibri" pitchFamily="34" charset="0"/>
                <a:ea typeface="Calibri" pitchFamily="34" charset="-122"/>
                <a:cs typeface="Calibri" pitchFamily="34" charset="-120"/>
              </a:rPr>
              <a:t> — files ending in </a:t>
            </a:r>
            <a:r>
              <a:rPr lang="en-US" sz="1400" dirty="0">
                <a:solidFill>
                  <a:srgbClr val="1E2761"/>
                </a:solidFill>
                <a:latin typeface="Consolas" pitchFamily="34" charset="0"/>
                <a:ea typeface="Consolas" pitchFamily="34" charset="-122"/>
                <a:cs typeface="Consolas" pitchFamily="34" charset="-120"/>
              </a:rPr>
              <a:t>.so</a:t>
            </a:r>
            <a:r>
              <a:rPr lang="en-US" sz="1400" dirty="0">
                <a:solidFill>
                  <a:srgbClr val="1F2937"/>
                </a:solidFill>
                <a:latin typeface="Calibri" pitchFamily="34" charset="0"/>
                <a:ea typeface="Calibri" pitchFamily="34" charset="-122"/>
                <a:cs typeface="Calibri" pitchFamily="34" charset="-120"/>
              </a:rPr>
              <a:t> — loaded at run time.</a:t>
            </a:r>
            <a:endParaRPr lang="en-US" sz="1400" dirty="0"/>
          </a:p>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Linux has standard places it looks (</a:t>
            </a:r>
            <a:r>
              <a:rPr lang="en-US" sz="1400" dirty="0">
                <a:solidFill>
                  <a:srgbClr val="1E2761"/>
                </a:solidFill>
                <a:latin typeface="Consolas" pitchFamily="34" charset="0"/>
                <a:ea typeface="Consolas" pitchFamily="34" charset="-122"/>
                <a:cs typeface="Consolas" pitchFamily="34" charset="-120"/>
              </a:rPr>
              <a:t>/usr/lib</a:t>
            </a:r>
            <a:r>
              <a:rPr lang="en-US" sz="1400" dirty="0">
                <a:solidFill>
                  <a:srgbClr val="1F2937"/>
                </a:solidFill>
                <a:latin typeface="Calibri" pitchFamily="34" charset="0"/>
                <a:ea typeface="Calibri" pitchFamily="34" charset="-122"/>
                <a:cs typeface="Calibri" pitchFamily="34" charset="-120"/>
              </a:rPr>
              <a:t>, </a:t>
            </a:r>
            <a:r>
              <a:rPr lang="en-US" sz="1400" dirty="0">
                <a:solidFill>
                  <a:srgbClr val="1E2761"/>
                </a:solidFill>
                <a:latin typeface="Consolas" pitchFamily="34" charset="0"/>
                <a:ea typeface="Consolas" pitchFamily="34" charset="-122"/>
                <a:cs typeface="Consolas" pitchFamily="34" charset="-120"/>
              </a:rPr>
              <a:t>/lib</a:t>
            </a:r>
            <a:r>
              <a:rPr lang="en-US" sz="1400" dirty="0">
                <a:solidFill>
                  <a:srgbClr val="1F2937"/>
                </a:solidFill>
                <a:latin typeface="Calibri" pitchFamily="34" charset="0"/>
                <a:ea typeface="Calibri" pitchFamily="34" charset="-122"/>
                <a:cs typeface="Calibri" pitchFamily="34" charset="-120"/>
              </a:rPr>
              <a:t>, ...).</a:t>
            </a:r>
            <a:endParaRPr lang="en-US" sz="1400" dirty="0"/>
          </a:p>
          <a:p>
            <a:pPr marL="228600" indent="-228600">
              <a:spcAft>
                <a:spcPts val="600"/>
              </a:spcAft>
              <a:buSzPct val="100000"/>
              <a:buChar char="■"/>
            </a:pPr>
            <a:r>
              <a:rPr lang="en-US" sz="1400" dirty="0">
                <a:solidFill>
                  <a:srgbClr val="1E2761"/>
                </a:solidFill>
                <a:latin typeface="Consolas" pitchFamily="34" charset="0"/>
                <a:ea typeface="Consolas" pitchFamily="34" charset="-122"/>
                <a:cs typeface="Consolas" pitchFamily="34" charset="-120"/>
              </a:rPr>
              <a:t>LD_LIBRARY_PATH</a:t>
            </a:r>
            <a:r>
              <a:rPr lang="en-US" sz="1400" dirty="0">
                <a:solidFill>
                  <a:srgbClr val="1F2937"/>
                </a:solidFill>
                <a:latin typeface="Calibri" pitchFamily="34" charset="0"/>
                <a:ea typeface="Calibri" pitchFamily="34" charset="-122"/>
                <a:cs typeface="Calibri" pitchFamily="34" charset="-120"/>
              </a:rPr>
              <a:t> lets you add </a:t>
            </a:r>
            <a:r>
              <a:rPr lang="en-US" sz="1400" b="1" dirty="0">
                <a:solidFill>
                  <a:srgbClr val="1F2937"/>
                </a:solidFill>
                <a:latin typeface="Calibri" pitchFamily="34" charset="0"/>
                <a:ea typeface="Calibri" pitchFamily="34" charset="-122"/>
                <a:cs typeface="Calibri" pitchFamily="34" charset="-120"/>
              </a:rPr>
              <a:t>extra</a:t>
            </a:r>
            <a:r>
              <a:rPr lang="en-US" sz="1400" dirty="0">
                <a:solidFill>
                  <a:srgbClr val="1F2937"/>
                </a:solidFill>
                <a:latin typeface="Calibri" pitchFamily="34" charset="0"/>
                <a:ea typeface="Calibri" pitchFamily="34" charset="-122"/>
                <a:cs typeface="Calibri" pitchFamily="34" charset="-120"/>
              </a:rPr>
              <a:t> places to look.</a:t>
            </a:r>
            <a:endParaRPr lang="en-US" sz="1400" dirty="0"/>
          </a:p>
        </p:txBody>
      </p:sp>
      <p:sp>
        <p:nvSpPr>
          <p:cNvPr id="7" name="Shape 5"/>
          <p:cNvSpPr/>
          <p:nvPr/>
        </p:nvSpPr>
        <p:spPr>
          <a:xfrm>
            <a:off x="457200" y="2827528"/>
            <a:ext cx="1005840" cy="292608"/>
          </a:xfrm>
          <a:prstGeom prst="rect">
            <a:avLst/>
          </a:prstGeom>
          <a:solidFill>
            <a:srgbClr val="0369A1"/>
          </a:solidFill>
          <a:ln w="12700">
            <a:solidFill>
              <a:srgbClr val="0369A1"/>
            </a:solidFill>
            <a:prstDash val="solid"/>
          </a:ln>
        </p:spPr>
        <p:txBody>
          <a:bodyPr/>
          <a:lstStyle/>
          <a:p>
            <a:endParaRPr lang="en-US"/>
          </a:p>
        </p:txBody>
      </p:sp>
      <p:sp>
        <p:nvSpPr>
          <p:cNvPr id="8" name="Text 6"/>
          <p:cNvSpPr/>
          <p:nvPr/>
        </p:nvSpPr>
        <p:spPr>
          <a:xfrm>
            <a:off x="457200" y="2827528"/>
            <a:ext cx="1005840" cy="292608"/>
          </a:xfrm>
          <a:prstGeom prst="rect">
            <a:avLst/>
          </a:prstGeom>
          <a:noFill/>
          <a:ln/>
        </p:spPr>
        <p:txBody>
          <a:bodyPr wrap="square" lIns="0" tIns="0" rIns="0" bIns="0" rtlCol="0" anchor="ctr"/>
          <a:lstStyle/>
          <a:p>
            <a:pPr marL="0" indent="0" algn="ctr">
              <a:buNone/>
            </a:pPr>
            <a:r>
              <a:rPr lang="en-US" sz="1100" b="1" kern="0" spc="200" dirty="0">
                <a:solidFill>
                  <a:srgbClr val="FFFFFF"/>
                </a:solidFill>
                <a:latin typeface="Calibri" pitchFamily="34" charset="0"/>
                <a:ea typeface="Calibri" pitchFamily="34" charset="-122"/>
                <a:cs typeface="Calibri" pitchFamily="34" charset="-120"/>
              </a:rPr>
              <a:t>DEMO</a:t>
            </a:r>
            <a:endParaRPr lang="en-US" sz="1100" dirty="0"/>
          </a:p>
        </p:txBody>
      </p:sp>
      <p:sp>
        <p:nvSpPr>
          <p:cNvPr id="9" name="Shape 7"/>
          <p:cNvSpPr/>
          <p:nvPr/>
        </p:nvSpPr>
        <p:spPr>
          <a:xfrm>
            <a:off x="548640" y="3257296"/>
            <a:ext cx="8046720" cy="826770"/>
          </a:xfrm>
          <a:prstGeom prst="rect">
            <a:avLst/>
          </a:prstGeom>
          <a:solidFill>
            <a:srgbClr val="0F172A"/>
          </a:solidFill>
          <a:ln w="12700">
            <a:solidFill>
              <a:srgbClr val="0F172A"/>
            </a:solidFill>
            <a:prstDash val="solid"/>
          </a:ln>
        </p:spPr>
        <p:txBody>
          <a:bodyPr/>
          <a:lstStyle/>
          <a:p>
            <a:endParaRPr lang="en-US"/>
          </a:p>
        </p:txBody>
      </p:sp>
      <p:sp>
        <p:nvSpPr>
          <p:cNvPr id="10" name="Text 8"/>
          <p:cNvSpPr/>
          <p:nvPr/>
        </p:nvSpPr>
        <p:spPr>
          <a:xfrm>
            <a:off x="685800" y="3330448"/>
            <a:ext cx="7772400" cy="680466"/>
          </a:xfrm>
          <a:prstGeom prst="rect">
            <a:avLst/>
          </a:prstGeom>
          <a:noFill/>
          <a:ln/>
        </p:spPr>
        <p:txBody>
          <a:bodyPr wrap="square" lIns="0" tIns="0" rIns="0" bIns="0" rtlCol="0" anchor="t"/>
          <a:lstStyle/>
          <a:p>
            <a:pPr marL="0" indent="0">
              <a:buNone/>
            </a:pPr>
            <a:r>
              <a:rPr lang="en-US" sz="1300" dirty="0">
                <a:solidFill>
                  <a:srgbClr val="E2E8F0"/>
                </a:solidFill>
                <a:latin typeface="Consolas" pitchFamily="34" charset="0"/>
                <a:ea typeface="Consolas" pitchFamily="34" charset="-122"/>
                <a:cs typeface="Consolas" pitchFamily="34" charset="-120"/>
              </a:rPr>
              <a:t>$ ldd $(which ls)</a:t>
            </a:r>
            <a:endParaRPr lang="en-US" sz="1300" dirty="0"/>
          </a:p>
          <a:p>
            <a:pPr marL="0" indent="0">
              <a:buNone/>
            </a:pPr>
            <a:r>
              <a:rPr lang="en-US" sz="1300" dirty="0">
                <a:solidFill>
                  <a:srgbClr val="E2E8F0"/>
                </a:solidFill>
                <a:latin typeface="Consolas" pitchFamily="34" charset="0"/>
                <a:ea typeface="Consolas" pitchFamily="34" charset="-122"/>
                <a:cs typeface="Consolas" pitchFamily="34" charset="-120"/>
              </a:rPr>
              <a:t>  libc.so.6 =&gt; /lib/x86_64-linux-gnu/libc.so.6 ...</a:t>
            </a:r>
            <a:endParaRPr lang="en-US" sz="1300" dirty="0"/>
          </a:p>
          <a:p>
            <a:pPr marL="0" indent="0">
              <a:buNone/>
            </a:pPr>
            <a:r>
              <a:rPr lang="en-US" sz="1300" dirty="0">
                <a:solidFill>
                  <a:srgbClr val="E2E8F0"/>
                </a:solidFill>
                <a:latin typeface="Consolas" pitchFamily="34" charset="0"/>
                <a:ea typeface="Consolas" pitchFamily="34" charset="-122"/>
                <a:cs typeface="Consolas" pitchFamily="34" charset="-120"/>
              </a:rPr>
              <a:t>  ...</a:t>
            </a:r>
            <a:endParaRPr lang="en-US" sz="130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bg>
      <p:bgPr>
        <a:solidFill>
          <a:srgbClr val="FFFFFF"/>
        </a:solidFill>
        <a:effectLst/>
      </p:bgPr>
    </p:bg>
    <p:spTree>
      <p:nvGrpSpPr>
        <p:cNvPr id="1" name=""/>
        <p:cNvGrpSpPr/>
        <p:nvPr/>
      </p:nvGrpSpPr>
      <p:grpSpPr>
        <a:xfrm>
          <a:off x="0" y="0"/>
          <a:ext cx="0" cy="0"/>
          <a:chOff x="0" y="0"/>
          <a:chExt cx="0" cy="0"/>
        </a:xfrm>
      </p:grpSpPr>
      <p:pic>
        <p:nvPicPr>
          <p:cNvPr id="12" name="Picture 11" descr="access-footer.jpg"/>
          <p:cNvPicPr>
            <a:picLocks noChangeAspect="1"/>
          </p:cNvPicPr>
          <p:nvPr/>
        </p:nvPicPr>
        <p:blipFill>
          <a:blip r:embed="rId3"/>
          <a:stretch>
            <a:fillRect/>
          </a:stretch>
        </p:blipFill>
        <p:spPr>
          <a:xfrm>
            <a:off x="0" y="0"/>
            <a:ext cx="9144000" cy="5143500"/>
          </a:xfrm>
          <a:prstGeom prst="rect">
            <a:avLst/>
          </a:prstGeom>
        </p:spPr>
      </p:pic>
      <p:sp>
        <p:nvSpPr>
          <p:cNvPr id="2" name="Text 0"/>
          <p:cNvSpPr/>
          <p:nvPr/>
        </p:nvSpPr>
        <p:spPr>
          <a:xfrm>
            <a:off x="457200" y="274320"/>
            <a:ext cx="8229600" cy="594360"/>
          </a:xfrm>
          <a:prstGeom prst="rect">
            <a:avLst/>
          </a:prstGeom>
          <a:solidFill>
            <a:srgbClr val="FFFFFF"/>
          </a:solidFill>
          <a:ln/>
        </p:spPr>
        <p:txBody>
          <a:bodyPr wrap="square" lIns="0" tIns="0" rIns="0" bIns="0" rtlCol="0" anchor="ctr"/>
          <a:lstStyle/>
          <a:p>
            <a:pPr marL="0" indent="0">
              <a:buNone/>
            </a:pPr>
            <a:r>
              <a:rPr lang="en-US" sz="2800" b="1" dirty="0">
                <a:solidFill>
                  <a:srgbClr val="1E2761"/>
                </a:solidFill>
                <a:latin typeface="Cambria" pitchFamily="34" charset="0"/>
                <a:ea typeface="Cambria" pitchFamily="34" charset="-122"/>
                <a:cs typeface="Cambria" pitchFamily="34" charset="-120"/>
              </a:rPr>
              <a:t>When you'll touch LD_LIBRARY_PATH</a:t>
            </a:r>
            <a:endParaRPr lang="en-US" sz="2800" dirty="0"/>
          </a:p>
        </p:txBody>
      </p:sp>
      <p:sp>
        <p:nvSpPr>
          <p:cNvPr id="3" name="Shape 1"/>
          <p:cNvSpPr/>
          <p:nvPr/>
        </p:nvSpPr>
        <p:spPr>
          <a:xfrm>
            <a:off x="457200" y="868680"/>
            <a:ext cx="548640" cy="36576"/>
          </a:xfrm>
          <a:prstGeom prst="rect">
            <a:avLst/>
          </a:prstGeom>
          <a:solidFill>
            <a:srgbClr val="1E2761"/>
          </a:solidFill>
          <a:ln w="12700">
            <a:solidFill>
              <a:srgbClr val="1E2761"/>
            </a:solidFill>
            <a:prstDash val="solid"/>
          </a:ln>
        </p:spPr>
        <p:txBody>
          <a:bodyPr/>
          <a:lstStyle/>
          <a:p>
            <a:endParaRPr lang="en-US"/>
          </a:p>
        </p:txBody>
      </p:sp>
      <p:sp>
        <p:nvSpPr>
          <p:cNvPr id="4" name="Shape 2"/>
          <p:cNvSpPr/>
          <p:nvPr/>
        </p:nvSpPr>
        <p:spPr>
          <a:xfrm>
            <a:off x="457200" y="1005840"/>
            <a:ext cx="1005840" cy="292608"/>
          </a:xfrm>
          <a:prstGeom prst="rect">
            <a:avLst/>
          </a:prstGeom>
          <a:solidFill>
            <a:srgbClr val="1E2761"/>
          </a:solidFill>
          <a:ln w="12700">
            <a:solidFill>
              <a:srgbClr val="1E2761"/>
            </a:solidFill>
            <a:prstDash val="solid"/>
          </a:ln>
        </p:spPr>
        <p:txBody>
          <a:bodyPr/>
          <a:lstStyle/>
          <a:p>
            <a:endParaRPr lang="en-US"/>
          </a:p>
        </p:txBody>
      </p:sp>
      <p:sp>
        <p:nvSpPr>
          <p:cNvPr id="5" name="Text 3"/>
          <p:cNvSpPr/>
          <p:nvPr/>
        </p:nvSpPr>
        <p:spPr>
          <a:xfrm>
            <a:off x="457200" y="1005840"/>
            <a:ext cx="1005840" cy="292608"/>
          </a:xfrm>
          <a:prstGeom prst="rect">
            <a:avLst/>
          </a:prstGeom>
          <a:noFill/>
          <a:ln/>
        </p:spPr>
        <p:txBody>
          <a:bodyPr wrap="square" lIns="0" tIns="0" rIns="0" bIns="0" rtlCol="0" anchor="ctr"/>
          <a:lstStyle/>
          <a:p>
            <a:pPr marL="0" indent="0" algn="ctr">
              <a:buNone/>
            </a:pPr>
            <a:r>
              <a:rPr lang="en-US" sz="1100" b="1" kern="0" spc="200" dirty="0">
                <a:solidFill>
                  <a:srgbClr val="FFFFFF"/>
                </a:solidFill>
                <a:latin typeface="Calibri" pitchFamily="34" charset="0"/>
                <a:ea typeface="Calibri" pitchFamily="34" charset="-122"/>
                <a:cs typeface="Calibri" pitchFamily="34" charset="-120"/>
              </a:rPr>
              <a:t>TALK</a:t>
            </a:r>
            <a:endParaRPr lang="en-US" sz="1100" dirty="0"/>
          </a:p>
        </p:txBody>
      </p:sp>
      <p:sp>
        <p:nvSpPr>
          <p:cNvPr id="6" name="Text 4"/>
          <p:cNvSpPr/>
          <p:nvPr/>
        </p:nvSpPr>
        <p:spPr>
          <a:xfrm>
            <a:off x="548640" y="1435608"/>
            <a:ext cx="8046720" cy="619760"/>
          </a:xfrm>
          <a:prstGeom prst="rect">
            <a:avLst/>
          </a:prstGeom>
          <a:solidFill>
            <a:srgbClr val="FFFFFF"/>
          </a:solidFill>
          <a:ln/>
        </p:spPr>
        <p:txBody>
          <a:bodyPr wrap="square" lIns="0" tIns="0" rIns="0" bIns="0" rtlCol="0" anchor="t"/>
          <a:lstStyle/>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When you run a program whose libraries live in a </a:t>
            </a:r>
            <a:r>
              <a:rPr lang="en-US" sz="1400" b="1" dirty="0">
                <a:solidFill>
                  <a:srgbClr val="1F2937"/>
                </a:solidFill>
                <a:latin typeface="Calibri" pitchFamily="34" charset="0"/>
                <a:ea typeface="Calibri" pitchFamily="34" charset="-122"/>
                <a:cs typeface="Calibri" pitchFamily="34" charset="-120"/>
              </a:rPr>
              <a:t>non-standard place</a:t>
            </a:r>
            <a:r>
              <a:rPr lang="en-US" sz="1400" dirty="0">
                <a:solidFill>
                  <a:srgbClr val="1F2937"/>
                </a:solidFill>
                <a:latin typeface="Calibri" pitchFamily="34" charset="0"/>
                <a:ea typeface="Calibri" pitchFamily="34" charset="-122"/>
                <a:cs typeface="Calibri" pitchFamily="34" charset="-120"/>
              </a:rPr>
              <a:t> — custom-built software, scientific tools, bundled commercial software.</a:t>
            </a:r>
            <a:endParaRPr lang="en-US" sz="1400" dirty="0"/>
          </a:p>
        </p:txBody>
      </p:sp>
      <p:sp>
        <p:nvSpPr>
          <p:cNvPr id="7" name="Shape 5"/>
          <p:cNvSpPr/>
          <p:nvPr/>
        </p:nvSpPr>
        <p:spPr>
          <a:xfrm>
            <a:off x="457200" y="2101088"/>
            <a:ext cx="1005840" cy="292608"/>
          </a:xfrm>
          <a:prstGeom prst="rect">
            <a:avLst/>
          </a:prstGeom>
          <a:solidFill>
            <a:srgbClr val="0369A1"/>
          </a:solidFill>
          <a:ln w="12700">
            <a:solidFill>
              <a:srgbClr val="0369A1"/>
            </a:solidFill>
            <a:prstDash val="solid"/>
          </a:ln>
        </p:spPr>
        <p:txBody>
          <a:bodyPr/>
          <a:lstStyle/>
          <a:p>
            <a:endParaRPr lang="en-US"/>
          </a:p>
        </p:txBody>
      </p:sp>
      <p:sp>
        <p:nvSpPr>
          <p:cNvPr id="8" name="Text 6"/>
          <p:cNvSpPr/>
          <p:nvPr/>
        </p:nvSpPr>
        <p:spPr>
          <a:xfrm>
            <a:off x="457200" y="2101088"/>
            <a:ext cx="1005840" cy="292608"/>
          </a:xfrm>
          <a:prstGeom prst="rect">
            <a:avLst/>
          </a:prstGeom>
          <a:noFill/>
          <a:ln/>
        </p:spPr>
        <p:txBody>
          <a:bodyPr wrap="square" lIns="0" tIns="0" rIns="0" bIns="0" rtlCol="0" anchor="ctr"/>
          <a:lstStyle/>
          <a:p>
            <a:pPr marL="0" indent="0" algn="ctr">
              <a:buNone/>
            </a:pPr>
            <a:r>
              <a:rPr lang="en-US" sz="1100" b="1" kern="0" spc="200" dirty="0">
                <a:solidFill>
                  <a:srgbClr val="FFFFFF"/>
                </a:solidFill>
                <a:latin typeface="Calibri" pitchFamily="34" charset="0"/>
                <a:ea typeface="Calibri" pitchFamily="34" charset="-122"/>
                <a:cs typeface="Calibri" pitchFamily="34" charset="-120"/>
              </a:rPr>
              <a:t>DEMO</a:t>
            </a:r>
            <a:endParaRPr lang="en-US" sz="1100" dirty="0"/>
          </a:p>
        </p:txBody>
      </p:sp>
      <p:sp>
        <p:nvSpPr>
          <p:cNvPr id="9" name="Shape 7"/>
          <p:cNvSpPr/>
          <p:nvPr/>
        </p:nvSpPr>
        <p:spPr>
          <a:xfrm>
            <a:off x="548640" y="2530856"/>
            <a:ext cx="8046720" cy="430530"/>
          </a:xfrm>
          <a:prstGeom prst="rect">
            <a:avLst/>
          </a:prstGeom>
          <a:solidFill>
            <a:srgbClr val="0F172A"/>
          </a:solidFill>
          <a:ln w="12700">
            <a:solidFill>
              <a:srgbClr val="0F172A"/>
            </a:solidFill>
            <a:prstDash val="solid"/>
          </a:ln>
        </p:spPr>
        <p:txBody>
          <a:bodyPr/>
          <a:lstStyle/>
          <a:p>
            <a:endParaRPr lang="en-US"/>
          </a:p>
        </p:txBody>
      </p:sp>
      <p:sp>
        <p:nvSpPr>
          <p:cNvPr id="10" name="Text 8"/>
          <p:cNvSpPr/>
          <p:nvPr/>
        </p:nvSpPr>
        <p:spPr>
          <a:xfrm>
            <a:off x="685800" y="2604008"/>
            <a:ext cx="7772400" cy="284226"/>
          </a:xfrm>
          <a:prstGeom prst="rect">
            <a:avLst/>
          </a:prstGeom>
          <a:noFill/>
          <a:ln/>
        </p:spPr>
        <p:txBody>
          <a:bodyPr wrap="square" lIns="0" tIns="0" rIns="0" bIns="0" rtlCol="0" anchor="t"/>
          <a:lstStyle/>
          <a:p>
            <a:pPr marL="0" indent="0">
              <a:buNone/>
            </a:pPr>
            <a:r>
              <a:rPr lang="en-US" sz="1500" dirty="0">
                <a:solidFill>
                  <a:srgbClr val="E2E8F0"/>
                </a:solidFill>
                <a:latin typeface="Consolas" pitchFamily="34" charset="0"/>
                <a:ea typeface="Consolas" pitchFamily="34" charset="-122"/>
                <a:cs typeface="Consolas" pitchFamily="34" charset="-120"/>
              </a:rPr>
              <a:t>$ LD_LIBRARY_PATH=/opt/mytool/lib ./mytool</a:t>
            </a:r>
            <a:endParaRPr lang="en-US" sz="1500" dirty="0"/>
          </a:p>
        </p:txBody>
      </p:sp>
      <p:sp>
        <p:nvSpPr>
          <p:cNvPr id="11" name="Text 9"/>
          <p:cNvSpPr/>
          <p:nvPr/>
        </p:nvSpPr>
        <p:spPr>
          <a:xfrm>
            <a:off x="548640" y="3007106"/>
            <a:ext cx="8046720" cy="508000"/>
          </a:xfrm>
          <a:prstGeom prst="rect">
            <a:avLst/>
          </a:prstGeom>
          <a:solidFill>
            <a:srgbClr val="FFFFFF"/>
          </a:solidFill>
          <a:ln/>
        </p:spPr>
        <p:txBody>
          <a:bodyPr wrap="square" rtlCol="0" anchor="t"/>
          <a:lstStyle/>
          <a:p>
            <a:pPr marL="0" indent="0">
              <a:buNone/>
            </a:pPr>
            <a:r>
              <a:rPr lang="en-US" sz="1300" i="1" dirty="0">
                <a:solidFill>
                  <a:srgbClr val="475569"/>
                </a:solidFill>
                <a:latin typeface="Calibri" pitchFamily="34" charset="0"/>
                <a:ea typeface="Calibri" pitchFamily="34" charset="-122"/>
                <a:cs typeface="Calibri" pitchFamily="34" charset="-120"/>
              </a:rPr>
              <a:t>Sets the variable </a:t>
            </a:r>
            <a:r>
              <a:rPr lang="en-US" sz="1300" b="1" i="1" dirty="0">
                <a:solidFill>
                  <a:srgbClr val="475569"/>
                </a:solidFill>
                <a:latin typeface="Calibri" pitchFamily="34" charset="0"/>
                <a:ea typeface="Calibri" pitchFamily="34" charset="-122"/>
                <a:cs typeface="Calibri" pitchFamily="34" charset="-120"/>
              </a:rPr>
              <a:t>only for this one command</a:t>
            </a:r>
            <a:r>
              <a:rPr lang="en-US" sz="1300" i="1" dirty="0">
                <a:solidFill>
                  <a:srgbClr val="475569"/>
                </a:solidFill>
                <a:latin typeface="Calibri" pitchFamily="34" charset="0"/>
                <a:ea typeface="Calibri" pitchFamily="34" charset="-122"/>
                <a:cs typeface="Calibri" pitchFamily="34" charset="-120"/>
              </a:rPr>
              <a:t>. Symptom you'll hit: </a:t>
            </a:r>
            <a:r>
              <a:rPr lang="en-US" sz="1300" i="1" dirty="0">
                <a:solidFill>
                  <a:srgbClr val="1E2761"/>
                </a:solidFill>
                <a:latin typeface="Consolas" pitchFamily="34" charset="0"/>
                <a:ea typeface="Consolas" pitchFamily="34" charset="-122"/>
                <a:cs typeface="Consolas" pitchFamily="34" charset="-120"/>
              </a:rPr>
              <a:t>error while loading shared libraries: libfoo.so.3</a:t>
            </a:r>
            <a:r>
              <a:rPr lang="en-US" sz="1300" i="1" dirty="0">
                <a:solidFill>
                  <a:srgbClr val="475569"/>
                </a:solidFill>
                <a:latin typeface="Calibri" pitchFamily="34" charset="0"/>
                <a:ea typeface="Calibri" pitchFamily="34" charset="-122"/>
                <a:cs typeface="Calibri" pitchFamily="34" charset="-120"/>
              </a:rPr>
              <a:t> — reach for this.</a:t>
            </a:r>
            <a:endParaRPr lang="en-US" sz="130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bg>
      <p:bgPr>
        <a:solidFill>
          <a:srgbClr val="FFFFFF"/>
        </a:solidFill>
        <a:effectLst/>
      </p:bgPr>
    </p:bg>
    <p:spTree>
      <p:nvGrpSpPr>
        <p:cNvPr id="1" name=""/>
        <p:cNvGrpSpPr/>
        <p:nvPr/>
      </p:nvGrpSpPr>
      <p:grpSpPr>
        <a:xfrm>
          <a:off x="0" y="0"/>
          <a:ext cx="0" cy="0"/>
          <a:chOff x="0" y="0"/>
          <a:chExt cx="0" cy="0"/>
        </a:xfrm>
      </p:grpSpPr>
      <p:pic>
        <p:nvPicPr>
          <p:cNvPr id="10" name="Picture 9" descr="access-footer.jpg"/>
          <p:cNvPicPr>
            <a:picLocks noChangeAspect="1"/>
          </p:cNvPicPr>
          <p:nvPr/>
        </p:nvPicPr>
        <p:blipFill>
          <a:blip r:embed="rId3"/>
          <a:stretch>
            <a:fillRect/>
          </a:stretch>
        </p:blipFill>
        <p:spPr>
          <a:xfrm>
            <a:off x="0" y="0"/>
            <a:ext cx="9144000" cy="5143500"/>
          </a:xfrm>
          <a:prstGeom prst="rect">
            <a:avLst/>
          </a:prstGeom>
        </p:spPr>
      </p:pic>
      <p:sp>
        <p:nvSpPr>
          <p:cNvPr id="2" name="Text 0"/>
          <p:cNvSpPr/>
          <p:nvPr/>
        </p:nvSpPr>
        <p:spPr>
          <a:xfrm>
            <a:off x="457200" y="274320"/>
            <a:ext cx="8229600" cy="594360"/>
          </a:xfrm>
          <a:prstGeom prst="rect">
            <a:avLst/>
          </a:prstGeom>
          <a:solidFill>
            <a:srgbClr val="FFFFFF"/>
          </a:solidFill>
          <a:ln/>
        </p:spPr>
        <p:txBody>
          <a:bodyPr wrap="square" lIns="0" tIns="0" rIns="0" bIns="0" rtlCol="0" anchor="ctr"/>
          <a:lstStyle/>
          <a:p>
            <a:pPr marL="0" indent="0">
              <a:buNone/>
            </a:pPr>
            <a:r>
              <a:rPr lang="en-US" sz="2800" b="1" dirty="0">
                <a:solidFill>
                  <a:srgbClr val="1E2761"/>
                </a:solidFill>
                <a:latin typeface="Cambria" pitchFamily="34" charset="0"/>
                <a:ea typeface="Cambria" pitchFamily="34" charset="-122"/>
                <a:cs typeface="Cambria" pitchFamily="34" charset="-120"/>
              </a:rPr>
              <a:t>A security flavor for later</a:t>
            </a:r>
            <a:endParaRPr lang="en-US" sz="2800" dirty="0"/>
          </a:p>
        </p:txBody>
      </p:sp>
      <p:sp>
        <p:nvSpPr>
          <p:cNvPr id="3" name="Shape 1"/>
          <p:cNvSpPr/>
          <p:nvPr/>
        </p:nvSpPr>
        <p:spPr>
          <a:xfrm>
            <a:off x="457200" y="868680"/>
            <a:ext cx="548640" cy="36576"/>
          </a:xfrm>
          <a:prstGeom prst="rect">
            <a:avLst/>
          </a:prstGeom>
          <a:solidFill>
            <a:srgbClr val="1E2761"/>
          </a:solidFill>
          <a:ln w="12700">
            <a:solidFill>
              <a:srgbClr val="1E2761"/>
            </a:solidFill>
            <a:prstDash val="solid"/>
          </a:ln>
        </p:spPr>
        <p:txBody>
          <a:bodyPr/>
          <a:lstStyle/>
          <a:p>
            <a:endParaRPr lang="en-US"/>
          </a:p>
        </p:txBody>
      </p:sp>
      <p:sp>
        <p:nvSpPr>
          <p:cNvPr id="4" name="Shape 2"/>
          <p:cNvSpPr/>
          <p:nvPr/>
        </p:nvSpPr>
        <p:spPr>
          <a:xfrm>
            <a:off x="457200" y="1005840"/>
            <a:ext cx="1005840" cy="292608"/>
          </a:xfrm>
          <a:prstGeom prst="rect">
            <a:avLst/>
          </a:prstGeom>
          <a:solidFill>
            <a:srgbClr val="1E2761"/>
          </a:solidFill>
          <a:ln w="12700">
            <a:solidFill>
              <a:srgbClr val="1E2761"/>
            </a:solidFill>
            <a:prstDash val="solid"/>
          </a:ln>
        </p:spPr>
        <p:txBody>
          <a:bodyPr/>
          <a:lstStyle/>
          <a:p>
            <a:endParaRPr lang="en-US"/>
          </a:p>
        </p:txBody>
      </p:sp>
      <p:sp>
        <p:nvSpPr>
          <p:cNvPr id="5" name="Text 3"/>
          <p:cNvSpPr/>
          <p:nvPr/>
        </p:nvSpPr>
        <p:spPr>
          <a:xfrm>
            <a:off x="457200" y="1005840"/>
            <a:ext cx="1005840" cy="292608"/>
          </a:xfrm>
          <a:prstGeom prst="rect">
            <a:avLst/>
          </a:prstGeom>
          <a:noFill/>
          <a:ln/>
        </p:spPr>
        <p:txBody>
          <a:bodyPr wrap="square" lIns="0" tIns="0" rIns="0" bIns="0" rtlCol="0" anchor="ctr"/>
          <a:lstStyle/>
          <a:p>
            <a:pPr marL="0" indent="0" algn="ctr">
              <a:buNone/>
            </a:pPr>
            <a:r>
              <a:rPr lang="en-US" sz="1100" b="1" kern="0" spc="200" dirty="0">
                <a:solidFill>
                  <a:srgbClr val="FFFFFF"/>
                </a:solidFill>
                <a:latin typeface="Calibri" pitchFamily="34" charset="0"/>
                <a:ea typeface="Calibri" pitchFamily="34" charset="-122"/>
                <a:cs typeface="Calibri" pitchFamily="34" charset="-120"/>
              </a:rPr>
              <a:t>TALK</a:t>
            </a:r>
            <a:endParaRPr lang="en-US" sz="1100" dirty="0"/>
          </a:p>
        </p:txBody>
      </p:sp>
      <p:sp>
        <p:nvSpPr>
          <p:cNvPr id="6" name="Text 4"/>
          <p:cNvSpPr/>
          <p:nvPr/>
        </p:nvSpPr>
        <p:spPr>
          <a:xfrm>
            <a:off x="548640" y="1435608"/>
            <a:ext cx="8046720" cy="1442720"/>
          </a:xfrm>
          <a:prstGeom prst="rect">
            <a:avLst/>
          </a:prstGeom>
          <a:solidFill>
            <a:srgbClr val="FFFFFF"/>
          </a:solidFill>
          <a:ln/>
        </p:spPr>
        <p:txBody>
          <a:bodyPr wrap="square" lIns="0" tIns="0" rIns="0" bIns="0" rtlCol="0" anchor="t"/>
          <a:lstStyle/>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Because </a:t>
            </a:r>
            <a:r>
              <a:rPr lang="en-US" sz="1400" dirty="0">
                <a:solidFill>
                  <a:srgbClr val="1E2761"/>
                </a:solidFill>
                <a:latin typeface="Consolas" pitchFamily="34" charset="0"/>
                <a:ea typeface="Consolas" pitchFamily="34" charset="-122"/>
                <a:cs typeface="Consolas" pitchFamily="34" charset="-120"/>
              </a:rPr>
              <a:t>LD_LIBRARY_PATH</a:t>
            </a:r>
            <a:r>
              <a:rPr lang="en-US" sz="1400" dirty="0">
                <a:solidFill>
                  <a:srgbClr val="1F2937"/>
                </a:solidFill>
                <a:latin typeface="Calibri" pitchFamily="34" charset="0"/>
                <a:ea typeface="Calibri" pitchFamily="34" charset="-122"/>
                <a:cs typeface="Calibri" pitchFamily="34" charset="-120"/>
              </a:rPr>
              <a:t> (and a sibling, </a:t>
            </a:r>
            <a:r>
              <a:rPr lang="en-US" sz="1400" dirty="0">
                <a:solidFill>
                  <a:srgbClr val="1E2761"/>
                </a:solidFill>
                <a:latin typeface="Consolas" pitchFamily="34" charset="0"/>
                <a:ea typeface="Consolas" pitchFamily="34" charset="-122"/>
                <a:cs typeface="Consolas" pitchFamily="34" charset="-120"/>
              </a:rPr>
              <a:t>LD_PRELOAD</a:t>
            </a:r>
            <a:r>
              <a:rPr lang="en-US" sz="1400" dirty="0">
                <a:solidFill>
                  <a:srgbClr val="1F2937"/>
                </a:solidFill>
                <a:latin typeface="Calibri" pitchFamily="34" charset="0"/>
                <a:ea typeface="Calibri" pitchFamily="34" charset="-122"/>
                <a:cs typeface="Calibri" pitchFamily="34" charset="-120"/>
              </a:rPr>
              <a:t>) change </a:t>
            </a:r>
            <a:r>
              <a:rPr lang="en-US" sz="1400" b="1" dirty="0">
                <a:solidFill>
                  <a:srgbClr val="1F2937"/>
                </a:solidFill>
                <a:latin typeface="Calibri" pitchFamily="34" charset="0"/>
                <a:ea typeface="Calibri" pitchFamily="34" charset="-122"/>
                <a:cs typeface="Calibri" pitchFamily="34" charset="-120"/>
              </a:rPr>
              <a:t>which code gets loaded</a:t>
            </a:r>
            <a:r>
              <a:rPr lang="en-US" sz="1400" dirty="0">
                <a:solidFill>
                  <a:srgbClr val="1F2937"/>
                </a:solidFill>
                <a:latin typeface="Calibri" pitchFamily="34" charset="0"/>
                <a:ea typeface="Calibri" pitchFamily="34" charset="-122"/>
                <a:cs typeface="Calibri" pitchFamily="34" charset="-120"/>
              </a:rPr>
              <a:t> into a program, they're a classic vector for both legitimate library overrides </a:t>
            </a:r>
            <a:r>
              <a:rPr lang="en-US" sz="1400" b="1" dirty="0">
                <a:solidFill>
                  <a:srgbClr val="1F2937"/>
                </a:solidFill>
                <a:latin typeface="Calibri" pitchFamily="34" charset="0"/>
                <a:ea typeface="Calibri" pitchFamily="34" charset="-122"/>
                <a:cs typeface="Calibri" pitchFamily="34" charset="-120"/>
              </a:rPr>
              <a:t>and</a:t>
            </a:r>
            <a:r>
              <a:rPr lang="en-US" sz="1400" dirty="0">
                <a:solidFill>
                  <a:srgbClr val="1F2937"/>
                </a:solidFill>
                <a:latin typeface="Calibri" pitchFamily="34" charset="0"/>
                <a:ea typeface="Calibri" pitchFamily="34" charset="-122"/>
                <a:cs typeface="Calibri" pitchFamily="34" charset="-120"/>
              </a:rPr>
              <a:t> library-injection attacks.</a:t>
            </a:r>
            <a:endParaRPr lang="en-US" sz="1400" dirty="0"/>
          </a:p>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For your safety, Linux </a:t>
            </a:r>
            <a:r>
              <a:rPr lang="en-US" sz="1400" b="1" dirty="0">
                <a:solidFill>
                  <a:srgbClr val="1F2937"/>
                </a:solidFill>
                <a:latin typeface="Calibri" pitchFamily="34" charset="0"/>
                <a:ea typeface="Calibri" pitchFamily="34" charset="-122"/>
                <a:cs typeface="Calibri" pitchFamily="34" charset="-120"/>
              </a:rPr>
              <a:t>strips</a:t>
            </a:r>
            <a:r>
              <a:rPr lang="en-US" sz="1400" dirty="0">
                <a:solidFill>
                  <a:srgbClr val="1F2937"/>
                </a:solidFill>
                <a:latin typeface="Calibri" pitchFamily="34" charset="0"/>
                <a:ea typeface="Calibri" pitchFamily="34" charset="-122"/>
                <a:cs typeface="Calibri" pitchFamily="34" charset="-120"/>
              </a:rPr>
              <a:t> </a:t>
            </a:r>
            <a:r>
              <a:rPr lang="en-US" sz="1400" dirty="0">
                <a:solidFill>
                  <a:srgbClr val="1E2761"/>
                </a:solidFill>
                <a:latin typeface="Consolas" pitchFamily="34" charset="0"/>
                <a:ea typeface="Consolas" pitchFamily="34" charset="-122"/>
                <a:cs typeface="Consolas" pitchFamily="34" charset="-120"/>
              </a:rPr>
              <a:t>LD_LIBRARY_PATH</a:t>
            </a:r>
            <a:r>
              <a:rPr lang="en-US" sz="1400" dirty="0">
                <a:solidFill>
                  <a:srgbClr val="1F2937"/>
                </a:solidFill>
                <a:latin typeface="Calibri" pitchFamily="34" charset="0"/>
                <a:ea typeface="Calibri" pitchFamily="34" charset="-122"/>
                <a:cs typeface="Calibri" pitchFamily="34" charset="-120"/>
              </a:rPr>
              <a:t> when you run a program with </a:t>
            </a:r>
            <a:r>
              <a:rPr lang="en-US" sz="1400" dirty="0">
                <a:solidFill>
                  <a:srgbClr val="1E2761"/>
                </a:solidFill>
                <a:latin typeface="Consolas" pitchFamily="34" charset="0"/>
                <a:ea typeface="Consolas" pitchFamily="34" charset="-122"/>
                <a:cs typeface="Consolas" pitchFamily="34" charset="-120"/>
              </a:rPr>
              <a:t>sudo</a:t>
            </a:r>
            <a:r>
              <a:rPr lang="en-US" sz="1400" dirty="0">
                <a:solidFill>
                  <a:srgbClr val="1F2937"/>
                </a:solidFill>
                <a:latin typeface="Calibri" pitchFamily="34" charset="0"/>
                <a:ea typeface="Calibri" pitchFamily="34" charset="-122"/>
                <a:cs typeface="Calibri" pitchFamily="34" charset="-120"/>
              </a:rPr>
              <a:t> or any setuid binary. </a:t>
            </a:r>
            <a:r>
              <a:rPr lang="en-US" sz="1400" b="1" dirty="0">
                <a:solidFill>
                  <a:srgbClr val="1F2937"/>
                </a:solidFill>
                <a:latin typeface="Calibri" pitchFamily="34" charset="0"/>
                <a:ea typeface="Calibri" pitchFamily="34" charset="-122"/>
                <a:cs typeface="Calibri" pitchFamily="34" charset="-120"/>
              </a:rPr>
              <a:t>Intentional.</a:t>
            </a:r>
            <a:r>
              <a:rPr lang="en-US" sz="1400" dirty="0">
                <a:solidFill>
                  <a:srgbClr val="1F2937"/>
                </a:solidFill>
                <a:latin typeface="Calibri" pitchFamily="34" charset="0"/>
                <a:ea typeface="Calibri" pitchFamily="34" charset="-122"/>
                <a:cs typeface="Calibri" pitchFamily="34" charset="-120"/>
              </a:rPr>
              <a:t> The cybersecurity session will revisit why.</a:t>
            </a:r>
            <a:endParaRPr lang="en-US" sz="1400" dirty="0"/>
          </a:p>
        </p:txBody>
      </p:sp>
      <p:sp>
        <p:nvSpPr>
          <p:cNvPr id="7" name="Shape 5"/>
          <p:cNvSpPr/>
          <p:nvPr/>
        </p:nvSpPr>
        <p:spPr>
          <a:xfrm>
            <a:off x="457200" y="2924048"/>
            <a:ext cx="1005840" cy="292608"/>
          </a:xfrm>
          <a:prstGeom prst="rect">
            <a:avLst/>
          </a:prstGeom>
          <a:solidFill>
            <a:srgbClr val="B45309"/>
          </a:solidFill>
          <a:ln w="12700">
            <a:solidFill>
              <a:srgbClr val="B45309"/>
            </a:solidFill>
            <a:prstDash val="solid"/>
          </a:ln>
        </p:spPr>
        <p:txBody>
          <a:bodyPr/>
          <a:lstStyle/>
          <a:p>
            <a:endParaRPr lang="en-US"/>
          </a:p>
        </p:txBody>
      </p:sp>
      <p:sp>
        <p:nvSpPr>
          <p:cNvPr id="8" name="Text 6"/>
          <p:cNvSpPr/>
          <p:nvPr/>
        </p:nvSpPr>
        <p:spPr>
          <a:xfrm>
            <a:off x="457200" y="2924048"/>
            <a:ext cx="1005840" cy="292608"/>
          </a:xfrm>
          <a:prstGeom prst="rect">
            <a:avLst/>
          </a:prstGeom>
          <a:noFill/>
          <a:ln/>
        </p:spPr>
        <p:txBody>
          <a:bodyPr wrap="square" lIns="0" tIns="0" rIns="0" bIns="0" rtlCol="0" anchor="ctr"/>
          <a:lstStyle/>
          <a:p>
            <a:pPr marL="0" indent="0" algn="ctr">
              <a:buNone/>
            </a:pPr>
            <a:r>
              <a:rPr lang="en-US" sz="1100" b="1" kern="0" spc="200" dirty="0">
                <a:solidFill>
                  <a:srgbClr val="FFFFFF"/>
                </a:solidFill>
                <a:latin typeface="Calibri" pitchFamily="34" charset="0"/>
                <a:ea typeface="Calibri" pitchFamily="34" charset="-122"/>
                <a:cs typeface="Calibri" pitchFamily="34" charset="-120"/>
              </a:rPr>
              <a:t>WATCH OUT</a:t>
            </a:r>
            <a:endParaRPr lang="en-US" sz="1100" dirty="0"/>
          </a:p>
        </p:txBody>
      </p:sp>
      <p:sp>
        <p:nvSpPr>
          <p:cNvPr id="9" name="Text 7"/>
          <p:cNvSpPr/>
          <p:nvPr/>
        </p:nvSpPr>
        <p:spPr>
          <a:xfrm>
            <a:off x="548640" y="3353816"/>
            <a:ext cx="8046720" cy="619760"/>
          </a:xfrm>
          <a:prstGeom prst="rect">
            <a:avLst/>
          </a:prstGeom>
          <a:solidFill>
            <a:srgbClr val="FFFFFF"/>
          </a:solidFill>
          <a:ln/>
        </p:spPr>
        <p:txBody>
          <a:bodyPr wrap="square" lIns="0" tIns="0" rIns="0" bIns="0" rtlCol="0" anchor="t"/>
          <a:lstStyle/>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Don't set </a:t>
            </a:r>
            <a:r>
              <a:rPr lang="en-US" sz="1400" dirty="0">
                <a:solidFill>
                  <a:srgbClr val="1E2761"/>
                </a:solidFill>
                <a:latin typeface="Consolas" pitchFamily="34" charset="0"/>
                <a:ea typeface="Consolas" pitchFamily="34" charset="-122"/>
                <a:cs typeface="Consolas" pitchFamily="34" charset="-120"/>
              </a:rPr>
              <a:t>LD_LIBRARY_PATH</a:t>
            </a:r>
            <a:r>
              <a:rPr lang="en-US" sz="1400" dirty="0">
                <a:solidFill>
                  <a:srgbClr val="1F2937"/>
                </a:solidFill>
                <a:latin typeface="Calibri" pitchFamily="34" charset="0"/>
                <a:ea typeface="Calibri" pitchFamily="34" charset="-122"/>
                <a:cs typeface="Calibri" pitchFamily="34" charset="-120"/>
              </a:rPr>
              <a:t> globally (e.g., in </a:t>
            </a:r>
            <a:r>
              <a:rPr lang="en-US" sz="1400" dirty="0">
                <a:solidFill>
                  <a:srgbClr val="1E2761"/>
                </a:solidFill>
                <a:latin typeface="Consolas" pitchFamily="34" charset="0"/>
                <a:ea typeface="Consolas" pitchFamily="34" charset="-122"/>
                <a:cs typeface="Consolas" pitchFamily="34" charset="-120"/>
              </a:rPr>
              <a:t>.bashrc</a:t>
            </a:r>
            <a:r>
              <a:rPr lang="en-US" sz="1400" dirty="0">
                <a:solidFill>
                  <a:srgbClr val="1F2937"/>
                </a:solidFill>
                <a:latin typeface="Calibri" pitchFamily="34" charset="0"/>
                <a:ea typeface="Calibri" pitchFamily="34" charset="-122"/>
                <a:cs typeface="Calibri" pitchFamily="34" charset="-120"/>
              </a:rPr>
              <a:t>). Set it </a:t>
            </a:r>
            <a:r>
              <a:rPr lang="en-US" sz="1400" b="1" dirty="0">
                <a:solidFill>
                  <a:srgbClr val="1F2937"/>
                </a:solidFill>
                <a:latin typeface="Calibri" pitchFamily="34" charset="0"/>
                <a:ea typeface="Calibri" pitchFamily="34" charset="-122"/>
                <a:cs typeface="Calibri" pitchFamily="34" charset="-120"/>
              </a:rPr>
              <a:t>inline</a:t>
            </a:r>
            <a:r>
              <a:rPr lang="en-US" sz="1400" dirty="0">
                <a:solidFill>
                  <a:srgbClr val="1F2937"/>
                </a:solidFill>
                <a:latin typeface="Calibri" pitchFamily="34" charset="0"/>
                <a:ea typeface="Calibri" pitchFamily="34" charset="-122"/>
                <a:cs typeface="Calibri" pitchFamily="34" charset="-120"/>
              </a:rPr>
              <a:t>, just for the command that needs it.</a:t>
            </a:r>
            <a:endParaRPr lang="en-US" sz="140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bg>
      <p:bgPr>
        <a:solidFill>
          <a:srgbClr val="FFFFFF"/>
        </a:solidFill>
        <a:effectLst/>
      </p:bgPr>
    </p:bg>
    <p:spTree>
      <p:nvGrpSpPr>
        <p:cNvPr id="1" name=""/>
        <p:cNvGrpSpPr/>
        <p:nvPr/>
      </p:nvGrpSpPr>
      <p:grpSpPr>
        <a:xfrm>
          <a:off x="0" y="0"/>
          <a:ext cx="0" cy="0"/>
          <a:chOff x="0" y="0"/>
          <a:chExt cx="0" cy="0"/>
        </a:xfrm>
      </p:grpSpPr>
      <p:pic>
        <p:nvPicPr>
          <p:cNvPr id="11" name="Picture 10" descr="access-footer.jpg"/>
          <p:cNvPicPr>
            <a:picLocks noChangeAspect="1"/>
          </p:cNvPicPr>
          <p:nvPr/>
        </p:nvPicPr>
        <p:blipFill>
          <a:blip r:embed="rId3"/>
          <a:stretch>
            <a:fillRect/>
          </a:stretch>
        </p:blipFill>
        <p:spPr>
          <a:xfrm>
            <a:off x="0" y="0"/>
            <a:ext cx="9144000" cy="5143500"/>
          </a:xfrm>
          <a:prstGeom prst="rect">
            <a:avLst/>
          </a:prstGeom>
        </p:spPr>
      </p:pic>
      <p:sp>
        <p:nvSpPr>
          <p:cNvPr id="2" name="Text 0"/>
          <p:cNvSpPr/>
          <p:nvPr/>
        </p:nvSpPr>
        <p:spPr>
          <a:xfrm>
            <a:off x="457200" y="274320"/>
            <a:ext cx="8229600" cy="594360"/>
          </a:xfrm>
          <a:prstGeom prst="rect">
            <a:avLst/>
          </a:prstGeom>
          <a:solidFill>
            <a:srgbClr val="FFFFFF"/>
          </a:solidFill>
          <a:ln/>
        </p:spPr>
        <p:txBody>
          <a:bodyPr wrap="square" lIns="0" tIns="0" rIns="0" bIns="0" rtlCol="0" anchor="ctr"/>
          <a:lstStyle/>
          <a:p>
            <a:pPr marL="0" indent="0">
              <a:buNone/>
            </a:pPr>
            <a:r>
              <a:rPr lang="en-US" sz="2800" b="1" dirty="0">
                <a:solidFill>
                  <a:srgbClr val="1E2761"/>
                </a:solidFill>
                <a:latin typeface="Cambria" pitchFamily="34" charset="0"/>
                <a:ea typeface="Cambria" pitchFamily="34" charset="-122"/>
                <a:cs typeface="Cambria" pitchFamily="34" charset="-120"/>
              </a:rPr>
              <a:t>Making changes stick: .bashrc</a:t>
            </a:r>
            <a:endParaRPr lang="en-US" sz="2800" dirty="0"/>
          </a:p>
        </p:txBody>
      </p:sp>
      <p:sp>
        <p:nvSpPr>
          <p:cNvPr id="3" name="Shape 1"/>
          <p:cNvSpPr/>
          <p:nvPr/>
        </p:nvSpPr>
        <p:spPr>
          <a:xfrm>
            <a:off x="457200" y="868680"/>
            <a:ext cx="548640" cy="36576"/>
          </a:xfrm>
          <a:prstGeom prst="rect">
            <a:avLst/>
          </a:prstGeom>
          <a:solidFill>
            <a:srgbClr val="1E2761"/>
          </a:solidFill>
          <a:ln w="12700">
            <a:solidFill>
              <a:srgbClr val="1E2761"/>
            </a:solidFill>
            <a:prstDash val="solid"/>
          </a:ln>
        </p:spPr>
        <p:txBody>
          <a:bodyPr/>
          <a:lstStyle/>
          <a:p>
            <a:endParaRPr lang="en-US"/>
          </a:p>
        </p:txBody>
      </p:sp>
      <p:sp>
        <p:nvSpPr>
          <p:cNvPr id="4" name="Shape 2"/>
          <p:cNvSpPr/>
          <p:nvPr/>
        </p:nvSpPr>
        <p:spPr>
          <a:xfrm>
            <a:off x="457200" y="1005840"/>
            <a:ext cx="1005840" cy="292608"/>
          </a:xfrm>
          <a:prstGeom prst="rect">
            <a:avLst/>
          </a:prstGeom>
          <a:solidFill>
            <a:srgbClr val="1E2761"/>
          </a:solidFill>
          <a:ln w="12700">
            <a:solidFill>
              <a:srgbClr val="1E2761"/>
            </a:solidFill>
            <a:prstDash val="solid"/>
          </a:ln>
        </p:spPr>
        <p:txBody>
          <a:bodyPr/>
          <a:lstStyle/>
          <a:p>
            <a:endParaRPr lang="en-US"/>
          </a:p>
        </p:txBody>
      </p:sp>
      <p:sp>
        <p:nvSpPr>
          <p:cNvPr id="5" name="Text 3"/>
          <p:cNvSpPr/>
          <p:nvPr/>
        </p:nvSpPr>
        <p:spPr>
          <a:xfrm>
            <a:off x="457200" y="1005840"/>
            <a:ext cx="1005840" cy="292608"/>
          </a:xfrm>
          <a:prstGeom prst="rect">
            <a:avLst/>
          </a:prstGeom>
          <a:noFill/>
          <a:ln/>
        </p:spPr>
        <p:txBody>
          <a:bodyPr wrap="square" lIns="0" tIns="0" rIns="0" bIns="0" rtlCol="0" anchor="ctr"/>
          <a:lstStyle/>
          <a:p>
            <a:pPr marL="0" indent="0" algn="ctr">
              <a:buNone/>
            </a:pPr>
            <a:r>
              <a:rPr lang="en-US" sz="1100" b="1" kern="0" spc="200" dirty="0">
                <a:solidFill>
                  <a:srgbClr val="FFFFFF"/>
                </a:solidFill>
                <a:latin typeface="Calibri" pitchFamily="34" charset="0"/>
                <a:ea typeface="Calibri" pitchFamily="34" charset="-122"/>
                <a:cs typeface="Calibri" pitchFamily="34" charset="-120"/>
              </a:rPr>
              <a:t>TALK</a:t>
            </a:r>
            <a:endParaRPr lang="en-US" sz="1100" dirty="0"/>
          </a:p>
        </p:txBody>
      </p:sp>
      <p:sp>
        <p:nvSpPr>
          <p:cNvPr id="6" name="Text 4"/>
          <p:cNvSpPr/>
          <p:nvPr/>
        </p:nvSpPr>
        <p:spPr>
          <a:xfrm>
            <a:off x="548640" y="1435608"/>
            <a:ext cx="8046720" cy="944880"/>
          </a:xfrm>
          <a:prstGeom prst="rect">
            <a:avLst/>
          </a:prstGeom>
          <a:solidFill>
            <a:srgbClr val="FFFFFF"/>
          </a:solidFill>
          <a:ln/>
        </p:spPr>
        <p:txBody>
          <a:bodyPr wrap="square" lIns="0" tIns="0" rIns="0" bIns="0" rtlCol="0" anchor="t"/>
          <a:lstStyle/>
          <a:p>
            <a:pPr marL="228600" indent="-228600">
              <a:spcAft>
                <a:spcPts val="600"/>
              </a:spcAft>
              <a:buSzPct val="100000"/>
              <a:buChar char="■"/>
            </a:pPr>
            <a:r>
              <a:rPr lang="en-US" sz="1400" dirty="0">
                <a:solidFill>
                  <a:srgbClr val="1E2761"/>
                </a:solidFill>
                <a:latin typeface="Consolas" pitchFamily="34" charset="0"/>
                <a:ea typeface="Consolas" pitchFamily="34" charset="-122"/>
                <a:cs typeface="Consolas" pitchFamily="34" charset="-120"/>
              </a:rPr>
              <a:t>export</a:t>
            </a:r>
            <a:r>
              <a:rPr lang="en-US" sz="1400" dirty="0">
                <a:solidFill>
                  <a:srgbClr val="1F2937"/>
                </a:solidFill>
                <a:latin typeface="Calibri" pitchFamily="34" charset="0"/>
                <a:ea typeface="Calibri" pitchFamily="34" charset="-122"/>
                <a:cs typeface="Calibri" pitchFamily="34" charset="-120"/>
              </a:rPr>
              <a:t> in your terminal is </a:t>
            </a:r>
            <a:r>
              <a:rPr lang="en-US" sz="1400" b="1" dirty="0">
                <a:solidFill>
                  <a:srgbClr val="1F2937"/>
                </a:solidFill>
                <a:latin typeface="Calibri" pitchFamily="34" charset="0"/>
                <a:ea typeface="Calibri" pitchFamily="34" charset="-122"/>
                <a:cs typeface="Calibri" pitchFamily="34" charset="-120"/>
              </a:rPr>
              <a:t>temporary</a:t>
            </a:r>
            <a:r>
              <a:rPr lang="en-US" sz="1400" dirty="0">
                <a:solidFill>
                  <a:srgbClr val="1F2937"/>
                </a:solidFill>
                <a:latin typeface="Calibri" pitchFamily="34" charset="0"/>
                <a:ea typeface="Calibri" pitchFamily="34" charset="-122"/>
                <a:cs typeface="Calibri" pitchFamily="34" charset="-120"/>
              </a:rPr>
              <a:t> — gone when the terminal closes.</a:t>
            </a:r>
            <a:endParaRPr lang="en-US" sz="1400" dirty="0"/>
          </a:p>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To make it permanent, add the line to </a:t>
            </a:r>
            <a:r>
              <a:rPr lang="en-US" sz="1400" dirty="0">
                <a:solidFill>
                  <a:srgbClr val="1E2761"/>
                </a:solidFill>
                <a:latin typeface="Consolas" pitchFamily="34" charset="0"/>
                <a:ea typeface="Consolas" pitchFamily="34" charset="-122"/>
                <a:cs typeface="Consolas" pitchFamily="34" charset="-120"/>
              </a:rPr>
              <a:t>~/.bashrc</a:t>
            </a:r>
            <a:r>
              <a:rPr lang="en-US" sz="1400" dirty="0">
                <a:solidFill>
                  <a:srgbClr val="1F2937"/>
                </a:solidFill>
                <a:latin typeface="Calibri" pitchFamily="34" charset="0"/>
                <a:ea typeface="Calibri" pitchFamily="34" charset="-122"/>
                <a:cs typeface="Calibri" pitchFamily="34" charset="-120"/>
              </a:rPr>
              <a:t>. That file runs every time you open a new bash shell.</a:t>
            </a:r>
            <a:endParaRPr lang="en-US" sz="1400" dirty="0"/>
          </a:p>
        </p:txBody>
      </p:sp>
      <p:sp>
        <p:nvSpPr>
          <p:cNvPr id="7" name="Shape 5"/>
          <p:cNvSpPr/>
          <p:nvPr/>
        </p:nvSpPr>
        <p:spPr>
          <a:xfrm>
            <a:off x="457200" y="2426208"/>
            <a:ext cx="1005840" cy="292608"/>
          </a:xfrm>
          <a:prstGeom prst="rect">
            <a:avLst/>
          </a:prstGeom>
          <a:solidFill>
            <a:srgbClr val="0369A1"/>
          </a:solidFill>
          <a:ln w="12700">
            <a:solidFill>
              <a:srgbClr val="0369A1"/>
            </a:solidFill>
            <a:prstDash val="solid"/>
          </a:ln>
        </p:spPr>
        <p:txBody>
          <a:bodyPr/>
          <a:lstStyle/>
          <a:p>
            <a:endParaRPr lang="en-US"/>
          </a:p>
        </p:txBody>
      </p:sp>
      <p:sp>
        <p:nvSpPr>
          <p:cNvPr id="8" name="Text 6"/>
          <p:cNvSpPr/>
          <p:nvPr/>
        </p:nvSpPr>
        <p:spPr>
          <a:xfrm>
            <a:off x="457200" y="2426208"/>
            <a:ext cx="1005840" cy="292608"/>
          </a:xfrm>
          <a:prstGeom prst="rect">
            <a:avLst/>
          </a:prstGeom>
          <a:noFill/>
          <a:ln/>
        </p:spPr>
        <p:txBody>
          <a:bodyPr wrap="square" lIns="0" tIns="0" rIns="0" bIns="0" rtlCol="0" anchor="ctr"/>
          <a:lstStyle/>
          <a:p>
            <a:pPr marL="0" indent="0" algn="ctr">
              <a:buNone/>
            </a:pPr>
            <a:r>
              <a:rPr lang="en-US" sz="1100" b="1" kern="0" spc="200" dirty="0">
                <a:solidFill>
                  <a:srgbClr val="FFFFFF"/>
                </a:solidFill>
                <a:latin typeface="Calibri" pitchFamily="34" charset="0"/>
                <a:ea typeface="Calibri" pitchFamily="34" charset="-122"/>
                <a:cs typeface="Calibri" pitchFamily="34" charset="-120"/>
              </a:rPr>
              <a:t>DEMO</a:t>
            </a:r>
            <a:endParaRPr lang="en-US" sz="1100" dirty="0"/>
          </a:p>
        </p:txBody>
      </p:sp>
      <p:sp>
        <p:nvSpPr>
          <p:cNvPr id="9" name="Shape 7"/>
          <p:cNvSpPr/>
          <p:nvPr/>
        </p:nvSpPr>
        <p:spPr>
          <a:xfrm>
            <a:off x="548640" y="2855976"/>
            <a:ext cx="8046720" cy="1668780"/>
          </a:xfrm>
          <a:prstGeom prst="rect">
            <a:avLst/>
          </a:prstGeom>
          <a:solidFill>
            <a:srgbClr val="0F172A"/>
          </a:solidFill>
          <a:ln w="12700">
            <a:solidFill>
              <a:srgbClr val="0F172A"/>
            </a:solidFill>
            <a:prstDash val="solid"/>
          </a:ln>
        </p:spPr>
        <p:txBody>
          <a:bodyPr/>
          <a:lstStyle/>
          <a:p>
            <a:endParaRPr lang="en-US"/>
          </a:p>
        </p:txBody>
      </p:sp>
      <p:sp>
        <p:nvSpPr>
          <p:cNvPr id="10" name="Text 8"/>
          <p:cNvSpPr/>
          <p:nvPr/>
        </p:nvSpPr>
        <p:spPr>
          <a:xfrm>
            <a:off x="685800" y="2929128"/>
            <a:ext cx="7772400" cy="1522476"/>
          </a:xfrm>
          <a:prstGeom prst="rect">
            <a:avLst/>
          </a:prstGeom>
          <a:noFill/>
          <a:ln/>
        </p:spPr>
        <p:txBody>
          <a:bodyPr wrap="square" lIns="0" tIns="0" rIns="0" bIns="0" rtlCol="0" anchor="t"/>
          <a:lstStyle/>
          <a:p>
            <a:pPr marL="0" indent="0">
              <a:buNone/>
            </a:pPr>
            <a:r>
              <a:rPr lang="en-US" sz="1500" dirty="0">
                <a:solidFill>
                  <a:srgbClr val="E2E8F0"/>
                </a:solidFill>
                <a:latin typeface="Consolas" pitchFamily="34" charset="0"/>
                <a:ea typeface="Consolas" pitchFamily="34" charset="-122"/>
                <a:cs typeface="Consolas" pitchFamily="34" charset="-120"/>
              </a:rPr>
              <a:t>$ nano ~/.bashrc</a:t>
            </a:r>
            <a:endParaRPr lang="en-US" sz="1500" dirty="0"/>
          </a:p>
          <a:p>
            <a:pPr marL="0" indent="0">
              <a:buNone/>
            </a:pPr>
            <a:r>
              <a:rPr lang="en-US" sz="1500" dirty="0">
                <a:solidFill>
                  <a:srgbClr val="E2E8F0"/>
                </a:solidFill>
                <a:latin typeface="Consolas" pitchFamily="34" charset="0"/>
                <a:ea typeface="Consolas" pitchFamily="34" charset="-122"/>
                <a:cs typeface="Consolas" pitchFamily="34" charset="-120"/>
              </a:rPr>
              <a:t>    # at the bottom, add:</a:t>
            </a:r>
            <a:endParaRPr lang="en-US" sz="1500" dirty="0"/>
          </a:p>
          <a:p>
            <a:pPr marL="0" indent="0">
              <a:buNone/>
            </a:pPr>
            <a:r>
              <a:rPr lang="en-US" sz="1500" dirty="0">
                <a:solidFill>
                  <a:srgbClr val="E2E8F0"/>
                </a:solidFill>
                <a:latin typeface="Consolas" pitchFamily="34" charset="0"/>
                <a:ea typeface="Consolas" pitchFamily="34" charset="-122"/>
                <a:cs typeface="Consolas" pitchFamily="34" charset="-120"/>
              </a:rPr>
              <a:t>    export PATH=$HOME/scripts:$PATH</a:t>
            </a:r>
            <a:endParaRPr lang="en-US" sz="1500" dirty="0"/>
          </a:p>
          <a:p>
            <a:pPr marL="0" indent="0">
              <a:buNone/>
            </a:pPr>
            <a:r>
              <a:rPr lang="en-US" sz="1500" dirty="0">
                <a:solidFill>
                  <a:srgbClr val="E2E8F0"/>
                </a:solidFill>
                <a:latin typeface="Consolas" pitchFamily="34" charset="0"/>
                <a:ea typeface="Consolas" pitchFamily="34" charset="-122"/>
                <a:cs typeface="Consolas" pitchFamily="34" charset="-120"/>
              </a:rPr>
              <a:t>    # Ctrl-O save, Ctrl-X exit</a:t>
            </a:r>
            <a:endParaRPr lang="en-US" sz="1500" dirty="0"/>
          </a:p>
          <a:p>
            <a:pPr marL="0" indent="0">
              <a:buNone/>
            </a:pPr>
            <a:r>
              <a:rPr lang="en-US" sz="1500" dirty="0">
                <a:solidFill>
                  <a:srgbClr val="E2E8F0"/>
                </a:solidFill>
                <a:latin typeface="Consolas" pitchFamily="34" charset="0"/>
                <a:ea typeface="Consolas" pitchFamily="34" charset="-122"/>
                <a:cs typeface="Consolas" pitchFamily="34" charset="-120"/>
              </a:rPr>
              <a:t> </a:t>
            </a:r>
            <a:endParaRPr lang="en-US" sz="1500" dirty="0"/>
          </a:p>
          <a:p>
            <a:pPr marL="0" indent="0">
              <a:buNone/>
            </a:pPr>
            <a:r>
              <a:rPr lang="en-US" sz="1500" dirty="0">
                <a:solidFill>
                  <a:srgbClr val="E2E8F0"/>
                </a:solidFill>
                <a:latin typeface="Consolas" pitchFamily="34" charset="0"/>
                <a:ea typeface="Consolas" pitchFamily="34" charset="-122"/>
                <a:cs typeface="Consolas" pitchFamily="34" charset="-120"/>
              </a:rPr>
              <a:t>$ source ~/.bashrc       # apply to the current terminal</a:t>
            </a:r>
            <a:endParaRPr lang="en-US" sz="150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bg>
      <p:bgPr>
        <a:solidFill>
          <a:srgbClr val="FFFFFF"/>
        </a:solidFill>
        <a:effectLst/>
      </p:bgPr>
    </p:bg>
    <p:spTree>
      <p:nvGrpSpPr>
        <p:cNvPr id="1" name=""/>
        <p:cNvGrpSpPr/>
        <p:nvPr/>
      </p:nvGrpSpPr>
      <p:grpSpPr>
        <a:xfrm>
          <a:off x="0" y="0"/>
          <a:ext cx="0" cy="0"/>
          <a:chOff x="0" y="0"/>
          <a:chExt cx="0" cy="0"/>
        </a:xfrm>
      </p:grpSpPr>
      <p:pic>
        <p:nvPicPr>
          <p:cNvPr id="7" name="Picture 6" descr="access-footer.jpg"/>
          <p:cNvPicPr>
            <a:picLocks noChangeAspect="1"/>
          </p:cNvPicPr>
          <p:nvPr/>
        </p:nvPicPr>
        <p:blipFill>
          <a:blip r:embed="rId3"/>
          <a:stretch>
            <a:fillRect/>
          </a:stretch>
        </p:blipFill>
        <p:spPr>
          <a:xfrm>
            <a:off x="0" y="0"/>
            <a:ext cx="9144000" cy="5143500"/>
          </a:xfrm>
          <a:prstGeom prst="rect">
            <a:avLst/>
          </a:prstGeom>
        </p:spPr>
      </p:pic>
      <p:sp>
        <p:nvSpPr>
          <p:cNvPr id="2" name="Text 0"/>
          <p:cNvSpPr/>
          <p:nvPr/>
        </p:nvSpPr>
        <p:spPr>
          <a:xfrm>
            <a:off x="457200" y="274320"/>
            <a:ext cx="8229600" cy="594360"/>
          </a:xfrm>
          <a:prstGeom prst="rect">
            <a:avLst/>
          </a:prstGeom>
          <a:solidFill>
            <a:srgbClr val="FFFFFF"/>
          </a:solidFill>
          <a:ln/>
        </p:spPr>
        <p:txBody>
          <a:bodyPr wrap="square" lIns="0" tIns="0" rIns="0" bIns="0" rtlCol="0" anchor="ctr"/>
          <a:lstStyle/>
          <a:p>
            <a:pPr marL="0" indent="0">
              <a:buNone/>
            </a:pPr>
            <a:r>
              <a:rPr lang="en-US" sz="2800" b="1" dirty="0">
                <a:solidFill>
                  <a:srgbClr val="1E2761"/>
                </a:solidFill>
                <a:latin typeface="Cambria" pitchFamily="34" charset="0"/>
                <a:ea typeface="Cambria" pitchFamily="34" charset="-122"/>
                <a:cs typeface="Cambria" pitchFamily="34" charset="-120"/>
              </a:rPr>
              <a:t>Exercise: PATH in practice</a:t>
            </a:r>
            <a:endParaRPr lang="en-US" sz="2800" dirty="0"/>
          </a:p>
        </p:txBody>
      </p:sp>
      <p:sp>
        <p:nvSpPr>
          <p:cNvPr id="3" name="Shape 1"/>
          <p:cNvSpPr/>
          <p:nvPr/>
        </p:nvSpPr>
        <p:spPr>
          <a:xfrm>
            <a:off x="457200" y="868680"/>
            <a:ext cx="548640" cy="36576"/>
          </a:xfrm>
          <a:prstGeom prst="rect">
            <a:avLst/>
          </a:prstGeom>
          <a:solidFill>
            <a:srgbClr val="1E2761"/>
          </a:solidFill>
          <a:ln w="12700">
            <a:solidFill>
              <a:srgbClr val="1E2761"/>
            </a:solidFill>
            <a:prstDash val="solid"/>
          </a:ln>
        </p:spPr>
        <p:txBody>
          <a:bodyPr/>
          <a:lstStyle/>
          <a:p>
            <a:endParaRPr lang="en-US"/>
          </a:p>
        </p:txBody>
      </p:sp>
      <p:sp>
        <p:nvSpPr>
          <p:cNvPr id="4" name="Shape 2"/>
          <p:cNvSpPr/>
          <p:nvPr/>
        </p:nvSpPr>
        <p:spPr>
          <a:xfrm>
            <a:off x="457200" y="1005840"/>
            <a:ext cx="1005840" cy="292608"/>
          </a:xfrm>
          <a:prstGeom prst="rect">
            <a:avLst/>
          </a:prstGeom>
          <a:solidFill>
            <a:srgbClr val="047857"/>
          </a:solidFill>
          <a:ln w="12700">
            <a:solidFill>
              <a:srgbClr val="047857"/>
            </a:solidFill>
            <a:prstDash val="solid"/>
          </a:ln>
        </p:spPr>
        <p:txBody>
          <a:bodyPr/>
          <a:lstStyle/>
          <a:p>
            <a:endParaRPr lang="en-US"/>
          </a:p>
        </p:txBody>
      </p:sp>
      <p:sp>
        <p:nvSpPr>
          <p:cNvPr id="5" name="Text 3"/>
          <p:cNvSpPr/>
          <p:nvPr/>
        </p:nvSpPr>
        <p:spPr>
          <a:xfrm>
            <a:off x="457200" y="1005840"/>
            <a:ext cx="1005840" cy="292608"/>
          </a:xfrm>
          <a:prstGeom prst="rect">
            <a:avLst/>
          </a:prstGeom>
          <a:noFill/>
          <a:ln/>
        </p:spPr>
        <p:txBody>
          <a:bodyPr wrap="square" lIns="0" tIns="0" rIns="0" bIns="0" rtlCol="0" anchor="ctr"/>
          <a:lstStyle/>
          <a:p>
            <a:pPr marL="0" indent="0" algn="ctr">
              <a:buNone/>
            </a:pPr>
            <a:r>
              <a:rPr lang="en-US" sz="1100" b="1" kern="0" spc="200" dirty="0">
                <a:solidFill>
                  <a:srgbClr val="FFFFFF"/>
                </a:solidFill>
                <a:latin typeface="Calibri" pitchFamily="34" charset="0"/>
                <a:ea typeface="Calibri" pitchFamily="34" charset="-122"/>
                <a:cs typeface="Calibri" pitchFamily="34" charset="-120"/>
              </a:rPr>
              <a:t>EXERCISE</a:t>
            </a:r>
            <a:endParaRPr lang="en-US" sz="1100" dirty="0"/>
          </a:p>
        </p:txBody>
      </p:sp>
      <p:sp>
        <p:nvSpPr>
          <p:cNvPr id="6" name="Text 4"/>
          <p:cNvSpPr/>
          <p:nvPr/>
        </p:nvSpPr>
        <p:spPr>
          <a:xfrm>
            <a:off x="548640" y="1435608"/>
            <a:ext cx="8046720" cy="2575560"/>
          </a:xfrm>
          <a:prstGeom prst="rect">
            <a:avLst/>
          </a:prstGeom>
          <a:solidFill>
            <a:srgbClr val="FFFFFF"/>
          </a:solidFill>
          <a:ln/>
        </p:spPr>
        <p:txBody>
          <a:bodyPr wrap="square" lIns="0" tIns="0" rIns="0" bIns="0" rtlCol="0" anchor="t"/>
          <a:lstStyle/>
          <a:p>
            <a:pPr marL="279400" indent="-279400">
              <a:spcAft>
                <a:spcPts val="600"/>
              </a:spcAft>
              <a:buSzPct val="100000"/>
              <a:buFont typeface="+mj-lt"/>
              <a:buAutoNum type="arabicPeriod"/>
            </a:pPr>
            <a:r>
              <a:rPr lang="en-US" sz="1200" dirty="0">
                <a:solidFill>
                  <a:srgbClr val="1F2937"/>
                </a:solidFill>
                <a:latin typeface="Calibri" pitchFamily="34" charset="0"/>
                <a:ea typeface="Calibri" pitchFamily="34" charset="-122"/>
                <a:cs typeface="Calibri" pitchFamily="34" charset="-120"/>
              </a:rPr>
              <a:t>Print your current PATH: </a:t>
            </a:r>
            <a:r>
              <a:rPr lang="en-US" sz="1200" dirty="0">
                <a:solidFill>
                  <a:srgbClr val="1E2761"/>
                </a:solidFill>
                <a:latin typeface="Consolas" pitchFamily="34" charset="0"/>
                <a:ea typeface="Consolas" pitchFamily="34" charset="-122"/>
                <a:cs typeface="Consolas" pitchFamily="34" charset="-120"/>
              </a:rPr>
              <a:t>echo $PATH</a:t>
            </a:r>
            <a:r>
              <a:rPr lang="en-US" sz="1200" dirty="0">
                <a:solidFill>
                  <a:srgbClr val="1F2937"/>
                </a:solidFill>
                <a:latin typeface="Calibri" pitchFamily="34" charset="0"/>
                <a:ea typeface="Calibri" pitchFamily="34" charset="-122"/>
                <a:cs typeface="Calibri" pitchFamily="34" charset="-120"/>
              </a:rPr>
              <a:t>.</a:t>
            </a:r>
            <a:endParaRPr lang="en-US" sz="1200" dirty="0"/>
          </a:p>
          <a:p>
            <a:pPr marL="279400" indent="-279400">
              <a:spcAft>
                <a:spcPts val="600"/>
              </a:spcAft>
              <a:buSzPct val="100000"/>
              <a:buFont typeface="+mj-lt"/>
              <a:buAutoNum type="arabicPeriod"/>
            </a:pPr>
            <a:r>
              <a:rPr lang="en-US" sz="1200" dirty="0">
                <a:solidFill>
                  <a:srgbClr val="1F2937"/>
                </a:solidFill>
                <a:latin typeface="Calibri" pitchFamily="34" charset="0"/>
                <a:ea typeface="Calibri" pitchFamily="34" charset="-122"/>
                <a:cs typeface="Calibri" pitchFamily="34" charset="-120"/>
              </a:rPr>
              <a:t>Find where </a:t>
            </a:r>
            <a:r>
              <a:rPr lang="en-US" sz="1200" dirty="0">
                <a:solidFill>
                  <a:srgbClr val="1E2761"/>
                </a:solidFill>
                <a:latin typeface="Consolas" pitchFamily="34" charset="0"/>
                <a:ea typeface="Consolas" pitchFamily="34" charset="-122"/>
                <a:cs typeface="Consolas" pitchFamily="34" charset="-120"/>
              </a:rPr>
              <a:t>python3</a:t>
            </a:r>
            <a:r>
              <a:rPr lang="en-US" sz="1200" dirty="0">
                <a:solidFill>
                  <a:srgbClr val="1F2937"/>
                </a:solidFill>
                <a:latin typeface="Calibri" pitchFamily="34" charset="0"/>
                <a:ea typeface="Calibri" pitchFamily="34" charset="-122"/>
                <a:cs typeface="Calibri" pitchFamily="34" charset="-120"/>
              </a:rPr>
              <a:t> lives: </a:t>
            </a:r>
            <a:r>
              <a:rPr lang="en-US" sz="1200" dirty="0">
                <a:solidFill>
                  <a:srgbClr val="1E2761"/>
                </a:solidFill>
                <a:latin typeface="Consolas" pitchFamily="34" charset="0"/>
                <a:ea typeface="Consolas" pitchFamily="34" charset="-122"/>
                <a:cs typeface="Consolas" pitchFamily="34" charset="-120"/>
              </a:rPr>
              <a:t>which python3</a:t>
            </a:r>
            <a:r>
              <a:rPr lang="en-US" sz="1200" dirty="0">
                <a:solidFill>
                  <a:srgbClr val="1F2937"/>
                </a:solidFill>
                <a:latin typeface="Calibri" pitchFamily="34" charset="0"/>
                <a:ea typeface="Calibri" pitchFamily="34" charset="-122"/>
                <a:cs typeface="Calibri" pitchFamily="34" charset="-120"/>
              </a:rPr>
              <a:t>.</a:t>
            </a:r>
            <a:endParaRPr lang="en-US" sz="1200" dirty="0"/>
          </a:p>
          <a:p>
            <a:pPr marL="279400" indent="-279400">
              <a:spcAft>
                <a:spcPts val="600"/>
              </a:spcAft>
              <a:buSzPct val="100000"/>
              <a:buFont typeface="+mj-lt"/>
              <a:buAutoNum type="arabicPeriod"/>
            </a:pPr>
            <a:r>
              <a:rPr lang="en-US" sz="1200" dirty="0">
                <a:solidFill>
                  <a:srgbClr val="1F2937"/>
                </a:solidFill>
                <a:latin typeface="Calibri" pitchFamily="34" charset="0"/>
                <a:ea typeface="Calibri" pitchFamily="34" charset="-122"/>
                <a:cs typeface="Calibri" pitchFamily="34" charset="-120"/>
              </a:rPr>
              <a:t>Look at the shared libraries python3 needs: </a:t>
            </a:r>
            <a:r>
              <a:rPr lang="en-US" sz="1200" dirty="0">
                <a:solidFill>
                  <a:srgbClr val="1E2761"/>
                </a:solidFill>
                <a:latin typeface="Consolas" pitchFamily="34" charset="0"/>
                <a:ea typeface="Consolas" pitchFamily="34" charset="-122"/>
                <a:cs typeface="Consolas" pitchFamily="34" charset="-120"/>
              </a:rPr>
              <a:t>ldd $(which python3) | head</a:t>
            </a:r>
            <a:r>
              <a:rPr lang="en-US" sz="1200" dirty="0">
                <a:solidFill>
                  <a:srgbClr val="1F2937"/>
                </a:solidFill>
                <a:latin typeface="Calibri" pitchFamily="34" charset="0"/>
                <a:ea typeface="Calibri" pitchFamily="34" charset="-122"/>
                <a:cs typeface="Calibri" pitchFamily="34" charset="-120"/>
              </a:rPr>
              <a:t>.</a:t>
            </a:r>
            <a:endParaRPr lang="en-US" sz="1200" dirty="0"/>
          </a:p>
          <a:p>
            <a:pPr marL="279400" indent="-279400">
              <a:spcAft>
                <a:spcPts val="600"/>
              </a:spcAft>
              <a:buSzPct val="100000"/>
              <a:buFont typeface="+mj-lt"/>
              <a:buAutoNum type="arabicPeriod"/>
            </a:pPr>
            <a:r>
              <a:rPr lang="en-US" sz="1200" dirty="0">
                <a:solidFill>
                  <a:srgbClr val="1F2937"/>
                </a:solidFill>
                <a:latin typeface="Calibri" pitchFamily="34" charset="0"/>
                <a:ea typeface="Calibri" pitchFamily="34" charset="-122"/>
                <a:cs typeface="Calibri" pitchFamily="34" charset="-120"/>
              </a:rPr>
              <a:t>Make a tiny script:  </a:t>
            </a:r>
            <a:r>
              <a:rPr lang="en-US" sz="1200" dirty="0">
                <a:solidFill>
                  <a:srgbClr val="1E2761"/>
                </a:solidFill>
                <a:latin typeface="Consolas" pitchFamily="34" charset="0"/>
                <a:ea typeface="Consolas" pitchFamily="34" charset="-122"/>
                <a:cs typeface="Consolas" pitchFamily="34" charset="-120"/>
              </a:rPr>
              <a:t>mkdir -p ~/scripts &amp;&amp; echo 'echo "hi from my script"' &gt; ~/scripts/greet &amp;&amp; chmod +x ~/scripts/greet</a:t>
            </a:r>
            <a:r>
              <a:rPr lang="en-US" sz="1200" dirty="0">
                <a:solidFill>
                  <a:srgbClr val="1F2937"/>
                </a:solidFill>
                <a:latin typeface="Calibri" pitchFamily="34" charset="0"/>
                <a:ea typeface="Calibri" pitchFamily="34" charset="-122"/>
                <a:cs typeface="Calibri" pitchFamily="34" charset="-120"/>
              </a:rPr>
              <a:t>.</a:t>
            </a:r>
            <a:endParaRPr lang="en-US" sz="1200" dirty="0"/>
          </a:p>
          <a:p>
            <a:pPr marL="279400" indent="-279400">
              <a:spcAft>
                <a:spcPts val="600"/>
              </a:spcAft>
              <a:buSzPct val="100000"/>
              <a:buFont typeface="+mj-lt"/>
              <a:buAutoNum type="arabicPeriod"/>
            </a:pPr>
            <a:r>
              <a:rPr lang="en-US" sz="1200" dirty="0">
                <a:solidFill>
                  <a:srgbClr val="1F2937"/>
                </a:solidFill>
                <a:latin typeface="Calibri" pitchFamily="34" charset="0"/>
                <a:ea typeface="Calibri" pitchFamily="34" charset="-122"/>
                <a:cs typeface="Calibri" pitchFamily="34" charset="-120"/>
              </a:rPr>
              <a:t>Try running it by name: </a:t>
            </a:r>
            <a:r>
              <a:rPr lang="en-US" sz="1200" dirty="0">
                <a:solidFill>
                  <a:srgbClr val="1E2761"/>
                </a:solidFill>
                <a:latin typeface="Consolas" pitchFamily="34" charset="0"/>
                <a:ea typeface="Consolas" pitchFamily="34" charset="-122"/>
                <a:cs typeface="Consolas" pitchFamily="34" charset="-120"/>
              </a:rPr>
              <a:t>greet</a:t>
            </a:r>
            <a:r>
              <a:rPr lang="en-US" sz="1200" dirty="0">
                <a:solidFill>
                  <a:srgbClr val="1F2937"/>
                </a:solidFill>
                <a:latin typeface="Calibri" pitchFamily="34" charset="0"/>
                <a:ea typeface="Calibri" pitchFamily="34" charset="-122"/>
                <a:cs typeface="Calibri" pitchFamily="34" charset="-120"/>
              </a:rPr>
              <a:t> — fails, not in PATH.</a:t>
            </a:r>
            <a:endParaRPr lang="en-US" sz="1200" dirty="0"/>
          </a:p>
          <a:p>
            <a:pPr marL="279400" indent="-279400">
              <a:spcAft>
                <a:spcPts val="600"/>
              </a:spcAft>
              <a:buSzPct val="100000"/>
              <a:buFont typeface="+mj-lt"/>
              <a:buAutoNum type="arabicPeriod"/>
            </a:pPr>
            <a:r>
              <a:rPr lang="en-US" sz="1200" dirty="0">
                <a:solidFill>
                  <a:srgbClr val="1F2937"/>
                </a:solidFill>
                <a:latin typeface="Calibri" pitchFamily="34" charset="0"/>
                <a:ea typeface="Calibri" pitchFamily="34" charset="-122"/>
                <a:cs typeface="Calibri" pitchFamily="34" charset="-120"/>
              </a:rPr>
              <a:t>Run it by full path: </a:t>
            </a:r>
            <a:r>
              <a:rPr lang="en-US" sz="1200" dirty="0">
                <a:solidFill>
                  <a:srgbClr val="1E2761"/>
                </a:solidFill>
                <a:latin typeface="Consolas" pitchFamily="34" charset="0"/>
                <a:ea typeface="Consolas" pitchFamily="34" charset="-122"/>
                <a:cs typeface="Consolas" pitchFamily="34" charset="-120"/>
              </a:rPr>
              <a:t>~/scripts/greet</a:t>
            </a:r>
            <a:r>
              <a:rPr lang="en-US" sz="1200" dirty="0">
                <a:solidFill>
                  <a:srgbClr val="1F2937"/>
                </a:solidFill>
                <a:latin typeface="Calibri" pitchFamily="34" charset="0"/>
                <a:ea typeface="Calibri" pitchFamily="34" charset="-122"/>
                <a:cs typeface="Calibri" pitchFamily="34" charset="-120"/>
              </a:rPr>
              <a:t> — works.</a:t>
            </a:r>
            <a:endParaRPr lang="en-US" sz="1200" dirty="0"/>
          </a:p>
          <a:p>
            <a:pPr marL="279400" indent="-279400">
              <a:spcAft>
                <a:spcPts val="600"/>
              </a:spcAft>
              <a:buSzPct val="100000"/>
              <a:buFont typeface="+mj-lt"/>
              <a:buAutoNum type="arabicPeriod"/>
            </a:pPr>
            <a:r>
              <a:rPr lang="en-US" sz="1200" dirty="0">
                <a:solidFill>
                  <a:srgbClr val="1F2937"/>
                </a:solidFill>
                <a:latin typeface="Calibri" pitchFamily="34" charset="0"/>
                <a:ea typeface="Calibri" pitchFamily="34" charset="-122"/>
                <a:cs typeface="Calibri" pitchFamily="34" charset="-120"/>
              </a:rPr>
              <a:t>Add ~/scripts to PATH: </a:t>
            </a:r>
            <a:r>
              <a:rPr lang="en-US" sz="1200" dirty="0">
                <a:solidFill>
                  <a:srgbClr val="1E2761"/>
                </a:solidFill>
                <a:latin typeface="Consolas" pitchFamily="34" charset="0"/>
                <a:ea typeface="Consolas" pitchFamily="34" charset="-122"/>
                <a:cs typeface="Consolas" pitchFamily="34" charset="-120"/>
              </a:rPr>
              <a:t>export PATH=$HOME/scripts:$PATH</a:t>
            </a:r>
            <a:r>
              <a:rPr lang="en-US" sz="1200" dirty="0">
                <a:solidFill>
                  <a:srgbClr val="1F2937"/>
                </a:solidFill>
                <a:latin typeface="Calibri" pitchFamily="34" charset="0"/>
                <a:ea typeface="Calibri" pitchFamily="34" charset="-122"/>
                <a:cs typeface="Calibri" pitchFamily="34" charset="-120"/>
              </a:rPr>
              <a:t>.</a:t>
            </a:r>
            <a:endParaRPr lang="en-US" sz="1200" dirty="0"/>
          </a:p>
          <a:p>
            <a:pPr marL="279400" indent="-279400">
              <a:spcAft>
                <a:spcPts val="600"/>
              </a:spcAft>
              <a:buSzPct val="100000"/>
              <a:buFont typeface="+mj-lt"/>
              <a:buAutoNum type="arabicPeriod"/>
            </a:pPr>
            <a:r>
              <a:rPr lang="en-US" sz="1200" dirty="0">
                <a:solidFill>
                  <a:srgbClr val="1F2937"/>
                </a:solidFill>
                <a:latin typeface="Calibri" pitchFamily="34" charset="0"/>
                <a:ea typeface="Calibri" pitchFamily="34" charset="-122"/>
                <a:cs typeface="Calibri" pitchFamily="34" charset="-120"/>
              </a:rPr>
              <a:t>Now </a:t>
            </a:r>
            <a:r>
              <a:rPr lang="en-US" sz="1200" dirty="0">
                <a:solidFill>
                  <a:srgbClr val="1E2761"/>
                </a:solidFill>
                <a:latin typeface="Consolas" pitchFamily="34" charset="0"/>
                <a:ea typeface="Consolas" pitchFamily="34" charset="-122"/>
                <a:cs typeface="Consolas" pitchFamily="34" charset="-120"/>
              </a:rPr>
              <a:t>greet</a:t>
            </a:r>
            <a:r>
              <a:rPr lang="en-US" sz="1200" dirty="0">
                <a:solidFill>
                  <a:srgbClr val="1F2937"/>
                </a:solidFill>
                <a:latin typeface="Calibri" pitchFamily="34" charset="0"/>
                <a:ea typeface="Calibri" pitchFamily="34" charset="-122"/>
                <a:cs typeface="Calibri" pitchFamily="34" charset="-120"/>
              </a:rPr>
              <a:t> works by name.</a:t>
            </a:r>
            <a:endParaRPr lang="en-US" sz="120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0">
            <a:extLst>
              <a:ext uri="{FF2B5EF4-FFF2-40B4-BE49-F238E27FC236}">
                <a16:creationId xmlns:a16="http://schemas.microsoft.com/office/drawing/2014/main" id="{C4F308D0-E16C-4CC5-260F-E28847C8B2B2}"/>
              </a:ext>
            </a:extLst>
          </p:cNvPr>
          <p:cNvSpPr/>
          <p:nvPr/>
        </p:nvSpPr>
        <p:spPr>
          <a:xfrm>
            <a:off x="548640" y="1280160"/>
            <a:ext cx="8046720" cy="457200"/>
          </a:xfrm>
          <a:prstGeom prst="rect">
            <a:avLst/>
          </a:prstGeom>
          <a:noFill/>
          <a:ln/>
        </p:spPr>
        <p:txBody>
          <a:bodyPr wrap="square" lIns="0" tIns="0" rIns="0" bIns="0" rtlCol="0" anchor="ctr"/>
          <a:lstStyle/>
          <a:p>
            <a:pPr marL="0" indent="0">
              <a:buNone/>
            </a:pPr>
            <a:r>
              <a:rPr lang="en-US" sz="1600" b="1" kern="0" spc="800" dirty="0">
                <a:latin typeface="Calibri" pitchFamily="34" charset="0"/>
                <a:ea typeface="Calibri" pitchFamily="34" charset="-122"/>
                <a:cs typeface="Calibri" pitchFamily="34" charset="-120"/>
              </a:rPr>
              <a:t>BLOCK 11</a:t>
            </a:r>
            <a:endParaRPr lang="en-US" sz="1600" dirty="0"/>
          </a:p>
        </p:txBody>
      </p:sp>
      <p:sp>
        <p:nvSpPr>
          <p:cNvPr id="4" name="Text 1">
            <a:extLst>
              <a:ext uri="{FF2B5EF4-FFF2-40B4-BE49-F238E27FC236}">
                <a16:creationId xmlns:a16="http://schemas.microsoft.com/office/drawing/2014/main" id="{39AB9CA9-4368-8FE5-AD42-55EA850B62AF}"/>
              </a:ext>
            </a:extLst>
          </p:cNvPr>
          <p:cNvSpPr/>
          <p:nvPr/>
        </p:nvSpPr>
        <p:spPr>
          <a:xfrm>
            <a:off x="548640" y="1783080"/>
            <a:ext cx="8046720" cy="1463040"/>
          </a:xfrm>
          <a:prstGeom prst="rect">
            <a:avLst/>
          </a:prstGeom>
          <a:noFill/>
          <a:ln/>
        </p:spPr>
        <p:txBody>
          <a:bodyPr wrap="square" lIns="0" tIns="0" rIns="0" bIns="0" rtlCol="0" anchor="t"/>
          <a:lstStyle/>
          <a:p>
            <a:pPr marL="0" indent="0">
              <a:buNone/>
            </a:pPr>
            <a:r>
              <a:rPr lang="en-US" sz="4000" b="1" dirty="0">
                <a:latin typeface="Cambria" pitchFamily="34" charset="0"/>
                <a:ea typeface="Cambria" pitchFamily="34" charset="-122"/>
                <a:cs typeface="Cambria" pitchFamily="34" charset="-120"/>
              </a:rPr>
              <a:t>Python virtual environments</a:t>
            </a:r>
            <a:endParaRPr lang="en-US" sz="4000" dirty="0"/>
          </a:p>
        </p:txBody>
      </p:sp>
    </p:spTree>
    <p:extLst>
      <p:ext uri="{BB962C8B-B14F-4D97-AF65-F5344CB8AC3E}">
        <p14:creationId xmlns:p14="http://schemas.microsoft.com/office/powerpoint/2010/main" val="2956951707"/>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bg>
      <p:bgPr>
        <a:solidFill>
          <a:srgbClr val="FFFFFF"/>
        </a:solidFill>
        <a:effectLst/>
      </p:bgPr>
    </p:bg>
    <p:spTree>
      <p:nvGrpSpPr>
        <p:cNvPr id="1" name=""/>
        <p:cNvGrpSpPr/>
        <p:nvPr/>
      </p:nvGrpSpPr>
      <p:grpSpPr>
        <a:xfrm>
          <a:off x="0" y="0"/>
          <a:ext cx="0" cy="0"/>
          <a:chOff x="0" y="0"/>
          <a:chExt cx="0" cy="0"/>
        </a:xfrm>
      </p:grpSpPr>
      <p:pic>
        <p:nvPicPr>
          <p:cNvPr id="7" name="Picture 6" descr="access-footer.jpg"/>
          <p:cNvPicPr>
            <a:picLocks noChangeAspect="1"/>
          </p:cNvPicPr>
          <p:nvPr/>
        </p:nvPicPr>
        <p:blipFill>
          <a:blip r:embed="rId3"/>
          <a:stretch>
            <a:fillRect/>
          </a:stretch>
        </p:blipFill>
        <p:spPr>
          <a:xfrm>
            <a:off x="0" y="0"/>
            <a:ext cx="9144000" cy="5143500"/>
          </a:xfrm>
          <a:prstGeom prst="rect">
            <a:avLst/>
          </a:prstGeom>
        </p:spPr>
      </p:pic>
      <p:sp>
        <p:nvSpPr>
          <p:cNvPr id="2" name="Text 0"/>
          <p:cNvSpPr/>
          <p:nvPr/>
        </p:nvSpPr>
        <p:spPr>
          <a:xfrm>
            <a:off x="457200" y="274320"/>
            <a:ext cx="8229600" cy="594360"/>
          </a:xfrm>
          <a:prstGeom prst="rect">
            <a:avLst/>
          </a:prstGeom>
          <a:solidFill>
            <a:srgbClr val="FFFFFF"/>
          </a:solidFill>
          <a:ln/>
        </p:spPr>
        <p:txBody>
          <a:bodyPr wrap="square" lIns="0" tIns="0" rIns="0" bIns="0" rtlCol="0" anchor="ctr"/>
          <a:lstStyle/>
          <a:p>
            <a:pPr marL="0" indent="0">
              <a:buNone/>
            </a:pPr>
            <a:r>
              <a:rPr lang="en-US" sz="2800" b="1" dirty="0">
                <a:solidFill>
                  <a:srgbClr val="1E2761"/>
                </a:solidFill>
                <a:latin typeface="Cambria" pitchFamily="34" charset="0"/>
                <a:ea typeface="Cambria" pitchFamily="34" charset="-122"/>
                <a:cs typeface="Cambria" pitchFamily="34" charset="-120"/>
              </a:rPr>
              <a:t>Why this block matters</a:t>
            </a:r>
            <a:endParaRPr lang="en-US" sz="2800" dirty="0"/>
          </a:p>
        </p:txBody>
      </p:sp>
      <p:sp>
        <p:nvSpPr>
          <p:cNvPr id="3" name="Shape 1"/>
          <p:cNvSpPr/>
          <p:nvPr/>
        </p:nvSpPr>
        <p:spPr>
          <a:xfrm>
            <a:off x="457200" y="868680"/>
            <a:ext cx="548640" cy="36576"/>
          </a:xfrm>
          <a:prstGeom prst="rect">
            <a:avLst/>
          </a:prstGeom>
          <a:solidFill>
            <a:srgbClr val="1E2761"/>
          </a:solidFill>
          <a:ln w="12700">
            <a:solidFill>
              <a:srgbClr val="1E2761"/>
            </a:solidFill>
            <a:prstDash val="solid"/>
          </a:ln>
        </p:spPr>
        <p:txBody>
          <a:bodyPr/>
          <a:lstStyle/>
          <a:p>
            <a:endParaRPr lang="en-US"/>
          </a:p>
        </p:txBody>
      </p:sp>
      <p:sp>
        <p:nvSpPr>
          <p:cNvPr id="4" name="Shape 2"/>
          <p:cNvSpPr/>
          <p:nvPr/>
        </p:nvSpPr>
        <p:spPr>
          <a:xfrm>
            <a:off x="457200" y="1005840"/>
            <a:ext cx="1005840" cy="292608"/>
          </a:xfrm>
          <a:prstGeom prst="rect">
            <a:avLst/>
          </a:prstGeom>
          <a:solidFill>
            <a:srgbClr val="1E2761"/>
          </a:solidFill>
          <a:ln w="12700">
            <a:solidFill>
              <a:srgbClr val="1E2761"/>
            </a:solidFill>
            <a:prstDash val="solid"/>
          </a:ln>
        </p:spPr>
        <p:txBody>
          <a:bodyPr/>
          <a:lstStyle/>
          <a:p>
            <a:endParaRPr lang="en-US"/>
          </a:p>
        </p:txBody>
      </p:sp>
      <p:sp>
        <p:nvSpPr>
          <p:cNvPr id="5" name="Text 3"/>
          <p:cNvSpPr/>
          <p:nvPr/>
        </p:nvSpPr>
        <p:spPr>
          <a:xfrm>
            <a:off x="457200" y="1005840"/>
            <a:ext cx="1005840" cy="292608"/>
          </a:xfrm>
          <a:prstGeom prst="rect">
            <a:avLst/>
          </a:prstGeom>
          <a:noFill/>
          <a:ln/>
        </p:spPr>
        <p:txBody>
          <a:bodyPr wrap="square" lIns="0" tIns="0" rIns="0" bIns="0" rtlCol="0" anchor="ctr"/>
          <a:lstStyle/>
          <a:p>
            <a:pPr marL="0" indent="0" algn="ctr">
              <a:buNone/>
            </a:pPr>
            <a:r>
              <a:rPr lang="en-US" sz="1100" b="1" kern="0" spc="200" dirty="0">
                <a:solidFill>
                  <a:srgbClr val="FFFFFF"/>
                </a:solidFill>
                <a:latin typeface="Calibri" pitchFamily="34" charset="0"/>
                <a:ea typeface="Calibri" pitchFamily="34" charset="-122"/>
                <a:cs typeface="Calibri" pitchFamily="34" charset="-120"/>
              </a:rPr>
              <a:t>TALK</a:t>
            </a:r>
            <a:endParaRPr lang="en-US" sz="1100" dirty="0"/>
          </a:p>
        </p:txBody>
      </p:sp>
      <p:sp>
        <p:nvSpPr>
          <p:cNvPr id="6" name="Text 4"/>
          <p:cNvSpPr/>
          <p:nvPr/>
        </p:nvSpPr>
        <p:spPr>
          <a:xfrm>
            <a:off x="548640" y="1435608"/>
            <a:ext cx="8046720" cy="2418080"/>
          </a:xfrm>
          <a:prstGeom prst="rect">
            <a:avLst/>
          </a:prstGeom>
          <a:solidFill>
            <a:srgbClr val="FFFFFF"/>
          </a:solidFill>
          <a:ln/>
        </p:spPr>
        <p:txBody>
          <a:bodyPr wrap="square" lIns="0" tIns="0" rIns="0" bIns="0" rtlCol="0" anchor="t"/>
          <a:lstStyle/>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Most Python you'll write needs </a:t>
            </a:r>
            <a:r>
              <a:rPr lang="en-US" sz="1400" b="1" dirty="0">
                <a:solidFill>
                  <a:srgbClr val="1F2937"/>
                </a:solidFill>
                <a:latin typeface="Calibri" pitchFamily="34" charset="0"/>
                <a:ea typeface="Calibri" pitchFamily="34" charset="-122"/>
                <a:cs typeface="Calibri" pitchFamily="34" charset="-120"/>
              </a:rPr>
              <a:t>libraries</a:t>
            </a:r>
            <a:r>
              <a:rPr lang="en-US" sz="1400" dirty="0">
                <a:solidFill>
                  <a:srgbClr val="1F2937"/>
                </a:solidFill>
                <a:latin typeface="Calibri" pitchFamily="34" charset="0"/>
                <a:ea typeface="Calibri" pitchFamily="34" charset="-122"/>
                <a:cs typeface="Calibri" pitchFamily="34" charset="-120"/>
              </a:rPr>
              <a:t> installed with </a:t>
            </a:r>
            <a:r>
              <a:rPr lang="en-US" sz="1400" dirty="0">
                <a:solidFill>
                  <a:srgbClr val="1E2761"/>
                </a:solidFill>
                <a:latin typeface="Consolas" pitchFamily="34" charset="0"/>
                <a:ea typeface="Consolas" pitchFamily="34" charset="-122"/>
                <a:cs typeface="Consolas" pitchFamily="34" charset="-120"/>
              </a:rPr>
              <a:t>pip</a:t>
            </a:r>
            <a:r>
              <a:rPr lang="en-US" sz="1400" dirty="0">
                <a:solidFill>
                  <a:srgbClr val="1F2937"/>
                </a:solidFill>
                <a:latin typeface="Calibri" pitchFamily="34" charset="0"/>
                <a:ea typeface="Calibri" pitchFamily="34" charset="-122"/>
                <a:cs typeface="Calibri" pitchFamily="34" charset="-120"/>
              </a:rPr>
              <a:t>.</a:t>
            </a:r>
            <a:endParaRPr lang="en-US" sz="1400" dirty="0"/>
          </a:p>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If you install libraries system-wide, two projects with different version needs collide.</a:t>
            </a:r>
            <a:endParaRPr lang="en-US" sz="1400" dirty="0"/>
          </a:p>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Worse: on Ubuntu, </a:t>
            </a:r>
            <a:r>
              <a:rPr lang="en-US" sz="1400" b="1" dirty="0">
                <a:solidFill>
                  <a:srgbClr val="1F2937"/>
                </a:solidFill>
                <a:latin typeface="Calibri" pitchFamily="34" charset="0"/>
                <a:ea typeface="Calibri" pitchFamily="34" charset="-122"/>
                <a:cs typeface="Calibri" pitchFamily="34" charset="-120"/>
              </a:rPr>
              <a:t>system Python is used by the OS itself</a:t>
            </a:r>
            <a:r>
              <a:rPr lang="en-US" sz="1400" dirty="0">
                <a:solidFill>
                  <a:srgbClr val="1F2937"/>
                </a:solidFill>
                <a:latin typeface="Calibri" pitchFamily="34" charset="0"/>
                <a:ea typeface="Calibri" pitchFamily="34" charset="-122"/>
                <a:cs typeface="Calibri" pitchFamily="34" charset="-120"/>
              </a:rPr>
              <a:t>. Random installs can break system tools.</a:t>
            </a:r>
            <a:endParaRPr lang="en-US" sz="1400" dirty="0"/>
          </a:p>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A </a:t>
            </a:r>
            <a:r>
              <a:rPr lang="en-US" sz="1400" b="1" dirty="0">
                <a:solidFill>
                  <a:srgbClr val="1F2937"/>
                </a:solidFill>
                <a:latin typeface="Calibri" pitchFamily="34" charset="0"/>
                <a:ea typeface="Calibri" pitchFamily="34" charset="-122"/>
                <a:cs typeface="Calibri" pitchFamily="34" charset="-120"/>
              </a:rPr>
              <a:t>virtual environment ("venv")</a:t>
            </a:r>
            <a:r>
              <a:rPr lang="en-US" sz="1400" dirty="0">
                <a:solidFill>
                  <a:srgbClr val="1F2937"/>
                </a:solidFill>
                <a:latin typeface="Calibri" pitchFamily="34" charset="0"/>
                <a:ea typeface="Calibri" pitchFamily="34" charset="-122"/>
                <a:cs typeface="Calibri" pitchFamily="34" charset="-120"/>
              </a:rPr>
              <a:t> is an isolated Python setup that lives in a folder, per project.</a:t>
            </a:r>
            <a:endParaRPr lang="en-US" sz="1400" dirty="0"/>
          </a:p>
          <a:p>
            <a:pPr marL="228600" indent="-228600">
              <a:spcAft>
                <a:spcPts val="600"/>
              </a:spcAft>
              <a:buSzPct val="100000"/>
              <a:buChar char="■"/>
            </a:pPr>
            <a:r>
              <a:rPr lang="en-US" sz="1400" b="1" dirty="0">
                <a:solidFill>
                  <a:srgbClr val="1F2937"/>
                </a:solidFill>
                <a:latin typeface="Calibri" pitchFamily="34" charset="0"/>
                <a:ea typeface="Calibri" pitchFamily="34" charset="-122"/>
                <a:cs typeface="Calibri" pitchFamily="34" charset="-120"/>
              </a:rPr>
              <a:t>Standard way Python is used on Linux.</a:t>
            </a:r>
            <a:r>
              <a:rPr lang="en-US" sz="1400" dirty="0">
                <a:solidFill>
                  <a:srgbClr val="1F2937"/>
                </a:solidFill>
                <a:latin typeface="Calibri" pitchFamily="34" charset="0"/>
                <a:ea typeface="Calibri" pitchFamily="34" charset="-122"/>
                <a:cs typeface="Calibri" pitchFamily="34" charset="-120"/>
              </a:rPr>
              <a:t> You'll use venvs constantly.</a:t>
            </a:r>
            <a:endParaRPr lang="en-US" sz="140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bg>
      <p:bgPr>
        <a:solidFill>
          <a:srgbClr val="FFFFFF"/>
        </a:solidFill>
        <a:effectLst/>
      </p:bgPr>
    </p:bg>
    <p:spTree>
      <p:nvGrpSpPr>
        <p:cNvPr id="1" name=""/>
        <p:cNvGrpSpPr/>
        <p:nvPr/>
      </p:nvGrpSpPr>
      <p:grpSpPr>
        <a:xfrm>
          <a:off x="0" y="0"/>
          <a:ext cx="0" cy="0"/>
          <a:chOff x="0" y="0"/>
          <a:chExt cx="0" cy="0"/>
        </a:xfrm>
      </p:grpSpPr>
      <p:pic>
        <p:nvPicPr>
          <p:cNvPr id="9" name="Picture 8" descr="access-footer.jpg"/>
          <p:cNvPicPr>
            <a:picLocks noChangeAspect="1"/>
          </p:cNvPicPr>
          <p:nvPr/>
        </p:nvPicPr>
        <p:blipFill>
          <a:blip r:embed="rId3"/>
          <a:stretch>
            <a:fillRect/>
          </a:stretch>
        </p:blipFill>
        <p:spPr>
          <a:xfrm>
            <a:off x="0" y="0"/>
            <a:ext cx="9144000" cy="5143500"/>
          </a:xfrm>
          <a:prstGeom prst="rect">
            <a:avLst/>
          </a:prstGeom>
        </p:spPr>
      </p:pic>
      <p:sp>
        <p:nvSpPr>
          <p:cNvPr id="2" name="Text 0"/>
          <p:cNvSpPr/>
          <p:nvPr/>
        </p:nvSpPr>
        <p:spPr>
          <a:xfrm>
            <a:off x="457200" y="274320"/>
            <a:ext cx="8229600" cy="594360"/>
          </a:xfrm>
          <a:prstGeom prst="rect">
            <a:avLst/>
          </a:prstGeom>
          <a:solidFill>
            <a:srgbClr val="FFFFFF"/>
          </a:solidFill>
          <a:ln/>
        </p:spPr>
        <p:txBody>
          <a:bodyPr wrap="square" lIns="0" tIns="0" rIns="0" bIns="0" rtlCol="0" anchor="ctr"/>
          <a:lstStyle/>
          <a:p>
            <a:pPr marL="0" indent="0">
              <a:buNone/>
            </a:pPr>
            <a:r>
              <a:rPr lang="en-US" sz="2800" b="1" dirty="0">
                <a:solidFill>
                  <a:srgbClr val="1E2761"/>
                </a:solidFill>
                <a:latin typeface="Cambria" pitchFamily="34" charset="0"/>
                <a:ea typeface="Cambria" pitchFamily="34" charset="-122"/>
                <a:cs typeface="Cambria" pitchFamily="34" charset="-120"/>
              </a:rPr>
              <a:t>One-time install: get the venv module</a:t>
            </a:r>
            <a:endParaRPr lang="en-US" sz="2800" dirty="0"/>
          </a:p>
        </p:txBody>
      </p:sp>
      <p:sp>
        <p:nvSpPr>
          <p:cNvPr id="3" name="Shape 1"/>
          <p:cNvSpPr/>
          <p:nvPr/>
        </p:nvSpPr>
        <p:spPr>
          <a:xfrm>
            <a:off x="457200" y="868680"/>
            <a:ext cx="548640" cy="36576"/>
          </a:xfrm>
          <a:prstGeom prst="rect">
            <a:avLst/>
          </a:prstGeom>
          <a:solidFill>
            <a:srgbClr val="1E2761"/>
          </a:solidFill>
          <a:ln w="12700">
            <a:solidFill>
              <a:srgbClr val="1E2761"/>
            </a:solidFill>
            <a:prstDash val="solid"/>
          </a:ln>
        </p:spPr>
        <p:txBody>
          <a:bodyPr/>
          <a:lstStyle/>
          <a:p>
            <a:endParaRPr lang="en-US"/>
          </a:p>
        </p:txBody>
      </p:sp>
      <p:sp>
        <p:nvSpPr>
          <p:cNvPr id="4" name="Shape 2"/>
          <p:cNvSpPr/>
          <p:nvPr/>
        </p:nvSpPr>
        <p:spPr>
          <a:xfrm>
            <a:off x="457200" y="1005840"/>
            <a:ext cx="1005840" cy="292608"/>
          </a:xfrm>
          <a:prstGeom prst="rect">
            <a:avLst/>
          </a:prstGeom>
          <a:solidFill>
            <a:srgbClr val="0369A1"/>
          </a:solidFill>
          <a:ln w="12700">
            <a:solidFill>
              <a:srgbClr val="0369A1"/>
            </a:solidFill>
            <a:prstDash val="solid"/>
          </a:ln>
        </p:spPr>
        <p:txBody>
          <a:bodyPr/>
          <a:lstStyle/>
          <a:p>
            <a:endParaRPr lang="en-US"/>
          </a:p>
        </p:txBody>
      </p:sp>
      <p:sp>
        <p:nvSpPr>
          <p:cNvPr id="5" name="Text 3"/>
          <p:cNvSpPr/>
          <p:nvPr/>
        </p:nvSpPr>
        <p:spPr>
          <a:xfrm>
            <a:off x="457200" y="1005840"/>
            <a:ext cx="1005840" cy="292608"/>
          </a:xfrm>
          <a:prstGeom prst="rect">
            <a:avLst/>
          </a:prstGeom>
          <a:noFill/>
          <a:ln/>
        </p:spPr>
        <p:txBody>
          <a:bodyPr wrap="square" lIns="0" tIns="0" rIns="0" bIns="0" rtlCol="0" anchor="ctr"/>
          <a:lstStyle/>
          <a:p>
            <a:pPr marL="0" indent="0" algn="ctr">
              <a:buNone/>
            </a:pPr>
            <a:r>
              <a:rPr lang="en-US" sz="1100" b="1" kern="0" spc="200" dirty="0">
                <a:solidFill>
                  <a:srgbClr val="FFFFFF"/>
                </a:solidFill>
                <a:latin typeface="Calibri" pitchFamily="34" charset="0"/>
                <a:ea typeface="Calibri" pitchFamily="34" charset="-122"/>
                <a:cs typeface="Calibri" pitchFamily="34" charset="-120"/>
              </a:rPr>
              <a:t>DEMO</a:t>
            </a:r>
            <a:endParaRPr lang="en-US" sz="1100" dirty="0"/>
          </a:p>
        </p:txBody>
      </p:sp>
      <p:sp>
        <p:nvSpPr>
          <p:cNvPr id="6" name="Shape 4"/>
          <p:cNvSpPr/>
          <p:nvPr/>
        </p:nvSpPr>
        <p:spPr>
          <a:xfrm>
            <a:off x="548640" y="1435608"/>
            <a:ext cx="8046720" cy="678180"/>
          </a:xfrm>
          <a:prstGeom prst="rect">
            <a:avLst/>
          </a:prstGeom>
          <a:solidFill>
            <a:srgbClr val="0F172A"/>
          </a:solidFill>
          <a:ln w="12700">
            <a:solidFill>
              <a:srgbClr val="0F172A"/>
            </a:solidFill>
            <a:prstDash val="solid"/>
          </a:ln>
        </p:spPr>
        <p:txBody>
          <a:bodyPr/>
          <a:lstStyle/>
          <a:p>
            <a:endParaRPr lang="en-US"/>
          </a:p>
        </p:txBody>
      </p:sp>
      <p:sp>
        <p:nvSpPr>
          <p:cNvPr id="7" name="Text 5"/>
          <p:cNvSpPr/>
          <p:nvPr/>
        </p:nvSpPr>
        <p:spPr>
          <a:xfrm>
            <a:off x="685800" y="1508760"/>
            <a:ext cx="7772400" cy="531876"/>
          </a:xfrm>
          <a:prstGeom prst="rect">
            <a:avLst/>
          </a:prstGeom>
          <a:noFill/>
          <a:ln/>
        </p:spPr>
        <p:txBody>
          <a:bodyPr wrap="square" lIns="0" tIns="0" rIns="0" bIns="0" rtlCol="0" anchor="t"/>
          <a:lstStyle/>
          <a:p>
            <a:pPr marL="0" indent="0">
              <a:buNone/>
            </a:pPr>
            <a:r>
              <a:rPr lang="en-US" sz="1500" dirty="0">
                <a:solidFill>
                  <a:srgbClr val="E2E8F0"/>
                </a:solidFill>
                <a:latin typeface="Consolas" pitchFamily="34" charset="0"/>
                <a:ea typeface="Consolas" pitchFamily="34" charset="-122"/>
                <a:cs typeface="Consolas" pitchFamily="34" charset="-120"/>
              </a:rPr>
              <a:t>$ sudo apt update</a:t>
            </a:r>
            <a:endParaRPr lang="en-US" sz="1500" dirty="0"/>
          </a:p>
          <a:p>
            <a:pPr marL="0" indent="0">
              <a:buNone/>
            </a:pPr>
            <a:r>
              <a:rPr lang="en-US" sz="1500" dirty="0">
                <a:solidFill>
                  <a:srgbClr val="E2E8F0"/>
                </a:solidFill>
                <a:latin typeface="Consolas" pitchFamily="34" charset="0"/>
                <a:ea typeface="Consolas" pitchFamily="34" charset="-122"/>
                <a:cs typeface="Consolas" pitchFamily="34" charset="-120"/>
              </a:rPr>
              <a:t>$ sudo apt install python3-venv python3-pip</a:t>
            </a:r>
            <a:endParaRPr lang="en-US" sz="1500" dirty="0"/>
          </a:p>
        </p:txBody>
      </p:sp>
      <p:sp>
        <p:nvSpPr>
          <p:cNvPr id="8" name="Text 6"/>
          <p:cNvSpPr/>
          <p:nvPr/>
        </p:nvSpPr>
        <p:spPr>
          <a:xfrm>
            <a:off x="548640" y="2159508"/>
            <a:ext cx="8046720" cy="1270000"/>
          </a:xfrm>
          <a:prstGeom prst="rect">
            <a:avLst/>
          </a:prstGeom>
          <a:solidFill>
            <a:srgbClr val="FFFFFF"/>
          </a:solidFill>
          <a:ln/>
        </p:spPr>
        <p:txBody>
          <a:bodyPr wrap="square" lIns="0" tIns="0" rIns="0" bIns="0" rtlCol="0" anchor="t"/>
          <a:lstStyle/>
          <a:p>
            <a:pPr marL="228600" indent="-228600">
              <a:spcAft>
                <a:spcPts val="600"/>
              </a:spcAft>
              <a:buSzPct val="100000"/>
              <a:buChar char="■"/>
            </a:pPr>
            <a:r>
              <a:rPr lang="en-US" sz="1400" dirty="0">
                <a:solidFill>
                  <a:srgbClr val="1E2761"/>
                </a:solidFill>
                <a:latin typeface="Consolas" pitchFamily="34" charset="0"/>
                <a:ea typeface="Consolas" pitchFamily="34" charset="-122"/>
                <a:cs typeface="Consolas" pitchFamily="34" charset="-120"/>
              </a:rPr>
              <a:t>sudo</a:t>
            </a:r>
            <a:r>
              <a:rPr lang="en-US" sz="1400" dirty="0">
                <a:solidFill>
                  <a:srgbClr val="1F2937"/>
                </a:solidFill>
                <a:latin typeface="Calibri" pitchFamily="34" charset="0"/>
                <a:ea typeface="Calibri" pitchFamily="34" charset="-122"/>
                <a:cs typeface="Calibri" pitchFamily="34" charset="-120"/>
              </a:rPr>
              <a:t> = do this as the administrator. Needed for installing system packages.</a:t>
            </a:r>
            <a:endParaRPr lang="en-US" sz="1400" dirty="0"/>
          </a:p>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You'll be prompted for your password. </a:t>
            </a:r>
            <a:r>
              <a:rPr lang="en-US" sz="1400" b="1" dirty="0">
                <a:solidFill>
                  <a:srgbClr val="1F2937"/>
                </a:solidFill>
                <a:latin typeface="Calibri" pitchFamily="34" charset="0"/>
                <a:ea typeface="Calibri" pitchFamily="34" charset="-122"/>
                <a:cs typeface="Calibri" pitchFamily="34" charset="-120"/>
              </a:rPr>
              <a:t>Nothing shows up as you type</a:t>
            </a:r>
            <a:r>
              <a:rPr lang="en-US" sz="1400" dirty="0">
                <a:solidFill>
                  <a:srgbClr val="1F2937"/>
                </a:solidFill>
                <a:latin typeface="Calibri" pitchFamily="34" charset="0"/>
                <a:ea typeface="Calibri" pitchFamily="34" charset="-122"/>
                <a:cs typeface="Calibri" pitchFamily="34" charset="-120"/>
              </a:rPr>
              <a:t> — that's normal.</a:t>
            </a:r>
            <a:endParaRPr lang="en-US" sz="1400" dirty="0"/>
          </a:p>
          <a:p>
            <a:pPr marL="228600" indent="-228600">
              <a:spcAft>
                <a:spcPts val="600"/>
              </a:spcAft>
              <a:buSzPct val="100000"/>
              <a:buChar char="■"/>
            </a:pPr>
            <a:r>
              <a:rPr lang="en-US" sz="1400" dirty="0">
                <a:solidFill>
                  <a:srgbClr val="1E2761"/>
                </a:solidFill>
                <a:latin typeface="Consolas" pitchFamily="34" charset="0"/>
                <a:ea typeface="Consolas" pitchFamily="34" charset="-122"/>
                <a:cs typeface="Consolas" pitchFamily="34" charset="-120"/>
              </a:rPr>
              <a:t>apt update</a:t>
            </a:r>
            <a:r>
              <a:rPr lang="en-US" sz="1400" dirty="0">
                <a:solidFill>
                  <a:srgbClr val="1F2937"/>
                </a:solidFill>
                <a:latin typeface="Calibri" pitchFamily="34" charset="0"/>
                <a:ea typeface="Calibri" pitchFamily="34" charset="-122"/>
                <a:cs typeface="Calibri" pitchFamily="34" charset="-120"/>
              </a:rPr>
              <a:t> refreshes the package list; </a:t>
            </a:r>
            <a:r>
              <a:rPr lang="en-US" sz="1400" dirty="0">
                <a:solidFill>
                  <a:srgbClr val="1E2761"/>
                </a:solidFill>
                <a:latin typeface="Consolas" pitchFamily="34" charset="0"/>
                <a:ea typeface="Consolas" pitchFamily="34" charset="-122"/>
                <a:cs typeface="Consolas" pitchFamily="34" charset="-120"/>
              </a:rPr>
              <a:t>apt install</a:t>
            </a:r>
            <a:r>
              <a:rPr lang="en-US" sz="1400" dirty="0">
                <a:solidFill>
                  <a:srgbClr val="1F2937"/>
                </a:solidFill>
                <a:latin typeface="Calibri" pitchFamily="34" charset="0"/>
                <a:ea typeface="Calibri" pitchFamily="34" charset="-122"/>
                <a:cs typeface="Calibri" pitchFamily="34" charset="-120"/>
              </a:rPr>
              <a:t> installs.</a:t>
            </a:r>
            <a:endParaRPr lang="en-US" sz="140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bg>
      <p:bgPr>
        <a:solidFill>
          <a:srgbClr val="FFFFFF"/>
        </a:solidFill>
        <a:effectLst/>
      </p:bgPr>
    </p:bg>
    <p:spTree>
      <p:nvGrpSpPr>
        <p:cNvPr id="1" name=""/>
        <p:cNvGrpSpPr/>
        <p:nvPr/>
      </p:nvGrpSpPr>
      <p:grpSpPr>
        <a:xfrm>
          <a:off x="0" y="0"/>
          <a:ext cx="0" cy="0"/>
          <a:chOff x="0" y="0"/>
          <a:chExt cx="0" cy="0"/>
        </a:xfrm>
      </p:grpSpPr>
      <p:pic>
        <p:nvPicPr>
          <p:cNvPr id="9" name="Picture 8" descr="access-footer.jpg"/>
          <p:cNvPicPr>
            <a:picLocks noChangeAspect="1"/>
          </p:cNvPicPr>
          <p:nvPr/>
        </p:nvPicPr>
        <p:blipFill>
          <a:blip r:embed="rId3"/>
          <a:stretch>
            <a:fillRect/>
          </a:stretch>
        </p:blipFill>
        <p:spPr>
          <a:xfrm>
            <a:off x="0" y="0"/>
            <a:ext cx="9144000" cy="5143500"/>
          </a:xfrm>
          <a:prstGeom prst="rect">
            <a:avLst/>
          </a:prstGeom>
        </p:spPr>
      </p:pic>
      <p:sp>
        <p:nvSpPr>
          <p:cNvPr id="2" name="Text 0"/>
          <p:cNvSpPr/>
          <p:nvPr/>
        </p:nvSpPr>
        <p:spPr>
          <a:xfrm>
            <a:off x="457200" y="274320"/>
            <a:ext cx="8229600" cy="594360"/>
          </a:xfrm>
          <a:prstGeom prst="rect">
            <a:avLst/>
          </a:prstGeom>
          <a:solidFill>
            <a:srgbClr val="FFFFFF"/>
          </a:solidFill>
          <a:ln/>
        </p:spPr>
        <p:txBody>
          <a:bodyPr wrap="square" lIns="0" tIns="0" rIns="0" bIns="0" rtlCol="0" anchor="ctr"/>
          <a:lstStyle/>
          <a:p>
            <a:pPr marL="0" indent="0">
              <a:buNone/>
            </a:pPr>
            <a:r>
              <a:rPr lang="en-US" sz="2800" b="1" dirty="0">
                <a:solidFill>
                  <a:srgbClr val="1E2761"/>
                </a:solidFill>
                <a:latin typeface="Cambria" pitchFamily="34" charset="0"/>
                <a:ea typeface="Cambria" pitchFamily="34" charset="-122"/>
                <a:cs typeface="Cambria" pitchFamily="34" charset="-120"/>
              </a:rPr>
              <a:t>Create a venv</a:t>
            </a:r>
            <a:endParaRPr lang="en-US" sz="2800" dirty="0"/>
          </a:p>
        </p:txBody>
      </p:sp>
      <p:sp>
        <p:nvSpPr>
          <p:cNvPr id="3" name="Shape 1"/>
          <p:cNvSpPr/>
          <p:nvPr/>
        </p:nvSpPr>
        <p:spPr>
          <a:xfrm>
            <a:off x="457200" y="868680"/>
            <a:ext cx="548640" cy="36576"/>
          </a:xfrm>
          <a:prstGeom prst="rect">
            <a:avLst/>
          </a:prstGeom>
          <a:solidFill>
            <a:srgbClr val="1E2761"/>
          </a:solidFill>
          <a:ln w="12700">
            <a:solidFill>
              <a:srgbClr val="1E2761"/>
            </a:solidFill>
            <a:prstDash val="solid"/>
          </a:ln>
        </p:spPr>
        <p:txBody>
          <a:bodyPr/>
          <a:lstStyle/>
          <a:p>
            <a:endParaRPr lang="en-US"/>
          </a:p>
        </p:txBody>
      </p:sp>
      <p:sp>
        <p:nvSpPr>
          <p:cNvPr id="4" name="Shape 2"/>
          <p:cNvSpPr/>
          <p:nvPr/>
        </p:nvSpPr>
        <p:spPr>
          <a:xfrm>
            <a:off x="457200" y="1005840"/>
            <a:ext cx="1005840" cy="292608"/>
          </a:xfrm>
          <a:prstGeom prst="rect">
            <a:avLst/>
          </a:prstGeom>
          <a:solidFill>
            <a:srgbClr val="0369A1"/>
          </a:solidFill>
          <a:ln w="12700">
            <a:solidFill>
              <a:srgbClr val="0369A1"/>
            </a:solidFill>
            <a:prstDash val="solid"/>
          </a:ln>
        </p:spPr>
        <p:txBody>
          <a:bodyPr/>
          <a:lstStyle/>
          <a:p>
            <a:endParaRPr lang="en-US"/>
          </a:p>
        </p:txBody>
      </p:sp>
      <p:sp>
        <p:nvSpPr>
          <p:cNvPr id="5" name="Text 3"/>
          <p:cNvSpPr/>
          <p:nvPr/>
        </p:nvSpPr>
        <p:spPr>
          <a:xfrm>
            <a:off x="457200" y="1005840"/>
            <a:ext cx="1005840" cy="292608"/>
          </a:xfrm>
          <a:prstGeom prst="rect">
            <a:avLst/>
          </a:prstGeom>
          <a:noFill/>
          <a:ln/>
        </p:spPr>
        <p:txBody>
          <a:bodyPr wrap="square" lIns="0" tIns="0" rIns="0" bIns="0" rtlCol="0" anchor="ctr"/>
          <a:lstStyle/>
          <a:p>
            <a:pPr marL="0" indent="0" algn="ctr">
              <a:buNone/>
            </a:pPr>
            <a:r>
              <a:rPr lang="en-US" sz="1100" b="1" kern="0" spc="200" dirty="0">
                <a:solidFill>
                  <a:srgbClr val="FFFFFF"/>
                </a:solidFill>
                <a:latin typeface="Calibri" pitchFamily="34" charset="0"/>
                <a:ea typeface="Calibri" pitchFamily="34" charset="-122"/>
                <a:cs typeface="Calibri" pitchFamily="34" charset="-120"/>
              </a:rPr>
              <a:t>DEMO</a:t>
            </a:r>
            <a:endParaRPr lang="en-US" sz="1100" dirty="0"/>
          </a:p>
        </p:txBody>
      </p:sp>
      <p:sp>
        <p:nvSpPr>
          <p:cNvPr id="6" name="Shape 4"/>
          <p:cNvSpPr/>
          <p:nvPr/>
        </p:nvSpPr>
        <p:spPr>
          <a:xfrm>
            <a:off x="548640" y="1435608"/>
            <a:ext cx="8046720" cy="1173480"/>
          </a:xfrm>
          <a:prstGeom prst="rect">
            <a:avLst/>
          </a:prstGeom>
          <a:solidFill>
            <a:srgbClr val="0F172A"/>
          </a:solidFill>
          <a:ln w="12700">
            <a:solidFill>
              <a:srgbClr val="0F172A"/>
            </a:solidFill>
            <a:prstDash val="solid"/>
          </a:ln>
        </p:spPr>
        <p:txBody>
          <a:bodyPr/>
          <a:lstStyle/>
          <a:p>
            <a:endParaRPr lang="en-US"/>
          </a:p>
        </p:txBody>
      </p:sp>
      <p:sp>
        <p:nvSpPr>
          <p:cNvPr id="7" name="Text 5"/>
          <p:cNvSpPr/>
          <p:nvPr/>
        </p:nvSpPr>
        <p:spPr>
          <a:xfrm>
            <a:off x="685800" y="1508760"/>
            <a:ext cx="7772400" cy="1027176"/>
          </a:xfrm>
          <a:prstGeom prst="rect">
            <a:avLst/>
          </a:prstGeom>
          <a:noFill/>
          <a:ln/>
        </p:spPr>
        <p:txBody>
          <a:bodyPr wrap="square" lIns="0" tIns="0" rIns="0" bIns="0" rtlCol="0" anchor="t"/>
          <a:lstStyle/>
          <a:p>
            <a:pPr marL="0" indent="0">
              <a:buNone/>
            </a:pPr>
            <a:r>
              <a:rPr lang="en-US" sz="1500" dirty="0">
                <a:solidFill>
                  <a:srgbClr val="E2E8F0"/>
                </a:solidFill>
                <a:latin typeface="Consolas" pitchFamily="34" charset="0"/>
                <a:ea typeface="Consolas" pitchFamily="34" charset="-122"/>
                <a:cs typeface="Consolas" pitchFamily="34" charset="-120"/>
              </a:rPr>
              <a:t>$ cd ~/workshop</a:t>
            </a:r>
            <a:endParaRPr lang="en-US" sz="1500" dirty="0"/>
          </a:p>
          <a:p>
            <a:pPr marL="0" indent="0">
              <a:buNone/>
            </a:pPr>
            <a:r>
              <a:rPr lang="en-US" sz="1500" dirty="0">
                <a:solidFill>
                  <a:srgbClr val="E2E8F0"/>
                </a:solidFill>
                <a:latin typeface="Consolas" pitchFamily="34" charset="0"/>
                <a:ea typeface="Consolas" pitchFamily="34" charset="-122"/>
                <a:cs typeface="Consolas" pitchFamily="34" charset="-120"/>
              </a:rPr>
              <a:t>$ python3 -m venv myenv</a:t>
            </a:r>
            <a:endParaRPr lang="en-US" sz="1500" dirty="0"/>
          </a:p>
          <a:p>
            <a:pPr marL="0" indent="0">
              <a:buNone/>
            </a:pPr>
            <a:r>
              <a:rPr lang="en-US" sz="1500" dirty="0">
                <a:solidFill>
                  <a:srgbClr val="E2E8F0"/>
                </a:solidFill>
                <a:latin typeface="Consolas" pitchFamily="34" charset="0"/>
                <a:ea typeface="Consolas" pitchFamily="34" charset="-122"/>
                <a:cs typeface="Consolas" pitchFamily="34" charset="-120"/>
              </a:rPr>
              <a:t>$ ls myenv</a:t>
            </a:r>
            <a:endParaRPr lang="en-US" sz="1500" dirty="0"/>
          </a:p>
          <a:p>
            <a:pPr marL="0" indent="0">
              <a:buNone/>
            </a:pPr>
            <a:r>
              <a:rPr lang="en-US" sz="1500" dirty="0">
                <a:solidFill>
                  <a:srgbClr val="E2E8F0"/>
                </a:solidFill>
                <a:latin typeface="Consolas" pitchFamily="34" charset="0"/>
                <a:ea typeface="Consolas" pitchFamily="34" charset="-122"/>
                <a:cs typeface="Consolas" pitchFamily="34" charset="-120"/>
              </a:rPr>
              <a:t>bin   include   lib   pyvenv.cfg</a:t>
            </a:r>
            <a:endParaRPr lang="en-US" sz="1500" dirty="0"/>
          </a:p>
        </p:txBody>
      </p:sp>
      <p:sp>
        <p:nvSpPr>
          <p:cNvPr id="8" name="Text 6"/>
          <p:cNvSpPr/>
          <p:nvPr/>
        </p:nvSpPr>
        <p:spPr>
          <a:xfrm>
            <a:off x="548640" y="2654808"/>
            <a:ext cx="8046720" cy="1270000"/>
          </a:xfrm>
          <a:prstGeom prst="rect">
            <a:avLst/>
          </a:prstGeom>
          <a:solidFill>
            <a:srgbClr val="FFFFFF"/>
          </a:solidFill>
          <a:ln/>
        </p:spPr>
        <p:txBody>
          <a:bodyPr wrap="square" lIns="0" tIns="0" rIns="0" bIns="0" rtlCol="0" anchor="t"/>
          <a:lstStyle/>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"Run the Python </a:t>
            </a:r>
            <a:r>
              <a:rPr lang="en-US" sz="1400" dirty="0">
                <a:solidFill>
                  <a:srgbClr val="1E2761"/>
                </a:solidFill>
                <a:latin typeface="Consolas" pitchFamily="34" charset="0"/>
                <a:ea typeface="Consolas" pitchFamily="34" charset="-122"/>
                <a:cs typeface="Consolas" pitchFamily="34" charset="-120"/>
              </a:rPr>
              <a:t>venv</a:t>
            </a:r>
            <a:r>
              <a:rPr lang="en-US" sz="1400" dirty="0">
                <a:solidFill>
                  <a:srgbClr val="1F2937"/>
                </a:solidFill>
                <a:latin typeface="Calibri" pitchFamily="34" charset="0"/>
                <a:ea typeface="Calibri" pitchFamily="34" charset="-122"/>
                <a:cs typeface="Calibri" pitchFamily="34" charset="-120"/>
              </a:rPr>
              <a:t> tool, make a venv in a new directory called </a:t>
            </a:r>
            <a:r>
              <a:rPr lang="en-US" sz="1400" dirty="0">
                <a:solidFill>
                  <a:srgbClr val="1E2761"/>
                </a:solidFill>
                <a:latin typeface="Consolas" pitchFamily="34" charset="0"/>
                <a:ea typeface="Consolas" pitchFamily="34" charset="-122"/>
                <a:cs typeface="Consolas" pitchFamily="34" charset="-120"/>
              </a:rPr>
              <a:t>myenv</a:t>
            </a:r>
            <a:r>
              <a:rPr lang="en-US" sz="1400" dirty="0">
                <a:solidFill>
                  <a:srgbClr val="1F2937"/>
                </a:solidFill>
                <a:latin typeface="Calibri" pitchFamily="34" charset="0"/>
                <a:ea typeface="Calibri" pitchFamily="34" charset="-122"/>
                <a:cs typeface="Calibri" pitchFamily="34" charset="-120"/>
              </a:rPr>
              <a:t>."</a:t>
            </a:r>
            <a:endParaRPr lang="en-US" sz="1400" dirty="0"/>
          </a:p>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It's a normal directory holding an isolated Python plus a place for installed libraries.</a:t>
            </a:r>
            <a:endParaRPr lang="en-US" sz="1400" dirty="0"/>
          </a:p>
          <a:p>
            <a:pPr marL="228600" indent="-228600">
              <a:spcAft>
                <a:spcPts val="600"/>
              </a:spcAft>
              <a:buSzPct val="100000"/>
              <a:buChar char="■"/>
            </a:pPr>
            <a:r>
              <a:rPr lang="en-US" sz="1400" b="1" dirty="0">
                <a:solidFill>
                  <a:srgbClr val="1F2937"/>
                </a:solidFill>
                <a:latin typeface="Calibri" pitchFamily="34" charset="0"/>
                <a:ea typeface="Calibri" pitchFamily="34" charset="-122"/>
                <a:cs typeface="Calibri" pitchFamily="34" charset="-120"/>
              </a:rPr>
              <a:t>To delete the venv, delete the folder.</a:t>
            </a:r>
            <a:r>
              <a:rPr lang="en-US" sz="1400" dirty="0">
                <a:solidFill>
                  <a:srgbClr val="1F2937"/>
                </a:solidFill>
                <a:latin typeface="Calibri" pitchFamily="34" charset="0"/>
                <a:ea typeface="Calibri" pitchFamily="34" charset="-122"/>
                <a:cs typeface="Calibri" pitchFamily="34" charset="-120"/>
              </a:rPr>
              <a:t> No system cleanup needed.</a:t>
            </a:r>
            <a:endParaRPr lang="en-US" sz="140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bg>
      <p:bgPr>
        <a:solidFill>
          <a:srgbClr val="FFFFFF"/>
        </a:solidFill>
        <a:effectLst/>
      </p:bgPr>
    </p:bg>
    <p:spTree>
      <p:nvGrpSpPr>
        <p:cNvPr id="1" name=""/>
        <p:cNvGrpSpPr/>
        <p:nvPr/>
      </p:nvGrpSpPr>
      <p:grpSpPr>
        <a:xfrm>
          <a:off x="0" y="0"/>
          <a:ext cx="0" cy="0"/>
          <a:chOff x="0" y="0"/>
          <a:chExt cx="0" cy="0"/>
        </a:xfrm>
      </p:grpSpPr>
      <p:pic>
        <p:nvPicPr>
          <p:cNvPr id="9" name="Picture 8" descr="access-footer.jpg"/>
          <p:cNvPicPr>
            <a:picLocks noChangeAspect="1"/>
          </p:cNvPicPr>
          <p:nvPr/>
        </p:nvPicPr>
        <p:blipFill>
          <a:blip r:embed="rId3"/>
          <a:stretch>
            <a:fillRect/>
          </a:stretch>
        </p:blipFill>
        <p:spPr>
          <a:xfrm>
            <a:off x="0" y="0"/>
            <a:ext cx="9144000" cy="5143500"/>
          </a:xfrm>
          <a:prstGeom prst="rect">
            <a:avLst/>
          </a:prstGeom>
        </p:spPr>
      </p:pic>
      <p:sp>
        <p:nvSpPr>
          <p:cNvPr id="2" name="Text 0"/>
          <p:cNvSpPr/>
          <p:nvPr/>
        </p:nvSpPr>
        <p:spPr>
          <a:xfrm>
            <a:off x="457200" y="274320"/>
            <a:ext cx="8229600" cy="594360"/>
          </a:xfrm>
          <a:prstGeom prst="rect">
            <a:avLst/>
          </a:prstGeom>
          <a:solidFill>
            <a:srgbClr val="FFFFFF"/>
          </a:solidFill>
          <a:ln/>
        </p:spPr>
        <p:txBody>
          <a:bodyPr wrap="square" lIns="0" tIns="0" rIns="0" bIns="0" rtlCol="0" anchor="ctr"/>
          <a:lstStyle/>
          <a:p>
            <a:pPr marL="0" indent="0">
              <a:buNone/>
            </a:pPr>
            <a:r>
              <a:rPr lang="en-US" sz="2800" b="1" dirty="0">
                <a:solidFill>
                  <a:srgbClr val="1E2761"/>
                </a:solidFill>
                <a:latin typeface="Cambria" pitchFamily="34" charset="0"/>
                <a:ea typeface="Cambria" pitchFamily="34" charset="-122"/>
                <a:cs typeface="Cambria" pitchFamily="34" charset="-120"/>
              </a:rPr>
              <a:t>Activate the venv</a:t>
            </a:r>
            <a:endParaRPr lang="en-US" sz="2800" dirty="0"/>
          </a:p>
        </p:txBody>
      </p:sp>
      <p:sp>
        <p:nvSpPr>
          <p:cNvPr id="3" name="Shape 1"/>
          <p:cNvSpPr/>
          <p:nvPr/>
        </p:nvSpPr>
        <p:spPr>
          <a:xfrm>
            <a:off x="457200" y="868680"/>
            <a:ext cx="548640" cy="36576"/>
          </a:xfrm>
          <a:prstGeom prst="rect">
            <a:avLst/>
          </a:prstGeom>
          <a:solidFill>
            <a:srgbClr val="1E2761"/>
          </a:solidFill>
          <a:ln w="12700">
            <a:solidFill>
              <a:srgbClr val="1E2761"/>
            </a:solidFill>
            <a:prstDash val="solid"/>
          </a:ln>
        </p:spPr>
        <p:txBody>
          <a:bodyPr/>
          <a:lstStyle/>
          <a:p>
            <a:endParaRPr lang="en-US"/>
          </a:p>
        </p:txBody>
      </p:sp>
      <p:sp>
        <p:nvSpPr>
          <p:cNvPr id="4" name="Shape 2"/>
          <p:cNvSpPr/>
          <p:nvPr/>
        </p:nvSpPr>
        <p:spPr>
          <a:xfrm>
            <a:off x="457200" y="1005840"/>
            <a:ext cx="1005840" cy="292608"/>
          </a:xfrm>
          <a:prstGeom prst="rect">
            <a:avLst/>
          </a:prstGeom>
          <a:solidFill>
            <a:srgbClr val="0369A1"/>
          </a:solidFill>
          <a:ln w="12700">
            <a:solidFill>
              <a:srgbClr val="0369A1"/>
            </a:solidFill>
            <a:prstDash val="solid"/>
          </a:ln>
        </p:spPr>
        <p:txBody>
          <a:bodyPr/>
          <a:lstStyle/>
          <a:p>
            <a:endParaRPr lang="en-US"/>
          </a:p>
        </p:txBody>
      </p:sp>
      <p:sp>
        <p:nvSpPr>
          <p:cNvPr id="5" name="Text 3"/>
          <p:cNvSpPr/>
          <p:nvPr/>
        </p:nvSpPr>
        <p:spPr>
          <a:xfrm>
            <a:off x="457200" y="1005840"/>
            <a:ext cx="1005840" cy="292608"/>
          </a:xfrm>
          <a:prstGeom prst="rect">
            <a:avLst/>
          </a:prstGeom>
          <a:noFill/>
          <a:ln/>
        </p:spPr>
        <p:txBody>
          <a:bodyPr wrap="square" lIns="0" tIns="0" rIns="0" bIns="0" rtlCol="0" anchor="ctr"/>
          <a:lstStyle/>
          <a:p>
            <a:pPr marL="0" indent="0" algn="ctr">
              <a:buNone/>
            </a:pPr>
            <a:r>
              <a:rPr lang="en-US" sz="1100" b="1" kern="0" spc="200" dirty="0">
                <a:solidFill>
                  <a:srgbClr val="FFFFFF"/>
                </a:solidFill>
                <a:latin typeface="Calibri" pitchFamily="34" charset="0"/>
                <a:ea typeface="Calibri" pitchFamily="34" charset="-122"/>
                <a:cs typeface="Calibri" pitchFamily="34" charset="-120"/>
              </a:rPr>
              <a:t>DEMO</a:t>
            </a:r>
            <a:endParaRPr lang="en-US" sz="1100" dirty="0"/>
          </a:p>
        </p:txBody>
      </p:sp>
      <p:sp>
        <p:nvSpPr>
          <p:cNvPr id="6" name="Shape 4"/>
          <p:cNvSpPr/>
          <p:nvPr/>
        </p:nvSpPr>
        <p:spPr>
          <a:xfrm>
            <a:off x="548640" y="1435608"/>
            <a:ext cx="8046720" cy="777240"/>
          </a:xfrm>
          <a:prstGeom prst="rect">
            <a:avLst/>
          </a:prstGeom>
          <a:solidFill>
            <a:srgbClr val="0F172A"/>
          </a:solidFill>
          <a:ln w="12700">
            <a:solidFill>
              <a:srgbClr val="0F172A"/>
            </a:solidFill>
            <a:prstDash val="solid"/>
          </a:ln>
        </p:spPr>
        <p:txBody>
          <a:bodyPr/>
          <a:lstStyle/>
          <a:p>
            <a:endParaRPr lang="en-US"/>
          </a:p>
        </p:txBody>
      </p:sp>
      <p:sp>
        <p:nvSpPr>
          <p:cNvPr id="7" name="Text 5"/>
          <p:cNvSpPr/>
          <p:nvPr/>
        </p:nvSpPr>
        <p:spPr>
          <a:xfrm>
            <a:off x="685800" y="1508760"/>
            <a:ext cx="7772400" cy="630936"/>
          </a:xfrm>
          <a:prstGeom prst="rect">
            <a:avLst/>
          </a:prstGeom>
          <a:noFill/>
          <a:ln/>
        </p:spPr>
        <p:txBody>
          <a:bodyPr wrap="square" lIns="0" tIns="0" rIns="0" bIns="0" rtlCol="0" anchor="t"/>
          <a:lstStyle/>
          <a:p>
            <a:pPr marL="0" indent="0">
              <a:buNone/>
            </a:pPr>
            <a:r>
              <a:rPr lang="en-US" sz="1800" dirty="0">
                <a:solidFill>
                  <a:srgbClr val="E2E8F0"/>
                </a:solidFill>
                <a:latin typeface="Consolas" pitchFamily="34" charset="0"/>
                <a:ea typeface="Consolas" pitchFamily="34" charset="-122"/>
                <a:cs typeface="Consolas" pitchFamily="34" charset="-120"/>
              </a:rPr>
              <a:t>$ source myenv/bin/activate</a:t>
            </a:r>
            <a:endParaRPr lang="en-US" sz="1800" dirty="0"/>
          </a:p>
          <a:p>
            <a:pPr marL="0" indent="0">
              <a:buNone/>
            </a:pPr>
            <a:r>
              <a:rPr lang="en-US" sz="1800" dirty="0">
                <a:solidFill>
                  <a:srgbClr val="E2E8F0"/>
                </a:solidFill>
                <a:latin typeface="Consolas" pitchFamily="34" charset="0"/>
                <a:ea typeface="Consolas" pitchFamily="34" charset="-122"/>
                <a:cs typeface="Consolas" pitchFamily="34" charset="-120"/>
              </a:rPr>
              <a:t>(myenv) $</a:t>
            </a:r>
            <a:endParaRPr lang="en-US" sz="1800" dirty="0"/>
          </a:p>
        </p:txBody>
      </p:sp>
      <p:sp>
        <p:nvSpPr>
          <p:cNvPr id="8" name="Text 6"/>
          <p:cNvSpPr/>
          <p:nvPr/>
        </p:nvSpPr>
        <p:spPr>
          <a:xfrm>
            <a:off x="548640" y="2258568"/>
            <a:ext cx="8046720" cy="1270000"/>
          </a:xfrm>
          <a:prstGeom prst="rect">
            <a:avLst/>
          </a:prstGeom>
          <a:solidFill>
            <a:srgbClr val="FFFFFF"/>
          </a:solidFill>
          <a:ln/>
        </p:spPr>
        <p:txBody>
          <a:bodyPr wrap="square" lIns="0" tIns="0" rIns="0" bIns="0" rtlCol="0" anchor="t"/>
          <a:lstStyle/>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Your prompt now starts with </a:t>
            </a:r>
            <a:r>
              <a:rPr lang="en-US" sz="1400" dirty="0">
                <a:solidFill>
                  <a:srgbClr val="1E2761"/>
                </a:solidFill>
                <a:latin typeface="Consolas" pitchFamily="34" charset="0"/>
                <a:ea typeface="Consolas" pitchFamily="34" charset="-122"/>
                <a:cs typeface="Consolas" pitchFamily="34" charset="-120"/>
              </a:rPr>
              <a:t>(myenv)</a:t>
            </a:r>
            <a:r>
              <a:rPr lang="en-US" sz="1400" dirty="0">
                <a:solidFill>
                  <a:srgbClr val="1F2937"/>
                </a:solidFill>
                <a:latin typeface="Calibri" pitchFamily="34" charset="0"/>
                <a:ea typeface="Calibri" pitchFamily="34" charset="-122"/>
                <a:cs typeface="Calibri" pitchFamily="34" charset="-120"/>
              </a:rPr>
              <a:t>. That's the venv telling you it's active.</a:t>
            </a:r>
            <a:endParaRPr lang="en-US" sz="1400" dirty="0"/>
          </a:p>
          <a:p>
            <a:pPr marL="228600" indent="-228600">
              <a:spcAft>
                <a:spcPts val="600"/>
              </a:spcAft>
              <a:buSzPct val="100000"/>
              <a:buChar char="■"/>
            </a:pPr>
            <a:r>
              <a:rPr lang="en-US" sz="1400" dirty="0">
                <a:solidFill>
                  <a:srgbClr val="1E2761"/>
                </a:solidFill>
                <a:latin typeface="Consolas" pitchFamily="34" charset="0"/>
                <a:ea typeface="Consolas" pitchFamily="34" charset="-122"/>
                <a:cs typeface="Consolas" pitchFamily="34" charset="-120"/>
              </a:rPr>
              <a:t>source</a:t>
            </a:r>
            <a:r>
              <a:rPr lang="en-US" sz="1400" dirty="0">
                <a:solidFill>
                  <a:srgbClr val="1F2937"/>
                </a:solidFill>
                <a:latin typeface="Calibri" pitchFamily="34" charset="0"/>
                <a:ea typeface="Calibri" pitchFamily="34" charset="-122"/>
                <a:cs typeface="Calibri" pitchFamily="34" charset="-120"/>
              </a:rPr>
              <a:t> runs the activation script in your current shell. It changes </a:t>
            </a:r>
            <a:r>
              <a:rPr lang="en-US" sz="1400" dirty="0">
                <a:solidFill>
                  <a:srgbClr val="1E2761"/>
                </a:solidFill>
                <a:latin typeface="Consolas" pitchFamily="34" charset="0"/>
                <a:ea typeface="Consolas" pitchFamily="34" charset="-122"/>
                <a:cs typeface="Consolas" pitchFamily="34" charset="-120"/>
              </a:rPr>
              <a:t>PATH</a:t>
            </a:r>
            <a:r>
              <a:rPr lang="en-US" sz="1400" dirty="0">
                <a:solidFill>
                  <a:srgbClr val="1F2937"/>
                </a:solidFill>
                <a:latin typeface="Calibri" pitchFamily="34" charset="0"/>
                <a:ea typeface="Calibri" pitchFamily="34" charset="-122"/>
                <a:cs typeface="Calibri" pitchFamily="34" charset="-120"/>
              </a:rPr>
              <a:t> so </a:t>
            </a:r>
            <a:r>
              <a:rPr lang="en-US" sz="1400" dirty="0">
                <a:solidFill>
                  <a:srgbClr val="1E2761"/>
                </a:solidFill>
                <a:latin typeface="Consolas" pitchFamily="34" charset="0"/>
                <a:ea typeface="Consolas" pitchFamily="34" charset="-122"/>
                <a:cs typeface="Consolas" pitchFamily="34" charset="-120"/>
              </a:rPr>
              <a:t>python</a:t>
            </a:r>
            <a:r>
              <a:rPr lang="en-US" sz="1400" dirty="0">
                <a:solidFill>
                  <a:srgbClr val="1F2937"/>
                </a:solidFill>
                <a:latin typeface="Calibri" pitchFamily="34" charset="0"/>
                <a:ea typeface="Calibri" pitchFamily="34" charset="-122"/>
                <a:cs typeface="Calibri" pitchFamily="34" charset="-120"/>
              </a:rPr>
              <a:t> and </a:t>
            </a:r>
            <a:r>
              <a:rPr lang="en-US" sz="1400" dirty="0">
                <a:solidFill>
                  <a:srgbClr val="1E2761"/>
                </a:solidFill>
                <a:latin typeface="Consolas" pitchFamily="34" charset="0"/>
                <a:ea typeface="Consolas" pitchFamily="34" charset="-122"/>
                <a:cs typeface="Consolas" pitchFamily="34" charset="-120"/>
              </a:rPr>
              <a:t>pip</a:t>
            </a:r>
            <a:r>
              <a:rPr lang="en-US" sz="1400" dirty="0">
                <a:solidFill>
                  <a:srgbClr val="1F2937"/>
                </a:solidFill>
                <a:latin typeface="Calibri" pitchFamily="34" charset="0"/>
                <a:ea typeface="Calibri" pitchFamily="34" charset="-122"/>
                <a:cs typeface="Calibri" pitchFamily="34" charset="-120"/>
              </a:rPr>
              <a:t> point inside the venv.</a:t>
            </a:r>
            <a:endParaRPr lang="en-US" sz="1400" dirty="0"/>
          </a:p>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Anything you install now goes into </a:t>
            </a:r>
            <a:r>
              <a:rPr lang="en-US" sz="1400" dirty="0">
                <a:solidFill>
                  <a:srgbClr val="1E2761"/>
                </a:solidFill>
                <a:latin typeface="Consolas" pitchFamily="34" charset="0"/>
                <a:ea typeface="Consolas" pitchFamily="34" charset="-122"/>
                <a:cs typeface="Consolas" pitchFamily="34" charset="-120"/>
              </a:rPr>
              <a:t>myenv</a:t>
            </a:r>
            <a:r>
              <a:rPr lang="en-US" sz="1400" dirty="0">
                <a:solidFill>
                  <a:srgbClr val="1F2937"/>
                </a:solidFill>
                <a:latin typeface="Calibri" pitchFamily="34" charset="0"/>
                <a:ea typeface="Calibri" pitchFamily="34" charset="-122"/>
                <a:cs typeface="Calibri" pitchFamily="34" charset="-120"/>
              </a:rPr>
              <a:t>, </a:t>
            </a:r>
            <a:r>
              <a:rPr lang="en-US" sz="1400" b="1" dirty="0">
                <a:solidFill>
                  <a:srgbClr val="1F2937"/>
                </a:solidFill>
                <a:latin typeface="Calibri" pitchFamily="34" charset="0"/>
                <a:ea typeface="Calibri" pitchFamily="34" charset="-122"/>
                <a:cs typeface="Calibri" pitchFamily="34" charset="-120"/>
              </a:rPr>
              <a:t>not</a:t>
            </a:r>
            <a:r>
              <a:rPr lang="en-US" sz="1400" dirty="0">
                <a:solidFill>
                  <a:srgbClr val="1F2937"/>
                </a:solidFill>
                <a:latin typeface="Calibri" pitchFamily="34" charset="0"/>
                <a:ea typeface="Calibri" pitchFamily="34" charset="-122"/>
                <a:cs typeface="Calibri" pitchFamily="34" charset="-120"/>
              </a:rPr>
              <a:t> the system.</a:t>
            </a:r>
            <a:endParaRPr lang="en-US" sz="140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bg>
      <p:bgPr>
        <a:solidFill>
          <a:srgbClr val="FFFFFF"/>
        </a:solidFill>
        <a:effectLst/>
      </p:bgPr>
    </p:bg>
    <p:spTree>
      <p:nvGrpSpPr>
        <p:cNvPr id="1" name=""/>
        <p:cNvGrpSpPr/>
        <p:nvPr/>
      </p:nvGrpSpPr>
      <p:grpSpPr>
        <a:xfrm>
          <a:off x="0" y="0"/>
          <a:ext cx="0" cy="0"/>
          <a:chOff x="0" y="0"/>
          <a:chExt cx="0" cy="0"/>
        </a:xfrm>
      </p:grpSpPr>
      <p:pic>
        <p:nvPicPr>
          <p:cNvPr id="9" name="Picture 8" descr="access-footer.jpg"/>
          <p:cNvPicPr>
            <a:picLocks noChangeAspect="1"/>
          </p:cNvPicPr>
          <p:nvPr/>
        </p:nvPicPr>
        <p:blipFill>
          <a:blip r:embed="rId3"/>
          <a:stretch>
            <a:fillRect/>
          </a:stretch>
        </p:blipFill>
        <p:spPr>
          <a:xfrm>
            <a:off x="0" y="0"/>
            <a:ext cx="9144000" cy="5143500"/>
          </a:xfrm>
          <a:prstGeom prst="rect">
            <a:avLst/>
          </a:prstGeom>
        </p:spPr>
      </p:pic>
      <p:sp>
        <p:nvSpPr>
          <p:cNvPr id="2" name="Text 0"/>
          <p:cNvSpPr/>
          <p:nvPr/>
        </p:nvSpPr>
        <p:spPr>
          <a:xfrm>
            <a:off x="457200" y="274320"/>
            <a:ext cx="8229600" cy="594360"/>
          </a:xfrm>
          <a:prstGeom prst="rect">
            <a:avLst/>
          </a:prstGeom>
          <a:solidFill>
            <a:srgbClr val="FFFFFF"/>
          </a:solidFill>
          <a:ln/>
        </p:spPr>
        <p:txBody>
          <a:bodyPr wrap="square" lIns="0" tIns="0" rIns="0" bIns="0" rtlCol="0" anchor="ctr"/>
          <a:lstStyle/>
          <a:p>
            <a:pPr marL="0" indent="0">
              <a:buNone/>
            </a:pPr>
            <a:r>
              <a:rPr lang="en-US" sz="2800" b="1" dirty="0">
                <a:solidFill>
                  <a:srgbClr val="1E2761"/>
                </a:solidFill>
                <a:latin typeface="Cambria" pitchFamily="34" charset="0"/>
                <a:ea typeface="Cambria" pitchFamily="34" charset="-122"/>
                <a:cs typeface="Cambria" pitchFamily="34" charset="-120"/>
              </a:rPr>
              <a:t>Install a package</a:t>
            </a:r>
            <a:endParaRPr lang="en-US" sz="2800" dirty="0"/>
          </a:p>
        </p:txBody>
      </p:sp>
      <p:sp>
        <p:nvSpPr>
          <p:cNvPr id="3" name="Shape 1"/>
          <p:cNvSpPr/>
          <p:nvPr/>
        </p:nvSpPr>
        <p:spPr>
          <a:xfrm>
            <a:off x="457200" y="868680"/>
            <a:ext cx="548640" cy="36576"/>
          </a:xfrm>
          <a:prstGeom prst="rect">
            <a:avLst/>
          </a:prstGeom>
          <a:solidFill>
            <a:srgbClr val="1E2761"/>
          </a:solidFill>
          <a:ln w="12700">
            <a:solidFill>
              <a:srgbClr val="1E2761"/>
            </a:solidFill>
            <a:prstDash val="solid"/>
          </a:ln>
        </p:spPr>
        <p:txBody>
          <a:bodyPr/>
          <a:lstStyle/>
          <a:p>
            <a:endParaRPr lang="en-US"/>
          </a:p>
        </p:txBody>
      </p:sp>
      <p:sp>
        <p:nvSpPr>
          <p:cNvPr id="4" name="Shape 2"/>
          <p:cNvSpPr/>
          <p:nvPr/>
        </p:nvSpPr>
        <p:spPr>
          <a:xfrm>
            <a:off x="457200" y="1005840"/>
            <a:ext cx="1005840" cy="292608"/>
          </a:xfrm>
          <a:prstGeom prst="rect">
            <a:avLst/>
          </a:prstGeom>
          <a:solidFill>
            <a:srgbClr val="0369A1"/>
          </a:solidFill>
          <a:ln w="12700">
            <a:solidFill>
              <a:srgbClr val="0369A1"/>
            </a:solidFill>
            <a:prstDash val="solid"/>
          </a:ln>
        </p:spPr>
        <p:txBody>
          <a:bodyPr/>
          <a:lstStyle/>
          <a:p>
            <a:endParaRPr lang="en-US"/>
          </a:p>
        </p:txBody>
      </p:sp>
      <p:sp>
        <p:nvSpPr>
          <p:cNvPr id="5" name="Text 3"/>
          <p:cNvSpPr/>
          <p:nvPr/>
        </p:nvSpPr>
        <p:spPr>
          <a:xfrm>
            <a:off x="457200" y="1005840"/>
            <a:ext cx="1005840" cy="292608"/>
          </a:xfrm>
          <a:prstGeom prst="rect">
            <a:avLst/>
          </a:prstGeom>
          <a:noFill/>
          <a:ln/>
        </p:spPr>
        <p:txBody>
          <a:bodyPr wrap="square" lIns="0" tIns="0" rIns="0" bIns="0" rtlCol="0" anchor="ctr"/>
          <a:lstStyle/>
          <a:p>
            <a:pPr marL="0" indent="0" algn="ctr">
              <a:buNone/>
            </a:pPr>
            <a:r>
              <a:rPr lang="en-US" sz="1100" b="1" kern="0" spc="200" dirty="0">
                <a:solidFill>
                  <a:srgbClr val="FFFFFF"/>
                </a:solidFill>
                <a:latin typeface="Calibri" pitchFamily="34" charset="0"/>
                <a:ea typeface="Calibri" pitchFamily="34" charset="-122"/>
                <a:cs typeface="Calibri" pitchFamily="34" charset="-120"/>
              </a:rPr>
              <a:t>DEMO</a:t>
            </a:r>
            <a:endParaRPr lang="en-US" sz="1100" dirty="0"/>
          </a:p>
        </p:txBody>
      </p:sp>
      <p:sp>
        <p:nvSpPr>
          <p:cNvPr id="6" name="Shape 4"/>
          <p:cNvSpPr/>
          <p:nvPr/>
        </p:nvSpPr>
        <p:spPr>
          <a:xfrm>
            <a:off x="548640" y="1435608"/>
            <a:ext cx="8046720" cy="876300"/>
          </a:xfrm>
          <a:prstGeom prst="rect">
            <a:avLst/>
          </a:prstGeom>
          <a:solidFill>
            <a:srgbClr val="0F172A"/>
          </a:solidFill>
          <a:ln w="12700">
            <a:solidFill>
              <a:srgbClr val="0F172A"/>
            </a:solidFill>
            <a:prstDash val="solid"/>
          </a:ln>
        </p:spPr>
        <p:txBody>
          <a:bodyPr/>
          <a:lstStyle/>
          <a:p>
            <a:endParaRPr lang="en-US"/>
          </a:p>
        </p:txBody>
      </p:sp>
      <p:sp>
        <p:nvSpPr>
          <p:cNvPr id="7" name="Text 5"/>
          <p:cNvSpPr/>
          <p:nvPr/>
        </p:nvSpPr>
        <p:spPr>
          <a:xfrm>
            <a:off x="685800" y="1508760"/>
            <a:ext cx="7772400" cy="729996"/>
          </a:xfrm>
          <a:prstGeom prst="rect">
            <a:avLst/>
          </a:prstGeom>
          <a:noFill/>
          <a:ln/>
        </p:spPr>
        <p:txBody>
          <a:bodyPr wrap="square" lIns="0" tIns="0" rIns="0" bIns="0" rtlCol="0" anchor="t"/>
          <a:lstStyle/>
          <a:p>
            <a:pPr marL="0" indent="0">
              <a:buNone/>
            </a:pPr>
            <a:r>
              <a:rPr lang="en-US" sz="1400" dirty="0">
                <a:solidFill>
                  <a:srgbClr val="E2E8F0"/>
                </a:solidFill>
                <a:latin typeface="Consolas" pitchFamily="34" charset="0"/>
                <a:ea typeface="Consolas" pitchFamily="34" charset="-122"/>
                <a:cs typeface="Consolas" pitchFamily="34" charset="-120"/>
              </a:rPr>
              <a:t>(myenv) $ pip install requests</a:t>
            </a:r>
            <a:endParaRPr lang="en-US" sz="1400" dirty="0"/>
          </a:p>
          <a:p>
            <a:pPr marL="0" indent="0">
              <a:buNone/>
            </a:pPr>
            <a:r>
              <a:rPr lang="en-US" sz="1400" dirty="0">
                <a:solidFill>
                  <a:srgbClr val="E2E8F0"/>
                </a:solidFill>
                <a:latin typeface="Consolas" pitchFamily="34" charset="0"/>
                <a:ea typeface="Consolas" pitchFamily="34" charset="-122"/>
                <a:cs typeface="Consolas" pitchFamily="34" charset="-120"/>
              </a:rPr>
              <a:t>(myenv) $ python3 -c "import requests; print(requests.__version__)"</a:t>
            </a:r>
            <a:endParaRPr lang="en-US" sz="1400" dirty="0"/>
          </a:p>
          <a:p>
            <a:pPr marL="0" indent="0">
              <a:buNone/>
            </a:pPr>
            <a:r>
              <a:rPr lang="en-US" sz="1400" dirty="0">
                <a:solidFill>
                  <a:srgbClr val="E2E8F0"/>
                </a:solidFill>
                <a:latin typeface="Consolas" pitchFamily="34" charset="0"/>
                <a:ea typeface="Consolas" pitchFamily="34" charset="-122"/>
                <a:cs typeface="Consolas" pitchFamily="34" charset="-120"/>
              </a:rPr>
              <a:t>2.31.0</a:t>
            </a:r>
            <a:endParaRPr lang="en-US" sz="1400" dirty="0"/>
          </a:p>
        </p:txBody>
      </p:sp>
      <p:sp>
        <p:nvSpPr>
          <p:cNvPr id="8" name="Text 6"/>
          <p:cNvSpPr/>
          <p:nvPr/>
        </p:nvSpPr>
        <p:spPr>
          <a:xfrm>
            <a:off x="548640" y="2357628"/>
            <a:ext cx="8046720" cy="695960"/>
          </a:xfrm>
          <a:prstGeom prst="rect">
            <a:avLst/>
          </a:prstGeom>
          <a:solidFill>
            <a:srgbClr val="FFFFFF"/>
          </a:solidFill>
          <a:ln/>
        </p:spPr>
        <p:txBody>
          <a:bodyPr wrap="square" lIns="0" tIns="0" rIns="0" bIns="0" rtlCol="0" anchor="t"/>
          <a:lstStyle/>
          <a:p>
            <a:pPr marL="228600" indent="-228600">
              <a:spcAft>
                <a:spcPts val="600"/>
              </a:spcAft>
              <a:buSzPct val="100000"/>
              <a:buChar char="■"/>
            </a:pPr>
            <a:r>
              <a:rPr lang="en-US" sz="1400" dirty="0">
                <a:solidFill>
                  <a:srgbClr val="1E2761"/>
                </a:solidFill>
                <a:latin typeface="Consolas" pitchFamily="34" charset="0"/>
                <a:ea typeface="Consolas" pitchFamily="34" charset="-122"/>
                <a:cs typeface="Consolas" pitchFamily="34" charset="-120"/>
              </a:rPr>
              <a:t>requests</a:t>
            </a:r>
            <a:r>
              <a:rPr lang="en-US" sz="1400" dirty="0">
                <a:solidFill>
                  <a:srgbClr val="1F2937"/>
                </a:solidFill>
                <a:latin typeface="Calibri" pitchFamily="34" charset="0"/>
                <a:ea typeface="Calibri" pitchFamily="34" charset="-122"/>
                <a:cs typeface="Calibri" pitchFamily="34" charset="-120"/>
              </a:rPr>
              <a:t> is a popular library for making HTTP requests.</a:t>
            </a:r>
            <a:endParaRPr lang="en-US" sz="1400" dirty="0"/>
          </a:p>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The library is installed — but </a:t>
            </a:r>
            <a:r>
              <a:rPr lang="en-US" sz="1400" b="1" dirty="0">
                <a:solidFill>
                  <a:srgbClr val="1F2937"/>
                </a:solidFill>
                <a:latin typeface="Calibri" pitchFamily="34" charset="0"/>
                <a:ea typeface="Calibri" pitchFamily="34" charset="-122"/>
                <a:cs typeface="Calibri" pitchFamily="34" charset="-120"/>
              </a:rPr>
              <a:t>only inside this venv</a:t>
            </a:r>
            <a:r>
              <a:rPr lang="en-US" sz="1400" dirty="0">
                <a:solidFill>
                  <a:srgbClr val="1F2937"/>
                </a:solidFill>
                <a:latin typeface="Calibri" pitchFamily="34" charset="0"/>
                <a:ea typeface="Calibri" pitchFamily="34" charset="-122"/>
                <a:cs typeface="Calibri" pitchFamily="34" charset="-120"/>
              </a:rPr>
              <a:t>.</a:t>
            </a:r>
            <a:endParaRPr lang="en-US" sz="140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bg>
      <p:bgPr>
        <a:solidFill>
          <a:srgbClr val="FFFFFF"/>
        </a:solidFill>
        <a:effectLst/>
      </p:bgPr>
    </p:bg>
    <p:spTree>
      <p:nvGrpSpPr>
        <p:cNvPr id="1" name=""/>
        <p:cNvGrpSpPr/>
        <p:nvPr/>
      </p:nvGrpSpPr>
      <p:grpSpPr>
        <a:xfrm>
          <a:off x="0" y="0"/>
          <a:ext cx="0" cy="0"/>
          <a:chOff x="0" y="0"/>
          <a:chExt cx="0" cy="0"/>
        </a:xfrm>
      </p:grpSpPr>
      <p:pic>
        <p:nvPicPr>
          <p:cNvPr id="8" name="Picture 7" descr="access-footer.jpg"/>
          <p:cNvPicPr>
            <a:picLocks noChangeAspect="1"/>
          </p:cNvPicPr>
          <p:nvPr/>
        </p:nvPicPr>
        <p:blipFill>
          <a:blip r:embed="rId3"/>
          <a:stretch>
            <a:fillRect/>
          </a:stretch>
        </p:blipFill>
        <p:spPr>
          <a:xfrm>
            <a:off x="0" y="0"/>
            <a:ext cx="9144000" cy="5143500"/>
          </a:xfrm>
          <a:prstGeom prst="rect">
            <a:avLst/>
          </a:prstGeom>
        </p:spPr>
      </p:pic>
      <p:sp>
        <p:nvSpPr>
          <p:cNvPr id="2" name="Text 0"/>
          <p:cNvSpPr/>
          <p:nvPr/>
        </p:nvSpPr>
        <p:spPr>
          <a:xfrm>
            <a:off x="457200" y="274320"/>
            <a:ext cx="8229600" cy="594360"/>
          </a:xfrm>
          <a:prstGeom prst="rect">
            <a:avLst/>
          </a:prstGeom>
          <a:solidFill>
            <a:srgbClr val="FFFFFF"/>
          </a:solidFill>
          <a:ln/>
        </p:spPr>
        <p:txBody>
          <a:bodyPr wrap="square" lIns="0" tIns="0" rIns="0" bIns="0" rtlCol="0" anchor="ctr"/>
          <a:lstStyle/>
          <a:p>
            <a:pPr marL="0" indent="0">
              <a:buNone/>
            </a:pPr>
            <a:r>
              <a:rPr lang="en-US" sz="2800" b="1" dirty="0">
                <a:solidFill>
                  <a:srgbClr val="1E2761"/>
                </a:solidFill>
                <a:latin typeface="Cambria" pitchFamily="34" charset="0"/>
                <a:ea typeface="Cambria" pitchFamily="34" charset="-122"/>
                <a:cs typeface="Cambria" pitchFamily="34" charset="-120"/>
              </a:rPr>
              <a:t>See what's in the venv</a:t>
            </a:r>
            <a:endParaRPr lang="en-US" sz="2800" dirty="0"/>
          </a:p>
        </p:txBody>
      </p:sp>
      <p:sp>
        <p:nvSpPr>
          <p:cNvPr id="3" name="Shape 1"/>
          <p:cNvSpPr/>
          <p:nvPr/>
        </p:nvSpPr>
        <p:spPr>
          <a:xfrm>
            <a:off x="457200" y="868680"/>
            <a:ext cx="548640" cy="36576"/>
          </a:xfrm>
          <a:prstGeom prst="rect">
            <a:avLst/>
          </a:prstGeom>
          <a:solidFill>
            <a:srgbClr val="1E2761"/>
          </a:solidFill>
          <a:ln w="12700">
            <a:solidFill>
              <a:srgbClr val="1E2761"/>
            </a:solidFill>
            <a:prstDash val="solid"/>
          </a:ln>
        </p:spPr>
        <p:txBody>
          <a:bodyPr/>
          <a:lstStyle/>
          <a:p>
            <a:endParaRPr lang="en-US"/>
          </a:p>
        </p:txBody>
      </p:sp>
      <p:sp>
        <p:nvSpPr>
          <p:cNvPr id="4" name="Shape 2"/>
          <p:cNvSpPr/>
          <p:nvPr/>
        </p:nvSpPr>
        <p:spPr>
          <a:xfrm>
            <a:off x="457200" y="1005840"/>
            <a:ext cx="1005840" cy="292608"/>
          </a:xfrm>
          <a:prstGeom prst="rect">
            <a:avLst/>
          </a:prstGeom>
          <a:solidFill>
            <a:srgbClr val="0369A1"/>
          </a:solidFill>
          <a:ln w="12700">
            <a:solidFill>
              <a:srgbClr val="0369A1"/>
            </a:solidFill>
            <a:prstDash val="solid"/>
          </a:ln>
        </p:spPr>
        <p:txBody>
          <a:bodyPr/>
          <a:lstStyle/>
          <a:p>
            <a:endParaRPr lang="en-US"/>
          </a:p>
        </p:txBody>
      </p:sp>
      <p:sp>
        <p:nvSpPr>
          <p:cNvPr id="5" name="Text 3"/>
          <p:cNvSpPr/>
          <p:nvPr/>
        </p:nvSpPr>
        <p:spPr>
          <a:xfrm>
            <a:off x="457200" y="1005840"/>
            <a:ext cx="1005840" cy="292608"/>
          </a:xfrm>
          <a:prstGeom prst="rect">
            <a:avLst/>
          </a:prstGeom>
          <a:noFill/>
          <a:ln/>
        </p:spPr>
        <p:txBody>
          <a:bodyPr wrap="square" lIns="0" tIns="0" rIns="0" bIns="0" rtlCol="0" anchor="ctr"/>
          <a:lstStyle/>
          <a:p>
            <a:pPr marL="0" indent="0" algn="ctr">
              <a:buNone/>
            </a:pPr>
            <a:r>
              <a:rPr lang="en-US" sz="1100" b="1" kern="0" spc="200" dirty="0">
                <a:solidFill>
                  <a:srgbClr val="FFFFFF"/>
                </a:solidFill>
                <a:latin typeface="Calibri" pitchFamily="34" charset="0"/>
                <a:ea typeface="Calibri" pitchFamily="34" charset="-122"/>
                <a:cs typeface="Calibri" pitchFamily="34" charset="-120"/>
              </a:rPr>
              <a:t>DEMO</a:t>
            </a:r>
            <a:endParaRPr lang="en-US" sz="1100" dirty="0"/>
          </a:p>
        </p:txBody>
      </p:sp>
      <p:sp>
        <p:nvSpPr>
          <p:cNvPr id="6" name="Shape 4"/>
          <p:cNvSpPr/>
          <p:nvPr/>
        </p:nvSpPr>
        <p:spPr>
          <a:xfrm>
            <a:off x="548640" y="1435608"/>
            <a:ext cx="8046720" cy="1916430"/>
          </a:xfrm>
          <a:prstGeom prst="rect">
            <a:avLst/>
          </a:prstGeom>
          <a:solidFill>
            <a:srgbClr val="0F172A"/>
          </a:solidFill>
          <a:ln w="12700">
            <a:solidFill>
              <a:srgbClr val="0F172A"/>
            </a:solidFill>
            <a:prstDash val="solid"/>
          </a:ln>
        </p:spPr>
        <p:txBody>
          <a:bodyPr/>
          <a:lstStyle/>
          <a:p>
            <a:endParaRPr lang="en-US"/>
          </a:p>
        </p:txBody>
      </p:sp>
      <p:sp>
        <p:nvSpPr>
          <p:cNvPr id="7" name="Text 5"/>
          <p:cNvSpPr/>
          <p:nvPr/>
        </p:nvSpPr>
        <p:spPr>
          <a:xfrm>
            <a:off x="685800" y="1508760"/>
            <a:ext cx="7772400" cy="1770126"/>
          </a:xfrm>
          <a:prstGeom prst="rect">
            <a:avLst/>
          </a:prstGeom>
          <a:noFill/>
          <a:ln/>
        </p:spPr>
        <p:txBody>
          <a:bodyPr wrap="square" lIns="0" tIns="0" rIns="0" bIns="0" rtlCol="0" anchor="t"/>
          <a:lstStyle/>
          <a:p>
            <a:pPr marL="0" indent="0">
              <a:buNone/>
            </a:pPr>
            <a:r>
              <a:rPr lang="en-US" sz="1500" dirty="0">
                <a:solidFill>
                  <a:srgbClr val="E2E8F0"/>
                </a:solidFill>
                <a:latin typeface="Consolas" pitchFamily="34" charset="0"/>
                <a:ea typeface="Consolas" pitchFamily="34" charset="-122"/>
                <a:cs typeface="Consolas" pitchFamily="34" charset="-120"/>
              </a:rPr>
              <a:t>(myenv) $ pip list</a:t>
            </a:r>
            <a:endParaRPr lang="en-US" sz="1500" dirty="0"/>
          </a:p>
          <a:p>
            <a:pPr marL="0" indent="0">
              <a:buNone/>
            </a:pPr>
            <a:r>
              <a:rPr lang="en-US" sz="1500" dirty="0">
                <a:solidFill>
                  <a:srgbClr val="E2E8F0"/>
                </a:solidFill>
                <a:latin typeface="Consolas" pitchFamily="34" charset="0"/>
                <a:ea typeface="Consolas" pitchFamily="34" charset="-122"/>
                <a:cs typeface="Consolas" pitchFamily="34" charset="-120"/>
              </a:rPr>
              <a:t>Package      Version</a:t>
            </a:r>
            <a:endParaRPr lang="en-US" sz="1500" dirty="0"/>
          </a:p>
          <a:p>
            <a:pPr marL="0" indent="0">
              <a:buNone/>
            </a:pPr>
            <a:r>
              <a:rPr lang="en-US" sz="1500" dirty="0">
                <a:solidFill>
                  <a:srgbClr val="E2E8F0"/>
                </a:solidFill>
                <a:latin typeface="Consolas" pitchFamily="34" charset="0"/>
                <a:ea typeface="Consolas" pitchFamily="34" charset="-122"/>
                <a:cs typeface="Consolas" pitchFamily="34" charset="-120"/>
              </a:rPr>
              <a:t>-----------  -------</a:t>
            </a:r>
            <a:endParaRPr lang="en-US" sz="1500" dirty="0"/>
          </a:p>
          <a:p>
            <a:pPr marL="0" indent="0">
              <a:buNone/>
            </a:pPr>
            <a:r>
              <a:rPr lang="en-US" sz="1500" dirty="0">
                <a:solidFill>
                  <a:srgbClr val="E2E8F0"/>
                </a:solidFill>
                <a:latin typeface="Consolas" pitchFamily="34" charset="0"/>
                <a:ea typeface="Consolas" pitchFamily="34" charset="-122"/>
                <a:cs typeface="Consolas" pitchFamily="34" charset="-120"/>
              </a:rPr>
              <a:t>certifi      ...</a:t>
            </a:r>
            <a:endParaRPr lang="en-US" sz="1500" dirty="0"/>
          </a:p>
          <a:p>
            <a:pPr marL="0" indent="0">
              <a:buNone/>
            </a:pPr>
            <a:r>
              <a:rPr lang="en-US" sz="1500" dirty="0">
                <a:solidFill>
                  <a:srgbClr val="E2E8F0"/>
                </a:solidFill>
                <a:latin typeface="Consolas" pitchFamily="34" charset="0"/>
                <a:ea typeface="Consolas" pitchFamily="34" charset="-122"/>
                <a:cs typeface="Consolas" pitchFamily="34" charset="-120"/>
              </a:rPr>
              <a:t>charset-...  ...</a:t>
            </a:r>
            <a:endParaRPr lang="en-US" sz="1500" dirty="0"/>
          </a:p>
          <a:p>
            <a:pPr marL="0" indent="0">
              <a:buNone/>
            </a:pPr>
            <a:r>
              <a:rPr lang="en-US" sz="1500" dirty="0">
                <a:solidFill>
                  <a:srgbClr val="E2E8F0"/>
                </a:solidFill>
                <a:latin typeface="Consolas" pitchFamily="34" charset="0"/>
                <a:ea typeface="Consolas" pitchFamily="34" charset="-122"/>
                <a:cs typeface="Consolas" pitchFamily="34" charset="-120"/>
              </a:rPr>
              <a:t>requests     2.31.0</a:t>
            </a:r>
            <a:endParaRPr lang="en-US" sz="1500" dirty="0"/>
          </a:p>
          <a:p>
            <a:pPr marL="0" indent="0">
              <a:buNone/>
            </a:pPr>
            <a:r>
              <a:rPr lang="en-US" sz="1500" dirty="0">
                <a:solidFill>
                  <a:srgbClr val="E2E8F0"/>
                </a:solidFill>
                <a:latin typeface="Consolas" pitchFamily="34" charset="0"/>
                <a:ea typeface="Consolas" pitchFamily="34" charset="-122"/>
                <a:cs typeface="Consolas" pitchFamily="34" charset="-120"/>
              </a:rPr>
              <a:t>urllib3      ...</a:t>
            </a:r>
            <a:endParaRPr lang="en-US" sz="1500"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bg>
      <p:bgPr>
        <a:solidFill>
          <a:srgbClr val="FFFFFF"/>
        </a:solidFill>
        <a:effectLst/>
      </p:bgPr>
    </p:bg>
    <p:spTree>
      <p:nvGrpSpPr>
        <p:cNvPr id="1" name=""/>
        <p:cNvGrpSpPr/>
        <p:nvPr/>
      </p:nvGrpSpPr>
      <p:grpSpPr>
        <a:xfrm>
          <a:off x="0" y="0"/>
          <a:ext cx="0" cy="0"/>
          <a:chOff x="0" y="0"/>
          <a:chExt cx="0" cy="0"/>
        </a:xfrm>
      </p:grpSpPr>
      <p:pic>
        <p:nvPicPr>
          <p:cNvPr id="9" name="Picture 8" descr="access-footer.jpg"/>
          <p:cNvPicPr>
            <a:picLocks noChangeAspect="1"/>
          </p:cNvPicPr>
          <p:nvPr/>
        </p:nvPicPr>
        <p:blipFill>
          <a:blip r:embed="rId3"/>
          <a:stretch>
            <a:fillRect/>
          </a:stretch>
        </p:blipFill>
        <p:spPr>
          <a:xfrm>
            <a:off x="0" y="0"/>
            <a:ext cx="9144000" cy="5143500"/>
          </a:xfrm>
          <a:prstGeom prst="rect">
            <a:avLst/>
          </a:prstGeom>
        </p:spPr>
      </p:pic>
      <p:sp>
        <p:nvSpPr>
          <p:cNvPr id="2" name="Text 0"/>
          <p:cNvSpPr/>
          <p:nvPr/>
        </p:nvSpPr>
        <p:spPr>
          <a:xfrm>
            <a:off x="457200" y="274320"/>
            <a:ext cx="8229600" cy="594360"/>
          </a:xfrm>
          <a:prstGeom prst="rect">
            <a:avLst/>
          </a:prstGeom>
          <a:solidFill>
            <a:srgbClr val="FFFFFF"/>
          </a:solidFill>
          <a:ln/>
        </p:spPr>
        <p:txBody>
          <a:bodyPr wrap="square" lIns="0" tIns="0" rIns="0" bIns="0" rtlCol="0" anchor="ctr"/>
          <a:lstStyle/>
          <a:p>
            <a:pPr marL="0" indent="0">
              <a:buNone/>
            </a:pPr>
            <a:r>
              <a:rPr lang="en-US" sz="2800" b="1" dirty="0">
                <a:solidFill>
                  <a:srgbClr val="1E2761"/>
                </a:solidFill>
                <a:latin typeface="Cambria" pitchFamily="34" charset="0"/>
                <a:ea typeface="Cambria" pitchFamily="34" charset="-122"/>
                <a:cs typeface="Cambria" pitchFamily="34" charset="-120"/>
              </a:rPr>
              <a:t>Leaving the venv</a:t>
            </a:r>
            <a:endParaRPr lang="en-US" sz="2800" dirty="0"/>
          </a:p>
        </p:txBody>
      </p:sp>
      <p:sp>
        <p:nvSpPr>
          <p:cNvPr id="3" name="Shape 1"/>
          <p:cNvSpPr/>
          <p:nvPr/>
        </p:nvSpPr>
        <p:spPr>
          <a:xfrm>
            <a:off x="457200" y="868680"/>
            <a:ext cx="548640" cy="36576"/>
          </a:xfrm>
          <a:prstGeom prst="rect">
            <a:avLst/>
          </a:prstGeom>
          <a:solidFill>
            <a:srgbClr val="1E2761"/>
          </a:solidFill>
          <a:ln w="12700">
            <a:solidFill>
              <a:srgbClr val="1E2761"/>
            </a:solidFill>
            <a:prstDash val="solid"/>
          </a:ln>
        </p:spPr>
        <p:txBody>
          <a:bodyPr/>
          <a:lstStyle/>
          <a:p>
            <a:endParaRPr lang="en-US"/>
          </a:p>
        </p:txBody>
      </p:sp>
      <p:sp>
        <p:nvSpPr>
          <p:cNvPr id="4" name="Shape 2"/>
          <p:cNvSpPr/>
          <p:nvPr/>
        </p:nvSpPr>
        <p:spPr>
          <a:xfrm>
            <a:off x="457200" y="1005840"/>
            <a:ext cx="1005840" cy="292608"/>
          </a:xfrm>
          <a:prstGeom prst="rect">
            <a:avLst/>
          </a:prstGeom>
          <a:solidFill>
            <a:srgbClr val="0369A1"/>
          </a:solidFill>
          <a:ln w="12700">
            <a:solidFill>
              <a:srgbClr val="0369A1"/>
            </a:solidFill>
            <a:prstDash val="solid"/>
          </a:ln>
        </p:spPr>
        <p:txBody>
          <a:bodyPr/>
          <a:lstStyle/>
          <a:p>
            <a:endParaRPr lang="en-US"/>
          </a:p>
        </p:txBody>
      </p:sp>
      <p:sp>
        <p:nvSpPr>
          <p:cNvPr id="5" name="Text 3"/>
          <p:cNvSpPr/>
          <p:nvPr/>
        </p:nvSpPr>
        <p:spPr>
          <a:xfrm>
            <a:off x="457200" y="1005840"/>
            <a:ext cx="1005840" cy="292608"/>
          </a:xfrm>
          <a:prstGeom prst="rect">
            <a:avLst/>
          </a:prstGeom>
          <a:noFill/>
          <a:ln/>
        </p:spPr>
        <p:txBody>
          <a:bodyPr wrap="square" lIns="0" tIns="0" rIns="0" bIns="0" rtlCol="0" anchor="ctr"/>
          <a:lstStyle/>
          <a:p>
            <a:pPr marL="0" indent="0" algn="ctr">
              <a:buNone/>
            </a:pPr>
            <a:r>
              <a:rPr lang="en-US" sz="1100" b="1" kern="0" spc="200" dirty="0">
                <a:solidFill>
                  <a:srgbClr val="FFFFFF"/>
                </a:solidFill>
                <a:latin typeface="Calibri" pitchFamily="34" charset="0"/>
                <a:ea typeface="Calibri" pitchFamily="34" charset="-122"/>
                <a:cs typeface="Calibri" pitchFamily="34" charset="-120"/>
              </a:rPr>
              <a:t>DEMO</a:t>
            </a:r>
            <a:endParaRPr lang="en-US" sz="1100" dirty="0"/>
          </a:p>
        </p:txBody>
      </p:sp>
      <p:sp>
        <p:nvSpPr>
          <p:cNvPr id="6" name="Shape 4"/>
          <p:cNvSpPr/>
          <p:nvPr/>
        </p:nvSpPr>
        <p:spPr>
          <a:xfrm>
            <a:off x="548640" y="1435608"/>
            <a:ext cx="8046720" cy="1107440"/>
          </a:xfrm>
          <a:prstGeom prst="rect">
            <a:avLst/>
          </a:prstGeom>
          <a:solidFill>
            <a:srgbClr val="0F172A"/>
          </a:solidFill>
          <a:ln w="12700">
            <a:solidFill>
              <a:srgbClr val="0F172A"/>
            </a:solidFill>
            <a:prstDash val="solid"/>
          </a:ln>
        </p:spPr>
        <p:txBody>
          <a:bodyPr/>
          <a:lstStyle/>
          <a:p>
            <a:endParaRPr lang="en-US"/>
          </a:p>
        </p:txBody>
      </p:sp>
      <p:sp>
        <p:nvSpPr>
          <p:cNvPr id="7" name="Text 5"/>
          <p:cNvSpPr/>
          <p:nvPr/>
        </p:nvSpPr>
        <p:spPr>
          <a:xfrm>
            <a:off x="685800" y="1508760"/>
            <a:ext cx="7772400" cy="961136"/>
          </a:xfrm>
          <a:prstGeom prst="rect">
            <a:avLst/>
          </a:prstGeom>
          <a:noFill/>
          <a:ln/>
        </p:spPr>
        <p:txBody>
          <a:bodyPr wrap="square" lIns="0" tIns="0" rIns="0" bIns="0" rtlCol="0" anchor="t"/>
          <a:lstStyle/>
          <a:p>
            <a:pPr marL="0" indent="0">
              <a:buNone/>
            </a:pPr>
            <a:r>
              <a:rPr lang="en-US" sz="1400" dirty="0">
                <a:solidFill>
                  <a:srgbClr val="E2E8F0"/>
                </a:solidFill>
                <a:latin typeface="Consolas" pitchFamily="34" charset="0"/>
                <a:ea typeface="Consolas" pitchFamily="34" charset="-122"/>
                <a:cs typeface="Consolas" pitchFamily="34" charset="-120"/>
              </a:rPr>
              <a:t>(myenv) $ deactivate</a:t>
            </a:r>
            <a:endParaRPr lang="en-US" sz="1400" dirty="0"/>
          </a:p>
          <a:p>
            <a:pPr marL="0" indent="0">
              <a:buNone/>
            </a:pPr>
            <a:r>
              <a:rPr lang="en-US" sz="1400" dirty="0">
                <a:solidFill>
                  <a:srgbClr val="E2E8F0"/>
                </a:solidFill>
                <a:latin typeface="Consolas" pitchFamily="34" charset="0"/>
                <a:ea typeface="Consolas" pitchFamily="34" charset="-122"/>
                <a:cs typeface="Consolas" pitchFamily="34" charset="-120"/>
              </a:rPr>
              <a:t>$</a:t>
            </a:r>
            <a:endParaRPr lang="en-US" sz="1400" dirty="0"/>
          </a:p>
          <a:p>
            <a:pPr marL="0" indent="0">
              <a:buNone/>
            </a:pPr>
            <a:r>
              <a:rPr lang="en-US" sz="1400" dirty="0">
                <a:solidFill>
                  <a:srgbClr val="E2E8F0"/>
                </a:solidFill>
                <a:latin typeface="Consolas" pitchFamily="34" charset="0"/>
                <a:ea typeface="Consolas" pitchFamily="34" charset="-122"/>
                <a:cs typeface="Consolas" pitchFamily="34" charset="-120"/>
              </a:rPr>
              <a:t>$ python3 -c "import requests"</a:t>
            </a:r>
            <a:endParaRPr lang="en-US" sz="1400" dirty="0"/>
          </a:p>
          <a:p>
            <a:pPr marL="0" indent="0">
              <a:buNone/>
            </a:pPr>
            <a:r>
              <a:rPr lang="en-US" sz="1400" dirty="0">
                <a:solidFill>
                  <a:srgbClr val="E2E8F0"/>
                </a:solidFill>
                <a:latin typeface="Consolas" pitchFamily="34" charset="0"/>
                <a:ea typeface="Consolas" pitchFamily="34" charset="-122"/>
                <a:cs typeface="Consolas" pitchFamily="34" charset="-120"/>
              </a:rPr>
              <a:t>ModuleNotFoundError: No module named 'requests'</a:t>
            </a:r>
            <a:endParaRPr lang="en-US" sz="1400" dirty="0"/>
          </a:p>
        </p:txBody>
      </p:sp>
      <p:sp>
        <p:nvSpPr>
          <p:cNvPr id="8" name="Text 6"/>
          <p:cNvSpPr/>
          <p:nvPr/>
        </p:nvSpPr>
        <p:spPr>
          <a:xfrm>
            <a:off x="548640" y="2588768"/>
            <a:ext cx="8046720" cy="276860"/>
          </a:xfrm>
          <a:prstGeom prst="rect">
            <a:avLst/>
          </a:prstGeom>
          <a:solidFill>
            <a:srgbClr val="FFFFFF"/>
          </a:solidFill>
          <a:ln/>
        </p:spPr>
        <p:txBody>
          <a:bodyPr wrap="square" rtlCol="0" anchor="t"/>
          <a:lstStyle/>
          <a:p>
            <a:pPr marL="0" indent="0">
              <a:buNone/>
            </a:pPr>
            <a:r>
              <a:rPr lang="en-US" sz="1300" i="1" dirty="0">
                <a:solidFill>
                  <a:srgbClr val="475569"/>
                </a:solidFill>
                <a:latin typeface="Calibri" pitchFamily="34" charset="0"/>
                <a:ea typeface="Calibri" pitchFamily="34" charset="-122"/>
                <a:cs typeface="Calibri" pitchFamily="34" charset="-120"/>
              </a:rPr>
              <a:t>That's the point — the venv kept it contained.</a:t>
            </a:r>
            <a:endParaRPr lang="en-US" sz="130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bg>
      <p:bgPr>
        <a:solidFill>
          <a:srgbClr val="FFFFFF"/>
        </a:solidFill>
        <a:effectLst/>
      </p:bgPr>
    </p:bg>
    <p:spTree>
      <p:nvGrpSpPr>
        <p:cNvPr id="1" name=""/>
        <p:cNvGrpSpPr/>
        <p:nvPr/>
      </p:nvGrpSpPr>
      <p:grpSpPr>
        <a:xfrm>
          <a:off x="0" y="0"/>
          <a:ext cx="0" cy="0"/>
          <a:chOff x="0" y="0"/>
          <a:chExt cx="0" cy="0"/>
        </a:xfrm>
      </p:grpSpPr>
      <p:pic>
        <p:nvPicPr>
          <p:cNvPr id="8" name="Picture 7" descr="access-footer.jpg"/>
          <p:cNvPicPr>
            <a:picLocks noChangeAspect="1"/>
          </p:cNvPicPr>
          <p:nvPr/>
        </p:nvPicPr>
        <p:blipFill>
          <a:blip r:embed="rId3"/>
          <a:stretch>
            <a:fillRect/>
          </a:stretch>
        </p:blipFill>
        <p:spPr>
          <a:xfrm>
            <a:off x="0" y="0"/>
            <a:ext cx="9144000" cy="5143500"/>
          </a:xfrm>
          <a:prstGeom prst="rect">
            <a:avLst/>
          </a:prstGeom>
        </p:spPr>
      </p:pic>
      <p:sp>
        <p:nvSpPr>
          <p:cNvPr id="2" name="Text 0"/>
          <p:cNvSpPr/>
          <p:nvPr/>
        </p:nvSpPr>
        <p:spPr>
          <a:xfrm>
            <a:off x="457200" y="274320"/>
            <a:ext cx="8229600" cy="594360"/>
          </a:xfrm>
          <a:prstGeom prst="rect">
            <a:avLst/>
          </a:prstGeom>
          <a:solidFill>
            <a:srgbClr val="FFFFFF"/>
          </a:solidFill>
          <a:ln/>
        </p:spPr>
        <p:txBody>
          <a:bodyPr wrap="square" lIns="0" tIns="0" rIns="0" bIns="0" rtlCol="0" anchor="ctr"/>
          <a:lstStyle/>
          <a:p>
            <a:pPr marL="0" indent="0">
              <a:buNone/>
            </a:pPr>
            <a:r>
              <a:rPr lang="en-US" sz="2800" b="1" dirty="0">
                <a:solidFill>
                  <a:srgbClr val="1E2761"/>
                </a:solidFill>
                <a:latin typeface="Cambria" pitchFamily="34" charset="0"/>
                <a:ea typeface="Cambria" pitchFamily="34" charset="-122"/>
                <a:cs typeface="Cambria" pitchFamily="34" charset="-120"/>
              </a:rPr>
              <a:t>The workflow you'll use forever</a:t>
            </a:r>
            <a:endParaRPr lang="en-US" sz="2800" dirty="0"/>
          </a:p>
        </p:txBody>
      </p:sp>
      <p:sp>
        <p:nvSpPr>
          <p:cNvPr id="3" name="Shape 1"/>
          <p:cNvSpPr/>
          <p:nvPr/>
        </p:nvSpPr>
        <p:spPr>
          <a:xfrm>
            <a:off x="457200" y="868680"/>
            <a:ext cx="548640" cy="36576"/>
          </a:xfrm>
          <a:prstGeom prst="rect">
            <a:avLst/>
          </a:prstGeom>
          <a:solidFill>
            <a:srgbClr val="1E2761"/>
          </a:solidFill>
          <a:ln w="12700">
            <a:solidFill>
              <a:srgbClr val="1E2761"/>
            </a:solidFill>
            <a:prstDash val="solid"/>
          </a:ln>
        </p:spPr>
        <p:txBody>
          <a:bodyPr/>
          <a:lstStyle/>
          <a:p>
            <a:endParaRPr lang="en-US"/>
          </a:p>
        </p:txBody>
      </p:sp>
      <p:sp>
        <p:nvSpPr>
          <p:cNvPr id="4" name="Shape 2"/>
          <p:cNvSpPr/>
          <p:nvPr/>
        </p:nvSpPr>
        <p:spPr>
          <a:xfrm>
            <a:off x="457200" y="1005840"/>
            <a:ext cx="1005840" cy="292608"/>
          </a:xfrm>
          <a:prstGeom prst="rect">
            <a:avLst/>
          </a:prstGeom>
          <a:solidFill>
            <a:srgbClr val="1E2761"/>
          </a:solidFill>
          <a:ln w="12700">
            <a:solidFill>
              <a:srgbClr val="1E2761"/>
            </a:solidFill>
            <a:prstDash val="solid"/>
          </a:ln>
        </p:spPr>
        <p:txBody>
          <a:bodyPr/>
          <a:lstStyle/>
          <a:p>
            <a:endParaRPr lang="en-US"/>
          </a:p>
        </p:txBody>
      </p:sp>
      <p:sp>
        <p:nvSpPr>
          <p:cNvPr id="5" name="Text 3"/>
          <p:cNvSpPr/>
          <p:nvPr/>
        </p:nvSpPr>
        <p:spPr>
          <a:xfrm>
            <a:off x="457200" y="1005840"/>
            <a:ext cx="1005840" cy="292608"/>
          </a:xfrm>
          <a:prstGeom prst="rect">
            <a:avLst/>
          </a:prstGeom>
          <a:noFill/>
          <a:ln/>
        </p:spPr>
        <p:txBody>
          <a:bodyPr wrap="square" lIns="0" tIns="0" rIns="0" bIns="0" rtlCol="0" anchor="ctr"/>
          <a:lstStyle/>
          <a:p>
            <a:pPr marL="0" indent="0" algn="ctr">
              <a:buNone/>
            </a:pPr>
            <a:r>
              <a:rPr lang="en-US" sz="1100" b="1" kern="0" spc="200" dirty="0">
                <a:solidFill>
                  <a:srgbClr val="FFFFFF"/>
                </a:solidFill>
                <a:latin typeface="Calibri" pitchFamily="34" charset="0"/>
                <a:ea typeface="Calibri" pitchFamily="34" charset="-122"/>
                <a:cs typeface="Calibri" pitchFamily="34" charset="-120"/>
              </a:rPr>
              <a:t>TALK</a:t>
            </a:r>
            <a:endParaRPr lang="en-US" sz="1100" dirty="0"/>
          </a:p>
        </p:txBody>
      </p:sp>
      <p:sp>
        <p:nvSpPr>
          <p:cNvPr id="6" name="Text 4"/>
          <p:cNvSpPr/>
          <p:nvPr/>
        </p:nvSpPr>
        <p:spPr>
          <a:xfrm>
            <a:off x="548640" y="1435608"/>
            <a:ext cx="8046720" cy="1996440"/>
          </a:xfrm>
          <a:prstGeom prst="rect">
            <a:avLst/>
          </a:prstGeom>
          <a:solidFill>
            <a:srgbClr val="FFFFFF"/>
          </a:solidFill>
          <a:ln/>
        </p:spPr>
        <p:txBody>
          <a:bodyPr wrap="square" lIns="0" tIns="0" rIns="0" bIns="0" rtlCol="0" anchor="t"/>
          <a:lstStyle/>
          <a:p>
            <a:pPr marL="279400" indent="-279400">
              <a:spcAft>
                <a:spcPts val="600"/>
              </a:spcAft>
              <a:buSzPct val="100000"/>
              <a:buFont typeface="+mj-lt"/>
              <a:buAutoNum type="arabicPeriod"/>
            </a:pPr>
            <a:r>
              <a:rPr lang="en-US" sz="1400" dirty="0">
                <a:solidFill>
                  <a:srgbClr val="1F2937"/>
                </a:solidFill>
                <a:latin typeface="Calibri" pitchFamily="34" charset="0"/>
                <a:ea typeface="Calibri" pitchFamily="34" charset="-122"/>
                <a:cs typeface="Calibri" pitchFamily="34" charset="-120"/>
              </a:rPr>
              <a:t>Make a folder for the project.</a:t>
            </a:r>
            <a:endParaRPr lang="en-US" sz="1400" dirty="0"/>
          </a:p>
          <a:p>
            <a:pPr marL="279400" indent="-279400">
              <a:spcAft>
                <a:spcPts val="600"/>
              </a:spcAft>
              <a:buSzPct val="100000"/>
              <a:buFont typeface="+mj-lt"/>
              <a:buAutoNum type="arabicPeriod"/>
            </a:pPr>
            <a:r>
              <a:rPr lang="en-US" sz="1400" dirty="0">
                <a:solidFill>
                  <a:srgbClr val="1F2937"/>
                </a:solidFill>
                <a:latin typeface="Calibri" pitchFamily="34" charset="0"/>
                <a:ea typeface="Calibri" pitchFamily="34" charset="-122"/>
                <a:cs typeface="Calibri" pitchFamily="34" charset="-120"/>
              </a:rPr>
              <a:t>Make a venv inside: </a:t>
            </a:r>
            <a:r>
              <a:rPr lang="en-US" sz="1400" dirty="0">
                <a:solidFill>
                  <a:srgbClr val="1E2761"/>
                </a:solidFill>
                <a:latin typeface="Consolas" pitchFamily="34" charset="0"/>
                <a:ea typeface="Consolas" pitchFamily="34" charset="-122"/>
                <a:cs typeface="Consolas" pitchFamily="34" charset="-120"/>
              </a:rPr>
              <a:t>python3 -m venv env</a:t>
            </a:r>
            <a:r>
              <a:rPr lang="en-US" sz="1400" dirty="0">
                <a:solidFill>
                  <a:srgbClr val="1F2937"/>
                </a:solidFill>
                <a:latin typeface="Calibri" pitchFamily="34" charset="0"/>
                <a:ea typeface="Calibri" pitchFamily="34" charset="-122"/>
                <a:cs typeface="Calibri" pitchFamily="34" charset="-120"/>
              </a:rPr>
              <a:t>.</a:t>
            </a:r>
            <a:endParaRPr lang="en-US" sz="1400" dirty="0"/>
          </a:p>
          <a:p>
            <a:pPr marL="279400" indent="-279400">
              <a:spcAft>
                <a:spcPts val="600"/>
              </a:spcAft>
              <a:buSzPct val="100000"/>
              <a:buFont typeface="+mj-lt"/>
              <a:buAutoNum type="arabicPeriod"/>
            </a:pPr>
            <a:r>
              <a:rPr lang="en-US" sz="1400" dirty="0">
                <a:solidFill>
                  <a:srgbClr val="1F2937"/>
                </a:solidFill>
                <a:latin typeface="Calibri" pitchFamily="34" charset="0"/>
                <a:ea typeface="Calibri" pitchFamily="34" charset="-122"/>
                <a:cs typeface="Calibri" pitchFamily="34" charset="-120"/>
              </a:rPr>
              <a:t>Activate it: </a:t>
            </a:r>
            <a:r>
              <a:rPr lang="en-US" sz="1400" dirty="0">
                <a:solidFill>
                  <a:srgbClr val="1E2761"/>
                </a:solidFill>
                <a:latin typeface="Consolas" pitchFamily="34" charset="0"/>
                <a:ea typeface="Consolas" pitchFamily="34" charset="-122"/>
                <a:cs typeface="Consolas" pitchFamily="34" charset="-120"/>
              </a:rPr>
              <a:t>source env/bin/activate</a:t>
            </a:r>
            <a:r>
              <a:rPr lang="en-US" sz="1400" dirty="0">
                <a:solidFill>
                  <a:srgbClr val="1F2937"/>
                </a:solidFill>
                <a:latin typeface="Calibri" pitchFamily="34" charset="0"/>
                <a:ea typeface="Calibri" pitchFamily="34" charset="-122"/>
                <a:cs typeface="Calibri" pitchFamily="34" charset="-120"/>
              </a:rPr>
              <a:t>.</a:t>
            </a:r>
            <a:endParaRPr lang="en-US" sz="1400" dirty="0"/>
          </a:p>
          <a:p>
            <a:pPr marL="279400" indent="-279400">
              <a:spcAft>
                <a:spcPts val="600"/>
              </a:spcAft>
              <a:buSzPct val="100000"/>
              <a:buFont typeface="+mj-lt"/>
              <a:buAutoNum type="arabicPeriod"/>
            </a:pPr>
            <a:r>
              <a:rPr lang="en-US" sz="1400" dirty="0">
                <a:solidFill>
                  <a:srgbClr val="1E2761"/>
                </a:solidFill>
                <a:latin typeface="Consolas" pitchFamily="34" charset="0"/>
                <a:ea typeface="Consolas" pitchFamily="34" charset="-122"/>
                <a:cs typeface="Consolas" pitchFamily="34" charset="-120"/>
              </a:rPr>
              <a:t>pip install</a:t>
            </a:r>
            <a:r>
              <a:rPr lang="en-US" sz="1400" dirty="0">
                <a:solidFill>
                  <a:srgbClr val="1F2937"/>
                </a:solidFill>
                <a:latin typeface="Calibri" pitchFamily="34" charset="0"/>
                <a:ea typeface="Calibri" pitchFamily="34" charset="-122"/>
                <a:cs typeface="Calibri" pitchFamily="34" charset="-120"/>
              </a:rPr>
              <a:t> whatever libraries the project needs.</a:t>
            </a:r>
            <a:endParaRPr lang="en-US" sz="1400" dirty="0"/>
          </a:p>
          <a:p>
            <a:pPr marL="279400" indent="-279400">
              <a:spcAft>
                <a:spcPts val="600"/>
              </a:spcAft>
              <a:buSzPct val="100000"/>
              <a:buFont typeface="+mj-lt"/>
              <a:buAutoNum type="arabicPeriod"/>
            </a:pPr>
            <a:r>
              <a:rPr lang="en-US" sz="1400" dirty="0">
                <a:solidFill>
                  <a:srgbClr val="1F2937"/>
                </a:solidFill>
                <a:latin typeface="Calibri" pitchFamily="34" charset="0"/>
                <a:ea typeface="Calibri" pitchFamily="34" charset="-122"/>
                <a:cs typeface="Calibri" pitchFamily="34" charset="-120"/>
              </a:rPr>
              <a:t>Work on the project.</a:t>
            </a:r>
            <a:endParaRPr lang="en-US" sz="1400" dirty="0"/>
          </a:p>
          <a:p>
            <a:pPr marL="279400" indent="-279400">
              <a:spcAft>
                <a:spcPts val="600"/>
              </a:spcAft>
              <a:buSzPct val="100000"/>
              <a:buFont typeface="+mj-lt"/>
              <a:buAutoNum type="arabicPeriod"/>
            </a:pPr>
            <a:r>
              <a:rPr lang="en-US" sz="1400" dirty="0">
                <a:solidFill>
                  <a:srgbClr val="1E2761"/>
                </a:solidFill>
                <a:latin typeface="Consolas" pitchFamily="34" charset="0"/>
                <a:ea typeface="Consolas" pitchFamily="34" charset="-122"/>
                <a:cs typeface="Consolas" pitchFamily="34" charset="-120"/>
              </a:rPr>
              <a:t>deactivate</a:t>
            </a:r>
            <a:r>
              <a:rPr lang="en-US" sz="1400" dirty="0">
                <a:solidFill>
                  <a:srgbClr val="1F2937"/>
                </a:solidFill>
                <a:latin typeface="Calibri" pitchFamily="34" charset="0"/>
                <a:ea typeface="Calibri" pitchFamily="34" charset="-122"/>
                <a:cs typeface="Calibri" pitchFamily="34" charset="-120"/>
              </a:rPr>
              <a:t> when done.</a:t>
            </a:r>
            <a:endParaRPr lang="en-US" sz="1400" dirty="0"/>
          </a:p>
        </p:txBody>
      </p:sp>
      <p:sp>
        <p:nvSpPr>
          <p:cNvPr id="7" name="Text 5"/>
          <p:cNvSpPr/>
          <p:nvPr/>
        </p:nvSpPr>
        <p:spPr>
          <a:xfrm>
            <a:off x="548640" y="3477768"/>
            <a:ext cx="8046720" cy="276860"/>
          </a:xfrm>
          <a:prstGeom prst="rect">
            <a:avLst/>
          </a:prstGeom>
          <a:solidFill>
            <a:srgbClr val="FFFFFF"/>
          </a:solidFill>
          <a:ln/>
        </p:spPr>
        <p:txBody>
          <a:bodyPr wrap="square" rtlCol="0" anchor="t"/>
          <a:lstStyle/>
          <a:p>
            <a:pPr marL="0" indent="0">
              <a:buNone/>
            </a:pPr>
            <a:r>
              <a:rPr lang="en-US" sz="1300" i="1" dirty="0">
                <a:solidFill>
                  <a:srgbClr val="475569"/>
                </a:solidFill>
                <a:latin typeface="Calibri" pitchFamily="34" charset="0"/>
                <a:ea typeface="Calibri" pitchFamily="34" charset="-122"/>
                <a:cs typeface="Calibri" pitchFamily="34" charset="-120"/>
              </a:rPr>
              <a:t>Come back later → just re-activate. You don't need to recreate the venv.</a:t>
            </a:r>
            <a:endParaRPr lang="en-US" sz="1300"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bg>
      <p:bgPr>
        <a:solidFill>
          <a:srgbClr val="FFFFFF"/>
        </a:solidFill>
        <a:effectLst/>
      </p:bgPr>
    </p:bg>
    <p:spTree>
      <p:nvGrpSpPr>
        <p:cNvPr id="1" name=""/>
        <p:cNvGrpSpPr/>
        <p:nvPr/>
      </p:nvGrpSpPr>
      <p:grpSpPr>
        <a:xfrm>
          <a:off x="0" y="0"/>
          <a:ext cx="0" cy="0"/>
          <a:chOff x="0" y="0"/>
          <a:chExt cx="0" cy="0"/>
        </a:xfrm>
      </p:grpSpPr>
      <p:pic>
        <p:nvPicPr>
          <p:cNvPr id="7" name="Picture 6" descr="access-footer.jpg"/>
          <p:cNvPicPr>
            <a:picLocks noChangeAspect="1"/>
          </p:cNvPicPr>
          <p:nvPr/>
        </p:nvPicPr>
        <p:blipFill>
          <a:blip r:embed="rId3"/>
          <a:stretch>
            <a:fillRect/>
          </a:stretch>
        </p:blipFill>
        <p:spPr>
          <a:xfrm>
            <a:off x="0" y="0"/>
            <a:ext cx="9144000" cy="5143500"/>
          </a:xfrm>
          <a:prstGeom prst="rect">
            <a:avLst/>
          </a:prstGeom>
        </p:spPr>
      </p:pic>
      <p:sp>
        <p:nvSpPr>
          <p:cNvPr id="2" name="Text 0"/>
          <p:cNvSpPr/>
          <p:nvPr/>
        </p:nvSpPr>
        <p:spPr>
          <a:xfrm>
            <a:off x="457200" y="274320"/>
            <a:ext cx="8229600" cy="594360"/>
          </a:xfrm>
          <a:prstGeom prst="rect">
            <a:avLst/>
          </a:prstGeom>
          <a:solidFill>
            <a:srgbClr val="FFFFFF"/>
          </a:solidFill>
          <a:ln/>
        </p:spPr>
        <p:txBody>
          <a:bodyPr wrap="square" lIns="0" tIns="0" rIns="0" bIns="0" rtlCol="0" anchor="ctr"/>
          <a:lstStyle/>
          <a:p>
            <a:pPr marL="0" indent="0">
              <a:buNone/>
            </a:pPr>
            <a:r>
              <a:rPr lang="en-US" sz="2800" b="1" dirty="0">
                <a:solidFill>
                  <a:srgbClr val="1E2761"/>
                </a:solidFill>
                <a:latin typeface="Cambria" pitchFamily="34" charset="0"/>
                <a:ea typeface="Cambria" pitchFamily="34" charset="-122"/>
                <a:cs typeface="Cambria" pitchFamily="34" charset="-120"/>
              </a:rPr>
              <a:t>Watch out</a:t>
            </a:r>
            <a:endParaRPr lang="en-US" sz="2800" dirty="0"/>
          </a:p>
        </p:txBody>
      </p:sp>
      <p:sp>
        <p:nvSpPr>
          <p:cNvPr id="3" name="Shape 1"/>
          <p:cNvSpPr/>
          <p:nvPr/>
        </p:nvSpPr>
        <p:spPr>
          <a:xfrm>
            <a:off x="457200" y="868680"/>
            <a:ext cx="548640" cy="36576"/>
          </a:xfrm>
          <a:prstGeom prst="rect">
            <a:avLst/>
          </a:prstGeom>
          <a:solidFill>
            <a:srgbClr val="1E2761"/>
          </a:solidFill>
          <a:ln w="12700">
            <a:solidFill>
              <a:srgbClr val="1E2761"/>
            </a:solidFill>
            <a:prstDash val="solid"/>
          </a:ln>
        </p:spPr>
        <p:txBody>
          <a:bodyPr/>
          <a:lstStyle/>
          <a:p>
            <a:endParaRPr lang="en-US"/>
          </a:p>
        </p:txBody>
      </p:sp>
      <p:sp>
        <p:nvSpPr>
          <p:cNvPr id="4" name="Shape 2"/>
          <p:cNvSpPr/>
          <p:nvPr/>
        </p:nvSpPr>
        <p:spPr>
          <a:xfrm>
            <a:off x="457200" y="1005840"/>
            <a:ext cx="1005840" cy="292608"/>
          </a:xfrm>
          <a:prstGeom prst="rect">
            <a:avLst/>
          </a:prstGeom>
          <a:solidFill>
            <a:srgbClr val="B45309"/>
          </a:solidFill>
          <a:ln w="12700">
            <a:solidFill>
              <a:srgbClr val="B45309"/>
            </a:solidFill>
            <a:prstDash val="solid"/>
          </a:ln>
        </p:spPr>
        <p:txBody>
          <a:bodyPr/>
          <a:lstStyle/>
          <a:p>
            <a:endParaRPr lang="en-US"/>
          </a:p>
        </p:txBody>
      </p:sp>
      <p:sp>
        <p:nvSpPr>
          <p:cNvPr id="5" name="Text 3"/>
          <p:cNvSpPr/>
          <p:nvPr/>
        </p:nvSpPr>
        <p:spPr>
          <a:xfrm>
            <a:off x="457200" y="1005840"/>
            <a:ext cx="1005840" cy="292608"/>
          </a:xfrm>
          <a:prstGeom prst="rect">
            <a:avLst/>
          </a:prstGeom>
          <a:noFill/>
          <a:ln/>
        </p:spPr>
        <p:txBody>
          <a:bodyPr wrap="square" lIns="0" tIns="0" rIns="0" bIns="0" rtlCol="0" anchor="ctr"/>
          <a:lstStyle/>
          <a:p>
            <a:pPr marL="0" indent="0" algn="ctr">
              <a:buNone/>
            </a:pPr>
            <a:r>
              <a:rPr lang="en-US" sz="1100" b="1" kern="0" spc="200" dirty="0">
                <a:solidFill>
                  <a:srgbClr val="FFFFFF"/>
                </a:solidFill>
                <a:latin typeface="Calibri" pitchFamily="34" charset="0"/>
                <a:ea typeface="Calibri" pitchFamily="34" charset="-122"/>
                <a:cs typeface="Calibri" pitchFamily="34" charset="-120"/>
              </a:rPr>
              <a:t>WATCH OUT</a:t>
            </a:r>
            <a:endParaRPr lang="en-US" sz="1100" dirty="0"/>
          </a:p>
        </p:txBody>
      </p:sp>
      <p:sp>
        <p:nvSpPr>
          <p:cNvPr id="6" name="Text 4"/>
          <p:cNvSpPr/>
          <p:nvPr/>
        </p:nvSpPr>
        <p:spPr>
          <a:xfrm>
            <a:off x="548640" y="1435608"/>
            <a:ext cx="8046720" cy="1518920"/>
          </a:xfrm>
          <a:prstGeom prst="rect">
            <a:avLst/>
          </a:prstGeom>
          <a:solidFill>
            <a:srgbClr val="FFFFFF"/>
          </a:solidFill>
          <a:ln/>
        </p:spPr>
        <p:txBody>
          <a:bodyPr wrap="square" lIns="0" tIns="0" rIns="0" bIns="0" rtlCol="0" anchor="t"/>
          <a:lstStyle/>
          <a:p>
            <a:pPr marL="228600" indent="-228600">
              <a:spcAft>
                <a:spcPts val="600"/>
              </a:spcAft>
              <a:buSzPct val="100000"/>
              <a:buChar char="■"/>
            </a:pPr>
            <a:r>
              <a:rPr lang="en-US" sz="1400" dirty="0">
                <a:solidFill>
                  <a:srgbClr val="1E2761"/>
                </a:solidFill>
                <a:latin typeface="Consolas" pitchFamily="34" charset="0"/>
                <a:ea typeface="Consolas" pitchFamily="34" charset="-122"/>
                <a:cs typeface="Consolas" pitchFamily="34" charset="-120"/>
              </a:rPr>
              <a:t>pip install</a:t>
            </a:r>
            <a:r>
              <a:rPr lang="en-US" sz="1400" dirty="0">
                <a:solidFill>
                  <a:srgbClr val="1F2937"/>
                </a:solidFill>
                <a:latin typeface="Calibri" pitchFamily="34" charset="0"/>
                <a:ea typeface="Calibri" pitchFamily="34" charset="-122"/>
                <a:cs typeface="Calibri" pitchFamily="34" charset="-120"/>
              </a:rPr>
              <a:t> </a:t>
            </a:r>
            <a:r>
              <a:rPr lang="en-US" sz="1400" b="1" dirty="0">
                <a:solidFill>
                  <a:srgbClr val="1F2937"/>
                </a:solidFill>
                <a:latin typeface="Calibri" pitchFamily="34" charset="0"/>
                <a:ea typeface="Calibri" pitchFamily="34" charset="-122"/>
                <a:cs typeface="Calibri" pitchFamily="34" charset="-120"/>
              </a:rPr>
              <a:t>outside</a:t>
            </a:r>
            <a:r>
              <a:rPr lang="en-US" sz="1400" dirty="0">
                <a:solidFill>
                  <a:srgbClr val="1F2937"/>
                </a:solidFill>
                <a:latin typeface="Calibri" pitchFamily="34" charset="0"/>
                <a:ea typeface="Calibri" pitchFamily="34" charset="-122"/>
                <a:cs typeface="Calibri" pitchFamily="34" charset="-120"/>
              </a:rPr>
              <a:t> a venv on Ubuntu often fails with </a:t>
            </a:r>
            <a:r>
              <a:rPr lang="en-US" sz="1400" dirty="0">
                <a:solidFill>
                  <a:srgbClr val="1E2761"/>
                </a:solidFill>
                <a:latin typeface="Consolas" pitchFamily="34" charset="0"/>
                <a:ea typeface="Consolas" pitchFamily="34" charset="-122"/>
                <a:cs typeface="Consolas" pitchFamily="34" charset="-120"/>
              </a:rPr>
              <a:t>externally-managed-environment</a:t>
            </a:r>
            <a:r>
              <a:rPr lang="en-US" sz="1400" dirty="0">
                <a:solidFill>
                  <a:srgbClr val="1F2937"/>
                </a:solidFill>
                <a:latin typeface="Calibri" pitchFamily="34" charset="0"/>
                <a:ea typeface="Calibri" pitchFamily="34" charset="-122"/>
                <a:cs typeface="Calibri" pitchFamily="34" charset="-120"/>
              </a:rPr>
              <a:t>. That's Ubuntu protecting you. Fix: make and activate a venv first.</a:t>
            </a:r>
            <a:endParaRPr lang="en-US" sz="1400" dirty="0"/>
          </a:p>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If you clone someone else's Python project, they'll usually have a </a:t>
            </a:r>
            <a:r>
              <a:rPr lang="en-US" sz="1400" dirty="0">
                <a:solidFill>
                  <a:srgbClr val="1E2761"/>
                </a:solidFill>
                <a:latin typeface="Consolas" pitchFamily="34" charset="0"/>
                <a:ea typeface="Consolas" pitchFamily="34" charset="-122"/>
                <a:cs typeface="Consolas" pitchFamily="34" charset="-120"/>
              </a:rPr>
              <a:t>requirements.txt</a:t>
            </a:r>
            <a:r>
              <a:rPr lang="en-US" sz="1400" dirty="0">
                <a:solidFill>
                  <a:srgbClr val="1F2937"/>
                </a:solidFill>
                <a:latin typeface="Calibri" pitchFamily="34" charset="0"/>
                <a:ea typeface="Calibri" pitchFamily="34" charset="-122"/>
                <a:cs typeface="Calibri" pitchFamily="34" charset="-120"/>
              </a:rPr>
              <a:t>. After making your own venv: </a:t>
            </a:r>
            <a:r>
              <a:rPr lang="en-US" sz="1400" dirty="0">
                <a:solidFill>
                  <a:srgbClr val="1E2761"/>
                </a:solidFill>
                <a:latin typeface="Consolas" pitchFamily="34" charset="0"/>
                <a:ea typeface="Consolas" pitchFamily="34" charset="-122"/>
                <a:cs typeface="Consolas" pitchFamily="34" charset="-120"/>
              </a:rPr>
              <a:t>pip install -r requirements.txt</a:t>
            </a:r>
            <a:r>
              <a:rPr lang="en-US" sz="1400" dirty="0">
                <a:solidFill>
                  <a:srgbClr val="1F2937"/>
                </a:solidFill>
                <a:latin typeface="Calibri" pitchFamily="34" charset="0"/>
                <a:ea typeface="Calibri" pitchFamily="34" charset="-122"/>
                <a:cs typeface="Calibri" pitchFamily="34" charset="-120"/>
              </a:rPr>
              <a:t>.</a:t>
            </a:r>
            <a:endParaRPr lang="en-US" sz="1400" dirty="0"/>
          </a:p>
          <a:p>
            <a:pPr marL="228600" indent="-228600">
              <a:spcAft>
                <a:spcPts val="600"/>
              </a:spcAft>
              <a:buSzPct val="100000"/>
              <a:buChar char="■"/>
            </a:pPr>
            <a:r>
              <a:rPr lang="en-US" sz="1400" b="1" dirty="0">
                <a:solidFill>
                  <a:srgbClr val="1F2937"/>
                </a:solidFill>
                <a:latin typeface="Calibri" pitchFamily="34" charset="0"/>
                <a:ea typeface="Calibri" pitchFamily="34" charset="-122"/>
                <a:cs typeface="Calibri" pitchFamily="34" charset="-120"/>
              </a:rPr>
              <a:t>You don't put the venv folder in git.</a:t>
            </a:r>
            <a:r>
              <a:rPr lang="en-US" sz="1400" dirty="0">
                <a:solidFill>
                  <a:srgbClr val="1F2937"/>
                </a:solidFill>
                <a:latin typeface="Calibri" pitchFamily="34" charset="0"/>
                <a:ea typeface="Calibri" pitchFamily="34" charset="-122"/>
                <a:cs typeface="Calibri" pitchFamily="34" charset="-120"/>
              </a:rPr>
              <a:t> It's a local thing per machine.</a:t>
            </a:r>
            <a:endParaRPr lang="en-US" sz="140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bg>
      <p:bgPr>
        <a:solidFill>
          <a:srgbClr val="FFFFFF"/>
        </a:solidFill>
        <a:effectLst/>
      </p:bgPr>
    </p:bg>
    <p:spTree>
      <p:nvGrpSpPr>
        <p:cNvPr id="1" name=""/>
        <p:cNvGrpSpPr/>
        <p:nvPr/>
      </p:nvGrpSpPr>
      <p:grpSpPr>
        <a:xfrm>
          <a:off x="0" y="0"/>
          <a:ext cx="0" cy="0"/>
          <a:chOff x="0" y="0"/>
          <a:chExt cx="0" cy="0"/>
        </a:xfrm>
      </p:grpSpPr>
      <p:pic>
        <p:nvPicPr>
          <p:cNvPr id="7" name="Picture 6" descr="access-footer.jpg"/>
          <p:cNvPicPr>
            <a:picLocks noChangeAspect="1"/>
          </p:cNvPicPr>
          <p:nvPr/>
        </p:nvPicPr>
        <p:blipFill>
          <a:blip r:embed="rId3"/>
          <a:stretch>
            <a:fillRect/>
          </a:stretch>
        </p:blipFill>
        <p:spPr>
          <a:xfrm>
            <a:off x="0" y="0"/>
            <a:ext cx="9144000" cy="5143500"/>
          </a:xfrm>
          <a:prstGeom prst="rect">
            <a:avLst/>
          </a:prstGeom>
        </p:spPr>
      </p:pic>
      <p:sp>
        <p:nvSpPr>
          <p:cNvPr id="2" name="Text 0"/>
          <p:cNvSpPr/>
          <p:nvPr/>
        </p:nvSpPr>
        <p:spPr>
          <a:xfrm>
            <a:off x="457200" y="274320"/>
            <a:ext cx="8229600" cy="594360"/>
          </a:xfrm>
          <a:prstGeom prst="rect">
            <a:avLst/>
          </a:prstGeom>
          <a:solidFill>
            <a:srgbClr val="FFFFFF"/>
          </a:solidFill>
          <a:ln/>
        </p:spPr>
        <p:txBody>
          <a:bodyPr wrap="square" lIns="0" tIns="0" rIns="0" bIns="0" rtlCol="0" anchor="ctr"/>
          <a:lstStyle/>
          <a:p>
            <a:pPr marL="0" indent="0">
              <a:buNone/>
            </a:pPr>
            <a:r>
              <a:rPr lang="en-US" sz="2800" b="1" dirty="0">
                <a:solidFill>
                  <a:srgbClr val="1E2761"/>
                </a:solidFill>
                <a:latin typeface="Cambria" pitchFamily="34" charset="0"/>
                <a:ea typeface="Cambria" pitchFamily="34" charset="-122"/>
                <a:cs typeface="Cambria" pitchFamily="34" charset="-120"/>
              </a:rPr>
              <a:t>Exercise: a venv from scratch</a:t>
            </a:r>
            <a:endParaRPr lang="en-US" sz="2800" dirty="0"/>
          </a:p>
        </p:txBody>
      </p:sp>
      <p:sp>
        <p:nvSpPr>
          <p:cNvPr id="3" name="Shape 1"/>
          <p:cNvSpPr/>
          <p:nvPr/>
        </p:nvSpPr>
        <p:spPr>
          <a:xfrm>
            <a:off x="457200" y="868680"/>
            <a:ext cx="548640" cy="36576"/>
          </a:xfrm>
          <a:prstGeom prst="rect">
            <a:avLst/>
          </a:prstGeom>
          <a:solidFill>
            <a:srgbClr val="1E2761"/>
          </a:solidFill>
          <a:ln w="12700">
            <a:solidFill>
              <a:srgbClr val="1E2761"/>
            </a:solidFill>
            <a:prstDash val="solid"/>
          </a:ln>
        </p:spPr>
        <p:txBody>
          <a:bodyPr/>
          <a:lstStyle/>
          <a:p>
            <a:endParaRPr lang="en-US"/>
          </a:p>
        </p:txBody>
      </p:sp>
      <p:sp>
        <p:nvSpPr>
          <p:cNvPr id="4" name="Shape 2"/>
          <p:cNvSpPr/>
          <p:nvPr/>
        </p:nvSpPr>
        <p:spPr>
          <a:xfrm>
            <a:off x="457200" y="1005840"/>
            <a:ext cx="1005840" cy="292608"/>
          </a:xfrm>
          <a:prstGeom prst="rect">
            <a:avLst/>
          </a:prstGeom>
          <a:solidFill>
            <a:srgbClr val="047857"/>
          </a:solidFill>
          <a:ln w="12700">
            <a:solidFill>
              <a:srgbClr val="047857"/>
            </a:solidFill>
            <a:prstDash val="solid"/>
          </a:ln>
        </p:spPr>
        <p:txBody>
          <a:bodyPr/>
          <a:lstStyle/>
          <a:p>
            <a:endParaRPr lang="en-US"/>
          </a:p>
        </p:txBody>
      </p:sp>
      <p:sp>
        <p:nvSpPr>
          <p:cNvPr id="5" name="Text 3"/>
          <p:cNvSpPr/>
          <p:nvPr/>
        </p:nvSpPr>
        <p:spPr>
          <a:xfrm>
            <a:off x="457200" y="1005840"/>
            <a:ext cx="1005840" cy="292608"/>
          </a:xfrm>
          <a:prstGeom prst="rect">
            <a:avLst/>
          </a:prstGeom>
          <a:noFill/>
          <a:ln/>
        </p:spPr>
        <p:txBody>
          <a:bodyPr wrap="square" lIns="0" tIns="0" rIns="0" bIns="0" rtlCol="0" anchor="ctr"/>
          <a:lstStyle/>
          <a:p>
            <a:pPr marL="0" indent="0" algn="ctr">
              <a:buNone/>
            </a:pPr>
            <a:r>
              <a:rPr lang="en-US" sz="1100" b="1" kern="0" spc="200" dirty="0">
                <a:solidFill>
                  <a:srgbClr val="FFFFFF"/>
                </a:solidFill>
                <a:latin typeface="Calibri" pitchFamily="34" charset="0"/>
                <a:ea typeface="Calibri" pitchFamily="34" charset="-122"/>
                <a:cs typeface="Calibri" pitchFamily="34" charset="-120"/>
              </a:rPr>
              <a:t>EXERCISE</a:t>
            </a:r>
            <a:endParaRPr lang="en-US" sz="1100" dirty="0"/>
          </a:p>
        </p:txBody>
      </p:sp>
      <p:sp>
        <p:nvSpPr>
          <p:cNvPr id="6" name="Text 4"/>
          <p:cNvSpPr/>
          <p:nvPr/>
        </p:nvSpPr>
        <p:spPr>
          <a:xfrm>
            <a:off x="548640" y="1435608"/>
            <a:ext cx="8046720" cy="2428240"/>
          </a:xfrm>
          <a:prstGeom prst="rect">
            <a:avLst/>
          </a:prstGeom>
          <a:solidFill>
            <a:srgbClr val="FFFFFF"/>
          </a:solidFill>
          <a:ln/>
        </p:spPr>
        <p:txBody>
          <a:bodyPr wrap="square" lIns="0" tIns="0" rIns="0" bIns="0" rtlCol="0" anchor="t"/>
          <a:lstStyle/>
          <a:p>
            <a:pPr marL="279400" indent="-279400">
              <a:spcAft>
                <a:spcPts val="600"/>
              </a:spcAft>
              <a:buSzPct val="100000"/>
              <a:buFont typeface="+mj-lt"/>
              <a:buAutoNum type="arabicPeriod"/>
            </a:pPr>
            <a:r>
              <a:rPr lang="en-US" sz="1300" dirty="0">
                <a:solidFill>
                  <a:srgbClr val="1E2761"/>
                </a:solidFill>
                <a:latin typeface="Consolas" pitchFamily="34" charset="0"/>
                <a:ea typeface="Consolas" pitchFamily="34" charset="-122"/>
                <a:cs typeface="Consolas" pitchFamily="34" charset="-120"/>
              </a:rPr>
              <a:t>mkdir ~/python-lab &amp;&amp; cd ~/python-lab</a:t>
            </a:r>
            <a:r>
              <a:rPr lang="en-US" sz="1300" dirty="0">
                <a:solidFill>
                  <a:srgbClr val="1F2937"/>
                </a:solidFill>
                <a:latin typeface="Calibri" pitchFamily="34" charset="0"/>
                <a:ea typeface="Calibri" pitchFamily="34" charset="-122"/>
                <a:cs typeface="Calibri" pitchFamily="34" charset="-120"/>
              </a:rPr>
              <a:t>.</a:t>
            </a:r>
            <a:endParaRPr lang="en-US" sz="1300" dirty="0"/>
          </a:p>
          <a:p>
            <a:pPr marL="279400" indent="-279400">
              <a:spcAft>
                <a:spcPts val="600"/>
              </a:spcAft>
              <a:buSzPct val="100000"/>
              <a:buFont typeface="+mj-lt"/>
              <a:buAutoNum type="arabicPeriod"/>
            </a:pPr>
            <a:r>
              <a:rPr lang="en-US" sz="1300" dirty="0">
                <a:solidFill>
                  <a:srgbClr val="1F2937"/>
                </a:solidFill>
                <a:latin typeface="Calibri" pitchFamily="34" charset="0"/>
                <a:ea typeface="Calibri" pitchFamily="34" charset="-122"/>
                <a:cs typeface="Calibri" pitchFamily="34" charset="-120"/>
              </a:rPr>
              <a:t>Create a venv called </a:t>
            </a:r>
            <a:r>
              <a:rPr lang="en-US" sz="1300" dirty="0">
                <a:solidFill>
                  <a:srgbClr val="1E2761"/>
                </a:solidFill>
                <a:latin typeface="Consolas" pitchFamily="34" charset="0"/>
                <a:ea typeface="Consolas" pitchFamily="34" charset="-122"/>
                <a:cs typeface="Consolas" pitchFamily="34" charset="-120"/>
              </a:rPr>
              <a:t>env</a:t>
            </a:r>
            <a:r>
              <a:rPr lang="en-US" sz="1300" dirty="0">
                <a:solidFill>
                  <a:srgbClr val="1F2937"/>
                </a:solidFill>
                <a:latin typeface="Calibri" pitchFamily="34" charset="0"/>
                <a:ea typeface="Calibri" pitchFamily="34" charset="-122"/>
                <a:cs typeface="Calibri" pitchFamily="34" charset="-120"/>
              </a:rPr>
              <a:t>: </a:t>
            </a:r>
            <a:r>
              <a:rPr lang="en-US" sz="1300" dirty="0">
                <a:solidFill>
                  <a:srgbClr val="1E2761"/>
                </a:solidFill>
                <a:latin typeface="Consolas" pitchFamily="34" charset="0"/>
                <a:ea typeface="Consolas" pitchFamily="34" charset="-122"/>
                <a:cs typeface="Consolas" pitchFamily="34" charset="-120"/>
              </a:rPr>
              <a:t>python3 -m venv env</a:t>
            </a:r>
            <a:r>
              <a:rPr lang="en-US" sz="1300" dirty="0">
                <a:solidFill>
                  <a:srgbClr val="1F2937"/>
                </a:solidFill>
                <a:latin typeface="Calibri" pitchFamily="34" charset="0"/>
                <a:ea typeface="Calibri" pitchFamily="34" charset="-122"/>
                <a:cs typeface="Calibri" pitchFamily="34" charset="-120"/>
              </a:rPr>
              <a:t>.</a:t>
            </a:r>
            <a:endParaRPr lang="en-US" sz="1300" dirty="0"/>
          </a:p>
          <a:p>
            <a:pPr marL="279400" indent="-279400">
              <a:spcAft>
                <a:spcPts val="600"/>
              </a:spcAft>
              <a:buSzPct val="100000"/>
              <a:buFont typeface="+mj-lt"/>
              <a:buAutoNum type="arabicPeriod"/>
            </a:pPr>
            <a:r>
              <a:rPr lang="en-US" sz="1300" dirty="0">
                <a:solidFill>
                  <a:srgbClr val="1F2937"/>
                </a:solidFill>
                <a:latin typeface="Calibri" pitchFamily="34" charset="0"/>
                <a:ea typeface="Calibri" pitchFamily="34" charset="-122"/>
                <a:cs typeface="Calibri" pitchFamily="34" charset="-120"/>
              </a:rPr>
              <a:t>Activate it. Confirm your prompt shows </a:t>
            </a:r>
            <a:r>
              <a:rPr lang="en-US" sz="1300" dirty="0">
                <a:solidFill>
                  <a:srgbClr val="1E2761"/>
                </a:solidFill>
                <a:latin typeface="Consolas" pitchFamily="34" charset="0"/>
                <a:ea typeface="Consolas" pitchFamily="34" charset="-122"/>
                <a:cs typeface="Consolas" pitchFamily="34" charset="-120"/>
              </a:rPr>
              <a:t>(env)</a:t>
            </a:r>
            <a:r>
              <a:rPr lang="en-US" sz="1300" dirty="0">
                <a:solidFill>
                  <a:srgbClr val="1F2937"/>
                </a:solidFill>
                <a:latin typeface="Calibri" pitchFamily="34" charset="0"/>
                <a:ea typeface="Calibri" pitchFamily="34" charset="-122"/>
                <a:cs typeface="Calibri" pitchFamily="34" charset="-120"/>
              </a:rPr>
              <a:t>.</a:t>
            </a:r>
            <a:endParaRPr lang="en-US" sz="1300" dirty="0"/>
          </a:p>
          <a:p>
            <a:pPr marL="279400" indent="-279400">
              <a:spcAft>
                <a:spcPts val="600"/>
              </a:spcAft>
              <a:buSzPct val="100000"/>
              <a:buFont typeface="+mj-lt"/>
              <a:buAutoNum type="arabicPeriod"/>
            </a:pPr>
            <a:r>
              <a:rPr lang="en-US" sz="1300" dirty="0">
                <a:solidFill>
                  <a:srgbClr val="1F2937"/>
                </a:solidFill>
                <a:latin typeface="Calibri" pitchFamily="34" charset="0"/>
                <a:ea typeface="Calibri" pitchFamily="34" charset="-122"/>
                <a:cs typeface="Calibri" pitchFamily="34" charset="-120"/>
              </a:rPr>
              <a:t>Install a fun package: </a:t>
            </a:r>
            <a:r>
              <a:rPr lang="en-US" sz="1300" dirty="0">
                <a:solidFill>
                  <a:srgbClr val="1E2761"/>
                </a:solidFill>
                <a:latin typeface="Consolas" pitchFamily="34" charset="0"/>
                <a:ea typeface="Consolas" pitchFamily="34" charset="-122"/>
                <a:cs typeface="Consolas" pitchFamily="34" charset="-120"/>
              </a:rPr>
              <a:t>pip install cowsay</a:t>
            </a:r>
            <a:r>
              <a:rPr lang="en-US" sz="1300" dirty="0">
                <a:solidFill>
                  <a:srgbClr val="1F2937"/>
                </a:solidFill>
                <a:latin typeface="Calibri" pitchFamily="34" charset="0"/>
                <a:ea typeface="Calibri" pitchFamily="34" charset="-122"/>
                <a:cs typeface="Calibri" pitchFamily="34" charset="-120"/>
              </a:rPr>
              <a:t>.</a:t>
            </a:r>
            <a:endParaRPr lang="en-US" sz="1300" dirty="0"/>
          </a:p>
          <a:p>
            <a:pPr marL="279400" indent="-279400">
              <a:spcAft>
                <a:spcPts val="600"/>
              </a:spcAft>
              <a:buSzPct val="100000"/>
              <a:buFont typeface="+mj-lt"/>
              <a:buAutoNum type="arabicPeriod"/>
            </a:pPr>
            <a:r>
              <a:rPr lang="en-US" sz="1300" dirty="0">
                <a:solidFill>
                  <a:srgbClr val="1F2937"/>
                </a:solidFill>
                <a:latin typeface="Calibri" pitchFamily="34" charset="0"/>
                <a:ea typeface="Calibri" pitchFamily="34" charset="-122"/>
                <a:cs typeface="Calibri" pitchFamily="34" charset="-120"/>
              </a:rPr>
              <a:t>Run it: </a:t>
            </a:r>
            <a:r>
              <a:rPr lang="en-US" sz="1300" dirty="0">
                <a:solidFill>
                  <a:srgbClr val="1E2761"/>
                </a:solidFill>
                <a:latin typeface="Consolas" pitchFamily="34" charset="0"/>
                <a:ea typeface="Consolas" pitchFamily="34" charset="-122"/>
                <a:cs typeface="Consolas" pitchFamily="34" charset="-120"/>
              </a:rPr>
              <a:t>cowsay -t "hello from my venv"</a:t>
            </a:r>
            <a:r>
              <a:rPr lang="en-US" sz="1300" dirty="0">
                <a:solidFill>
                  <a:srgbClr val="1F2937"/>
                </a:solidFill>
                <a:latin typeface="Calibri" pitchFamily="34" charset="0"/>
                <a:ea typeface="Calibri" pitchFamily="34" charset="-122"/>
                <a:cs typeface="Calibri" pitchFamily="34" charset="-120"/>
              </a:rPr>
              <a:t>.</a:t>
            </a:r>
            <a:endParaRPr lang="en-US" sz="1300" dirty="0"/>
          </a:p>
          <a:p>
            <a:pPr marL="279400" indent="-279400">
              <a:spcAft>
                <a:spcPts val="600"/>
              </a:spcAft>
              <a:buSzPct val="100000"/>
              <a:buFont typeface="+mj-lt"/>
              <a:buAutoNum type="arabicPeriod"/>
            </a:pPr>
            <a:r>
              <a:rPr lang="en-US" sz="1300" dirty="0">
                <a:solidFill>
                  <a:srgbClr val="1E2761"/>
                </a:solidFill>
                <a:latin typeface="Consolas" pitchFamily="34" charset="0"/>
                <a:ea typeface="Consolas" pitchFamily="34" charset="-122"/>
                <a:cs typeface="Consolas" pitchFamily="34" charset="-120"/>
              </a:rPr>
              <a:t>deactivate</a:t>
            </a:r>
            <a:r>
              <a:rPr lang="en-US" sz="1300" dirty="0">
                <a:solidFill>
                  <a:srgbClr val="1F2937"/>
                </a:solidFill>
                <a:latin typeface="Calibri" pitchFamily="34" charset="0"/>
                <a:ea typeface="Calibri" pitchFamily="34" charset="-122"/>
                <a:cs typeface="Calibri" pitchFamily="34" charset="-120"/>
              </a:rPr>
              <a:t>.</a:t>
            </a:r>
            <a:endParaRPr lang="en-US" sz="1300" dirty="0"/>
          </a:p>
          <a:p>
            <a:pPr marL="279400" indent="-279400">
              <a:spcAft>
                <a:spcPts val="600"/>
              </a:spcAft>
              <a:buSzPct val="100000"/>
              <a:buFont typeface="+mj-lt"/>
              <a:buAutoNum type="arabicPeriod"/>
            </a:pPr>
            <a:r>
              <a:rPr lang="en-US" sz="1300" dirty="0">
                <a:solidFill>
                  <a:srgbClr val="1F2937"/>
                </a:solidFill>
                <a:latin typeface="Calibri" pitchFamily="34" charset="0"/>
                <a:ea typeface="Calibri" pitchFamily="34" charset="-122"/>
                <a:cs typeface="Calibri" pitchFamily="34" charset="-120"/>
              </a:rPr>
              <a:t>Try </a:t>
            </a:r>
            <a:r>
              <a:rPr lang="en-US" sz="1300" dirty="0">
                <a:solidFill>
                  <a:srgbClr val="1E2761"/>
                </a:solidFill>
                <a:latin typeface="Consolas" pitchFamily="34" charset="0"/>
                <a:ea typeface="Consolas" pitchFamily="34" charset="-122"/>
                <a:cs typeface="Consolas" pitchFamily="34" charset="-120"/>
              </a:rPr>
              <a:t>cowsay -t hi</a:t>
            </a:r>
            <a:r>
              <a:rPr lang="en-US" sz="1300" dirty="0">
                <a:solidFill>
                  <a:srgbClr val="1F2937"/>
                </a:solidFill>
                <a:latin typeface="Calibri" pitchFamily="34" charset="0"/>
                <a:ea typeface="Calibri" pitchFamily="34" charset="-122"/>
                <a:cs typeface="Calibri" pitchFamily="34" charset="-120"/>
              </a:rPr>
              <a:t> again. It says "command not found" — because cowsay only lived in the venv.</a:t>
            </a:r>
            <a:endParaRPr lang="en-US" sz="130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0">
            <a:extLst>
              <a:ext uri="{FF2B5EF4-FFF2-40B4-BE49-F238E27FC236}">
                <a16:creationId xmlns:a16="http://schemas.microsoft.com/office/drawing/2014/main" id="{C4F308D0-E16C-4CC5-260F-E28847C8B2B2}"/>
              </a:ext>
            </a:extLst>
          </p:cNvPr>
          <p:cNvSpPr/>
          <p:nvPr/>
        </p:nvSpPr>
        <p:spPr>
          <a:xfrm>
            <a:off x="548640" y="1280160"/>
            <a:ext cx="8046720" cy="457200"/>
          </a:xfrm>
          <a:prstGeom prst="rect">
            <a:avLst/>
          </a:prstGeom>
          <a:noFill/>
          <a:ln/>
        </p:spPr>
        <p:txBody>
          <a:bodyPr wrap="square" lIns="0" tIns="0" rIns="0" bIns="0" rtlCol="0" anchor="ctr"/>
          <a:lstStyle/>
          <a:p>
            <a:pPr marL="0" indent="0">
              <a:buNone/>
            </a:pPr>
            <a:r>
              <a:rPr lang="en-US" sz="1600" b="1" kern="0" spc="800" dirty="0">
                <a:latin typeface="Calibri" pitchFamily="34" charset="0"/>
                <a:ea typeface="Calibri" pitchFamily="34" charset="-122"/>
                <a:cs typeface="Calibri" pitchFamily="34" charset="-120"/>
              </a:rPr>
              <a:t>BLOCK 12</a:t>
            </a:r>
            <a:endParaRPr lang="en-US" sz="1600" dirty="0"/>
          </a:p>
        </p:txBody>
      </p:sp>
      <p:sp>
        <p:nvSpPr>
          <p:cNvPr id="4" name="Text 1">
            <a:extLst>
              <a:ext uri="{FF2B5EF4-FFF2-40B4-BE49-F238E27FC236}">
                <a16:creationId xmlns:a16="http://schemas.microsoft.com/office/drawing/2014/main" id="{39AB9CA9-4368-8FE5-AD42-55EA850B62AF}"/>
              </a:ext>
            </a:extLst>
          </p:cNvPr>
          <p:cNvSpPr/>
          <p:nvPr/>
        </p:nvSpPr>
        <p:spPr>
          <a:xfrm>
            <a:off x="548640" y="1783080"/>
            <a:ext cx="8046720" cy="1463040"/>
          </a:xfrm>
          <a:prstGeom prst="rect">
            <a:avLst/>
          </a:prstGeom>
          <a:noFill/>
          <a:ln/>
        </p:spPr>
        <p:txBody>
          <a:bodyPr wrap="square" lIns="0" tIns="0" rIns="0" bIns="0" rtlCol="0" anchor="t"/>
          <a:lstStyle/>
          <a:p>
            <a:pPr marL="0" indent="0">
              <a:buNone/>
            </a:pPr>
            <a:r>
              <a:rPr lang="en-US" sz="4000" b="1" dirty="0">
                <a:latin typeface="Cambria" pitchFamily="34" charset="0"/>
                <a:ea typeface="Cambria" pitchFamily="34" charset="-122"/>
                <a:cs typeface="Cambria" pitchFamily="34" charset="-120"/>
              </a:rPr>
              <a:t>Wrap up</a:t>
            </a:r>
            <a:endParaRPr lang="en-US" sz="4000" dirty="0"/>
          </a:p>
        </p:txBody>
      </p:sp>
    </p:spTree>
    <p:extLst>
      <p:ext uri="{BB962C8B-B14F-4D97-AF65-F5344CB8AC3E}">
        <p14:creationId xmlns:p14="http://schemas.microsoft.com/office/powerpoint/2010/main" val="2956951707"/>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bg>
      <p:bgPr>
        <a:solidFill>
          <a:srgbClr val="FFFFFF"/>
        </a:solidFill>
        <a:effectLst/>
      </p:bgPr>
    </p:bg>
    <p:spTree>
      <p:nvGrpSpPr>
        <p:cNvPr id="1" name=""/>
        <p:cNvGrpSpPr/>
        <p:nvPr/>
      </p:nvGrpSpPr>
      <p:grpSpPr>
        <a:xfrm>
          <a:off x="0" y="0"/>
          <a:ext cx="0" cy="0"/>
          <a:chOff x="0" y="0"/>
          <a:chExt cx="0" cy="0"/>
        </a:xfrm>
      </p:grpSpPr>
      <p:pic>
        <p:nvPicPr>
          <p:cNvPr id="6" name="Picture 5" descr="access-footer.jpg"/>
          <p:cNvPicPr>
            <a:picLocks noChangeAspect="1"/>
          </p:cNvPicPr>
          <p:nvPr/>
        </p:nvPicPr>
        <p:blipFill>
          <a:blip r:embed="rId3"/>
          <a:stretch>
            <a:fillRect/>
          </a:stretch>
        </p:blipFill>
        <p:spPr>
          <a:xfrm>
            <a:off x="0" y="0"/>
            <a:ext cx="9144000" cy="5143500"/>
          </a:xfrm>
          <a:prstGeom prst="rect">
            <a:avLst/>
          </a:prstGeom>
        </p:spPr>
      </p:pic>
      <p:sp>
        <p:nvSpPr>
          <p:cNvPr id="2" name="Text 0"/>
          <p:cNvSpPr/>
          <p:nvPr/>
        </p:nvSpPr>
        <p:spPr>
          <a:xfrm>
            <a:off x="457200" y="274320"/>
            <a:ext cx="8229600" cy="594360"/>
          </a:xfrm>
          <a:prstGeom prst="rect">
            <a:avLst/>
          </a:prstGeom>
          <a:solidFill>
            <a:srgbClr val="FFFFFF"/>
          </a:solidFill>
          <a:ln/>
        </p:spPr>
        <p:txBody>
          <a:bodyPr wrap="square" lIns="0" tIns="0" rIns="0" bIns="0" rtlCol="0" anchor="ctr"/>
          <a:lstStyle/>
          <a:p>
            <a:pPr marL="0" indent="0">
              <a:buNone/>
            </a:pPr>
            <a:r>
              <a:rPr lang="en-US" sz="2800" b="1" dirty="0">
                <a:solidFill>
                  <a:srgbClr val="1E2761"/>
                </a:solidFill>
                <a:latin typeface="Cambria" pitchFamily="34" charset="0"/>
                <a:ea typeface="Cambria" pitchFamily="34" charset="-122"/>
                <a:cs typeface="Cambria" pitchFamily="34" charset="-120"/>
              </a:rPr>
              <a:t>What you can now do</a:t>
            </a:r>
            <a:endParaRPr lang="en-US" sz="2800" dirty="0"/>
          </a:p>
        </p:txBody>
      </p:sp>
      <p:sp>
        <p:nvSpPr>
          <p:cNvPr id="3" name="Shape 1"/>
          <p:cNvSpPr/>
          <p:nvPr/>
        </p:nvSpPr>
        <p:spPr>
          <a:xfrm>
            <a:off x="457200" y="868680"/>
            <a:ext cx="548640" cy="36576"/>
          </a:xfrm>
          <a:prstGeom prst="rect">
            <a:avLst/>
          </a:prstGeom>
          <a:solidFill>
            <a:srgbClr val="1E2761"/>
          </a:solidFill>
          <a:ln w="12700">
            <a:solidFill>
              <a:srgbClr val="1E2761"/>
            </a:solidFill>
            <a:prstDash val="solid"/>
          </a:ln>
        </p:spPr>
        <p:txBody>
          <a:bodyPr/>
          <a:lstStyle/>
          <a:p>
            <a:endParaRPr lang="en-US"/>
          </a:p>
        </p:txBody>
      </p:sp>
      <p:sp>
        <p:nvSpPr>
          <p:cNvPr id="4" name="Text 2"/>
          <p:cNvSpPr/>
          <p:nvPr/>
        </p:nvSpPr>
        <p:spPr>
          <a:xfrm>
            <a:off x="548640" y="1005840"/>
            <a:ext cx="8046720" cy="3119120"/>
          </a:xfrm>
          <a:prstGeom prst="rect">
            <a:avLst/>
          </a:prstGeom>
          <a:solidFill>
            <a:srgbClr val="FFFFFF"/>
          </a:solidFill>
          <a:ln/>
        </p:spPr>
        <p:txBody>
          <a:bodyPr wrap="square" lIns="0" tIns="0" rIns="0" bIns="0" rtlCol="0" anchor="t"/>
          <a:lstStyle/>
          <a:p>
            <a:pPr marL="228600" indent="-228600">
              <a:spcAft>
                <a:spcPts val="600"/>
              </a:spcAft>
              <a:buSzPct val="100000"/>
              <a:buChar char="■"/>
            </a:pPr>
            <a:r>
              <a:rPr lang="en-US" sz="1300" dirty="0">
                <a:solidFill>
                  <a:srgbClr val="1F2937"/>
                </a:solidFill>
                <a:latin typeface="Calibri" pitchFamily="34" charset="0"/>
                <a:ea typeface="Calibri" pitchFamily="34" charset="-122"/>
                <a:cs typeface="Calibri" pitchFamily="34" charset="-120"/>
              </a:rPr>
              <a:t>Open a terminal and read the prompt.</a:t>
            </a:r>
            <a:endParaRPr lang="en-US" sz="1300" dirty="0"/>
          </a:p>
          <a:p>
            <a:pPr marL="228600" indent="-228600">
              <a:spcAft>
                <a:spcPts val="600"/>
              </a:spcAft>
              <a:buSzPct val="100000"/>
              <a:buChar char="■"/>
            </a:pPr>
            <a:r>
              <a:rPr lang="en-US" sz="1300" dirty="0">
                <a:solidFill>
                  <a:srgbClr val="1F2937"/>
                </a:solidFill>
                <a:latin typeface="Calibri" pitchFamily="34" charset="0"/>
                <a:ea typeface="Calibri" pitchFamily="34" charset="-122"/>
                <a:cs typeface="Calibri" pitchFamily="34" charset="-120"/>
              </a:rPr>
              <a:t>Navigate the filesystem with </a:t>
            </a:r>
            <a:r>
              <a:rPr lang="en-US" sz="1300" dirty="0">
                <a:solidFill>
                  <a:srgbClr val="1E2761"/>
                </a:solidFill>
                <a:latin typeface="Consolas" pitchFamily="34" charset="0"/>
                <a:ea typeface="Consolas" pitchFamily="34" charset="-122"/>
                <a:cs typeface="Consolas" pitchFamily="34" charset="-120"/>
              </a:rPr>
              <a:t>pwd</a:t>
            </a:r>
            <a:r>
              <a:rPr lang="en-US" sz="1300" dirty="0">
                <a:solidFill>
                  <a:srgbClr val="1F2937"/>
                </a:solidFill>
                <a:latin typeface="Calibri" pitchFamily="34" charset="0"/>
                <a:ea typeface="Calibri" pitchFamily="34" charset="-122"/>
                <a:cs typeface="Calibri" pitchFamily="34" charset="-120"/>
              </a:rPr>
              <a:t>, </a:t>
            </a:r>
            <a:r>
              <a:rPr lang="en-US" sz="1300" dirty="0">
                <a:solidFill>
                  <a:srgbClr val="1E2761"/>
                </a:solidFill>
                <a:latin typeface="Consolas" pitchFamily="34" charset="0"/>
                <a:ea typeface="Consolas" pitchFamily="34" charset="-122"/>
                <a:cs typeface="Consolas" pitchFamily="34" charset="-120"/>
              </a:rPr>
              <a:t>ls</a:t>
            </a:r>
            <a:r>
              <a:rPr lang="en-US" sz="1300" dirty="0">
                <a:solidFill>
                  <a:srgbClr val="1F2937"/>
                </a:solidFill>
                <a:latin typeface="Calibri" pitchFamily="34" charset="0"/>
                <a:ea typeface="Calibri" pitchFamily="34" charset="-122"/>
                <a:cs typeface="Calibri" pitchFamily="34" charset="-120"/>
              </a:rPr>
              <a:t>, </a:t>
            </a:r>
            <a:r>
              <a:rPr lang="en-US" sz="1300" dirty="0">
                <a:solidFill>
                  <a:srgbClr val="1E2761"/>
                </a:solidFill>
                <a:latin typeface="Consolas" pitchFamily="34" charset="0"/>
                <a:ea typeface="Consolas" pitchFamily="34" charset="-122"/>
                <a:cs typeface="Consolas" pitchFamily="34" charset="-120"/>
              </a:rPr>
              <a:t>cd</a:t>
            </a:r>
            <a:r>
              <a:rPr lang="en-US" sz="1300" dirty="0">
                <a:solidFill>
                  <a:srgbClr val="1F2937"/>
                </a:solidFill>
                <a:latin typeface="Calibri" pitchFamily="34" charset="0"/>
                <a:ea typeface="Calibri" pitchFamily="34" charset="-122"/>
                <a:cs typeface="Calibri" pitchFamily="34" charset="-120"/>
              </a:rPr>
              <a:t>, and paths.</a:t>
            </a:r>
            <a:endParaRPr lang="en-US" sz="1300" dirty="0"/>
          </a:p>
          <a:p>
            <a:pPr marL="228600" indent="-228600">
              <a:spcAft>
                <a:spcPts val="600"/>
              </a:spcAft>
              <a:buSzPct val="100000"/>
              <a:buChar char="■"/>
            </a:pPr>
            <a:r>
              <a:rPr lang="en-US" sz="1300" dirty="0">
                <a:solidFill>
                  <a:srgbClr val="1F2937"/>
                </a:solidFill>
                <a:latin typeface="Calibri" pitchFamily="34" charset="0"/>
                <a:ea typeface="Calibri" pitchFamily="34" charset="-122"/>
                <a:cs typeface="Calibri" pitchFamily="34" charset="-120"/>
              </a:rPr>
              <a:t>Create, read, copy, move, delete files and directories.</a:t>
            </a:r>
            <a:endParaRPr lang="en-US" sz="1300" dirty="0"/>
          </a:p>
          <a:p>
            <a:pPr marL="228600" indent="-228600">
              <a:spcAft>
                <a:spcPts val="600"/>
              </a:spcAft>
              <a:buSzPct val="100000"/>
              <a:buChar char="■"/>
            </a:pPr>
            <a:r>
              <a:rPr lang="en-US" sz="1300" dirty="0">
                <a:solidFill>
                  <a:srgbClr val="1F2937"/>
                </a:solidFill>
                <a:latin typeface="Calibri" pitchFamily="34" charset="0"/>
                <a:ea typeface="Calibri" pitchFamily="34" charset="-122"/>
                <a:cs typeface="Calibri" pitchFamily="34" charset="-120"/>
              </a:rPr>
              <a:t>Edit files in both VSCode and nano.</a:t>
            </a:r>
            <a:endParaRPr lang="en-US" sz="1300" dirty="0"/>
          </a:p>
          <a:p>
            <a:pPr marL="228600" indent="-228600">
              <a:spcAft>
                <a:spcPts val="600"/>
              </a:spcAft>
              <a:buSzPct val="100000"/>
              <a:buChar char="■"/>
            </a:pPr>
            <a:r>
              <a:rPr lang="en-US" sz="1300" dirty="0">
                <a:solidFill>
                  <a:srgbClr val="1F2937"/>
                </a:solidFill>
                <a:latin typeface="Calibri" pitchFamily="34" charset="0"/>
                <a:ea typeface="Calibri" pitchFamily="34" charset="-122"/>
                <a:cs typeface="Calibri" pitchFamily="34" charset="-120"/>
              </a:rPr>
              <a:t>Look up help with </a:t>
            </a:r>
            <a:r>
              <a:rPr lang="en-US" sz="1300" dirty="0">
                <a:solidFill>
                  <a:srgbClr val="1E2761"/>
                </a:solidFill>
                <a:latin typeface="Consolas" pitchFamily="34" charset="0"/>
                <a:ea typeface="Consolas" pitchFamily="34" charset="-122"/>
                <a:cs typeface="Consolas" pitchFamily="34" charset="-120"/>
              </a:rPr>
              <a:t>--help</a:t>
            </a:r>
            <a:r>
              <a:rPr lang="en-US" sz="1300" dirty="0">
                <a:solidFill>
                  <a:srgbClr val="1F2937"/>
                </a:solidFill>
                <a:latin typeface="Calibri" pitchFamily="34" charset="0"/>
                <a:ea typeface="Calibri" pitchFamily="34" charset="-122"/>
                <a:cs typeface="Calibri" pitchFamily="34" charset="-120"/>
              </a:rPr>
              <a:t> and </a:t>
            </a:r>
            <a:r>
              <a:rPr lang="en-US" sz="1300" dirty="0">
                <a:solidFill>
                  <a:srgbClr val="1E2761"/>
                </a:solidFill>
                <a:latin typeface="Consolas" pitchFamily="34" charset="0"/>
                <a:ea typeface="Consolas" pitchFamily="34" charset="-122"/>
                <a:cs typeface="Consolas" pitchFamily="34" charset="-120"/>
              </a:rPr>
              <a:t>man</a:t>
            </a:r>
            <a:r>
              <a:rPr lang="en-US" sz="1300" dirty="0">
                <a:solidFill>
                  <a:srgbClr val="1F2937"/>
                </a:solidFill>
                <a:latin typeface="Calibri" pitchFamily="34" charset="0"/>
                <a:ea typeface="Calibri" pitchFamily="34" charset="-122"/>
                <a:cs typeface="Calibri" pitchFamily="34" charset="-120"/>
              </a:rPr>
              <a:t>.</a:t>
            </a:r>
            <a:endParaRPr lang="en-US" sz="1300" dirty="0"/>
          </a:p>
          <a:p>
            <a:pPr marL="228600" indent="-228600">
              <a:spcAft>
                <a:spcPts val="600"/>
              </a:spcAft>
              <a:buSzPct val="100000"/>
              <a:buChar char="■"/>
            </a:pPr>
            <a:r>
              <a:rPr lang="en-US" sz="1300" dirty="0">
                <a:solidFill>
                  <a:srgbClr val="1F2937"/>
                </a:solidFill>
                <a:latin typeface="Calibri" pitchFamily="34" charset="0"/>
                <a:ea typeface="Calibri" pitchFamily="34" charset="-122"/>
                <a:cs typeface="Calibri" pitchFamily="34" charset="-120"/>
              </a:rPr>
              <a:t>Send output to files (</a:t>
            </a:r>
            <a:r>
              <a:rPr lang="en-US" sz="1300" dirty="0">
                <a:solidFill>
                  <a:srgbClr val="1E2761"/>
                </a:solidFill>
                <a:latin typeface="Consolas" pitchFamily="34" charset="0"/>
                <a:ea typeface="Consolas" pitchFamily="34" charset="-122"/>
                <a:cs typeface="Consolas" pitchFamily="34" charset="-120"/>
              </a:rPr>
              <a:t>&gt;</a:t>
            </a:r>
            <a:r>
              <a:rPr lang="en-US" sz="1300" dirty="0">
                <a:solidFill>
                  <a:srgbClr val="1F2937"/>
                </a:solidFill>
                <a:latin typeface="Calibri" pitchFamily="34" charset="0"/>
                <a:ea typeface="Calibri" pitchFamily="34" charset="-122"/>
                <a:cs typeface="Calibri" pitchFamily="34" charset="-120"/>
              </a:rPr>
              <a:t>, </a:t>
            </a:r>
            <a:r>
              <a:rPr lang="en-US" sz="1300" dirty="0">
                <a:solidFill>
                  <a:srgbClr val="1E2761"/>
                </a:solidFill>
                <a:latin typeface="Consolas" pitchFamily="34" charset="0"/>
                <a:ea typeface="Consolas" pitchFamily="34" charset="-122"/>
                <a:cs typeface="Consolas" pitchFamily="34" charset="-120"/>
              </a:rPr>
              <a:t>&gt;&gt;</a:t>
            </a:r>
            <a:r>
              <a:rPr lang="en-US" sz="1300" dirty="0">
                <a:solidFill>
                  <a:srgbClr val="1F2937"/>
                </a:solidFill>
                <a:latin typeface="Calibri" pitchFamily="34" charset="0"/>
                <a:ea typeface="Calibri" pitchFamily="34" charset="-122"/>
                <a:cs typeface="Calibri" pitchFamily="34" charset="-120"/>
              </a:rPr>
              <a:t>) and chain commands with pipes (</a:t>
            </a:r>
            <a:r>
              <a:rPr lang="en-US" sz="1300" dirty="0">
                <a:solidFill>
                  <a:srgbClr val="1E2761"/>
                </a:solidFill>
                <a:latin typeface="Consolas" pitchFamily="34" charset="0"/>
                <a:ea typeface="Consolas" pitchFamily="34" charset="-122"/>
                <a:cs typeface="Consolas" pitchFamily="34" charset="-120"/>
              </a:rPr>
              <a:t>|</a:t>
            </a:r>
            <a:r>
              <a:rPr lang="en-US" sz="1300" dirty="0">
                <a:solidFill>
                  <a:srgbClr val="1F2937"/>
                </a:solidFill>
                <a:latin typeface="Calibri" pitchFamily="34" charset="0"/>
                <a:ea typeface="Calibri" pitchFamily="34" charset="-122"/>
                <a:cs typeface="Calibri" pitchFamily="34" charset="-120"/>
              </a:rPr>
              <a:t>).</a:t>
            </a:r>
            <a:endParaRPr lang="en-US" sz="1300" dirty="0"/>
          </a:p>
          <a:p>
            <a:pPr marL="228600" indent="-228600">
              <a:spcAft>
                <a:spcPts val="600"/>
              </a:spcAft>
              <a:buSzPct val="100000"/>
              <a:buChar char="■"/>
            </a:pPr>
            <a:r>
              <a:rPr lang="en-US" sz="1300" dirty="0">
                <a:solidFill>
                  <a:srgbClr val="1F2937"/>
                </a:solidFill>
                <a:latin typeface="Calibri" pitchFamily="34" charset="0"/>
                <a:ea typeface="Calibri" pitchFamily="34" charset="-122"/>
                <a:cs typeface="Calibri" pitchFamily="34" charset="-120"/>
              </a:rPr>
              <a:t>Read </a:t>
            </a:r>
            <a:r>
              <a:rPr lang="en-US" sz="1300" dirty="0">
                <a:solidFill>
                  <a:srgbClr val="1E2761"/>
                </a:solidFill>
                <a:latin typeface="Consolas" pitchFamily="34" charset="0"/>
                <a:ea typeface="Consolas" pitchFamily="34" charset="-122"/>
                <a:cs typeface="Consolas" pitchFamily="34" charset="-120"/>
              </a:rPr>
              <a:t>ls -l</a:t>
            </a:r>
            <a:r>
              <a:rPr lang="en-US" sz="1300" dirty="0">
                <a:solidFill>
                  <a:srgbClr val="1F2937"/>
                </a:solidFill>
                <a:latin typeface="Calibri" pitchFamily="34" charset="0"/>
                <a:ea typeface="Calibri" pitchFamily="34" charset="-122"/>
                <a:cs typeface="Calibri" pitchFamily="34" charset="-120"/>
              </a:rPr>
              <a:t> and roughly understand permissions; see what's running; stop it.</a:t>
            </a:r>
            <a:endParaRPr lang="en-US" sz="1300" dirty="0"/>
          </a:p>
          <a:p>
            <a:pPr marL="228600" indent="-228600">
              <a:spcAft>
                <a:spcPts val="600"/>
              </a:spcAft>
              <a:buSzPct val="100000"/>
              <a:buChar char="■"/>
            </a:pPr>
            <a:r>
              <a:rPr lang="en-US" sz="1300" dirty="0">
                <a:solidFill>
                  <a:srgbClr val="1F2937"/>
                </a:solidFill>
                <a:latin typeface="Calibri" pitchFamily="34" charset="0"/>
                <a:ea typeface="Calibri" pitchFamily="34" charset="-122"/>
                <a:cs typeface="Calibri" pitchFamily="34" charset="-120"/>
              </a:rPr>
              <a:t>Tell regular user from root, and use </a:t>
            </a:r>
            <a:r>
              <a:rPr lang="en-US" sz="1300" dirty="0">
                <a:solidFill>
                  <a:srgbClr val="1E2761"/>
                </a:solidFill>
                <a:latin typeface="Consolas" pitchFamily="34" charset="0"/>
                <a:ea typeface="Consolas" pitchFamily="34" charset="-122"/>
                <a:cs typeface="Consolas" pitchFamily="34" charset="-120"/>
              </a:rPr>
              <a:t>sudo</a:t>
            </a:r>
            <a:r>
              <a:rPr lang="en-US" sz="1300" dirty="0">
                <a:solidFill>
                  <a:srgbClr val="1F2937"/>
                </a:solidFill>
                <a:latin typeface="Calibri" pitchFamily="34" charset="0"/>
                <a:ea typeface="Calibri" pitchFamily="34" charset="-122"/>
                <a:cs typeface="Calibri" pitchFamily="34" charset="-120"/>
              </a:rPr>
              <a:t> for individual commands.</a:t>
            </a:r>
            <a:endParaRPr lang="en-US" sz="1300" dirty="0"/>
          </a:p>
          <a:p>
            <a:pPr marL="228600" indent="-228600">
              <a:spcAft>
                <a:spcPts val="600"/>
              </a:spcAft>
              <a:buSzPct val="100000"/>
              <a:buChar char="■"/>
            </a:pPr>
            <a:r>
              <a:rPr lang="en-US" sz="1300" dirty="0">
                <a:solidFill>
                  <a:srgbClr val="1F2937"/>
                </a:solidFill>
                <a:latin typeface="Calibri" pitchFamily="34" charset="0"/>
                <a:ea typeface="Calibri" pitchFamily="34" charset="-122"/>
                <a:cs typeface="Calibri" pitchFamily="34" charset="-120"/>
              </a:rPr>
              <a:t>Understand </a:t>
            </a:r>
            <a:r>
              <a:rPr lang="en-US" sz="1300" dirty="0">
                <a:solidFill>
                  <a:srgbClr val="1E2761"/>
                </a:solidFill>
                <a:latin typeface="Consolas" pitchFamily="34" charset="0"/>
                <a:ea typeface="Consolas" pitchFamily="34" charset="-122"/>
                <a:cs typeface="Consolas" pitchFamily="34" charset="-120"/>
              </a:rPr>
              <a:t>PATH</a:t>
            </a:r>
            <a:r>
              <a:rPr lang="en-US" sz="1300" dirty="0">
                <a:solidFill>
                  <a:srgbClr val="1F2937"/>
                </a:solidFill>
                <a:latin typeface="Calibri" pitchFamily="34" charset="0"/>
                <a:ea typeface="Calibri" pitchFamily="34" charset="-122"/>
                <a:cs typeface="Calibri" pitchFamily="34" charset="-120"/>
              </a:rPr>
              <a:t>, </a:t>
            </a:r>
            <a:r>
              <a:rPr lang="en-US" sz="1300" dirty="0">
                <a:solidFill>
                  <a:srgbClr val="1E2761"/>
                </a:solidFill>
                <a:latin typeface="Consolas" pitchFamily="34" charset="0"/>
                <a:ea typeface="Consolas" pitchFamily="34" charset="-122"/>
                <a:cs typeface="Consolas" pitchFamily="34" charset="-120"/>
              </a:rPr>
              <a:t>LD_LIBRARY_PATH</a:t>
            </a:r>
            <a:r>
              <a:rPr lang="en-US" sz="1300" dirty="0">
                <a:solidFill>
                  <a:srgbClr val="1F2937"/>
                </a:solidFill>
                <a:latin typeface="Calibri" pitchFamily="34" charset="0"/>
                <a:ea typeface="Calibri" pitchFamily="34" charset="-122"/>
                <a:cs typeface="Calibri" pitchFamily="34" charset="-120"/>
              </a:rPr>
              <a:t>, and environment variables.</a:t>
            </a:r>
            <a:endParaRPr lang="en-US" sz="1300" dirty="0"/>
          </a:p>
          <a:p>
            <a:pPr marL="228600" indent="-228600">
              <a:spcAft>
                <a:spcPts val="600"/>
              </a:spcAft>
              <a:buSzPct val="100000"/>
              <a:buChar char="■"/>
            </a:pPr>
            <a:r>
              <a:rPr lang="en-US" sz="1300" dirty="0">
                <a:solidFill>
                  <a:srgbClr val="1F2937"/>
                </a:solidFill>
                <a:latin typeface="Calibri" pitchFamily="34" charset="0"/>
                <a:ea typeface="Calibri" pitchFamily="34" charset="-122"/>
                <a:cs typeface="Calibri" pitchFamily="34" charset="-120"/>
              </a:rPr>
              <a:t>Create and use Python virtual environments.</a:t>
            </a:r>
            <a:endParaRPr lang="en-US" sz="1300" dirty="0"/>
          </a:p>
        </p:txBody>
      </p:sp>
      <p:sp>
        <p:nvSpPr>
          <p:cNvPr id="5" name="Text 3"/>
          <p:cNvSpPr/>
          <p:nvPr/>
        </p:nvSpPr>
        <p:spPr>
          <a:xfrm>
            <a:off x="548640" y="4170680"/>
            <a:ext cx="8046720" cy="276860"/>
          </a:xfrm>
          <a:prstGeom prst="rect">
            <a:avLst/>
          </a:prstGeom>
          <a:solidFill>
            <a:srgbClr val="FFFFFF"/>
          </a:solidFill>
          <a:ln/>
        </p:spPr>
        <p:txBody>
          <a:bodyPr wrap="square" rtlCol="0" anchor="t"/>
          <a:lstStyle/>
          <a:p>
            <a:pPr marL="0" indent="0">
              <a:buNone/>
            </a:pPr>
            <a:r>
              <a:rPr lang="en-US" sz="1300" i="1" dirty="0">
                <a:solidFill>
                  <a:srgbClr val="475569"/>
                </a:solidFill>
                <a:latin typeface="Calibri" pitchFamily="34" charset="0"/>
                <a:ea typeface="Calibri" pitchFamily="34" charset="-122"/>
                <a:cs typeface="Calibri" pitchFamily="34" charset="-120"/>
              </a:rPr>
              <a:t>That's the entire foundation for every later session. </a:t>
            </a:r>
            <a:r>
              <a:rPr lang="en-US" sz="1300" b="1" i="1" dirty="0">
                <a:solidFill>
                  <a:srgbClr val="475569"/>
                </a:solidFill>
                <a:latin typeface="Calibri" pitchFamily="34" charset="0"/>
                <a:ea typeface="Calibri" pitchFamily="34" charset="-122"/>
                <a:cs typeface="Calibri" pitchFamily="34" charset="-120"/>
              </a:rPr>
              <a:t>Well done.</a:t>
            </a:r>
            <a:endParaRPr lang="en-US" sz="1300"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bg>
      <p:bgPr>
        <a:solidFill>
          <a:srgbClr val="FFFFFF"/>
        </a:solidFill>
        <a:effectLst/>
      </p:bgPr>
    </p:bg>
    <p:spTree>
      <p:nvGrpSpPr>
        <p:cNvPr id="1" name=""/>
        <p:cNvGrpSpPr/>
        <p:nvPr/>
      </p:nvGrpSpPr>
      <p:grpSpPr>
        <a:xfrm>
          <a:off x="0" y="0"/>
          <a:ext cx="0" cy="0"/>
          <a:chOff x="0" y="0"/>
          <a:chExt cx="0" cy="0"/>
        </a:xfrm>
      </p:grpSpPr>
      <p:pic>
        <p:nvPicPr>
          <p:cNvPr id="113" name="Picture 112" descr="access-footer.jpg"/>
          <p:cNvPicPr>
            <a:picLocks noChangeAspect="1"/>
          </p:cNvPicPr>
          <p:nvPr/>
        </p:nvPicPr>
        <p:blipFill>
          <a:blip r:embed="rId3"/>
          <a:stretch>
            <a:fillRect/>
          </a:stretch>
        </p:blipFill>
        <p:spPr>
          <a:xfrm>
            <a:off x="0" y="0"/>
            <a:ext cx="9144000" cy="5143500"/>
          </a:xfrm>
          <a:prstGeom prst="rect">
            <a:avLst/>
          </a:prstGeom>
        </p:spPr>
      </p:pic>
      <p:sp>
        <p:nvSpPr>
          <p:cNvPr id="2" name="Text 0"/>
          <p:cNvSpPr/>
          <p:nvPr/>
        </p:nvSpPr>
        <p:spPr>
          <a:xfrm>
            <a:off x="457200" y="274320"/>
            <a:ext cx="8229600" cy="594360"/>
          </a:xfrm>
          <a:prstGeom prst="rect">
            <a:avLst/>
          </a:prstGeom>
          <a:solidFill>
            <a:srgbClr val="FFFFFF"/>
          </a:solidFill>
          <a:ln/>
        </p:spPr>
        <p:txBody>
          <a:bodyPr wrap="square" lIns="0" tIns="0" rIns="0" bIns="0" rtlCol="0" anchor="ctr"/>
          <a:lstStyle/>
          <a:p>
            <a:pPr marL="0" indent="0">
              <a:buNone/>
            </a:pPr>
            <a:r>
              <a:rPr lang="en-US" sz="2800" b="1" dirty="0">
                <a:solidFill>
                  <a:srgbClr val="1E2761"/>
                </a:solidFill>
                <a:latin typeface="Cambria" pitchFamily="34" charset="0"/>
                <a:ea typeface="Cambria" pitchFamily="34" charset="-122"/>
                <a:cs typeface="Cambria" pitchFamily="34" charset="-120"/>
              </a:rPr>
              <a:t>Cheat sheet — Navigation</a:t>
            </a:r>
            <a:endParaRPr lang="en-US" sz="2800" dirty="0"/>
          </a:p>
        </p:txBody>
      </p:sp>
      <p:sp>
        <p:nvSpPr>
          <p:cNvPr id="3" name="Shape 1"/>
          <p:cNvSpPr/>
          <p:nvPr/>
        </p:nvSpPr>
        <p:spPr>
          <a:xfrm>
            <a:off x="457200" y="868680"/>
            <a:ext cx="548640" cy="36576"/>
          </a:xfrm>
          <a:prstGeom prst="rect">
            <a:avLst/>
          </a:prstGeom>
          <a:solidFill>
            <a:srgbClr val="1E2761"/>
          </a:solidFill>
          <a:ln w="12700">
            <a:solidFill>
              <a:srgbClr val="1E2761"/>
            </a:solidFill>
            <a:prstDash val="solid"/>
          </a:ln>
        </p:spPr>
        <p:txBody>
          <a:bodyPr/>
          <a:lstStyle/>
          <a:p>
            <a:endParaRPr lang="en-US"/>
          </a:p>
        </p:txBody>
      </p:sp>
      <p:graphicFrame>
        <p:nvGraphicFramePr>
          <p:cNvPr id="112"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3108960">
                  <a:extLst>
                    <a:ext uri="{9D8B030D-6E8A-4147-A177-3AD203B41FA5}">
                      <a16:colId xmlns:a16="http://schemas.microsoft.com/office/drawing/2014/main" val="20000"/>
                    </a:ext>
                  </a:extLst>
                </a:gridCol>
                <a:gridCol w="5120640">
                  <a:extLst>
                    <a:ext uri="{9D8B030D-6E8A-4147-A177-3AD203B41FA5}">
                      <a16:colId xmlns:a16="http://schemas.microsoft.com/office/drawing/2014/main" val="20001"/>
                    </a:ext>
                  </a:extLst>
                </a:gridCol>
              </a:tblGrid>
              <a:tr h="365760">
                <a:tc>
                  <a:txBody>
                    <a:bodyPr/>
                    <a:lstStyle/>
                    <a:p>
                      <a:pPr marL="0" indent="0" algn="l">
                        <a:buNone/>
                      </a:pPr>
                      <a:r>
                        <a:rPr lang="en-US" sz="1400" b="1" dirty="0">
                          <a:solidFill>
                            <a:srgbClr val="FFFFFF"/>
                          </a:solidFill>
                          <a:latin typeface="Calibri" pitchFamily="34" charset="0"/>
                          <a:ea typeface="Calibri" pitchFamily="34" charset="-122"/>
                          <a:cs typeface="Calibri" pitchFamily="34" charset="-120"/>
                        </a:rPr>
                        <a:t>Command</a:t>
                      </a:r>
                      <a:endParaRPr lang="en-US" sz="140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400" b="1" dirty="0">
                          <a:solidFill>
                            <a:srgbClr val="FFFFFF"/>
                          </a:solidFill>
                          <a:latin typeface="Calibri" pitchFamily="34" charset="0"/>
                          <a:ea typeface="Calibri" pitchFamily="34" charset="-122"/>
                          <a:cs typeface="Calibri" pitchFamily="34" charset="-120"/>
                        </a:rPr>
                        <a:t>What it does</a:t>
                      </a:r>
                      <a:endParaRPr lang="en-US" sz="140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365760">
                <a:tc>
                  <a:txBody>
                    <a:bodyPr/>
                    <a:lstStyle/>
                    <a:p>
                      <a:pPr marL="0" indent="0" algn="l">
                        <a:buNone/>
                      </a:pPr>
                      <a:r>
                        <a:rPr lang="en-US" sz="1400" dirty="0">
                          <a:solidFill>
                            <a:srgbClr val="1F2937"/>
                          </a:solidFill>
                          <a:latin typeface="Consolas" pitchFamily="34" charset="0"/>
                          <a:ea typeface="Consolas" pitchFamily="34" charset="-122"/>
                          <a:cs typeface="Consolas" pitchFamily="34" charset="-120"/>
                        </a:rPr>
                        <a:t>pwd</a:t>
                      </a:r>
                      <a:endParaRPr lang="en-US" sz="1400" dirty="0">
                        <a:latin typeface="Consolas" charset="0"/>
                        <a:ea typeface="Consolas" charset="0"/>
                        <a:cs typeface="Consolas"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400" dirty="0">
                          <a:solidFill>
                            <a:srgbClr val="1F2937"/>
                          </a:solidFill>
                          <a:latin typeface="Calibri" pitchFamily="34" charset="0"/>
                          <a:ea typeface="Calibri" pitchFamily="34" charset="-122"/>
                          <a:cs typeface="Calibri" pitchFamily="34" charset="-120"/>
                        </a:rPr>
                        <a:t>Print working directory</a:t>
                      </a:r>
                      <a:endParaRPr lang="en-US" sz="140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65760">
                <a:tc>
                  <a:txBody>
                    <a:bodyPr/>
                    <a:lstStyle/>
                    <a:p>
                      <a:pPr marL="0" indent="0" algn="l">
                        <a:buNone/>
                      </a:pPr>
                      <a:r>
                        <a:rPr lang="en-US" sz="1400" dirty="0">
                          <a:solidFill>
                            <a:srgbClr val="1F2937"/>
                          </a:solidFill>
                          <a:latin typeface="Consolas" pitchFamily="34" charset="0"/>
                          <a:ea typeface="Consolas" pitchFamily="34" charset="-122"/>
                          <a:cs typeface="Consolas" pitchFamily="34" charset="-120"/>
                        </a:rPr>
                        <a:t>ls  /  ls -l  /  ls -la</a:t>
                      </a:r>
                      <a:endParaRPr lang="en-US" sz="1400" dirty="0">
                        <a:latin typeface="Consolas" charset="0"/>
                        <a:ea typeface="Consolas" charset="0"/>
                        <a:cs typeface="Consolas"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400" dirty="0">
                          <a:solidFill>
                            <a:srgbClr val="1F2937"/>
                          </a:solidFill>
                          <a:latin typeface="Calibri" pitchFamily="34" charset="0"/>
                          <a:ea typeface="Calibri" pitchFamily="34" charset="-122"/>
                          <a:cs typeface="Calibri" pitchFamily="34" charset="-120"/>
                        </a:rPr>
                        <a:t>List files (long, all)</a:t>
                      </a:r>
                      <a:endParaRPr lang="en-US" sz="140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65760">
                <a:tc>
                  <a:txBody>
                    <a:bodyPr/>
                    <a:lstStyle/>
                    <a:p>
                      <a:pPr marL="0" indent="0" algn="l">
                        <a:buNone/>
                      </a:pPr>
                      <a:r>
                        <a:rPr lang="en-US" sz="1400" dirty="0">
                          <a:solidFill>
                            <a:srgbClr val="1F2937"/>
                          </a:solidFill>
                          <a:latin typeface="Consolas" pitchFamily="34" charset="0"/>
                          <a:ea typeface="Consolas" pitchFamily="34" charset="-122"/>
                          <a:cs typeface="Consolas" pitchFamily="34" charset="-120"/>
                        </a:rPr>
                        <a:t>cd &lt;path&gt;</a:t>
                      </a:r>
                      <a:endParaRPr lang="en-US" sz="1400" dirty="0">
                        <a:latin typeface="Consolas" charset="0"/>
                        <a:ea typeface="Consolas" charset="0"/>
                        <a:cs typeface="Consolas"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400" dirty="0">
                          <a:solidFill>
                            <a:srgbClr val="1F2937"/>
                          </a:solidFill>
                          <a:latin typeface="Calibri" pitchFamily="34" charset="0"/>
                          <a:ea typeface="Calibri" pitchFamily="34" charset="-122"/>
                          <a:cs typeface="Calibri" pitchFamily="34" charset="-120"/>
                        </a:rPr>
                        <a:t>Change directory</a:t>
                      </a:r>
                      <a:endParaRPr lang="en-US" sz="140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65760">
                <a:tc>
                  <a:txBody>
                    <a:bodyPr/>
                    <a:lstStyle/>
                    <a:p>
                      <a:pPr marL="0" indent="0" algn="l">
                        <a:buNone/>
                      </a:pPr>
                      <a:r>
                        <a:rPr lang="en-US" sz="1400" dirty="0">
                          <a:solidFill>
                            <a:srgbClr val="1F2937"/>
                          </a:solidFill>
                          <a:latin typeface="Consolas" pitchFamily="34" charset="0"/>
                          <a:ea typeface="Consolas" pitchFamily="34" charset="-122"/>
                          <a:cs typeface="Consolas" pitchFamily="34" charset="-120"/>
                        </a:rPr>
                        <a:t>cd ~   /   cd</a:t>
                      </a:r>
                      <a:endParaRPr lang="en-US" sz="1400" dirty="0">
                        <a:latin typeface="Consolas" charset="0"/>
                        <a:ea typeface="Consolas" charset="0"/>
                        <a:cs typeface="Consolas"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400" dirty="0">
                          <a:solidFill>
                            <a:srgbClr val="1F2937"/>
                          </a:solidFill>
                          <a:latin typeface="Calibri" pitchFamily="34" charset="0"/>
                          <a:ea typeface="Calibri" pitchFamily="34" charset="-122"/>
                          <a:cs typeface="Calibri" pitchFamily="34" charset="-120"/>
                        </a:rPr>
                        <a:t>Go home</a:t>
                      </a:r>
                      <a:endParaRPr lang="en-US" sz="140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65760">
                <a:tc>
                  <a:txBody>
                    <a:bodyPr/>
                    <a:lstStyle/>
                    <a:p>
                      <a:pPr marL="0" indent="0" algn="l">
                        <a:buNone/>
                      </a:pPr>
                      <a:r>
                        <a:rPr lang="en-US" sz="1400" dirty="0">
                          <a:solidFill>
                            <a:srgbClr val="1F2937"/>
                          </a:solidFill>
                          <a:latin typeface="Consolas" pitchFamily="34" charset="0"/>
                          <a:ea typeface="Consolas" pitchFamily="34" charset="-122"/>
                          <a:cs typeface="Consolas" pitchFamily="34" charset="-120"/>
                        </a:rPr>
                        <a:t>cd ..</a:t>
                      </a:r>
                      <a:endParaRPr lang="en-US" sz="1400" dirty="0">
                        <a:latin typeface="Consolas" charset="0"/>
                        <a:ea typeface="Consolas" charset="0"/>
                        <a:cs typeface="Consolas"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400" dirty="0">
                          <a:solidFill>
                            <a:srgbClr val="1F2937"/>
                          </a:solidFill>
                          <a:latin typeface="Calibri" pitchFamily="34" charset="0"/>
                          <a:ea typeface="Calibri" pitchFamily="34" charset="-122"/>
                          <a:cs typeface="Calibri" pitchFamily="34" charset="-120"/>
                        </a:rPr>
                        <a:t>Up one level</a:t>
                      </a:r>
                      <a:endParaRPr lang="en-US" sz="140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65760">
                <a:tc>
                  <a:txBody>
                    <a:bodyPr/>
                    <a:lstStyle/>
                    <a:p>
                      <a:pPr marL="0" indent="0" algn="l">
                        <a:buNone/>
                      </a:pPr>
                      <a:r>
                        <a:rPr lang="en-US" sz="1400" dirty="0">
                          <a:solidFill>
                            <a:srgbClr val="1F2937"/>
                          </a:solidFill>
                          <a:latin typeface="Consolas" pitchFamily="34" charset="0"/>
                          <a:ea typeface="Consolas" pitchFamily="34" charset="-122"/>
                          <a:cs typeface="Consolas" pitchFamily="34" charset="-120"/>
                        </a:rPr>
                        <a:t>cd -</a:t>
                      </a:r>
                      <a:endParaRPr lang="en-US" sz="1400" dirty="0">
                        <a:latin typeface="Consolas" charset="0"/>
                        <a:ea typeface="Consolas" charset="0"/>
                        <a:cs typeface="Consolas"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400" dirty="0">
                          <a:solidFill>
                            <a:srgbClr val="1F2937"/>
                          </a:solidFill>
                          <a:latin typeface="Calibri" pitchFamily="34" charset="0"/>
                          <a:ea typeface="Calibri" pitchFamily="34" charset="-122"/>
                          <a:cs typeface="Calibri" pitchFamily="34" charset="-120"/>
                        </a:rPr>
                        <a:t>Go to previous directory</a:t>
                      </a:r>
                      <a:endParaRPr lang="en-US" sz="140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bg>
      <p:bgPr>
        <a:solidFill>
          <a:srgbClr val="FFFFFF"/>
        </a:solidFill>
        <a:effectLst/>
      </p:bgPr>
    </p:bg>
    <p:spTree>
      <p:nvGrpSpPr>
        <p:cNvPr id="1" name=""/>
        <p:cNvGrpSpPr/>
        <p:nvPr/>
      </p:nvGrpSpPr>
      <p:grpSpPr>
        <a:xfrm>
          <a:off x="0" y="0"/>
          <a:ext cx="0" cy="0"/>
          <a:chOff x="0" y="0"/>
          <a:chExt cx="0" cy="0"/>
        </a:xfrm>
      </p:grpSpPr>
      <p:pic>
        <p:nvPicPr>
          <p:cNvPr id="114" name="Picture 113" descr="access-footer.jpg"/>
          <p:cNvPicPr>
            <a:picLocks noChangeAspect="1"/>
          </p:cNvPicPr>
          <p:nvPr/>
        </p:nvPicPr>
        <p:blipFill>
          <a:blip r:embed="rId3"/>
          <a:stretch>
            <a:fillRect/>
          </a:stretch>
        </p:blipFill>
        <p:spPr>
          <a:xfrm>
            <a:off x="0" y="0"/>
            <a:ext cx="9144000" cy="5143500"/>
          </a:xfrm>
          <a:prstGeom prst="rect">
            <a:avLst/>
          </a:prstGeom>
        </p:spPr>
      </p:pic>
      <p:sp>
        <p:nvSpPr>
          <p:cNvPr id="2" name="Text 0"/>
          <p:cNvSpPr/>
          <p:nvPr/>
        </p:nvSpPr>
        <p:spPr>
          <a:xfrm>
            <a:off x="457200" y="274320"/>
            <a:ext cx="8229600" cy="594360"/>
          </a:xfrm>
          <a:prstGeom prst="rect">
            <a:avLst/>
          </a:prstGeom>
          <a:solidFill>
            <a:srgbClr val="FFFFFF"/>
          </a:solidFill>
          <a:ln/>
        </p:spPr>
        <p:txBody>
          <a:bodyPr wrap="square" lIns="0" tIns="0" rIns="0" bIns="0" rtlCol="0" anchor="ctr"/>
          <a:lstStyle/>
          <a:p>
            <a:pPr marL="0" indent="0">
              <a:buNone/>
            </a:pPr>
            <a:r>
              <a:rPr lang="en-US" sz="2800" b="1" dirty="0">
                <a:solidFill>
                  <a:srgbClr val="1E2761"/>
                </a:solidFill>
                <a:latin typeface="Cambria" pitchFamily="34" charset="0"/>
                <a:ea typeface="Cambria" pitchFamily="34" charset="-122"/>
                <a:cs typeface="Cambria" pitchFamily="34" charset="-120"/>
              </a:rPr>
              <a:t>Cheat sheet — Files &amp; directories</a:t>
            </a:r>
            <a:endParaRPr lang="en-US" sz="2800" dirty="0"/>
          </a:p>
        </p:txBody>
      </p:sp>
      <p:sp>
        <p:nvSpPr>
          <p:cNvPr id="3" name="Shape 1"/>
          <p:cNvSpPr/>
          <p:nvPr/>
        </p:nvSpPr>
        <p:spPr>
          <a:xfrm>
            <a:off x="457200" y="868680"/>
            <a:ext cx="548640" cy="36576"/>
          </a:xfrm>
          <a:prstGeom prst="rect">
            <a:avLst/>
          </a:prstGeom>
          <a:solidFill>
            <a:srgbClr val="1E2761"/>
          </a:solidFill>
          <a:ln w="12700">
            <a:solidFill>
              <a:srgbClr val="1E2761"/>
            </a:solidFill>
            <a:prstDash val="solid"/>
          </a:ln>
        </p:spPr>
        <p:txBody>
          <a:bodyPr/>
          <a:lstStyle/>
          <a:p>
            <a:endParaRPr lang="en-US"/>
          </a:p>
        </p:txBody>
      </p:sp>
      <p:graphicFrame>
        <p:nvGraphicFramePr>
          <p:cNvPr id="113"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3108960">
                  <a:extLst>
                    <a:ext uri="{9D8B030D-6E8A-4147-A177-3AD203B41FA5}">
                      <a16:colId xmlns:a16="http://schemas.microsoft.com/office/drawing/2014/main" val="20000"/>
                    </a:ext>
                  </a:extLst>
                </a:gridCol>
                <a:gridCol w="5120640">
                  <a:extLst>
                    <a:ext uri="{9D8B030D-6E8A-4147-A177-3AD203B41FA5}">
                      <a16:colId xmlns:a16="http://schemas.microsoft.com/office/drawing/2014/main" val="20001"/>
                    </a:ext>
                  </a:extLst>
                </a:gridCol>
              </a:tblGrid>
              <a:tr h="365760">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Command</a:t>
                      </a:r>
                      <a:endParaRPr lang="en-US" sz="120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What it does</a:t>
                      </a:r>
                      <a:endParaRPr lang="en-US" sz="120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365760">
                <a:tc>
                  <a:txBody>
                    <a:bodyPr/>
                    <a:lstStyle/>
                    <a:p>
                      <a:pPr marL="0" indent="0" algn="l">
                        <a:buNone/>
                      </a:pPr>
                      <a:r>
                        <a:rPr lang="en-US" sz="1200" dirty="0">
                          <a:solidFill>
                            <a:srgbClr val="1F2937"/>
                          </a:solidFill>
                          <a:latin typeface="Consolas" pitchFamily="34" charset="0"/>
                          <a:ea typeface="Consolas" pitchFamily="34" charset="-122"/>
                          <a:cs typeface="Consolas" pitchFamily="34" charset="-120"/>
                        </a:rPr>
                        <a:t>mkdir &lt;name&gt;</a:t>
                      </a:r>
                      <a:endParaRPr lang="en-US" sz="1200" dirty="0">
                        <a:latin typeface="Consolas" charset="0"/>
                        <a:ea typeface="Consolas" charset="0"/>
                        <a:cs typeface="Consolas"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7"/>
                          </a:solidFill>
                          <a:latin typeface="Calibri" pitchFamily="34" charset="0"/>
                          <a:ea typeface="Calibri" pitchFamily="34" charset="-122"/>
                          <a:cs typeface="Calibri" pitchFamily="34" charset="-120"/>
                        </a:rPr>
                        <a:t>Make a directory</a:t>
                      </a:r>
                      <a:endParaRPr lang="en-US" sz="120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65760">
                <a:tc>
                  <a:txBody>
                    <a:bodyPr/>
                    <a:lstStyle/>
                    <a:p>
                      <a:pPr marL="0" indent="0" algn="l">
                        <a:buNone/>
                      </a:pPr>
                      <a:r>
                        <a:rPr lang="en-US" sz="1200" dirty="0">
                          <a:solidFill>
                            <a:srgbClr val="1F2937"/>
                          </a:solidFill>
                          <a:latin typeface="Consolas" pitchFamily="34" charset="0"/>
                          <a:ea typeface="Consolas" pitchFamily="34" charset="-122"/>
                          <a:cs typeface="Consolas" pitchFamily="34" charset="-120"/>
                        </a:rPr>
                        <a:t>touch &lt;name&gt;</a:t>
                      </a:r>
                      <a:endParaRPr lang="en-US" sz="1200" dirty="0">
                        <a:latin typeface="Consolas" charset="0"/>
                        <a:ea typeface="Consolas" charset="0"/>
                        <a:cs typeface="Consolas"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7"/>
                          </a:solidFill>
                          <a:latin typeface="Calibri" pitchFamily="34" charset="0"/>
                          <a:ea typeface="Calibri" pitchFamily="34" charset="-122"/>
                          <a:cs typeface="Calibri" pitchFamily="34" charset="-120"/>
                        </a:rPr>
                        <a:t>Make an empty file</a:t>
                      </a:r>
                      <a:endParaRPr lang="en-US" sz="120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65760">
                <a:tc>
                  <a:txBody>
                    <a:bodyPr/>
                    <a:lstStyle/>
                    <a:p>
                      <a:pPr marL="0" indent="0" algn="l">
                        <a:buNone/>
                      </a:pPr>
                      <a:r>
                        <a:rPr lang="en-US" sz="1200" dirty="0">
                          <a:solidFill>
                            <a:srgbClr val="1F2937"/>
                          </a:solidFill>
                          <a:latin typeface="Consolas" pitchFamily="34" charset="0"/>
                          <a:ea typeface="Consolas" pitchFamily="34" charset="-122"/>
                          <a:cs typeface="Consolas" pitchFamily="34" charset="-120"/>
                        </a:rPr>
                        <a:t>cat &lt;file&gt;</a:t>
                      </a:r>
                      <a:endParaRPr lang="en-US" sz="1200" dirty="0">
                        <a:latin typeface="Consolas" charset="0"/>
                        <a:ea typeface="Consolas" charset="0"/>
                        <a:cs typeface="Consolas"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7"/>
                          </a:solidFill>
                          <a:latin typeface="Calibri" pitchFamily="34" charset="0"/>
                          <a:ea typeface="Calibri" pitchFamily="34" charset="-122"/>
                          <a:cs typeface="Calibri" pitchFamily="34" charset="-120"/>
                        </a:rPr>
                        <a:t>Dump a file to screen</a:t>
                      </a:r>
                      <a:endParaRPr lang="en-US" sz="120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65760">
                <a:tc>
                  <a:txBody>
                    <a:bodyPr/>
                    <a:lstStyle/>
                    <a:p>
                      <a:pPr marL="0" indent="0" algn="l">
                        <a:buNone/>
                      </a:pPr>
                      <a:r>
                        <a:rPr lang="en-US" sz="1200" dirty="0">
                          <a:solidFill>
                            <a:srgbClr val="1F2937"/>
                          </a:solidFill>
                          <a:latin typeface="Consolas" pitchFamily="34" charset="0"/>
                          <a:ea typeface="Consolas" pitchFamily="34" charset="-122"/>
                          <a:cs typeface="Consolas" pitchFamily="34" charset="-120"/>
                        </a:rPr>
                        <a:t>less &lt;file&gt;</a:t>
                      </a:r>
                      <a:endParaRPr lang="en-US" sz="1200" dirty="0">
                        <a:latin typeface="Consolas" charset="0"/>
                        <a:ea typeface="Consolas" charset="0"/>
                        <a:cs typeface="Consolas"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7"/>
                          </a:solidFill>
                          <a:latin typeface="Calibri" pitchFamily="34" charset="0"/>
                          <a:ea typeface="Calibri" pitchFamily="34" charset="-122"/>
                          <a:cs typeface="Calibri" pitchFamily="34" charset="-120"/>
                        </a:rPr>
                        <a:t>Page through a file (q to quit)</a:t>
                      </a:r>
                      <a:endParaRPr lang="en-US" sz="120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65760">
                <a:tc>
                  <a:txBody>
                    <a:bodyPr/>
                    <a:lstStyle/>
                    <a:p>
                      <a:pPr marL="0" indent="0" algn="l">
                        <a:buNone/>
                      </a:pPr>
                      <a:r>
                        <a:rPr lang="en-US" sz="1200" dirty="0">
                          <a:solidFill>
                            <a:srgbClr val="1F2937"/>
                          </a:solidFill>
                          <a:latin typeface="Consolas" pitchFamily="34" charset="0"/>
                          <a:ea typeface="Consolas" pitchFamily="34" charset="-122"/>
                          <a:cs typeface="Consolas" pitchFamily="34" charset="-120"/>
                        </a:rPr>
                        <a:t>head / tail &lt;file&gt;</a:t>
                      </a:r>
                      <a:endParaRPr lang="en-US" sz="1200" dirty="0">
                        <a:latin typeface="Consolas" charset="0"/>
                        <a:ea typeface="Consolas" charset="0"/>
                        <a:cs typeface="Consolas"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7"/>
                          </a:solidFill>
                          <a:latin typeface="Calibri" pitchFamily="34" charset="0"/>
                          <a:ea typeface="Calibri" pitchFamily="34" charset="-122"/>
                          <a:cs typeface="Calibri" pitchFamily="34" charset="-120"/>
                        </a:rPr>
                        <a:t>First / last 10 lines</a:t>
                      </a:r>
                      <a:endParaRPr lang="en-US" sz="120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65760">
                <a:tc>
                  <a:txBody>
                    <a:bodyPr/>
                    <a:lstStyle/>
                    <a:p>
                      <a:pPr marL="0" indent="0" algn="l">
                        <a:buNone/>
                      </a:pPr>
                      <a:r>
                        <a:rPr lang="en-US" sz="1200" dirty="0">
                          <a:solidFill>
                            <a:srgbClr val="1F2937"/>
                          </a:solidFill>
                          <a:latin typeface="Consolas" pitchFamily="34" charset="0"/>
                          <a:ea typeface="Consolas" pitchFamily="34" charset="-122"/>
                          <a:cs typeface="Consolas" pitchFamily="34" charset="-120"/>
                        </a:rPr>
                        <a:t>cp &lt;src&gt; &lt;dst&gt;</a:t>
                      </a:r>
                      <a:endParaRPr lang="en-US" sz="1200" dirty="0">
                        <a:latin typeface="Consolas" charset="0"/>
                        <a:ea typeface="Consolas" charset="0"/>
                        <a:cs typeface="Consolas"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7"/>
                          </a:solidFill>
                          <a:latin typeface="Calibri" pitchFamily="34" charset="0"/>
                          <a:ea typeface="Calibri" pitchFamily="34" charset="-122"/>
                          <a:cs typeface="Calibri" pitchFamily="34" charset="-120"/>
                        </a:rPr>
                        <a:t>Copy</a:t>
                      </a:r>
                      <a:endParaRPr lang="en-US" sz="120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65760">
                <a:tc>
                  <a:txBody>
                    <a:bodyPr/>
                    <a:lstStyle/>
                    <a:p>
                      <a:pPr marL="0" indent="0" algn="l">
                        <a:buNone/>
                      </a:pPr>
                      <a:r>
                        <a:rPr lang="en-US" sz="1200" dirty="0">
                          <a:solidFill>
                            <a:srgbClr val="1F2937"/>
                          </a:solidFill>
                          <a:latin typeface="Consolas" pitchFamily="34" charset="0"/>
                          <a:ea typeface="Consolas" pitchFamily="34" charset="-122"/>
                          <a:cs typeface="Consolas" pitchFamily="34" charset="-120"/>
                        </a:rPr>
                        <a:t>mv &lt;src&gt; &lt;dst&gt;</a:t>
                      </a:r>
                      <a:endParaRPr lang="en-US" sz="1200" dirty="0">
                        <a:latin typeface="Consolas" charset="0"/>
                        <a:ea typeface="Consolas" charset="0"/>
                        <a:cs typeface="Consolas"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7"/>
                          </a:solidFill>
                          <a:latin typeface="Calibri" pitchFamily="34" charset="0"/>
                          <a:ea typeface="Calibri" pitchFamily="34" charset="-122"/>
                          <a:cs typeface="Calibri" pitchFamily="34" charset="-120"/>
                        </a:rPr>
                        <a:t>Move / rename</a:t>
                      </a:r>
                      <a:endParaRPr lang="en-US" sz="120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65760">
                <a:tc>
                  <a:txBody>
                    <a:bodyPr/>
                    <a:lstStyle/>
                    <a:p>
                      <a:pPr marL="0" indent="0" algn="l">
                        <a:buNone/>
                      </a:pPr>
                      <a:r>
                        <a:rPr lang="en-US" sz="1200" dirty="0">
                          <a:solidFill>
                            <a:srgbClr val="1F2937"/>
                          </a:solidFill>
                          <a:latin typeface="Consolas" pitchFamily="34" charset="0"/>
                          <a:ea typeface="Consolas" pitchFamily="34" charset="-122"/>
                          <a:cs typeface="Consolas" pitchFamily="34" charset="-120"/>
                        </a:rPr>
                        <a:t>rm &lt;file&gt;</a:t>
                      </a:r>
                      <a:endParaRPr lang="en-US" sz="1200" dirty="0">
                        <a:latin typeface="Consolas" charset="0"/>
                        <a:ea typeface="Consolas" charset="0"/>
                        <a:cs typeface="Consolas"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7"/>
                          </a:solidFill>
                          <a:latin typeface="Calibri" pitchFamily="34" charset="0"/>
                          <a:ea typeface="Calibri" pitchFamily="34" charset="-122"/>
                          <a:cs typeface="Calibri" pitchFamily="34" charset="-120"/>
                        </a:rPr>
                        <a:t>Delete (no undo!)</a:t>
                      </a:r>
                      <a:endParaRPr lang="en-US" sz="120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365760">
                <a:tc>
                  <a:txBody>
                    <a:bodyPr/>
                    <a:lstStyle/>
                    <a:p>
                      <a:pPr marL="0" indent="0" algn="l">
                        <a:buNone/>
                      </a:pPr>
                      <a:r>
                        <a:rPr lang="en-US" sz="1200" dirty="0">
                          <a:solidFill>
                            <a:srgbClr val="1F2937"/>
                          </a:solidFill>
                          <a:latin typeface="Consolas" pitchFamily="34" charset="0"/>
                          <a:ea typeface="Consolas" pitchFamily="34" charset="-122"/>
                          <a:cs typeface="Consolas" pitchFamily="34" charset="-120"/>
                        </a:rPr>
                        <a:t>rm -r &lt;dir&gt;</a:t>
                      </a:r>
                      <a:endParaRPr lang="en-US" sz="1200" dirty="0">
                        <a:latin typeface="Consolas" charset="0"/>
                        <a:ea typeface="Consolas" charset="0"/>
                        <a:cs typeface="Consolas"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7"/>
                          </a:solidFill>
                          <a:latin typeface="Calibri" pitchFamily="34" charset="0"/>
                          <a:ea typeface="Calibri" pitchFamily="34" charset="-122"/>
                          <a:cs typeface="Calibri" pitchFamily="34" charset="-120"/>
                        </a:rPr>
                        <a:t>Delete a directory and contents</a:t>
                      </a:r>
                      <a:endParaRPr lang="en-US" sz="120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bl>
          </a:graphicData>
        </a:graphic>
      </p:graphicFrame>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bg>
      <p:bgPr>
        <a:solidFill>
          <a:srgbClr val="FFFFFF"/>
        </a:solidFill>
        <a:effectLst/>
      </p:bgPr>
    </p:bg>
    <p:spTree>
      <p:nvGrpSpPr>
        <p:cNvPr id="1" name=""/>
        <p:cNvGrpSpPr/>
        <p:nvPr/>
      </p:nvGrpSpPr>
      <p:grpSpPr>
        <a:xfrm>
          <a:off x="0" y="0"/>
          <a:ext cx="0" cy="0"/>
          <a:chOff x="0" y="0"/>
          <a:chExt cx="0" cy="0"/>
        </a:xfrm>
      </p:grpSpPr>
      <p:pic>
        <p:nvPicPr>
          <p:cNvPr id="115" name="Picture 114" descr="access-footer.jpg"/>
          <p:cNvPicPr>
            <a:picLocks noChangeAspect="1"/>
          </p:cNvPicPr>
          <p:nvPr/>
        </p:nvPicPr>
        <p:blipFill>
          <a:blip r:embed="rId3"/>
          <a:stretch>
            <a:fillRect/>
          </a:stretch>
        </p:blipFill>
        <p:spPr>
          <a:xfrm>
            <a:off x="0" y="0"/>
            <a:ext cx="9144000" cy="5143500"/>
          </a:xfrm>
          <a:prstGeom prst="rect">
            <a:avLst/>
          </a:prstGeom>
        </p:spPr>
      </p:pic>
      <p:sp>
        <p:nvSpPr>
          <p:cNvPr id="2" name="Text 0"/>
          <p:cNvSpPr/>
          <p:nvPr/>
        </p:nvSpPr>
        <p:spPr>
          <a:xfrm>
            <a:off x="457200" y="274320"/>
            <a:ext cx="8229600" cy="594360"/>
          </a:xfrm>
          <a:prstGeom prst="rect">
            <a:avLst/>
          </a:prstGeom>
          <a:solidFill>
            <a:srgbClr val="FFFFFF"/>
          </a:solidFill>
          <a:ln/>
        </p:spPr>
        <p:txBody>
          <a:bodyPr wrap="square" lIns="0" tIns="0" rIns="0" bIns="0" rtlCol="0" anchor="ctr"/>
          <a:lstStyle/>
          <a:p>
            <a:pPr marL="0" indent="0">
              <a:buNone/>
            </a:pPr>
            <a:r>
              <a:rPr lang="en-US" sz="2800" b="1" dirty="0">
                <a:solidFill>
                  <a:srgbClr val="1E2761"/>
                </a:solidFill>
                <a:latin typeface="Cambria" pitchFamily="34" charset="0"/>
                <a:ea typeface="Cambria" pitchFamily="34" charset="-122"/>
                <a:cs typeface="Cambria" pitchFamily="34" charset="-120"/>
              </a:rPr>
              <a:t>Cheat sheet — Help, Editing, Glue</a:t>
            </a:r>
            <a:endParaRPr lang="en-US" sz="2800" dirty="0"/>
          </a:p>
        </p:txBody>
      </p:sp>
      <p:sp>
        <p:nvSpPr>
          <p:cNvPr id="3" name="Shape 1"/>
          <p:cNvSpPr/>
          <p:nvPr/>
        </p:nvSpPr>
        <p:spPr>
          <a:xfrm>
            <a:off x="457200" y="868680"/>
            <a:ext cx="548640" cy="36576"/>
          </a:xfrm>
          <a:prstGeom prst="rect">
            <a:avLst/>
          </a:prstGeom>
          <a:solidFill>
            <a:srgbClr val="1E2761"/>
          </a:solidFill>
          <a:ln w="12700">
            <a:solidFill>
              <a:srgbClr val="1E2761"/>
            </a:solidFill>
            <a:prstDash val="solid"/>
          </a:ln>
        </p:spPr>
        <p:txBody>
          <a:bodyPr/>
          <a:lstStyle/>
          <a:p>
            <a:endParaRPr lang="en-US"/>
          </a:p>
        </p:txBody>
      </p:sp>
      <p:graphicFrame>
        <p:nvGraphicFramePr>
          <p:cNvPr id="114"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3108960">
                  <a:extLst>
                    <a:ext uri="{9D8B030D-6E8A-4147-A177-3AD203B41FA5}">
                      <a16:colId xmlns:a16="http://schemas.microsoft.com/office/drawing/2014/main" val="20000"/>
                    </a:ext>
                  </a:extLst>
                </a:gridCol>
                <a:gridCol w="5120640">
                  <a:extLst>
                    <a:ext uri="{9D8B030D-6E8A-4147-A177-3AD203B41FA5}">
                      <a16:colId xmlns:a16="http://schemas.microsoft.com/office/drawing/2014/main" val="20001"/>
                    </a:ext>
                  </a:extLst>
                </a:gridCol>
              </a:tblGrid>
              <a:tr h="365760">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Command</a:t>
                      </a:r>
                      <a:endParaRPr lang="en-US" sz="120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What it does</a:t>
                      </a:r>
                      <a:endParaRPr lang="en-US" sz="120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365760">
                <a:tc>
                  <a:txBody>
                    <a:bodyPr/>
                    <a:lstStyle/>
                    <a:p>
                      <a:pPr marL="0" indent="0" algn="l">
                        <a:buNone/>
                      </a:pPr>
                      <a:r>
                        <a:rPr lang="en-US" sz="1200" dirty="0">
                          <a:solidFill>
                            <a:srgbClr val="1F2937"/>
                          </a:solidFill>
                          <a:latin typeface="Consolas" pitchFamily="34" charset="0"/>
                          <a:ea typeface="Consolas" pitchFamily="34" charset="-122"/>
                          <a:cs typeface="Consolas" pitchFamily="34" charset="-120"/>
                        </a:rPr>
                        <a:t>&lt;cmd&gt; --help</a:t>
                      </a:r>
                      <a:endParaRPr lang="en-US" sz="1200" dirty="0">
                        <a:latin typeface="Consolas" charset="0"/>
                        <a:ea typeface="Consolas" charset="0"/>
                        <a:cs typeface="Consolas"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7"/>
                          </a:solidFill>
                          <a:latin typeface="Calibri" pitchFamily="34" charset="0"/>
                          <a:ea typeface="Calibri" pitchFamily="34" charset="-122"/>
                          <a:cs typeface="Calibri" pitchFamily="34" charset="-120"/>
                        </a:rPr>
                        <a:t>Quick usage summary</a:t>
                      </a:r>
                      <a:endParaRPr lang="en-US" sz="120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65760">
                <a:tc>
                  <a:txBody>
                    <a:bodyPr/>
                    <a:lstStyle/>
                    <a:p>
                      <a:pPr marL="0" indent="0" algn="l">
                        <a:buNone/>
                      </a:pPr>
                      <a:r>
                        <a:rPr lang="en-US" sz="1200" dirty="0">
                          <a:solidFill>
                            <a:srgbClr val="1F2937"/>
                          </a:solidFill>
                          <a:latin typeface="Consolas" pitchFamily="34" charset="0"/>
                          <a:ea typeface="Consolas" pitchFamily="34" charset="-122"/>
                          <a:cs typeface="Consolas" pitchFamily="34" charset="-120"/>
                        </a:rPr>
                        <a:t>man &lt;cmd&gt;</a:t>
                      </a:r>
                      <a:endParaRPr lang="en-US" sz="1200" dirty="0">
                        <a:latin typeface="Consolas" charset="0"/>
                        <a:ea typeface="Consolas" charset="0"/>
                        <a:cs typeface="Consolas"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7"/>
                          </a:solidFill>
                          <a:latin typeface="Calibri" pitchFamily="34" charset="0"/>
                          <a:ea typeface="Calibri" pitchFamily="34" charset="-122"/>
                          <a:cs typeface="Calibri" pitchFamily="34" charset="-120"/>
                        </a:rPr>
                        <a:t>Full manual (q to quit)</a:t>
                      </a:r>
                      <a:endParaRPr lang="en-US" sz="120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65760">
                <a:tc>
                  <a:txBody>
                    <a:bodyPr/>
                    <a:lstStyle/>
                    <a:p>
                      <a:pPr marL="0" indent="0" algn="l">
                        <a:buNone/>
                      </a:pPr>
                      <a:r>
                        <a:rPr lang="en-US" sz="1200" dirty="0">
                          <a:solidFill>
                            <a:srgbClr val="1F2937"/>
                          </a:solidFill>
                          <a:latin typeface="Consolas" pitchFamily="34" charset="0"/>
                          <a:ea typeface="Consolas" pitchFamily="34" charset="-122"/>
                          <a:cs typeface="Consolas" pitchFamily="34" charset="-120"/>
                        </a:rPr>
                        <a:t>which &lt;cmd&gt;</a:t>
                      </a:r>
                      <a:endParaRPr lang="en-US" sz="1200" dirty="0">
                        <a:latin typeface="Consolas" charset="0"/>
                        <a:ea typeface="Consolas" charset="0"/>
                        <a:cs typeface="Consolas"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7"/>
                          </a:solidFill>
                          <a:latin typeface="Calibri" pitchFamily="34" charset="0"/>
                          <a:ea typeface="Calibri" pitchFamily="34" charset="-122"/>
                          <a:cs typeface="Calibri" pitchFamily="34" charset="-120"/>
                        </a:rPr>
                        <a:t>Where the program lives</a:t>
                      </a:r>
                      <a:endParaRPr lang="en-US" sz="120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65760">
                <a:tc>
                  <a:txBody>
                    <a:bodyPr/>
                    <a:lstStyle/>
                    <a:p>
                      <a:pPr marL="0" indent="0" algn="l">
                        <a:buNone/>
                      </a:pPr>
                      <a:r>
                        <a:rPr lang="en-US" sz="1200" dirty="0">
                          <a:solidFill>
                            <a:srgbClr val="1F2937"/>
                          </a:solidFill>
                          <a:latin typeface="Consolas" pitchFamily="34" charset="0"/>
                          <a:ea typeface="Consolas" pitchFamily="34" charset="-122"/>
                          <a:cs typeface="Consolas" pitchFamily="34" charset="-120"/>
                        </a:rPr>
                        <a:t>apropos &lt;word&gt;</a:t>
                      </a:r>
                      <a:endParaRPr lang="en-US" sz="1200" dirty="0">
                        <a:latin typeface="Consolas" charset="0"/>
                        <a:ea typeface="Consolas" charset="0"/>
                        <a:cs typeface="Consolas"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7"/>
                          </a:solidFill>
                          <a:latin typeface="Calibri" pitchFamily="34" charset="0"/>
                          <a:ea typeface="Calibri" pitchFamily="34" charset="-122"/>
                          <a:cs typeface="Calibri" pitchFamily="34" charset="-120"/>
                        </a:rPr>
                        <a:t>Find commands by keyword</a:t>
                      </a:r>
                      <a:endParaRPr lang="en-US" sz="120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65760">
                <a:tc>
                  <a:txBody>
                    <a:bodyPr/>
                    <a:lstStyle/>
                    <a:p>
                      <a:pPr marL="0" indent="0" algn="l">
                        <a:buNone/>
                      </a:pPr>
                      <a:r>
                        <a:rPr lang="en-US" sz="1200" dirty="0">
                          <a:solidFill>
                            <a:srgbClr val="1F2937"/>
                          </a:solidFill>
                          <a:latin typeface="Consolas" pitchFamily="34" charset="0"/>
                          <a:ea typeface="Consolas" pitchFamily="34" charset="-122"/>
                          <a:cs typeface="Consolas" pitchFamily="34" charset="-120"/>
                        </a:rPr>
                        <a:t>code &lt;file&gt;</a:t>
                      </a:r>
                      <a:endParaRPr lang="en-US" sz="1200" dirty="0">
                        <a:latin typeface="Consolas" charset="0"/>
                        <a:ea typeface="Consolas" charset="0"/>
                        <a:cs typeface="Consolas"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7"/>
                          </a:solidFill>
                          <a:latin typeface="Calibri" pitchFamily="34" charset="0"/>
                          <a:ea typeface="Calibri" pitchFamily="34" charset="-122"/>
                          <a:cs typeface="Calibri" pitchFamily="34" charset="-120"/>
                        </a:rPr>
                        <a:t>Open in VSCode</a:t>
                      </a:r>
                      <a:endParaRPr lang="en-US" sz="120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65760">
                <a:tc>
                  <a:txBody>
                    <a:bodyPr/>
                    <a:lstStyle/>
                    <a:p>
                      <a:pPr marL="0" indent="0" algn="l">
                        <a:buNone/>
                      </a:pPr>
                      <a:r>
                        <a:rPr lang="en-US" sz="1200" dirty="0">
                          <a:solidFill>
                            <a:srgbClr val="1F2937"/>
                          </a:solidFill>
                          <a:latin typeface="Consolas" pitchFamily="34" charset="0"/>
                          <a:ea typeface="Consolas" pitchFamily="34" charset="-122"/>
                          <a:cs typeface="Consolas" pitchFamily="34" charset="-120"/>
                        </a:rPr>
                        <a:t>nano &lt;file&gt;</a:t>
                      </a:r>
                      <a:endParaRPr lang="en-US" sz="1200" dirty="0">
                        <a:latin typeface="Consolas" charset="0"/>
                        <a:ea typeface="Consolas" charset="0"/>
                        <a:cs typeface="Consolas"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7"/>
                          </a:solidFill>
                          <a:latin typeface="Calibri" pitchFamily="34" charset="0"/>
                          <a:ea typeface="Calibri" pitchFamily="34" charset="-122"/>
                          <a:cs typeface="Calibri" pitchFamily="34" charset="-120"/>
                        </a:rPr>
                        <a:t>Open in nano (Ctrl-O save, Ctrl-X exit)</a:t>
                      </a:r>
                      <a:endParaRPr lang="en-US" sz="120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65760">
                <a:tc>
                  <a:txBody>
                    <a:bodyPr/>
                    <a:lstStyle/>
                    <a:p>
                      <a:pPr marL="0" indent="0" algn="l">
                        <a:buNone/>
                      </a:pPr>
                      <a:r>
                        <a:rPr lang="en-US" sz="1200" dirty="0">
                          <a:solidFill>
                            <a:srgbClr val="1F2937"/>
                          </a:solidFill>
                          <a:latin typeface="Consolas" pitchFamily="34" charset="0"/>
                          <a:ea typeface="Consolas" pitchFamily="34" charset="-122"/>
                          <a:cs typeface="Consolas" pitchFamily="34" charset="-120"/>
                        </a:rPr>
                        <a:t>&gt;   /   &gt;&gt;</a:t>
                      </a:r>
                      <a:endParaRPr lang="en-US" sz="1200" dirty="0">
                        <a:latin typeface="Consolas" charset="0"/>
                        <a:ea typeface="Consolas" charset="0"/>
                        <a:cs typeface="Consolas"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7"/>
                          </a:solidFill>
                          <a:latin typeface="Calibri" pitchFamily="34" charset="0"/>
                          <a:ea typeface="Calibri" pitchFamily="34" charset="-122"/>
                          <a:cs typeface="Calibri" pitchFamily="34" charset="-120"/>
                        </a:rPr>
                        <a:t>Send / append output to file</a:t>
                      </a:r>
                      <a:endParaRPr lang="en-US" sz="120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65760">
                <a:tc>
                  <a:txBody>
                    <a:bodyPr/>
                    <a:lstStyle/>
                    <a:p>
                      <a:pPr marL="0" indent="0" algn="l">
                        <a:buNone/>
                      </a:pPr>
                      <a:r>
                        <a:rPr lang="en-US" sz="1200" dirty="0">
                          <a:solidFill>
                            <a:srgbClr val="1F2937"/>
                          </a:solidFill>
                          <a:latin typeface="Consolas" pitchFamily="34" charset="0"/>
                          <a:ea typeface="Consolas" pitchFamily="34" charset="-122"/>
                          <a:cs typeface="Consolas" pitchFamily="34" charset="-120"/>
                        </a:rPr>
                        <a:t>|</a:t>
                      </a:r>
                      <a:endParaRPr lang="en-US" sz="1200" dirty="0">
                        <a:latin typeface="Consolas" charset="0"/>
                        <a:ea typeface="Consolas" charset="0"/>
                        <a:cs typeface="Consolas"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7"/>
                          </a:solidFill>
                          <a:latin typeface="Calibri" pitchFamily="34" charset="0"/>
                          <a:ea typeface="Calibri" pitchFamily="34" charset="-122"/>
                          <a:cs typeface="Calibri" pitchFamily="34" charset="-120"/>
                        </a:rPr>
                        <a:t>Pipe output to next command</a:t>
                      </a:r>
                      <a:endParaRPr lang="en-US" sz="120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365760">
                <a:tc>
                  <a:txBody>
                    <a:bodyPr/>
                    <a:lstStyle/>
                    <a:p>
                      <a:pPr marL="0" indent="0" algn="l">
                        <a:buNone/>
                      </a:pPr>
                      <a:r>
                        <a:rPr lang="en-US" sz="1200" dirty="0">
                          <a:solidFill>
                            <a:srgbClr val="1F2937"/>
                          </a:solidFill>
                          <a:latin typeface="Consolas" pitchFamily="34" charset="0"/>
                          <a:ea typeface="Consolas" pitchFamily="34" charset="-122"/>
                          <a:cs typeface="Consolas" pitchFamily="34" charset="-120"/>
                        </a:rPr>
                        <a:t>grep &lt;pat&gt; &lt;file&gt;  /  wc -l</a:t>
                      </a:r>
                      <a:endParaRPr lang="en-US" sz="1200" dirty="0">
                        <a:latin typeface="Consolas" charset="0"/>
                        <a:ea typeface="Consolas" charset="0"/>
                        <a:cs typeface="Consolas"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7"/>
                          </a:solidFill>
                          <a:latin typeface="Calibri" pitchFamily="34" charset="0"/>
                          <a:ea typeface="Calibri" pitchFamily="34" charset="-122"/>
                          <a:cs typeface="Calibri" pitchFamily="34" charset="-120"/>
                        </a:rPr>
                        <a:t>Search / count lines</a:t>
                      </a:r>
                      <a:endParaRPr lang="en-US" sz="120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bl>
          </a:graphicData>
        </a:graphic>
      </p:graphicFrame>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bg>
      <p:bgPr>
        <a:solidFill>
          <a:srgbClr val="FFFFFF"/>
        </a:solidFill>
        <a:effectLst/>
      </p:bgPr>
    </p:bg>
    <p:spTree>
      <p:nvGrpSpPr>
        <p:cNvPr id="1" name=""/>
        <p:cNvGrpSpPr/>
        <p:nvPr/>
      </p:nvGrpSpPr>
      <p:grpSpPr>
        <a:xfrm>
          <a:off x="0" y="0"/>
          <a:ext cx="0" cy="0"/>
          <a:chOff x="0" y="0"/>
          <a:chExt cx="0" cy="0"/>
        </a:xfrm>
      </p:grpSpPr>
      <p:pic>
        <p:nvPicPr>
          <p:cNvPr id="116" name="Picture 115" descr="access-footer.jpg"/>
          <p:cNvPicPr>
            <a:picLocks noChangeAspect="1"/>
          </p:cNvPicPr>
          <p:nvPr/>
        </p:nvPicPr>
        <p:blipFill>
          <a:blip r:embed="rId3"/>
          <a:stretch>
            <a:fillRect/>
          </a:stretch>
        </p:blipFill>
        <p:spPr>
          <a:xfrm>
            <a:off x="0" y="0"/>
            <a:ext cx="9144000" cy="5143500"/>
          </a:xfrm>
          <a:prstGeom prst="rect">
            <a:avLst/>
          </a:prstGeom>
        </p:spPr>
      </p:pic>
      <p:sp>
        <p:nvSpPr>
          <p:cNvPr id="2" name="Text 0"/>
          <p:cNvSpPr/>
          <p:nvPr/>
        </p:nvSpPr>
        <p:spPr>
          <a:xfrm>
            <a:off x="457200" y="274320"/>
            <a:ext cx="8229600" cy="594360"/>
          </a:xfrm>
          <a:prstGeom prst="rect">
            <a:avLst/>
          </a:prstGeom>
          <a:solidFill>
            <a:srgbClr val="FFFFFF"/>
          </a:solidFill>
          <a:ln/>
        </p:spPr>
        <p:txBody>
          <a:bodyPr wrap="square" lIns="0" tIns="0" rIns="0" bIns="0" rtlCol="0" anchor="ctr"/>
          <a:lstStyle/>
          <a:p>
            <a:pPr marL="0" indent="0">
              <a:buNone/>
            </a:pPr>
            <a:r>
              <a:rPr lang="en-US" sz="2800" b="1" dirty="0">
                <a:solidFill>
                  <a:srgbClr val="1E2761"/>
                </a:solidFill>
                <a:latin typeface="Cambria" pitchFamily="34" charset="0"/>
                <a:ea typeface="Cambria" pitchFamily="34" charset="-122"/>
                <a:cs typeface="Cambria" pitchFamily="34" charset="-120"/>
              </a:rPr>
              <a:t>Cheat sheet — Permissions &amp; processes</a:t>
            </a:r>
            <a:endParaRPr lang="en-US" sz="2800" dirty="0"/>
          </a:p>
        </p:txBody>
      </p:sp>
      <p:sp>
        <p:nvSpPr>
          <p:cNvPr id="3" name="Shape 1"/>
          <p:cNvSpPr/>
          <p:nvPr/>
        </p:nvSpPr>
        <p:spPr>
          <a:xfrm>
            <a:off x="457200" y="868680"/>
            <a:ext cx="548640" cy="36576"/>
          </a:xfrm>
          <a:prstGeom prst="rect">
            <a:avLst/>
          </a:prstGeom>
          <a:solidFill>
            <a:srgbClr val="1E2761"/>
          </a:solidFill>
          <a:ln w="12700">
            <a:solidFill>
              <a:srgbClr val="1E2761"/>
            </a:solidFill>
            <a:prstDash val="solid"/>
          </a:ln>
        </p:spPr>
        <p:txBody>
          <a:bodyPr/>
          <a:lstStyle/>
          <a:p>
            <a:endParaRPr lang="en-US"/>
          </a:p>
        </p:txBody>
      </p:sp>
      <p:graphicFrame>
        <p:nvGraphicFramePr>
          <p:cNvPr id="115"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3108960">
                  <a:extLst>
                    <a:ext uri="{9D8B030D-6E8A-4147-A177-3AD203B41FA5}">
                      <a16:colId xmlns:a16="http://schemas.microsoft.com/office/drawing/2014/main" val="20000"/>
                    </a:ext>
                  </a:extLst>
                </a:gridCol>
                <a:gridCol w="5120640">
                  <a:extLst>
                    <a:ext uri="{9D8B030D-6E8A-4147-A177-3AD203B41FA5}">
                      <a16:colId xmlns:a16="http://schemas.microsoft.com/office/drawing/2014/main" val="20001"/>
                    </a:ext>
                  </a:extLst>
                </a:gridCol>
              </a:tblGrid>
              <a:tr h="365760">
                <a:tc>
                  <a:txBody>
                    <a:bodyPr/>
                    <a:lstStyle/>
                    <a:p>
                      <a:pPr marL="0" indent="0" algn="l">
                        <a:buNone/>
                      </a:pPr>
                      <a:r>
                        <a:rPr lang="en-US" sz="1400" b="1" dirty="0">
                          <a:solidFill>
                            <a:srgbClr val="FFFFFF"/>
                          </a:solidFill>
                          <a:latin typeface="Calibri" pitchFamily="34" charset="0"/>
                          <a:ea typeface="Calibri" pitchFamily="34" charset="-122"/>
                          <a:cs typeface="Calibri" pitchFamily="34" charset="-120"/>
                        </a:rPr>
                        <a:t>Command</a:t>
                      </a:r>
                      <a:endParaRPr lang="en-US" sz="140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400" b="1" dirty="0">
                          <a:solidFill>
                            <a:srgbClr val="FFFFFF"/>
                          </a:solidFill>
                          <a:latin typeface="Calibri" pitchFamily="34" charset="0"/>
                          <a:ea typeface="Calibri" pitchFamily="34" charset="-122"/>
                          <a:cs typeface="Calibri" pitchFamily="34" charset="-120"/>
                        </a:rPr>
                        <a:t>What it does</a:t>
                      </a:r>
                      <a:endParaRPr lang="en-US" sz="140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365760">
                <a:tc>
                  <a:txBody>
                    <a:bodyPr/>
                    <a:lstStyle/>
                    <a:p>
                      <a:pPr marL="0" indent="0" algn="l">
                        <a:buNone/>
                      </a:pPr>
                      <a:r>
                        <a:rPr lang="en-US" sz="1400" dirty="0">
                          <a:solidFill>
                            <a:srgbClr val="1F2937"/>
                          </a:solidFill>
                          <a:latin typeface="Consolas" pitchFamily="34" charset="0"/>
                          <a:ea typeface="Consolas" pitchFamily="34" charset="-122"/>
                          <a:cs typeface="Consolas" pitchFamily="34" charset="-120"/>
                        </a:rPr>
                        <a:t>ls -l</a:t>
                      </a:r>
                      <a:endParaRPr lang="en-US" sz="1400" dirty="0">
                        <a:latin typeface="Consolas" charset="0"/>
                        <a:ea typeface="Consolas" charset="0"/>
                        <a:cs typeface="Consolas"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400" dirty="0">
                          <a:solidFill>
                            <a:srgbClr val="1F2937"/>
                          </a:solidFill>
                          <a:latin typeface="Calibri" pitchFamily="34" charset="0"/>
                          <a:ea typeface="Calibri" pitchFamily="34" charset="-122"/>
                          <a:cs typeface="Calibri" pitchFamily="34" charset="-120"/>
                        </a:rPr>
                        <a:t>See permissions, owner, size</a:t>
                      </a:r>
                      <a:endParaRPr lang="en-US" sz="140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65760">
                <a:tc>
                  <a:txBody>
                    <a:bodyPr/>
                    <a:lstStyle/>
                    <a:p>
                      <a:pPr marL="0" indent="0" algn="l">
                        <a:buNone/>
                      </a:pPr>
                      <a:r>
                        <a:rPr lang="en-US" sz="1400" dirty="0">
                          <a:solidFill>
                            <a:srgbClr val="1F2937"/>
                          </a:solidFill>
                          <a:latin typeface="Consolas" pitchFamily="34" charset="0"/>
                          <a:ea typeface="Consolas" pitchFamily="34" charset="-122"/>
                          <a:cs typeface="Consolas" pitchFamily="34" charset="-120"/>
                        </a:rPr>
                        <a:t>chmod +x &lt;file&gt;</a:t>
                      </a:r>
                      <a:endParaRPr lang="en-US" sz="1400" dirty="0">
                        <a:latin typeface="Consolas" charset="0"/>
                        <a:ea typeface="Consolas" charset="0"/>
                        <a:cs typeface="Consolas"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400" dirty="0">
                          <a:solidFill>
                            <a:srgbClr val="1F2937"/>
                          </a:solidFill>
                          <a:latin typeface="Calibri" pitchFamily="34" charset="0"/>
                          <a:ea typeface="Calibri" pitchFamily="34" charset="-122"/>
                          <a:cs typeface="Calibri" pitchFamily="34" charset="-120"/>
                        </a:rPr>
                        <a:t>Make a file executable</a:t>
                      </a:r>
                      <a:endParaRPr lang="en-US" sz="140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65760">
                <a:tc>
                  <a:txBody>
                    <a:bodyPr/>
                    <a:lstStyle/>
                    <a:p>
                      <a:pPr marL="0" indent="0" algn="l">
                        <a:buNone/>
                      </a:pPr>
                      <a:r>
                        <a:rPr lang="en-US" sz="1400" dirty="0">
                          <a:solidFill>
                            <a:srgbClr val="1F2937"/>
                          </a:solidFill>
                          <a:latin typeface="Consolas" pitchFamily="34" charset="0"/>
                          <a:ea typeface="Consolas" pitchFamily="34" charset="-122"/>
                          <a:cs typeface="Consolas" pitchFamily="34" charset="-120"/>
                        </a:rPr>
                        <a:t>ps aux</a:t>
                      </a:r>
                      <a:endParaRPr lang="en-US" sz="1400" dirty="0">
                        <a:latin typeface="Consolas" charset="0"/>
                        <a:ea typeface="Consolas" charset="0"/>
                        <a:cs typeface="Consolas"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400" dirty="0">
                          <a:solidFill>
                            <a:srgbClr val="1F2937"/>
                          </a:solidFill>
                          <a:latin typeface="Calibri" pitchFamily="34" charset="0"/>
                          <a:ea typeface="Calibri" pitchFamily="34" charset="-122"/>
                          <a:cs typeface="Calibri" pitchFamily="34" charset="-120"/>
                        </a:rPr>
                        <a:t>All processes</a:t>
                      </a:r>
                      <a:endParaRPr lang="en-US" sz="140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65760">
                <a:tc>
                  <a:txBody>
                    <a:bodyPr/>
                    <a:lstStyle/>
                    <a:p>
                      <a:pPr marL="0" indent="0" algn="l">
                        <a:buNone/>
                      </a:pPr>
                      <a:r>
                        <a:rPr lang="en-US" sz="1400" dirty="0">
                          <a:solidFill>
                            <a:srgbClr val="1F2937"/>
                          </a:solidFill>
                          <a:latin typeface="Consolas" pitchFamily="34" charset="0"/>
                          <a:ea typeface="Consolas" pitchFamily="34" charset="-122"/>
                          <a:cs typeface="Consolas" pitchFamily="34" charset="-120"/>
                        </a:rPr>
                        <a:t>top  /  htop</a:t>
                      </a:r>
                      <a:endParaRPr lang="en-US" sz="1400" dirty="0">
                        <a:latin typeface="Consolas" charset="0"/>
                        <a:ea typeface="Consolas" charset="0"/>
                        <a:cs typeface="Consolas"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400" dirty="0">
                          <a:solidFill>
                            <a:srgbClr val="1F2937"/>
                          </a:solidFill>
                          <a:latin typeface="Calibri" pitchFamily="34" charset="0"/>
                          <a:ea typeface="Calibri" pitchFamily="34" charset="-122"/>
                          <a:cs typeface="Calibri" pitchFamily="34" charset="-120"/>
                        </a:rPr>
                        <a:t>Live process view (q to quit)</a:t>
                      </a:r>
                      <a:endParaRPr lang="en-US" sz="140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65760">
                <a:tc>
                  <a:txBody>
                    <a:bodyPr/>
                    <a:lstStyle/>
                    <a:p>
                      <a:pPr marL="0" indent="0" algn="l">
                        <a:buNone/>
                      </a:pPr>
                      <a:r>
                        <a:rPr lang="en-US" sz="1400" dirty="0">
                          <a:solidFill>
                            <a:srgbClr val="1F2937"/>
                          </a:solidFill>
                          <a:latin typeface="Consolas" pitchFamily="34" charset="0"/>
                          <a:ea typeface="Consolas" pitchFamily="34" charset="-122"/>
                          <a:cs typeface="Consolas" pitchFamily="34" charset="-120"/>
                        </a:rPr>
                        <a:t>kill &lt;PID&gt;</a:t>
                      </a:r>
                      <a:endParaRPr lang="en-US" sz="1400" dirty="0">
                        <a:latin typeface="Consolas" charset="0"/>
                        <a:ea typeface="Consolas" charset="0"/>
                        <a:cs typeface="Consolas"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400" dirty="0">
                          <a:solidFill>
                            <a:srgbClr val="1F2937"/>
                          </a:solidFill>
                          <a:latin typeface="Calibri" pitchFamily="34" charset="0"/>
                          <a:ea typeface="Calibri" pitchFamily="34" charset="-122"/>
                          <a:cs typeface="Calibri" pitchFamily="34" charset="-120"/>
                        </a:rPr>
                        <a:t>Stop a process</a:t>
                      </a:r>
                      <a:endParaRPr lang="en-US" sz="140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65760">
                <a:tc>
                  <a:txBody>
                    <a:bodyPr/>
                    <a:lstStyle/>
                    <a:p>
                      <a:pPr marL="0" indent="0" algn="l">
                        <a:buNone/>
                      </a:pPr>
                      <a:r>
                        <a:rPr lang="en-US" sz="1400" dirty="0">
                          <a:solidFill>
                            <a:srgbClr val="1F2937"/>
                          </a:solidFill>
                          <a:latin typeface="Consolas" pitchFamily="34" charset="0"/>
                          <a:ea typeface="Consolas" pitchFamily="34" charset="-122"/>
                          <a:cs typeface="Consolas" pitchFamily="34" charset="-120"/>
                        </a:rPr>
                        <a:t>Ctrl-C</a:t>
                      </a:r>
                      <a:endParaRPr lang="en-US" sz="1400" dirty="0">
                        <a:latin typeface="Consolas" charset="0"/>
                        <a:ea typeface="Consolas" charset="0"/>
                        <a:cs typeface="Consolas"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400" dirty="0">
                          <a:solidFill>
                            <a:srgbClr val="1F2937"/>
                          </a:solidFill>
                          <a:latin typeface="Calibri" pitchFamily="34" charset="0"/>
                          <a:ea typeface="Calibri" pitchFamily="34" charset="-122"/>
                          <a:cs typeface="Calibri" pitchFamily="34" charset="-120"/>
                        </a:rPr>
                        <a:t>Stop the current command</a:t>
                      </a:r>
                      <a:endParaRPr lang="en-US" sz="140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65760">
                <a:tc>
                  <a:txBody>
                    <a:bodyPr/>
                    <a:lstStyle/>
                    <a:p>
                      <a:pPr marL="0" indent="0" algn="l">
                        <a:buNone/>
                      </a:pPr>
                      <a:r>
                        <a:rPr lang="en-US" sz="1400" dirty="0">
                          <a:solidFill>
                            <a:srgbClr val="1F2937"/>
                          </a:solidFill>
                          <a:latin typeface="Consolas" pitchFamily="34" charset="0"/>
                          <a:ea typeface="Consolas" pitchFamily="34" charset="-122"/>
                          <a:cs typeface="Consolas" pitchFamily="34" charset="-120"/>
                        </a:rPr>
                        <a:t>Tab</a:t>
                      </a:r>
                      <a:endParaRPr lang="en-US" sz="1400" dirty="0">
                        <a:latin typeface="Consolas" charset="0"/>
                        <a:ea typeface="Consolas" charset="0"/>
                        <a:cs typeface="Consolas"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400" dirty="0">
                          <a:solidFill>
                            <a:srgbClr val="1F2937"/>
                          </a:solidFill>
                          <a:latin typeface="Calibri" pitchFamily="34" charset="0"/>
                          <a:ea typeface="Calibri" pitchFamily="34" charset="-122"/>
                          <a:cs typeface="Calibri" pitchFamily="34" charset="-120"/>
                        </a:rPr>
                        <a:t>Auto-complete</a:t>
                      </a:r>
                      <a:endParaRPr lang="en-US" sz="140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65760">
                <a:tc>
                  <a:txBody>
                    <a:bodyPr/>
                    <a:lstStyle/>
                    <a:p>
                      <a:pPr marL="0" indent="0" algn="l">
                        <a:buNone/>
                      </a:pPr>
                      <a:r>
                        <a:rPr lang="en-US" sz="1400" dirty="0">
                          <a:solidFill>
                            <a:srgbClr val="1F2937"/>
                          </a:solidFill>
                          <a:latin typeface="Consolas" pitchFamily="34" charset="0"/>
                          <a:ea typeface="Consolas" pitchFamily="34" charset="-122"/>
                          <a:cs typeface="Consolas" pitchFamily="34" charset="-120"/>
                        </a:rPr>
                        <a:t>↑   /   Ctrl-R</a:t>
                      </a:r>
                      <a:endParaRPr lang="en-US" sz="1400" dirty="0">
                        <a:latin typeface="Consolas" charset="0"/>
                        <a:ea typeface="Consolas" charset="0"/>
                        <a:cs typeface="Consolas"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400" dirty="0">
                          <a:solidFill>
                            <a:srgbClr val="1F2937"/>
                          </a:solidFill>
                          <a:latin typeface="Calibri" pitchFamily="34" charset="0"/>
                          <a:ea typeface="Calibri" pitchFamily="34" charset="-122"/>
                          <a:cs typeface="Calibri" pitchFamily="34" charset="-120"/>
                        </a:rPr>
                        <a:t>Previous command  /  search history</a:t>
                      </a:r>
                      <a:endParaRPr lang="en-US" sz="140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bg>
      <p:bgPr>
        <a:solidFill>
          <a:srgbClr val="FFFFFF"/>
        </a:solidFill>
        <a:effectLst/>
      </p:bgPr>
    </p:bg>
    <p:spTree>
      <p:nvGrpSpPr>
        <p:cNvPr id="1" name=""/>
        <p:cNvGrpSpPr/>
        <p:nvPr/>
      </p:nvGrpSpPr>
      <p:grpSpPr>
        <a:xfrm>
          <a:off x="0" y="0"/>
          <a:ext cx="0" cy="0"/>
          <a:chOff x="0" y="0"/>
          <a:chExt cx="0" cy="0"/>
        </a:xfrm>
      </p:grpSpPr>
      <p:pic>
        <p:nvPicPr>
          <p:cNvPr id="117" name="Picture 116" descr="access-footer.jpg"/>
          <p:cNvPicPr>
            <a:picLocks noChangeAspect="1"/>
          </p:cNvPicPr>
          <p:nvPr/>
        </p:nvPicPr>
        <p:blipFill>
          <a:blip r:embed="rId3"/>
          <a:stretch>
            <a:fillRect/>
          </a:stretch>
        </p:blipFill>
        <p:spPr>
          <a:xfrm>
            <a:off x="0" y="0"/>
            <a:ext cx="9144000" cy="5143500"/>
          </a:xfrm>
          <a:prstGeom prst="rect">
            <a:avLst/>
          </a:prstGeom>
        </p:spPr>
      </p:pic>
      <p:sp>
        <p:nvSpPr>
          <p:cNvPr id="2" name="Text 0"/>
          <p:cNvSpPr/>
          <p:nvPr/>
        </p:nvSpPr>
        <p:spPr>
          <a:xfrm>
            <a:off x="457200" y="274320"/>
            <a:ext cx="8229600" cy="594360"/>
          </a:xfrm>
          <a:prstGeom prst="rect">
            <a:avLst/>
          </a:prstGeom>
          <a:solidFill>
            <a:srgbClr val="FFFFFF"/>
          </a:solidFill>
          <a:ln/>
        </p:spPr>
        <p:txBody>
          <a:bodyPr wrap="square" lIns="0" tIns="0" rIns="0" bIns="0" rtlCol="0" anchor="ctr"/>
          <a:lstStyle/>
          <a:p>
            <a:pPr marL="0" indent="0">
              <a:buNone/>
            </a:pPr>
            <a:r>
              <a:rPr lang="en-US" sz="2800" b="1" dirty="0">
                <a:solidFill>
                  <a:srgbClr val="1E2761"/>
                </a:solidFill>
                <a:latin typeface="Cambria" pitchFamily="34" charset="0"/>
                <a:ea typeface="Cambria" pitchFamily="34" charset="-122"/>
                <a:cs typeface="Cambria" pitchFamily="34" charset="-120"/>
              </a:rPr>
              <a:t>Cheat sheet — Users &amp; root</a:t>
            </a:r>
            <a:endParaRPr lang="en-US" sz="2800" dirty="0"/>
          </a:p>
        </p:txBody>
      </p:sp>
      <p:sp>
        <p:nvSpPr>
          <p:cNvPr id="3" name="Shape 1"/>
          <p:cNvSpPr/>
          <p:nvPr/>
        </p:nvSpPr>
        <p:spPr>
          <a:xfrm>
            <a:off x="457200" y="868680"/>
            <a:ext cx="548640" cy="36576"/>
          </a:xfrm>
          <a:prstGeom prst="rect">
            <a:avLst/>
          </a:prstGeom>
          <a:solidFill>
            <a:srgbClr val="1E2761"/>
          </a:solidFill>
          <a:ln w="12700">
            <a:solidFill>
              <a:srgbClr val="1E2761"/>
            </a:solidFill>
            <a:prstDash val="solid"/>
          </a:ln>
        </p:spPr>
        <p:txBody>
          <a:bodyPr/>
          <a:lstStyle/>
          <a:p>
            <a:endParaRPr lang="en-US"/>
          </a:p>
        </p:txBody>
      </p:sp>
      <p:graphicFrame>
        <p:nvGraphicFramePr>
          <p:cNvPr id="116"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3108960">
                  <a:extLst>
                    <a:ext uri="{9D8B030D-6E8A-4147-A177-3AD203B41FA5}">
                      <a16:colId xmlns:a16="http://schemas.microsoft.com/office/drawing/2014/main" val="20000"/>
                    </a:ext>
                  </a:extLst>
                </a:gridCol>
                <a:gridCol w="5120640">
                  <a:extLst>
                    <a:ext uri="{9D8B030D-6E8A-4147-A177-3AD203B41FA5}">
                      <a16:colId xmlns:a16="http://schemas.microsoft.com/office/drawing/2014/main" val="20001"/>
                    </a:ext>
                  </a:extLst>
                </a:gridCol>
              </a:tblGrid>
              <a:tr h="365760">
                <a:tc>
                  <a:txBody>
                    <a:bodyPr/>
                    <a:lstStyle/>
                    <a:p>
                      <a:pPr marL="0" indent="0" algn="l">
                        <a:buNone/>
                      </a:pPr>
                      <a:r>
                        <a:rPr lang="en-US" sz="1400" b="1" dirty="0">
                          <a:solidFill>
                            <a:srgbClr val="FFFFFF"/>
                          </a:solidFill>
                          <a:latin typeface="Calibri" pitchFamily="34" charset="0"/>
                          <a:ea typeface="Calibri" pitchFamily="34" charset="-122"/>
                          <a:cs typeface="Calibri" pitchFamily="34" charset="-120"/>
                        </a:rPr>
                        <a:t>Command</a:t>
                      </a:r>
                      <a:endParaRPr lang="en-US" sz="140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400" b="1" dirty="0">
                          <a:solidFill>
                            <a:srgbClr val="FFFFFF"/>
                          </a:solidFill>
                          <a:latin typeface="Calibri" pitchFamily="34" charset="0"/>
                          <a:ea typeface="Calibri" pitchFamily="34" charset="-122"/>
                          <a:cs typeface="Calibri" pitchFamily="34" charset="-120"/>
                        </a:rPr>
                        <a:t>What it does</a:t>
                      </a:r>
                      <a:endParaRPr lang="en-US" sz="140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365760">
                <a:tc>
                  <a:txBody>
                    <a:bodyPr/>
                    <a:lstStyle/>
                    <a:p>
                      <a:pPr marL="0" indent="0" algn="l">
                        <a:buNone/>
                      </a:pPr>
                      <a:r>
                        <a:rPr lang="en-US" sz="1400" dirty="0">
                          <a:solidFill>
                            <a:srgbClr val="1F2937"/>
                          </a:solidFill>
                          <a:latin typeface="Consolas" pitchFamily="34" charset="0"/>
                          <a:ea typeface="Consolas" pitchFamily="34" charset="-122"/>
                          <a:cs typeface="Consolas" pitchFamily="34" charset="-120"/>
                        </a:rPr>
                        <a:t>whoami</a:t>
                      </a:r>
                      <a:endParaRPr lang="en-US" sz="1400" dirty="0">
                        <a:latin typeface="Consolas" charset="0"/>
                        <a:ea typeface="Consolas" charset="0"/>
                        <a:cs typeface="Consolas"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400" dirty="0">
                          <a:solidFill>
                            <a:srgbClr val="1F2937"/>
                          </a:solidFill>
                          <a:latin typeface="Calibri" pitchFamily="34" charset="0"/>
                          <a:ea typeface="Calibri" pitchFamily="34" charset="-122"/>
                          <a:cs typeface="Calibri" pitchFamily="34" charset="-120"/>
                        </a:rPr>
                        <a:t>Your username</a:t>
                      </a:r>
                      <a:endParaRPr lang="en-US" sz="140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65760">
                <a:tc>
                  <a:txBody>
                    <a:bodyPr/>
                    <a:lstStyle/>
                    <a:p>
                      <a:pPr marL="0" indent="0" algn="l">
                        <a:buNone/>
                      </a:pPr>
                      <a:r>
                        <a:rPr lang="en-US" sz="1400" dirty="0">
                          <a:solidFill>
                            <a:srgbClr val="1F2937"/>
                          </a:solidFill>
                          <a:latin typeface="Consolas" pitchFamily="34" charset="0"/>
                          <a:ea typeface="Consolas" pitchFamily="34" charset="-122"/>
                          <a:cs typeface="Consolas" pitchFamily="34" charset="-120"/>
                        </a:rPr>
                        <a:t>id</a:t>
                      </a:r>
                      <a:endParaRPr lang="en-US" sz="1400" dirty="0">
                        <a:latin typeface="Consolas" charset="0"/>
                        <a:ea typeface="Consolas" charset="0"/>
                        <a:cs typeface="Consolas"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400" dirty="0">
                          <a:solidFill>
                            <a:srgbClr val="1F2937"/>
                          </a:solidFill>
                          <a:latin typeface="Calibri" pitchFamily="34" charset="0"/>
                          <a:ea typeface="Calibri" pitchFamily="34" charset="-122"/>
                          <a:cs typeface="Calibri" pitchFamily="34" charset="-120"/>
                        </a:rPr>
                        <a:t>Your numeric IDs and group memberships</a:t>
                      </a:r>
                      <a:endParaRPr lang="en-US" sz="140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65760">
                <a:tc>
                  <a:txBody>
                    <a:bodyPr/>
                    <a:lstStyle/>
                    <a:p>
                      <a:pPr marL="0" indent="0" algn="l">
                        <a:buNone/>
                      </a:pPr>
                      <a:r>
                        <a:rPr lang="en-US" sz="1400" dirty="0">
                          <a:solidFill>
                            <a:srgbClr val="1F2937"/>
                          </a:solidFill>
                          <a:latin typeface="Consolas" pitchFamily="34" charset="0"/>
                          <a:ea typeface="Consolas" pitchFamily="34" charset="-122"/>
                          <a:cs typeface="Consolas" pitchFamily="34" charset="-120"/>
                        </a:rPr>
                        <a:t>sudo &lt;cmd&gt;</a:t>
                      </a:r>
                      <a:endParaRPr lang="en-US" sz="1400" dirty="0">
                        <a:latin typeface="Consolas" charset="0"/>
                        <a:ea typeface="Consolas" charset="0"/>
                        <a:cs typeface="Consolas"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400" dirty="0">
                          <a:solidFill>
                            <a:srgbClr val="1F2937"/>
                          </a:solidFill>
                          <a:latin typeface="Calibri" pitchFamily="34" charset="0"/>
                          <a:ea typeface="Calibri" pitchFamily="34" charset="-122"/>
                          <a:cs typeface="Calibri" pitchFamily="34" charset="-120"/>
                        </a:rPr>
                        <a:t>Run one command as root (your own password)</a:t>
                      </a:r>
                      <a:endParaRPr lang="en-US" sz="140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65760">
                <a:tc>
                  <a:txBody>
                    <a:bodyPr/>
                    <a:lstStyle/>
                    <a:p>
                      <a:pPr marL="0" indent="0" algn="l">
                        <a:buNone/>
                      </a:pPr>
                      <a:r>
                        <a:rPr lang="en-US" sz="1400" dirty="0">
                          <a:solidFill>
                            <a:srgbClr val="1F2937"/>
                          </a:solidFill>
                          <a:latin typeface="Consolas" pitchFamily="34" charset="0"/>
                          <a:ea typeface="Consolas" pitchFamily="34" charset="-122"/>
                          <a:cs typeface="Consolas" pitchFamily="34" charset="-120"/>
                        </a:rPr>
                        <a:t>sudo -i</a:t>
                      </a:r>
                      <a:endParaRPr lang="en-US" sz="1400" dirty="0">
                        <a:latin typeface="Consolas" charset="0"/>
                        <a:ea typeface="Consolas" charset="0"/>
                        <a:cs typeface="Consolas"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400" dirty="0">
                          <a:solidFill>
                            <a:srgbClr val="1F2937"/>
                          </a:solidFill>
                          <a:latin typeface="Calibri" pitchFamily="34" charset="0"/>
                          <a:ea typeface="Calibri" pitchFamily="34" charset="-122"/>
                          <a:cs typeface="Calibri" pitchFamily="34" charset="-120"/>
                        </a:rPr>
                        <a:t>Open an interactive root shell (exit to leave)</a:t>
                      </a:r>
                      <a:endParaRPr lang="en-US" sz="140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65760">
                <a:tc>
                  <a:txBody>
                    <a:bodyPr/>
                    <a:lstStyle/>
                    <a:p>
                      <a:pPr marL="0" indent="0" algn="l">
                        <a:buNone/>
                      </a:pPr>
                      <a:r>
                        <a:rPr lang="en-US" sz="1400" dirty="0">
                          <a:solidFill>
                            <a:srgbClr val="1F2937"/>
                          </a:solidFill>
                          <a:latin typeface="Consolas" pitchFamily="34" charset="0"/>
                          <a:ea typeface="Consolas" pitchFamily="34" charset="-122"/>
                          <a:cs typeface="Consolas" pitchFamily="34" charset="-120"/>
                        </a:rPr>
                        <a:t>sudo !!</a:t>
                      </a:r>
                      <a:endParaRPr lang="en-US" sz="1400" dirty="0">
                        <a:latin typeface="Consolas" charset="0"/>
                        <a:ea typeface="Consolas" charset="0"/>
                        <a:cs typeface="Consolas"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400" dirty="0">
                          <a:solidFill>
                            <a:srgbClr val="1F2937"/>
                          </a:solidFill>
                          <a:latin typeface="Calibri" pitchFamily="34" charset="0"/>
                          <a:ea typeface="Calibri" pitchFamily="34" charset="-122"/>
                          <a:cs typeface="Calibri" pitchFamily="34" charset="-120"/>
                        </a:rPr>
                        <a:t>Re-run the previous command with sudo</a:t>
                      </a:r>
                      <a:endParaRPr lang="en-US" sz="140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65760">
                <a:tc>
                  <a:txBody>
                    <a:bodyPr/>
                    <a:lstStyle/>
                    <a:p>
                      <a:pPr marL="0" indent="0" algn="l">
                        <a:buNone/>
                      </a:pPr>
                      <a:r>
                        <a:rPr lang="en-US" sz="1400" dirty="0">
                          <a:solidFill>
                            <a:srgbClr val="1F2937"/>
                          </a:solidFill>
                          <a:latin typeface="Consolas" pitchFamily="34" charset="0"/>
                          <a:ea typeface="Consolas" pitchFamily="34" charset="-122"/>
                          <a:cs typeface="Consolas" pitchFamily="34" charset="-120"/>
                        </a:rPr>
                        <a:t>sudo apt update</a:t>
                      </a:r>
                      <a:endParaRPr lang="en-US" sz="1400" dirty="0">
                        <a:latin typeface="Consolas" charset="0"/>
                        <a:ea typeface="Consolas" charset="0"/>
                        <a:cs typeface="Consolas"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400" dirty="0">
                          <a:solidFill>
                            <a:srgbClr val="1F2937"/>
                          </a:solidFill>
                          <a:latin typeface="Calibri" pitchFamily="34" charset="0"/>
                          <a:ea typeface="Calibri" pitchFamily="34" charset="-122"/>
                          <a:cs typeface="Calibri" pitchFamily="34" charset="-120"/>
                        </a:rPr>
                        <a:t>Refresh package list</a:t>
                      </a:r>
                      <a:endParaRPr lang="en-US" sz="140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65760">
                <a:tc>
                  <a:txBody>
                    <a:bodyPr/>
                    <a:lstStyle/>
                    <a:p>
                      <a:pPr marL="0" indent="0" algn="l">
                        <a:buNone/>
                      </a:pPr>
                      <a:r>
                        <a:rPr lang="en-US" sz="1400" dirty="0">
                          <a:solidFill>
                            <a:srgbClr val="1F2937"/>
                          </a:solidFill>
                          <a:latin typeface="Consolas" pitchFamily="34" charset="0"/>
                          <a:ea typeface="Consolas" pitchFamily="34" charset="-122"/>
                          <a:cs typeface="Consolas" pitchFamily="34" charset="-120"/>
                        </a:rPr>
                        <a:t>sudo apt install &lt;pkg&gt;</a:t>
                      </a:r>
                      <a:endParaRPr lang="en-US" sz="1400" dirty="0">
                        <a:latin typeface="Consolas" charset="0"/>
                        <a:ea typeface="Consolas" charset="0"/>
                        <a:cs typeface="Consolas"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400" dirty="0">
                          <a:solidFill>
                            <a:srgbClr val="1F2937"/>
                          </a:solidFill>
                          <a:latin typeface="Calibri" pitchFamily="34" charset="0"/>
                          <a:ea typeface="Calibri" pitchFamily="34" charset="-122"/>
                          <a:cs typeface="Calibri" pitchFamily="34" charset="-120"/>
                        </a:rPr>
                        <a:t>Install a package system-wide</a:t>
                      </a:r>
                      <a:endParaRPr lang="en-US" sz="140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bg>
      <p:bgPr>
        <a:solidFill>
          <a:srgbClr val="FFFFFF"/>
        </a:solidFill>
        <a:effectLst/>
      </p:bgPr>
    </p:bg>
    <p:spTree>
      <p:nvGrpSpPr>
        <p:cNvPr id="1" name=""/>
        <p:cNvGrpSpPr/>
        <p:nvPr/>
      </p:nvGrpSpPr>
      <p:grpSpPr>
        <a:xfrm>
          <a:off x="0" y="0"/>
          <a:ext cx="0" cy="0"/>
          <a:chOff x="0" y="0"/>
          <a:chExt cx="0" cy="0"/>
        </a:xfrm>
      </p:grpSpPr>
      <p:pic>
        <p:nvPicPr>
          <p:cNvPr id="118" name="Picture 117" descr="access-footer.jpg"/>
          <p:cNvPicPr>
            <a:picLocks noChangeAspect="1"/>
          </p:cNvPicPr>
          <p:nvPr/>
        </p:nvPicPr>
        <p:blipFill>
          <a:blip r:embed="rId3"/>
          <a:stretch>
            <a:fillRect/>
          </a:stretch>
        </p:blipFill>
        <p:spPr>
          <a:xfrm>
            <a:off x="0" y="0"/>
            <a:ext cx="9144000" cy="5143500"/>
          </a:xfrm>
          <a:prstGeom prst="rect">
            <a:avLst/>
          </a:prstGeom>
        </p:spPr>
      </p:pic>
      <p:sp>
        <p:nvSpPr>
          <p:cNvPr id="2" name="Text 0"/>
          <p:cNvSpPr/>
          <p:nvPr/>
        </p:nvSpPr>
        <p:spPr>
          <a:xfrm>
            <a:off x="457200" y="274320"/>
            <a:ext cx="8229600" cy="594360"/>
          </a:xfrm>
          <a:prstGeom prst="rect">
            <a:avLst/>
          </a:prstGeom>
          <a:solidFill>
            <a:srgbClr val="FFFFFF"/>
          </a:solidFill>
          <a:ln/>
        </p:spPr>
        <p:txBody>
          <a:bodyPr wrap="square" lIns="0" tIns="0" rIns="0" bIns="0" rtlCol="0" anchor="ctr"/>
          <a:lstStyle/>
          <a:p>
            <a:pPr marL="0" indent="0">
              <a:buNone/>
            </a:pPr>
            <a:r>
              <a:rPr lang="en-US" sz="2800" b="1" dirty="0">
                <a:solidFill>
                  <a:srgbClr val="1E2761"/>
                </a:solidFill>
                <a:latin typeface="Cambria" pitchFamily="34" charset="0"/>
                <a:ea typeface="Cambria" pitchFamily="34" charset="-122"/>
                <a:cs typeface="Cambria" pitchFamily="34" charset="-120"/>
              </a:rPr>
              <a:t>Cheat sheet — Environment &amp; paths</a:t>
            </a:r>
            <a:endParaRPr lang="en-US" sz="2800" dirty="0"/>
          </a:p>
        </p:txBody>
      </p:sp>
      <p:sp>
        <p:nvSpPr>
          <p:cNvPr id="3" name="Shape 1"/>
          <p:cNvSpPr/>
          <p:nvPr/>
        </p:nvSpPr>
        <p:spPr>
          <a:xfrm>
            <a:off x="457200" y="868680"/>
            <a:ext cx="548640" cy="36576"/>
          </a:xfrm>
          <a:prstGeom prst="rect">
            <a:avLst/>
          </a:prstGeom>
          <a:solidFill>
            <a:srgbClr val="1E2761"/>
          </a:solidFill>
          <a:ln w="12700">
            <a:solidFill>
              <a:srgbClr val="1E2761"/>
            </a:solidFill>
            <a:prstDash val="solid"/>
          </a:ln>
        </p:spPr>
        <p:txBody>
          <a:bodyPr/>
          <a:lstStyle/>
          <a:p>
            <a:endParaRPr lang="en-US"/>
          </a:p>
        </p:txBody>
      </p:sp>
      <p:graphicFrame>
        <p:nvGraphicFramePr>
          <p:cNvPr id="117"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3108960">
                  <a:extLst>
                    <a:ext uri="{9D8B030D-6E8A-4147-A177-3AD203B41FA5}">
                      <a16:colId xmlns:a16="http://schemas.microsoft.com/office/drawing/2014/main" val="20000"/>
                    </a:ext>
                  </a:extLst>
                </a:gridCol>
                <a:gridCol w="5120640">
                  <a:extLst>
                    <a:ext uri="{9D8B030D-6E8A-4147-A177-3AD203B41FA5}">
                      <a16:colId xmlns:a16="http://schemas.microsoft.com/office/drawing/2014/main" val="20001"/>
                    </a:ext>
                  </a:extLst>
                </a:gridCol>
              </a:tblGrid>
              <a:tr h="365760">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Command</a:t>
                      </a:r>
                      <a:endParaRPr lang="en-US" sz="120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What it does</a:t>
                      </a:r>
                      <a:endParaRPr lang="en-US" sz="120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365760">
                <a:tc>
                  <a:txBody>
                    <a:bodyPr/>
                    <a:lstStyle/>
                    <a:p>
                      <a:pPr marL="0" indent="0" algn="l">
                        <a:buNone/>
                      </a:pPr>
                      <a:r>
                        <a:rPr lang="en-US" sz="1200" dirty="0">
                          <a:solidFill>
                            <a:srgbClr val="1F2937"/>
                          </a:solidFill>
                          <a:latin typeface="Consolas" pitchFamily="34" charset="0"/>
                          <a:ea typeface="Consolas" pitchFamily="34" charset="-122"/>
                          <a:cs typeface="Consolas" pitchFamily="34" charset="-120"/>
                        </a:rPr>
                        <a:t>env</a:t>
                      </a:r>
                      <a:endParaRPr lang="en-US" sz="1200" dirty="0">
                        <a:latin typeface="Consolas" charset="0"/>
                        <a:ea typeface="Consolas" charset="0"/>
                        <a:cs typeface="Consolas"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7"/>
                          </a:solidFill>
                          <a:latin typeface="Calibri" pitchFamily="34" charset="0"/>
                          <a:ea typeface="Calibri" pitchFamily="34" charset="-122"/>
                          <a:cs typeface="Calibri" pitchFamily="34" charset="-120"/>
                        </a:rPr>
                        <a:t>List all environment variables</a:t>
                      </a:r>
                      <a:endParaRPr lang="en-US" sz="120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65760">
                <a:tc>
                  <a:txBody>
                    <a:bodyPr/>
                    <a:lstStyle/>
                    <a:p>
                      <a:pPr marL="0" indent="0" algn="l">
                        <a:buNone/>
                      </a:pPr>
                      <a:r>
                        <a:rPr lang="en-US" sz="1200" dirty="0">
                          <a:solidFill>
                            <a:srgbClr val="1F2937"/>
                          </a:solidFill>
                          <a:latin typeface="Consolas" pitchFamily="34" charset="0"/>
                          <a:ea typeface="Consolas" pitchFamily="34" charset="-122"/>
                          <a:cs typeface="Consolas" pitchFamily="34" charset="-120"/>
                        </a:rPr>
                        <a:t>echo $VAR</a:t>
                      </a:r>
                      <a:endParaRPr lang="en-US" sz="1200" dirty="0">
                        <a:latin typeface="Consolas" charset="0"/>
                        <a:ea typeface="Consolas" charset="0"/>
                        <a:cs typeface="Consolas"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7"/>
                          </a:solidFill>
                          <a:latin typeface="Calibri" pitchFamily="34" charset="0"/>
                          <a:ea typeface="Calibri" pitchFamily="34" charset="-122"/>
                          <a:cs typeface="Calibri" pitchFamily="34" charset="-120"/>
                        </a:rPr>
                        <a:t>Print one variable's value</a:t>
                      </a:r>
                      <a:endParaRPr lang="en-US" sz="120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65760">
                <a:tc>
                  <a:txBody>
                    <a:bodyPr/>
                    <a:lstStyle/>
                    <a:p>
                      <a:pPr marL="0" indent="0" algn="l">
                        <a:buNone/>
                      </a:pPr>
                      <a:r>
                        <a:rPr lang="en-US" sz="1200" dirty="0">
                          <a:solidFill>
                            <a:srgbClr val="1F2937"/>
                          </a:solidFill>
                          <a:latin typeface="Consolas" pitchFamily="34" charset="0"/>
                          <a:ea typeface="Consolas" pitchFamily="34" charset="-122"/>
                          <a:cs typeface="Consolas" pitchFamily="34" charset="-120"/>
                        </a:rPr>
                        <a:t>echo $PATH</a:t>
                      </a:r>
                      <a:endParaRPr lang="en-US" sz="1200" dirty="0">
                        <a:latin typeface="Consolas" charset="0"/>
                        <a:ea typeface="Consolas" charset="0"/>
                        <a:cs typeface="Consolas"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7"/>
                          </a:solidFill>
                          <a:latin typeface="Calibri" pitchFamily="34" charset="0"/>
                          <a:ea typeface="Calibri" pitchFamily="34" charset="-122"/>
                          <a:cs typeface="Calibri" pitchFamily="34" charset="-120"/>
                        </a:rPr>
                        <a:t>Show command search path</a:t>
                      </a:r>
                      <a:endParaRPr lang="en-US" sz="120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65760">
                <a:tc>
                  <a:txBody>
                    <a:bodyPr/>
                    <a:lstStyle/>
                    <a:p>
                      <a:pPr marL="0" indent="0" algn="l">
                        <a:buNone/>
                      </a:pPr>
                      <a:r>
                        <a:rPr lang="en-US" sz="1200" dirty="0">
                          <a:solidFill>
                            <a:srgbClr val="1F2937"/>
                          </a:solidFill>
                          <a:latin typeface="Consolas" pitchFamily="34" charset="0"/>
                          <a:ea typeface="Consolas" pitchFamily="34" charset="-122"/>
                          <a:cs typeface="Consolas" pitchFamily="34" charset="-120"/>
                        </a:rPr>
                        <a:t>which &lt;cmd&gt;</a:t>
                      </a:r>
                      <a:endParaRPr lang="en-US" sz="1200" dirty="0">
                        <a:latin typeface="Consolas" charset="0"/>
                        <a:ea typeface="Consolas" charset="0"/>
                        <a:cs typeface="Consolas"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7"/>
                          </a:solidFill>
                          <a:latin typeface="Calibri" pitchFamily="34" charset="0"/>
                          <a:ea typeface="Calibri" pitchFamily="34" charset="-122"/>
                          <a:cs typeface="Calibri" pitchFamily="34" charset="-120"/>
                        </a:rPr>
                        <a:t>Which PATH entry wins for a command</a:t>
                      </a:r>
                      <a:endParaRPr lang="en-US" sz="120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65760">
                <a:tc>
                  <a:txBody>
                    <a:bodyPr/>
                    <a:lstStyle/>
                    <a:p>
                      <a:pPr marL="0" indent="0" algn="l">
                        <a:buNone/>
                      </a:pPr>
                      <a:r>
                        <a:rPr lang="en-US" sz="1200" dirty="0">
                          <a:solidFill>
                            <a:srgbClr val="1F2937"/>
                          </a:solidFill>
                          <a:latin typeface="Consolas" pitchFamily="34" charset="0"/>
                          <a:ea typeface="Consolas" pitchFamily="34" charset="-122"/>
                          <a:cs typeface="Consolas" pitchFamily="34" charset="-120"/>
                        </a:rPr>
                        <a:t>export VAR=value</a:t>
                      </a:r>
                      <a:endParaRPr lang="en-US" sz="1200" dirty="0">
                        <a:latin typeface="Consolas" charset="0"/>
                        <a:ea typeface="Consolas" charset="0"/>
                        <a:cs typeface="Consolas"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7"/>
                          </a:solidFill>
                          <a:latin typeface="Calibri" pitchFamily="34" charset="0"/>
                          <a:ea typeface="Calibri" pitchFamily="34" charset="-122"/>
                          <a:cs typeface="Calibri" pitchFamily="34" charset="-120"/>
                        </a:rPr>
                        <a:t>Set a variable for this shell</a:t>
                      </a:r>
                      <a:endParaRPr lang="en-US" sz="120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65760">
                <a:tc>
                  <a:txBody>
                    <a:bodyPr/>
                    <a:lstStyle/>
                    <a:p>
                      <a:pPr marL="0" indent="0" algn="l">
                        <a:buNone/>
                      </a:pPr>
                      <a:r>
                        <a:rPr lang="en-US" sz="1200" dirty="0">
                          <a:solidFill>
                            <a:srgbClr val="1F2937"/>
                          </a:solidFill>
                          <a:latin typeface="Consolas" pitchFamily="34" charset="0"/>
                          <a:ea typeface="Consolas" pitchFamily="34" charset="-122"/>
                          <a:cs typeface="Consolas" pitchFamily="34" charset="-120"/>
                        </a:rPr>
                        <a:t>export PATH=$HOME/scripts:$PATH</a:t>
                      </a:r>
                      <a:endParaRPr lang="en-US" sz="1200" dirty="0">
                        <a:latin typeface="Consolas" charset="0"/>
                        <a:ea typeface="Consolas" charset="0"/>
                        <a:cs typeface="Consolas"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7"/>
                          </a:solidFill>
                          <a:latin typeface="Calibri" pitchFamily="34" charset="0"/>
                          <a:ea typeface="Calibri" pitchFamily="34" charset="-122"/>
                          <a:cs typeface="Calibri" pitchFamily="34" charset="-120"/>
                        </a:rPr>
                        <a:t>Prepend a directory to PATH</a:t>
                      </a:r>
                      <a:endParaRPr lang="en-US" sz="120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65760">
                <a:tc>
                  <a:txBody>
                    <a:bodyPr/>
                    <a:lstStyle/>
                    <a:p>
                      <a:pPr marL="0" indent="0" algn="l">
                        <a:buNone/>
                      </a:pPr>
                      <a:r>
                        <a:rPr lang="en-US" sz="1200" dirty="0">
                          <a:solidFill>
                            <a:srgbClr val="1F2937"/>
                          </a:solidFill>
                          <a:latin typeface="Consolas" pitchFamily="34" charset="0"/>
                          <a:ea typeface="Consolas" pitchFamily="34" charset="-122"/>
                          <a:cs typeface="Consolas" pitchFamily="34" charset="-120"/>
                        </a:rPr>
                        <a:t>ldd &lt;program&gt;</a:t>
                      </a:r>
                      <a:endParaRPr lang="en-US" sz="1200" dirty="0">
                        <a:latin typeface="Consolas" charset="0"/>
                        <a:ea typeface="Consolas" charset="0"/>
                        <a:cs typeface="Consolas"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7"/>
                          </a:solidFill>
                          <a:latin typeface="Calibri" pitchFamily="34" charset="0"/>
                          <a:ea typeface="Calibri" pitchFamily="34" charset="-122"/>
                          <a:cs typeface="Calibri" pitchFamily="34" charset="-120"/>
                        </a:rPr>
                        <a:t>List shared libraries a program needs</a:t>
                      </a:r>
                      <a:endParaRPr lang="en-US" sz="120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65760">
                <a:tc>
                  <a:txBody>
                    <a:bodyPr/>
                    <a:lstStyle/>
                    <a:p>
                      <a:pPr marL="0" indent="0" algn="l">
                        <a:buNone/>
                      </a:pPr>
                      <a:r>
                        <a:rPr lang="en-US" sz="1200" dirty="0">
                          <a:solidFill>
                            <a:srgbClr val="1F2937"/>
                          </a:solidFill>
                          <a:latin typeface="Consolas" pitchFamily="34" charset="0"/>
                          <a:ea typeface="Consolas" pitchFamily="34" charset="-122"/>
                          <a:cs typeface="Consolas" pitchFamily="34" charset="-120"/>
                        </a:rPr>
                        <a:t>LD_LIBRARY_PATH=/path ./prog</a:t>
                      </a:r>
                      <a:endParaRPr lang="en-US" sz="1200" dirty="0">
                        <a:latin typeface="Consolas" charset="0"/>
                        <a:ea typeface="Consolas" charset="0"/>
                        <a:cs typeface="Consolas"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7"/>
                          </a:solidFill>
                          <a:latin typeface="Calibri" pitchFamily="34" charset="0"/>
                          <a:ea typeface="Calibri" pitchFamily="34" charset="-122"/>
                          <a:cs typeface="Calibri" pitchFamily="34" charset="-120"/>
                        </a:rPr>
                        <a:t>Add a library dir, just for this run</a:t>
                      </a:r>
                      <a:endParaRPr lang="en-US" sz="120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365760">
                <a:tc>
                  <a:txBody>
                    <a:bodyPr/>
                    <a:lstStyle/>
                    <a:p>
                      <a:pPr marL="0" indent="0" algn="l">
                        <a:buNone/>
                      </a:pPr>
                      <a:r>
                        <a:rPr lang="en-US" sz="1200" dirty="0">
                          <a:solidFill>
                            <a:srgbClr val="1F2937"/>
                          </a:solidFill>
                          <a:latin typeface="Consolas" pitchFamily="34" charset="0"/>
                          <a:ea typeface="Consolas" pitchFamily="34" charset="-122"/>
                          <a:cs typeface="Consolas" pitchFamily="34" charset="-120"/>
                        </a:rPr>
                        <a:t>source ~/.bashrc</a:t>
                      </a:r>
                      <a:endParaRPr lang="en-US" sz="1200" dirty="0">
                        <a:latin typeface="Consolas" charset="0"/>
                        <a:ea typeface="Consolas" charset="0"/>
                        <a:cs typeface="Consolas"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7"/>
                          </a:solidFill>
                          <a:latin typeface="Calibri" pitchFamily="34" charset="0"/>
                          <a:ea typeface="Calibri" pitchFamily="34" charset="-122"/>
                          <a:cs typeface="Calibri" pitchFamily="34" charset="-120"/>
                        </a:rPr>
                        <a:t>Re-read shell config in current terminal</a:t>
                      </a:r>
                      <a:endParaRPr lang="en-US" sz="120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bl>
          </a:graphicData>
        </a:graphic>
      </p:graphicFrame>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bg>
      <p:bgPr>
        <a:solidFill>
          <a:srgbClr val="FFFFFF"/>
        </a:solidFill>
        <a:effectLst/>
      </p:bgPr>
    </p:bg>
    <p:spTree>
      <p:nvGrpSpPr>
        <p:cNvPr id="1" name=""/>
        <p:cNvGrpSpPr/>
        <p:nvPr/>
      </p:nvGrpSpPr>
      <p:grpSpPr>
        <a:xfrm>
          <a:off x="0" y="0"/>
          <a:ext cx="0" cy="0"/>
          <a:chOff x="0" y="0"/>
          <a:chExt cx="0" cy="0"/>
        </a:xfrm>
      </p:grpSpPr>
      <p:pic>
        <p:nvPicPr>
          <p:cNvPr id="119" name="Picture 118" descr="access-footer.jpg"/>
          <p:cNvPicPr>
            <a:picLocks noChangeAspect="1"/>
          </p:cNvPicPr>
          <p:nvPr/>
        </p:nvPicPr>
        <p:blipFill>
          <a:blip r:embed="rId3"/>
          <a:stretch>
            <a:fillRect/>
          </a:stretch>
        </p:blipFill>
        <p:spPr>
          <a:xfrm>
            <a:off x="0" y="0"/>
            <a:ext cx="9144000" cy="5143500"/>
          </a:xfrm>
          <a:prstGeom prst="rect">
            <a:avLst/>
          </a:prstGeom>
        </p:spPr>
      </p:pic>
      <p:sp>
        <p:nvSpPr>
          <p:cNvPr id="2" name="Text 0"/>
          <p:cNvSpPr/>
          <p:nvPr/>
        </p:nvSpPr>
        <p:spPr>
          <a:xfrm>
            <a:off x="457200" y="274320"/>
            <a:ext cx="8229600" cy="594360"/>
          </a:xfrm>
          <a:prstGeom prst="rect">
            <a:avLst/>
          </a:prstGeom>
          <a:solidFill>
            <a:srgbClr val="FFFFFF"/>
          </a:solidFill>
          <a:ln/>
        </p:spPr>
        <p:txBody>
          <a:bodyPr wrap="square" lIns="0" tIns="0" rIns="0" bIns="0" rtlCol="0" anchor="ctr"/>
          <a:lstStyle/>
          <a:p>
            <a:pPr marL="0" indent="0">
              <a:buNone/>
            </a:pPr>
            <a:r>
              <a:rPr lang="en-US" sz="2800" b="1" dirty="0">
                <a:solidFill>
                  <a:srgbClr val="1E2761"/>
                </a:solidFill>
                <a:latin typeface="Cambria" pitchFamily="34" charset="0"/>
                <a:ea typeface="Cambria" pitchFamily="34" charset="-122"/>
                <a:cs typeface="Cambria" pitchFamily="34" charset="-120"/>
              </a:rPr>
              <a:t>Cheat sheet — Python virtual environments</a:t>
            </a:r>
            <a:endParaRPr lang="en-US" sz="2800" dirty="0"/>
          </a:p>
        </p:txBody>
      </p:sp>
      <p:sp>
        <p:nvSpPr>
          <p:cNvPr id="3" name="Shape 1"/>
          <p:cNvSpPr/>
          <p:nvPr/>
        </p:nvSpPr>
        <p:spPr>
          <a:xfrm>
            <a:off x="457200" y="868680"/>
            <a:ext cx="548640" cy="36576"/>
          </a:xfrm>
          <a:prstGeom prst="rect">
            <a:avLst/>
          </a:prstGeom>
          <a:solidFill>
            <a:srgbClr val="1E2761"/>
          </a:solidFill>
          <a:ln w="12700">
            <a:solidFill>
              <a:srgbClr val="1E2761"/>
            </a:solidFill>
            <a:prstDash val="solid"/>
          </a:ln>
        </p:spPr>
        <p:txBody>
          <a:bodyPr/>
          <a:lstStyle/>
          <a:p>
            <a:endParaRPr lang="en-US"/>
          </a:p>
        </p:txBody>
      </p:sp>
      <p:graphicFrame>
        <p:nvGraphicFramePr>
          <p:cNvPr id="11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3108960">
                  <a:extLst>
                    <a:ext uri="{9D8B030D-6E8A-4147-A177-3AD203B41FA5}">
                      <a16:colId xmlns:a16="http://schemas.microsoft.com/office/drawing/2014/main" val="20000"/>
                    </a:ext>
                  </a:extLst>
                </a:gridCol>
                <a:gridCol w="5120640">
                  <a:extLst>
                    <a:ext uri="{9D8B030D-6E8A-4147-A177-3AD203B41FA5}">
                      <a16:colId xmlns:a16="http://schemas.microsoft.com/office/drawing/2014/main" val="20001"/>
                    </a:ext>
                  </a:extLst>
                </a:gridCol>
              </a:tblGrid>
              <a:tr h="365760">
                <a:tc>
                  <a:txBody>
                    <a:bodyPr/>
                    <a:lstStyle/>
                    <a:p>
                      <a:pPr marL="0" indent="0" algn="l">
                        <a:buNone/>
                      </a:pPr>
                      <a:r>
                        <a:rPr lang="en-US" sz="1400" b="1" dirty="0">
                          <a:solidFill>
                            <a:srgbClr val="FFFFFF"/>
                          </a:solidFill>
                          <a:latin typeface="Calibri" pitchFamily="34" charset="0"/>
                          <a:ea typeface="Calibri" pitchFamily="34" charset="-122"/>
                          <a:cs typeface="Calibri" pitchFamily="34" charset="-120"/>
                        </a:rPr>
                        <a:t>Command</a:t>
                      </a:r>
                      <a:endParaRPr lang="en-US" sz="140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400" b="1" dirty="0">
                          <a:solidFill>
                            <a:srgbClr val="FFFFFF"/>
                          </a:solidFill>
                          <a:latin typeface="Calibri" pitchFamily="34" charset="0"/>
                          <a:ea typeface="Calibri" pitchFamily="34" charset="-122"/>
                          <a:cs typeface="Calibri" pitchFamily="34" charset="-120"/>
                        </a:rPr>
                        <a:t>What it does</a:t>
                      </a:r>
                      <a:endParaRPr lang="en-US" sz="140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365760">
                <a:tc>
                  <a:txBody>
                    <a:bodyPr/>
                    <a:lstStyle/>
                    <a:p>
                      <a:pPr marL="0" indent="0" algn="l">
                        <a:buNone/>
                      </a:pPr>
                      <a:r>
                        <a:rPr lang="en-US" sz="1400" dirty="0">
                          <a:solidFill>
                            <a:srgbClr val="1F2937"/>
                          </a:solidFill>
                          <a:latin typeface="Consolas" pitchFamily="34" charset="0"/>
                          <a:ea typeface="Consolas" pitchFamily="34" charset="-122"/>
                          <a:cs typeface="Consolas" pitchFamily="34" charset="-120"/>
                        </a:rPr>
                        <a:t>sudo apt install python3-venv python3-pip</a:t>
                      </a:r>
                      <a:endParaRPr lang="en-US" sz="1400" dirty="0">
                        <a:latin typeface="Consolas" charset="0"/>
                        <a:ea typeface="Consolas" charset="0"/>
                        <a:cs typeface="Consolas"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400" dirty="0">
                          <a:solidFill>
                            <a:srgbClr val="1F2937"/>
                          </a:solidFill>
                          <a:latin typeface="Calibri" pitchFamily="34" charset="0"/>
                          <a:ea typeface="Calibri" pitchFamily="34" charset="-122"/>
                          <a:cs typeface="Calibri" pitchFamily="34" charset="-120"/>
                        </a:rPr>
                        <a:t>One-time install per VM</a:t>
                      </a:r>
                      <a:endParaRPr lang="en-US" sz="140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65760">
                <a:tc>
                  <a:txBody>
                    <a:bodyPr/>
                    <a:lstStyle/>
                    <a:p>
                      <a:pPr marL="0" indent="0" algn="l">
                        <a:buNone/>
                      </a:pPr>
                      <a:r>
                        <a:rPr lang="en-US" sz="1400" dirty="0">
                          <a:solidFill>
                            <a:srgbClr val="1F2937"/>
                          </a:solidFill>
                          <a:latin typeface="Consolas" pitchFamily="34" charset="0"/>
                          <a:ea typeface="Consolas" pitchFamily="34" charset="-122"/>
                          <a:cs typeface="Consolas" pitchFamily="34" charset="-120"/>
                        </a:rPr>
                        <a:t>python3 -m venv &lt;name&gt;</a:t>
                      </a:r>
                      <a:endParaRPr lang="en-US" sz="1400" dirty="0">
                        <a:latin typeface="Consolas" charset="0"/>
                        <a:ea typeface="Consolas" charset="0"/>
                        <a:cs typeface="Consolas"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400" dirty="0">
                          <a:solidFill>
                            <a:srgbClr val="1F2937"/>
                          </a:solidFill>
                          <a:latin typeface="Calibri" pitchFamily="34" charset="0"/>
                          <a:ea typeface="Calibri" pitchFamily="34" charset="-122"/>
                          <a:cs typeface="Calibri" pitchFamily="34" charset="-120"/>
                        </a:rPr>
                        <a:t>Create a venv in directory &lt;name&gt;</a:t>
                      </a:r>
                      <a:endParaRPr lang="en-US" sz="140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65760">
                <a:tc>
                  <a:txBody>
                    <a:bodyPr/>
                    <a:lstStyle/>
                    <a:p>
                      <a:pPr marL="0" indent="0" algn="l">
                        <a:buNone/>
                      </a:pPr>
                      <a:r>
                        <a:rPr lang="en-US" sz="1400" dirty="0">
                          <a:solidFill>
                            <a:srgbClr val="1F2937"/>
                          </a:solidFill>
                          <a:latin typeface="Consolas" pitchFamily="34" charset="0"/>
                          <a:ea typeface="Consolas" pitchFamily="34" charset="-122"/>
                          <a:cs typeface="Consolas" pitchFamily="34" charset="-120"/>
                        </a:rPr>
                        <a:t>source &lt;name&gt;/bin/activate</a:t>
                      </a:r>
                      <a:endParaRPr lang="en-US" sz="1400" dirty="0">
                        <a:latin typeface="Consolas" charset="0"/>
                        <a:ea typeface="Consolas" charset="0"/>
                        <a:cs typeface="Consolas"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400" dirty="0">
                          <a:solidFill>
                            <a:srgbClr val="1F2937"/>
                          </a:solidFill>
                          <a:latin typeface="Calibri" pitchFamily="34" charset="0"/>
                          <a:ea typeface="Calibri" pitchFamily="34" charset="-122"/>
                          <a:cs typeface="Calibri" pitchFamily="34" charset="-120"/>
                        </a:rPr>
                        <a:t>Activate it</a:t>
                      </a:r>
                      <a:endParaRPr lang="en-US" sz="140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65760">
                <a:tc>
                  <a:txBody>
                    <a:bodyPr/>
                    <a:lstStyle/>
                    <a:p>
                      <a:pPr marL="0" indent="0" algn="l">
                        <a:buNone/>
                      </a:pPr>
                      <a:r>
                        <a:rPr lang="en-US" sz="1400" dirty="0">
                          <a:solidFill>
                            <a:srgbClr val="1F2937"/>
                          </a:solidFill>
                          <a:latin typeface="Consolas" pitchFamily="34" charset="0"/>
                          <a:ea typeface="Consolas" pitchFamily="34" charset="-122"/>
                          <a:cs typeface="Consolas" pitchFamily="34" charset="-120"/>
                        </a:rPr>
                        <a:t>pip install &lt;pkg&gt;</a:t>
                      </a:r>
                      <a:endParaRPr lang="en-US" sz="1400" dirty="0">
                        <a:latin typeface="Consolas" charset="0"/>
                        <a:ea typeface="Consolas" charset="0"/>
                        <a:cs typeface="Consolas"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400" dirty="0">
                          <a:solidFill>
                            <a:srgbClr val="1F2937"/>
                          </a:solidFill>
                          <a:latin typeface="Calibri" pitchFamily="34" charset="0"/>
                          <a:ea typeface="Calibri" pitchFamily="34" charset="-122"/>
                          <a:cs typeface="Calibri" pitchFamily="34" charset="-120"/>
                        </a:rPr>
                        <a:t>Install into the active venv</a:t>
                      </a:r>
                      <a:endParaRPr lang="en-US" sz="140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65760">
                <a:tc>
                  <a:txBody>
                    <a:bodyPr/>
                    <a:lstStyle/>
                    <a:p>
                      <a:pPr marL="0" indent="0" algn="l">
                        <a:buNone/>
                      </a:pPr>
                      <a:r>
                        <a:rPr lang="en-US" sz="1400" dirty="0">
                          <a:solidFill>
                            <a:srgbClr val="1F2937"/>
                          </a:solidFill>
                          <a:latin typeface="Consolas" pitchFamily="34" charset="0"/>
                          <a:ea typeface="Consolas" pitchFamily="34" charset="-122"/>
                          <a:cs typeface="Consolas" pitchFamily="34" charset="-120"/>
                        </a:rPr>
                        <a:t>pip list</a:t>
                      </a:r>
                      <a:endParaRPr lang="en-US" sz="1400" dirty="0">
                        <a:latin typeface="Consolas" charset="0"/>
                        <a:ea typeface="Consolas" charset="0"/>
                        <a:cs typeface="Consolas"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400" dirty="0">
                          <a:solidFill>
                            <a:srgbClr val="1F2937"/>
                          </a:solidFill>
                          <a:latin typeface="Calibri" pitchFamily="34" charset="0"/>
                          <a:ea typeface="Calibri" pitchFamily="34" charset="-122"/>
                          <a:cs typeface="Calibri" pitchFamily="34" charset="-120"/>
                        </a:rPr>
                        <a:t>Show what's installed</a:t>
                      </a:r>
                      <a:endParaRPr lang="en-US" sz="140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65760">
                <a:tc>
                  <a:txBody>
                    <a:bodyPr/>
                    <a:lstStyle/>
                    <a:p>
                      <a:pPr marL="0" indent="0" algn="l">
                        <a:buNone/>
                      </a:pPr>
                      <a:r>
                        <a:rPr lang="en-US" sz="1400" dirty="0">
                          <a:solidFill>
                            <a:srgbClr val="1F2937"/>
                          </a:solidFill>
                          <a:latin typeface="Consolas" pitchFamily="34" charset="0"/>
                          <a:ea typeface="Consolas" pitchFamily="34" charset="-122"/>
                          <a:cs typeface="Consolas" pitchFamily="34" charset="-120"/>
                        </a:rPr>
                        <a:t>pip install -r requirements.txt</a:t>
                      </a:r>
                      <a:endParaRPr lang="en-US" sz="1400" dirty="0">
                        <a:latin typeface="Consolas" charset="0"/>
                        <a:ea typeface="Consolas" charset="0"/>
                        <a:cs typeface="Consolas"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400" dirty="0">
                          <a:solidFill>
                            <a:srgbClr val="1F2937"/>
                          </a:solidFill>
                          <a:latin typeface="Calibri" pitchFamily="34" charset="0"/>
                          <a:ea typeface="Calibri" pitchFamily="34" charset="-122"/>
                          <a:cs typeface="Calibri" pitchFamily="34" charset="-120"/>
                        </a:rPr>
                        <a:t>Install from a requirements file</a:t>
                      </a:r>
                      <a:endParaRPr lang="en-US" sz="140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65760">
                <a:tc>
                  <a:txBody>
                    <a:bodyPr/>
                    <a:lstStyle/>
                    <a:p>
                      <a:pPr marL="0" indent="0" algn="l">
                        <a:buNone/>
                      </a:pPr>
                      <a:r>
                        <a:rPr lang="en-US" sz="1400" dirty="0">
                          <a:solidFill>
                            <a:srgbClr val="1F2937"/>
                          </a:solidFill>
                          <a:latin typeface="Consolas" pitchFamily="34" charset="0"/>
                          <a:ea typeface="Consolas" pitchFamily="34" charset="-122"/>
                          <a:cs typeface="Consolas" pitchFamily="34" charset="-120"/>
                        </a:rPr>
                        <a:t>deactivate</a:t>
                      </a:r>
                      <a:endParaRPr lang="en-US" sz="1400" dirty="0">
                        <a:latin typeface="Consolas" charset="0"/>
                        <a:ea typeface="Consolas" charset="0"/>
                        <a:cs typeface="Consolas"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400" dirty="0">
                          <a:solidFill>
                            <a:srgbClr val="1F2937"/>
                          </a:solidFill>
                          <a:latin typeface="Calibri" pitchFamily="34" charset="0"/>
                          <a:ea typeface="Calibri" pitchFamily="34" charset="-122"/>
                          <a:cs typeface="Calibri" pitchFamily="34" charset="-120"/>
                        </a:rPr>
                        <a:t>Leave the venv</a:t>
                      </a:r>
                      <a:endParaRPr lang="en-US" sz="140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bg>
      <p:bgPr>
        <a:solidFill>
          <a:srgbClr val="FFFFFF"/>
        </a:solidFill>
        <a:effectLst/>
      </p:bgPr>
    </p:bg>
    <p:spTree>
      <p:nvGrpSpPr>
        <p:cNvPr id="1" name=""/>
        <p:cNvGrpSpPr/>
        <p:nvPr/>
      </p:nvGrpSpPr>
      <p:grpSpPr>
        <a:xfrm>
          <a:off x="0" y="0"/>
          <a:ext cx="0" cy="0"/>
          <a:chOff x="0" y="0"/>
          <a:chExt cx="0" cy="0"/>
        </a:xfrm>
      </p:grpSpPr>
      <p:pic>
        <p:nvPicPr>
          <p:cNvPr id="5" name="Picture 4" descr="access-footer.jpg"/>
          <p:cNvPicPr>
            <a:picLocks noChangeAspect="1"/>
          </p:cNvPicPr>
          <p:nvPr/>
        </p:nvPicPr>
        <p:blipFill>
          <a:blip r:embed="rId3"/>
          <a:stretch>
            <a:fillRect/>
          </a:stretch>
        </p:blipFill>
        <p:spPr>
          <a:xfrm>
            <a:off x="0" y="0"/>
            <a:ext cx="9144000" cy="5143500"/>
          </a:xfrm>
          <a:prstGeom prst="rect">
            <a:avLst/>
          </a:prstGeom>
        </p:spPr>
      </p:pic>
      <p:sp>
        <p:nvSpPr>
          <p:cNvPr id="2" name="Text 0"/>
          <p:cNvSpPr/>
          <p:nvPr/>
        </p:nvSpPr>
        <p:spPr>
          <a:xfrm>
            <a:off x="457200" y="274320"/>
            <a:ext cx="8229600" cy="594360"/>
          </a:xfrm>
          <a:prstGeom prst="rect">
            <a:avLst/>
          </a:prstGeom>
          <a:solidFill>
            <a:srgbClr val="FFFFFF"/>
          </a:solidFill>
          <a:ln/>
        </p:spPr>
        <p:txBody>
          <a:bodyPr wrap="square" lIns="0" tIns="0" rIns="0" bIns="0" rtlCol="0" anchor="ctr"/>
          <a:lstStyle/>
          <a:p>
            <a:pPr marL="0" indent="0">
              <a:buNone/>
            </a:pPr>
            <a:r>
              <a:rPr lang="en-US" sz="2800" b="1" dirty="0">
                <a:solidFill>
                  <a:srgbClr val="1E2761"/>
                </a:solidFill>
                <a:latin typeface="Cambria" pitchFamily="34" charset="0"/>
                <a:ea typeface="Cambria" pitchFamily="34" charset="-122"/>
                <a:cs typeface="Cambria" pitchFamily="34" charset="-120"/>
              </a:rPr>
              <a:t>Resources to keep going</a:t>
            </a:r>
            <a:endParaRPr lang="en-US" sz="2800" dirty="0"/>
          </a:p>
        </p:txBody>
      </p:sp>
      <p:sp>
        <p:nvSpPr>
          <p:cNvPr id="3" name="Shape 1"/>
          <p:cNvSpPr/>
          <p:nvPr/>
        </p:nvSpPr>
        <p:spPr>
          <a:xfrm>
            <a:off x="457200" y="868680"/>
            <a:ext cx="548640" cy="36576"/>
          </a:xfrm>
          <a:prstGeom prst="rect">
            <a:avLst/>
          </a:prstGeom>
          <a:solidFill>
            <a:srgbClr val="1E2761"/>
          </a:solidFill>
          <a:ln w="12700">
            <a:solidFill>
              <a:srgbClr val="1E2761"/>
            </a:solidFill>
            <a:prstDash val="solid"/>
          </a:ln>
        </p:spPr>
        <p:txBody>
          <a:bodyPr/>
          <a:lstStyle/>
          <a:p>
            <a:endParaRPr lang="en-US"/>
          </a:p>
        </p:txBody>
      </p:sp>
      <p:sp>
        <p:nvSpPr>
          <p:cNvPr id="4" name="Text 2"/>
          <p:cNvSpPr/>
          <p:nvPr/>
        </p:nvSpPr>
        <p:spPr>
          <a:xfrm>
            <a:off x="548640" y="1005840"/>
            <a:ext cx="8046720" cy="1346200"/>
          </a:xfrm>
          <a:prstGeom prst="rect">
            <a:avLst/>
          </a:prstGeom>
          <a:solidFill>
            <a:srgbClr val="FFFFFF"/>
          </a:solidFill>
          <a:ln/>
        </p:spPr>
        <p:txBody>
          <a:bodyPr wrap="square" lIns="0" tIns="0" rIns="0" bIns="0" rtlCol="0" anchor="t"/>
          <a:lstStyle/>
          <a:p>
            <a:pPr marL="228600" indent="-228600">
              <a:spcAft>
                <a:spcPts val="600"/>
              </a:spcAft>
              <a:buSzPct val="100000"/>
              <a:buChar char="■"/>
            </a:pPr>
            <a:r>
              <a:rPr lang="en-US" sz="1400" b="1" dirty="0">
                <a:solidFill>
                  <a:srgbClr val="1F2937"/>
                </a:solidFill>
                <a:latin typeface="Calibri" pitchFamily="34" charset="0"/>
                <a:ea typeface="Calibri" pitchFamily="34" charset="-122"/>
                <a:cs typeface="Calibri" pitchFamily="34" charset="-120"/>
              </a:rPr>
              <a:t>Software Carpentry — The Unix Shell</a:t>
            </a:r>
            <a:r>
              <a:rPr lang="en-US" sz="1400" dirty="0">
                <a:solidFill>
                  <a:srgbClr val="1F2937"/>
                </a:solidFill>
                <a:latin typeface="Calibri" pitchFamily="34" charset="0"/>
                <a:ea typeface="Calibri" pitchFamily="34" charset="-122"/>
                <a:cs typeface="Calibri" pitchFamily="34" charset="-120"/>
              </a:rPr>
              <a:t>   swcarpentry.github.io/shell-novice</a:t>
            </a:r>
            <a:endParaRPr lang="en-US" sz="1400" dirty="0"/>
          </a:p>
          <a:p>
            <a:pPr marL="228600" indent="-228600">
              <a:spcAft>
                <a:spcPts val="600"/>
              </a:spcAft>
              <a:buSzPct val="100000"/>
              <a:buChar char="■"/>
            </a:pPr>
            <a:r>
              <a:rPr lang="en-US" sz="1400" b="1" dirty="0">
                <a:solidFill>
                  <a:srgbClr val="1F2937"/>
                </a:solidFill>
                <a:latin typeface="Calibri" pitchFamily="34" charset="0"/>
                <a:ea typeface="Calibri" pitchFamily="34" charset="-122"/>
                <a:cs typeface="Calibri" pitchFamily="34" charset="-120"/>
              </a:rPr>
              <a:t>MIT — The Missing Semester of Your CS Education</a:t>
            </a:r>
            <a:r>
              <a:rPr lang="en-US" sz="1400" dirty="0">
                <a:solidFill>
                  <a:srgbClr val="1F2937"/>
                </a:solidFill>
                <a:latin typeface="Calibri" pitchFamily="34" charset="0"/>
                <a:ea typeface="Calibri" pitchFamily="34" charset="-122"/>
                <a:cs typeface="Calibri" pitchFamily="34" charset="-120"/>
              </a:rPr>
              <a:t>   missing.csail.mit.edu</a:t>
            </a:r>
            <a:endParaRPr lang="en-US" sz="1400" dirty="0"/>
          </a:p>
          <a:p>
            <a:pPr marL="228600" indent="-228600">
              <a:spcAft>
                <a:spcPts val="600"/>
              </a:spcAft>
              <a:buSzPct val="100000"/>
              <a:buChar char="■"/>
            </a:pPr>
            <a:r>
              <a:rPr lang="en-US" sz="1400" b="1" dirty="0">
                <a:solidFill>
                  <a:srgbClr val="1F2937"/>
                </a:solidFill>
                <a:latin typeface="Calibri" pitchFamily="34" charset="0"/>
                <a:ea typeface="Calibri" pitchFamily="34" charset="-122"/>
                <a:cs typeface="Calibri" pitchFamily="34" charset="-120"/>
              </a:rPr>
              <a:t>Ubuntu command-line tutorial</a:t>
            </a:r>
            <a:r>
              <a:rPr lang="en-US" sz="1400" dirty="0">
                <a:solidFill>
                  <a:srgbClr val="1F2937"/>
                </a:solidFill>
                <a:latin typeface="Calibri" pitchFamily="34" charset="0"/>
                <a:ea typeface="Calibri" pitchFamily="34" charset="-122"/>
                <a:cs typeface="Calibri" pitchFamily="34" charset="-120"/>
              </a:rPr>
              <a:t>   ubuntu.com/tutorials/command-line-for-beginners</a:t>
            </a:r>
            <a:endParaRPr lang="en-US" sz="1400" dirty="0"/>
          </a:p>
          <a:p>
            <a:pPr marL="228600" indent="-228600">
              <a:spcAft>
                <a:spcPts val="600"/>
              </a:spcAft>
              <a:buSzPct val="100000"/>
              <a:buChar char="■"/>
            </a:pPr>
            <a:r>
              <a:rPr lang="en-US" sz="1400" b="1" dirty="0">
                <a:solidFill>
                  <a:srgbClr val="1F2937"/>
                </a:solidFill>
                <a:latin typeface="Calibri" pitchFamily="34" charset="0"/>
                <a:ea typeface="Calibri" pitchFamily="34" charset="-122"/>
                <a:cs typeface="Calibri" pitchFamily="34" charset="-120"/>
              </a:rPr>
              <a:t>explainshell.com</a:t>
            </a:r>
            <a:r>
              <a:rPr lang="en-US" sz="1400" dirty="0">
                <a:solidFill>
                  <a:srgbClr val="1F2937"/>
                </a:solidFill>
                <a:latin typeface="Calibri" pitchFamily="34" charset="0"/>
                <a:ea typeface="Calibri" pitchFamily="34" charset="-122"/>
                <a:cs typeface="Calibri" pitchFamily="34" charset="-120"/>
              </a:rPr>
              <a:t> — paste any command, see it annotated</a:t>
            </a:r>
            <a:endParaRPr lang="en-US" sz="1400"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2D675C-6B12-7367-FA70-A10CCC7F9A02}"/>
              </a:ext>
            </a:extLst>
          </p:cNvPr>
          <p:cNvSpPr>
            <a:spLocks noGrp="1"/>
          </p:cNvSpPr>
          <p:nvPr>
            <p:ph type="title"/>
          </p:nvPr>
        </p:nvSpPr>
        <p:spPr>
          <a:xfrm>
            <a:off x="1025525" y="1849306"/>
            <a:ext cx="7092950" cy="1947779"/>
          </a:xfrm>
        </p:spPr>
        <p:txBody>
          <a:bodyPr>
            <a:noAutofit/>
          </a:bodyPr>
          <a:lstStyle/>
          <a:p>
            <a:r>
              <a:rPr lang="en-US" sz="2000" b="1" dirty="0">
                <a:latin typeface="+mn-lt"/>
              </a:rPr>
              <a:t>This material is based upon work supported by the National Science Foundation under Grant No. 2138307. Any opinions, findings, and conclusions or recommendations expressed in this material are those of the authors and do not necessarily reflect the views of the National Science Foundation.</a:t>
            </a:r>
          </a:p>
        </p:txBody>
      </p:sp>
    </p:spTree>
    <p:extLst>
      <p:ext uri="{BB962C8B-B14F-4D97-AF65-F5344CB8AC3E}">
        <p14:creationId xmlns:p14="http://schemas.microsoft.com/office/powerpoint/2010/main" val="2223363963"/>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19">
    <p:bg>
      <p:bgPr>
        <a:solidFill>
          <a:srgbClr val="FFFFFF"/>
        </a:solidFill>
        <a:effectLst/>
      </p:bgPr>
    </p:bg>
    <p:spTree>
      <p:nvGrpSpPr>
        <p:cNvPr id="1" name=""/>
        <p:cNvGrpSpPr/>
        <p:nvPr/>
      </p:nvGrpSpPr>
      <p:grpSpPr>
        <a:xfrm>
          <a:off x="0" y="0"/>
          <a:ext cx="0" cy="0"/>
          <a:chOff x="0" y="0"/>
          <a:chExt cx="0" cy="0"/>
        </a:xfrm>
      </p:grpSpPr>
      <p:pic>
        <p:nvPicPr>
          <p:cNvPr id="4" name="Picture 3" descr="access-footer.jpg"/>
          <p:cNvPicPr>
            <a:picLocks noChangeAspect="1"/>
          </p:cNvPicPr>
          <p:nvPr/>
        </p:nvPicPr>
        <p:blipFill>
          <a:blip r:embed="rId3"/>
          <a:stretch>
            <a:fillRect/>
          </a:stretch>
        </p:blipFill>
        <p:spPr>
          <a:xfrm>
            <a:off x="0" y="0"/>
            <a:ext cx="9144000" cy="5143500"/>
          </a:xfrm>
          <a:prstGeom prst="rect">
            <a:avLst/>
          </a:prstGeom>
        </p:spPr>
      </p:pic>
      <p:sp>
        <p:nvSpPr>
          <p:cNvPr id="2" name="Text 0"/>
          <p:cNvSpPr/>
          <p:nvPr/>
        </p:nvSpPr>
        <p:spPr>
          <a:xfrm>
            <a:off x="457200" y="274320"/>
            <a:ext cx="8229600" cy="594360"/>
          </a:xfrm>
          <a:prstGeom prst="rect">
            <a:avLst/>
          </a:prstGeom>
          <a:solidFill>
            <a:srgbClr val="FFFFFF"/>
          </a:solidFill>
          <a:ln/>
        </p:spPr>
        <p:txBody>
          <a:bodyPr wrap="square" lIns="0" tIns="0" rIns="0" bIns="0" rtlCol="0" anchor="ctr"/>
          <a:lstStyle/>
          <a:p>
            <a:pPr marL="0" indent="0">
              <a:buNone/>
            </a:pPr>
            <a:r>
              <a:rPr lang="en-US" sz="2800" b="1" dirty="0">
                <a:solidFill>
                  <a:srgbClr val="1E2761"/>
                </a:solidFill>
                <a:latin typeface="Cambria" pitchFamily="34" charset="0"/>
                <a:ea typeface="Cambria" pitchFamily="34" charset="-122"/>
                <a:cs typeface="Cambria" pitchFamily="34" charset="-120"/>
              </a:rPr>
              <a:t>Questions?</a:t>
            </a:r>
            <a:endParaRPr lang="en-US" sz="2800" dirty="0"/>
          </a:p>
        </p:txBody>
      </p:sp>
      <p:sp>
        <p:nvSpPr>
          <p:cNvPr id="3" name="Shape 1"/>
          <p:cNvSpPr/>
          <p:nvPr/>
        </p:nvSpPr>
        <p:spPr>
          <a:xfrm>
            <a:off x="457200" y="868680"/>
            <a:ext cx="548640" cy="36576"/>
          </a:xfrm>
          <a:prstGeom prst="rect">
            <a:avLst/>
          </a:prstGeom>
          <a:solidFill>
            <a:srgbClr val="1E2761"/>
          </a:solidFill>
          <a:ln w="12700">
            <a:solidFill>
              <a:srgbClr val="1E2761"/>
            </a:solidFill>
            <a:prstDash val="solid"/>
          </a:ln>
        </p:spPr>
        <p:txBody>
          <a:bodyPr/>
          <a:lstStyle/>
          <a:p>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ACCESS - ALL">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noFill/>
      </a:spPr>
      <a:bodyPr wrap="square" rtlCol="0">
        <a:spAutoFit/>
      </a:bodyPr>
      <a:lstStyle>
        <a:defPPr algn="l">
          <a:defRPr dirty="0"/>
        </a:defPPr>
      </a:lstStyle>
    </a:txDef>
  </a:objectDefaults>
  <a:extraClrSchemeLst/>
  <a:extLst>
    <a:ext uri="{05A4C25C-085E-4340-85A3-A5531E510DB2}">
      <thm15:themeFamily xmlns:thm15="http://schemas.microsoft.com/office/thememl/2012/main" name="Presentation2" id="{FDF50074-E96F-584D-A4C1-B7C358C7C5C1}" vid="{E294992B-F794-594E-8829-C972ED2B54C7}"/>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TotalTime>
  <Words>7758</Words>
  <Application>Microsoft Macintosh PowerPoint</Application>
  <PresentationFormat>On-screen Show (16:9)</PresentationFormat>
  <Paragraphs>1042</Paragraphs>
  <Slides>120</Slides>
  <Notes>117</Notes>
  <HiddenSlides>0</HiddenSlides>
  <MMClips>0</MMClips>
  <ScaleCrop>false</ScaleCrop>
  <HeadingPairs>
    <vt:vector size="6" baseType="variant">
      <vt:variant>
        <vt:lpstr>Fonts Used</vt:lpstr>
      </vt:variant>
      <vt:variant>
        <vt:i4>5</vt:i4>
      </vt:variant>
      <vt:variant>
        <vt:lpstr>Theme</vt:lpstr>
      </vt:variant>
      <vt:variant>
        <vt:i4>2</vt:i4>
      </vt:variant>
      <vt:variant>
        <vt:lpstr>Slide Titles</vt:lpstr>
      </vt:variant>
      <vt:variant>
        <vt:i4>120</vt:i4>
      </vt:variant>
    </vt:vector>
  </HeadingPairs>
  <TitlesOfParts>
    <vt:vector size="127" baseType="lpstr">
      <vt:lpstr>Arial</vt:lpstr>
      <vt:lpstr>Calibri</vt:lpstr>
      <vt:lpstr>Cambria</vt:lpstr>
      <vt:lpstr>Consolas</vt:lpstr>
      <vt:lpstr>Helvetica</vt:lpstr>
      <vt:lpstr>Office Theme</vt:lpstr>
      <vt:lpstr>ACCESS - ALL</vt:lpstr>
      <vt:lpstr>Linux, the Shell, and Filesystems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This material is based upon work supported by the National Science Foundation under Grant No. 2138307. Any opinions, findings, and conclusions or recommendations expressed in this material are those of the authors and do not necessarily reflect the views of the National Science Foundation.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Linux, the Shell, and Filesystems</dc:title>
  <dc:subject>PptxGenJS Presentation</dc:subject>
  <dc:creator>Henschel</dc:creator>
  <cp:lastModifiedBy>Henschel, Robert</cp:lastModifiedBy>
  <cp:revision>4</cp:revision>
  <dcterms:created xsi:type="dcterms:W3CDTF">2026-05-21T14:51:41Z</dcterms:created>
  <dcterms:modified xsi:type="dcterms:W3CDTF">2026-05-25T11:31:06Z</dcterms:modified>
</cp:coreProperties>
</file>