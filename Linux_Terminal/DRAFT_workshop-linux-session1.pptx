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22"/>
  </p:notesMasterIdLst>
  <p:sldIdLst>
    <p:sldId id="375" r:id="rId3"/>
    <p:sldId id="37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  <p:sldId id="347" r:id="rId94"/>
    <p:sldId id="348" r:id="rId95"/>
    <p:sldId id="349" r:id="rId96"/>
    <p:sldId id="350" r:id="rId97"/>
    <p:sldId id="351" r:id="rId98"/>
    <p:sldId id="352" r:id="rId99"/>
    <p:sldId id="353" r:id="rId100"/>
    <p:sldId id="354" r:id="rId101"/>
    <p:sldId id="355" r:id="rId102"/>
    <p:sldId id="356" r:id="rId103"/>
    <p:sldId id="357" r:id="rId104"/>
    <p:sldId id="358" r:id="rId105"/>
    <p:sldId id="359" r:id="rId106"/>
    <p:sldId id="360" r:id="rId107"/>
    <p:sldId id="361" r:id="rId108"/>
    <p:sldId id="362" r:id="rId109"/>
    <p:sldId id="363" r:id="rId110"/>
    <p:sldId id="364" r:id="rId111"/>
    <p:sldId id="365" r:id="rId112"/>
    <p:sldId id="366" r:id="rId113"/>
    <p:sldId id="367" r:id="rId114"/>
    <p:sldId id="368" r:id="rId115"/>
    <p:sldId id="369" r:id="rId116"/>
    <p:sldId id="370" r:id="rId117"/>
    <p:sldId id="371" r:id="rId118"/>
    <p:sldId id="372" r:id="rId119"/>
    <p:sldId id="373" r:id="rId120"/>
    <p:sldId id="374" r:id="rId1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2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presProps" Target="presProps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18" Type="http://schemas.openxmlformats.org/officeDocument/2006/relationships/slide" Target="slides/slide116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124" Type="http://schemas.openxmlformats.org/officeDocument/2006/relationships/viewProps" Target="viewProps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slide" Target="slides/slide118.xml"/><Relationship Id="rId125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1950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B280-A6CC-F13F-679A-0BD5AA04B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3424F8-083B-CC47-13F3-E3DD67126C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4023" y="2729754"/>
            <a:ext cx="5030390" cy="1761564"/>
          </a:xfrm>
        </p:spPr>
        <p:txBody>
          <a:bodyPr/>
          <a:lstStyle/>
          <a:p>
            <a:pPr lvl="0"/>
            <a:r>
              <a:rPr lang="en-US" dirty="0"/>
              <a:t>Presenter Name, Institution</a:t>
            </a:r>
          </a:p>
          <a:p>
            <a:pPr marL="0" marR="0" lvl="0" indent="0" algn="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Presenter Name, Institution</a:t>
            </a:r>
          </a:p>
          <a:p>
            <a:pPr marL="0" marR="0" lvl="0" indent="0" algn="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Presenter Name, Institution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F58DF9C-9144-C6EA-869E-D35AA785E1A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6433" y="4657725"/>
            <a:ext cx="2457450" cy="314325"/>
          </a:xfrm>
        </p:spPr>
        <p:txBody>
          <a:bodyPr anchor="ctr" anchorCtr="0">
            <a:noAutofit/>
          </a:bodyPr>
          <a:lstStyle>
            <a:lvl1pPr marL="85725" rtl="0">
              <a:spcBef>
                <a:spcPts val="0"/>
              </a:spcBef>
              <a:spcAft>
                <a:spcPts val="0"/>
              </a:spcAft>
              <a:defRPr sz="825" b="0" i="0">
                <a:solidFill>
                  <a:schemeClr val="bg2">
                    <a:lumMod val="75000"/>
                  </a:schemeClr>
                </a:solidFill>
                <a:latin typeface="Helvetica" pitchFamily="2" charset="0"/>
              </a:defRPr>
            </a:lvl1pPr>
          </a:lstStyle>
          <a:p>
            <a:pPr marL="114300" rtl="0"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OpenCI</a:t>
            </a:r>
            <a:r>
              <a:rPr lang="en-US" dirty="0"/>
              <a:t> Award: OCI 21-38296</a:t>
            </a:r>
          </a:p>
        </p:txBody>
      </p:sp>
    </p:spTree>
    <p:extLst>
      <p:ext uri="{BB962C8B-B14F-4D97-AF65-F5344CB8AC3E}">
        <p14:creationId xmlns:p14="http://schemas.microsoft.com/office/powerpoint/2010/main" val="1040656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B280-A6CC-F13F-679A-0BD5AA04BB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5525" y="1849306"/>
            <a:ext cx="7092950" cy="1444889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New Section Slide</a:t>
            </a:r>
          </a:p>
        </p:txBody>
      </p:sp>
    </p:spTree>
    <p:extLst>
      <p:ext uri="{BB962C8B-B14F-4D97-AF65-F5344CB8AC3E}">
        <p14:creationId xmlns:p14="http://schemas.microsoft.com/office/powerpoint/2010/main" val="4018528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B2A6B8-5CE2-0C56-56BD-A1DD772FD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933" y="1128978"/>
            <a:ext cx="7092950" cy="14448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C23AA7F-C761-C3F4-FE55-68439A112D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17259" y="2743200"/>
            <a:ext cx="5016624" cy="17750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Presenter Name, Institution</a:t>
            </a:r>
          </a:p>
          <a:p>
            <a:pPr marL="0" marR="0" lvl="0" indent="0" algn="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Presenter Name, Institution</a:t>
            </a:r>
          </a:p>
          <a:p>
            <a:pPr marL="0" marR="0" lvl="0" indent="0" algn="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Presenter Name, Institution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863D546-C40B-B57D-0E67-5AB2CC39AF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547783" y="4687545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bg2">
                    <a:lumMod val="75000"/>
                  </a:schemeClr>
                </a:solidFill>
                <a:latin typeface="Helvetica" pitchFamily="2" charset="0"/>
              </a:defRPr>
            </a:lvl1pPr>
          </a:lstStyle>
          <a:p>
            <a:r>
              <a:rPr lang="en-US" dirty="0" err="1"/>
              <a:t>OpenCI</a:t>
            </a:r>
            <a:r>
              <a:rPr lang="en-US" dirty="0"/>
              <a:t> Award: OCI 21-38296</a:t>
            </a:r>
          </a:p>
        </p:txBody>
      </p:sp>
    </p:spTree>
    <p:extLst>
      <p:ext uri="{BB962C8B-B14F-4D97-AF65-F5344CB8AC3E}">
        <p14:creationId xmlns:p14="http://schemas.microsoft.com/office/powerpoint/2010/main" val="2653518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</p:sldLayoutIdLst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1A5B6E"/>
          </a:solidFill>
          <a:latin typeface="Helvetica" pitchFamily="2" charset="0"/>
          <a:ea typeface="+mj-ea"/>
          <a:cs typeface="+mj-cs"/>
        </a:defRPr>
      </a:lvl1pPr>
    </p:titleStyle>
    <p:bodyStyle>
      <a:lvl1pPr marL="0" indent="0" algn="r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1200" b="0" i="1" kern="1200">
          <a:solidFill>
            <a:schemeClr val="tx1">
              <a:lumMod val="65000"/>
              <a:lumOff val="35000"/>
            </a:schemeClr>
          </a:solidFill>
          <a:latin typeface="Helvetica" pitchFamily="2" charset="0"/>
          <a:ea typeface="+mn-ea"/>
          <a:cs typeface="+mn-cs"/>
        </a:defRPr>
      </a:lvl1pPr>
      <a:lvl2pPr marL="514350" indent="-171450" algn="r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Helvetica" pitchFamily="2" charset="0"/>
          <a:ea typeface="+mn-ea"/>
          <a:cs typeface="+mn-cs"/>
        </a:defRPr>
      </a:lvl2pPr>
      <a:lvl3pPr marL="857250" indent="-171450" algn="r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b="0" i="0" kern="1200">
          <a:solidFill>
            <a:schemeClr val="tx1">
              <a:lumMod val="65000"/>
              <a:lumOff val="35000"/>
            </a:schemeClr>
          </a:solidFill>
          <a:latin typeface="Helvetica" pitchFamily="2" charset="0"/>
          <a:ea typeface="+mn-ea"/>
          <a:cs typeface="+mn-cs"/>
        </a:defRPr>
      </a:lvl3pPr>
      <a:lvl4pPr marL="1200150" indent="-171450" algn="r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>
          <a:solidFill>
            <a:schemeClr val="tx1">
              <a:lumMod val="65000"/>
              <a:lumOff val="35000"/>
            </a:schemeClr>
          </a:solidFill>
          <a:latin typeface="Helvetica" pitchFamily="2" charset="0"/>
          <a:ea typeface="+mn-ea"/>
          <a:cs typeface="+mn-cs"/>
        </a:defRPr>
      </a:lvl4pPr>
      <a:lvl5pPr marL="1543050" indent="-171450" algn="r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>
          <a:solidFill>
            <a:schemeClr val="tx1">
              <a:lumMod val="65000"/>
              <a:lumOff val="35000"/>
            </a:schemeClr>
          </a:solidFill>
          <a:latin typeface="Helvetica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8A40-1617-45E6-811A-179E0145C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Linux, the Shell, and Filesystems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260EC-B79F-E22A-2463-82A71D4FA8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Robert Henschel, Indiana University</a:t>
            </a:r>
          </a:p>
          <a:p>
            <a:r>
              <a:rPr lang="en-US" dirty="0"/>
              <a:t>May 27, 2026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1A1206-D89D-ACF1-DBF6-C7648CD6C3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ACCESS Operations: NSF #2138307</a:t>
            </a:r>
          </a:p>
        </p:txBody>
      </p:sp>
    </p:spTree>
    <p:extLst>
      <p:ext uri="{BB962C8B-B14F-4D97-AF65-F5344CB8AC3E}">
        <p14:creationId xmlns:p14="http://schemas.microsoft.com/office/powerpoint/2010/main" val="24909632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0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Welcome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doing this session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234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is 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whole workshop.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by the end: you can sit down at a Linux machine and </a:t>
            </a: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Open a terminal, find your way around, edit a file, run a program, read help.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not aiming for expertise. We're aiming for fluency at the level of someone who can follow along in the rest of the workshop.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make this interactive.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questions for the room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35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dive in, I want to hear from you.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976120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your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with Linux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far?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ever used 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command line on any OS (Linux, macOS, Windows)?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your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area of interest?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 to learn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this session?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each have your own Ubuntu VM with a remote desktop.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use the GUI for some things; we will spend most of our time in the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hands-on. When I demo something, you should follow along in your VM.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me with questions. If you get lost, raise your hand.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session at a glance — keep this in mind as we go.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contact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Navigating the filesystem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with files and directories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Getting help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Editing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Glue: redirection and pipes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Permissions and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Users, root, and sudo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variables, PATH, LD_LIBRARY_PATH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virtual environments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 outline — Orientation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actually is, and why every server we'll touch is Linux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and what 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the terminal even though the GUI exists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mental models we'll come back to all day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2 outline — First contact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terminal; read the prompt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commands: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hostname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completion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new best friend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history (↑ / ↓, Ctrl-R)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3 outline — Navigating the filesystem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filesystem as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big tree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(and its flags),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vs. relative paths;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commands are just files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4 outline — Working with files and directories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84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making things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reading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copy, move, rename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Trash, no undo"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talk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file workout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5 outline — Getting help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mindset: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it up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don't memorize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usually all you need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full manual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6 outline — Editing files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 need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GUI editor and a terminal editor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 (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&lt;file&gt;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(Ctrl-O save, Ctrl-X exit)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escape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vim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you land in it accidentally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7 outline — Glue: redirection and pipes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as 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"little factory"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input and output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sending output to a file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piping output into another command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glue partners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8 outline — Permissions and processes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rwx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permission string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make a script runnable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what's running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Ctrl-C — stopping things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9 outline — Users, root, and sudo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everything belongs to someone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users vs.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(UID 0)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 can't install packages as a regular user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it is, how it behaves, what it strips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10 outline — Environment variables, PATH, LD_LIBRARY_PATH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environment variables are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how the shell finds commands (and why venvs work)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foot-gun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avoid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shared libraries, with a security angle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11 outline — Python virtual environments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venvs exist (and why Ubuntu makes them practically mandatory)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install: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python3-venv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python3-pip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activate, install, deactivate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you'll use forever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12 outline — Wrap 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now do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coming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workshop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cheat sheet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Linux?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77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is the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runs most of the servers, cloud VMs, supercomputers, and embedded devices on the planet.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is Linux underneath. Most websites you visit run on Linux. Your VM is Linux.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is a real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success story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created because maintaining the Linux source was hard.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is free;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 may cost money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few people run Linux on the desktop/laptop.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Linux comes from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Users/henschel/Dropbox/Documents/Publications/2026/2026_05_Step1Teaching/LinuxCurriculum/images/unix-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240" y="960120"/>
            <a:ext cx="682752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6460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"Unix history (simplified)" — Wikimedia Commons, CC BY-SA 3.0 / GFDL.  Linux is on the left; macOS sits in the BSD/Darwin branch.  Windows, DOS, OS/2 are not in this family.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distributions, one Linux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Users/henschel/Dropbox/Documents/Publications/2026/2026_05_Step1Teaching/LinuxCurriculum/images/linux-distro-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960120"/>
            <a:ext cx="1019861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42821" y="1051560"/>
            <a:ext cx="6935419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"Linux" is technically just the </a:t>
            </a: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core of the OS.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("distro") bundles the kernel with a package manager, default tools, and an installer.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distros exist. Most descend from a few ancestors:</a:t>
            </a:r>
            <a:endParaRPr lang="en-US" sz="15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Ubuntu, Mint</a:t>
            </a:r>
            <a:endParaRPr lang="en-US" sz="15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Hat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Fedora, CentOS, Rocky</a:t>
            </a:r>
            <a:endParaRPr lang="en-US" sz="15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Slackware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SuSE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others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VM runs </a:t>
            </a: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(Debian family). What you learn today works on basically every distro.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65760" y="486460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"2023 Linux Distributions Timeline" — GioComitini via GNUclad, building on Lundqvist &amp; Rodic.  Wikimedia Commons, CC BY-SA 4.0.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shell?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34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program that reads what you type, runs it, and shows you the result.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we're using is called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There are others (zsh, fish) — same idea, slight differences.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window the shell runs in.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say "terminal" and "shell" loosely; they're not the same thing, but you'll be fine treating them as the same for now.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are we using the terminal? We have a GUI.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70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GUI is 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layer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the same files and programs. Everything you can do in the GUI, you can do in the terminal — and a lot more.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servers don't </a:t>
            </a: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GUI. When you SSH into a cloud machine, all you get is a shell.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is how professionals actually drive these systems: faster, scriptable, reproducible.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anything you can type, you can script.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good in movies.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ideas to hold in your head all 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filesystem is a tree.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Everything lives under one root,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is a conversation.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say a command, it responds. One turn at a time.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is: `verb [flags] [nouns]`.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Verb = the command, flags = how, nouns = what to act 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88544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/home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verb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flag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noun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We'll come back to this all day.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First contact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a terminal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VM desktop, open the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Or: right-click the desktop → "Open Terminal".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31288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431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861056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 on your VM. Make it bigger so you can read it.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you're looking at — the prompt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5461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078992"/>
            <a:ext cx="7772400" cy="399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exouser@vm-42:~$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73482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exouser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vm-42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(this machine's name)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directory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(shorthand for your home)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shell is ready for a command.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26898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telling you who you are, where you are, and that it's listening.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commands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whoami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hostname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date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"hello world"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username. Useful on a server when you forget who you logged in as.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hostname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name of this machine.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current date and time.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prints whatever you give it. Boring on its own. We'll see why it matters later.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completion — your new best friend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will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words for you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Type a few letters, press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it's unique → it completes. If not → press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twice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see options.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constantly.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Prevents typos. Makes you faster.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89356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8935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323336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completion is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case-sensitive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different.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history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you typed. You don't have to retype.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/ ↓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walk through previous commands.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search your history. Start typing a few letters of an old command.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print everything you've typed in this session.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254248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2542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684016"/>
            <a:ext cx="8046720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↑ a few times. Find the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ran a minute ago and re-run it.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Navigating the filesystem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filesystem is a tree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1899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078992"/>
            <a:ext cx="7772400" cy="1753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                 ← the "root" — everything lives under this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home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exouser    ← your home directory (this is what ~ means)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etc            ← system configuration files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tmp            ← scratch space, wiped on reboot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usr            ← installed programs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var            ← logs and variable data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bin            ← essential commands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951480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tree. One root.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drive letters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C:\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has a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describes where it sits in the tree.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am I right now?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working directory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</a:t>
            </a: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somewhere in the filesystem.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usually act on your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location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unless you tell them otherwise.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here?  —  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         # files &amp; dirs here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      # long format: sizes, dates, permissions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-a       # all files, including hidden (.foo)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-la      # long AND all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/ flags / nouns pattern: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(verb),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 -a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(flags), no noun → defaults to "here".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around: cd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4211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27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/          # go to the root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/etc       # go into /etc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          # go home  (~ means your home dir)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           # no args → also goes home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-          # go back to the previous directory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vs relative paths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34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path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starts with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Full address from the root. Always works.</a:t>
            </a:r>
            <a:endParaRPr lang="en-US" sz="16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/home/exouser/Documents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path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 start with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Relative to where you currently are.</a:t>
            </a:r>
            <a:endParaRPr lang="en-US" sz="16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from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/home/exouser/Documents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82320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"here" (the current directory)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"one level up" (the parent directory)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moving around — both kinds of paths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24117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2265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practice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practice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..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practice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../..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89305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through what happened at each step. Did each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match what you expected?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 programs live?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which ls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/usr/bin/ls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which python3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which bash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tells you where a command's program file actually lives on disk.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are just files.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real file at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/usr/bin/ls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type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shell looks it up and runs it.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files and directories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things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9164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770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workshop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workshop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notes scripts data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hello.txt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notes/day1.md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39775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directory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You can make several at once.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creates an empty file (or updates its timestamp if it exists).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file contents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4211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27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/etc/os-release      # dump file to screen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less /etc/services       # pager — q to quit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head /etc/services       # first 10 lines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tail /etc/services       # last 10 lines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head -n 3 /etc/services  # first 3 lines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0245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90245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332226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looks like it took over your terminal. It did.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`q` to get out.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next page,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back,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/word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search.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Copy, move, rename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9258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cp hello.txt hello-copy.txt          # cp source dest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mv hello-copy.txt notes/             # move into notes/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mv notes/hello-copy.txt notes/greeting.txt   # rename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40715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There's no separate rename command.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Deleting  —  read this before you type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369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deletes files. </a:t>
            </a: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Permanently.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no Trash. There is no undo.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deletes a directory and everything in it. </a:t>
            </a: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Recursively.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deletes recursively and forcefully (no prompts).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infamous typo in computing: </a:t>
            </a: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 /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tries to delete the entire system.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second: </a:t>
            </a: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 ~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wipes your home directory.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what you typed before pressing Enter. Especially with `rm`.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Deleting  —  carefully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rm hello.txt          # gone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junk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junk/a junk/b junk/c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rm -r junk            # gone with everything inside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65480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6548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084576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unsure, run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 to see what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affect.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use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-i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asks before each delete.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Wildcards: matching many files at once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</a:t>
            </a: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matching filenames:</a:t>
            </a:r>
            <a:endParaRPr lang="en-US" sz="9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matches </a:t>
            </a: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sequence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characters (including nothing)</a:t>
            </a:r>
            <a:endParaRPr lang="en-US" sz="9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matches </a:t>
            </a: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character</a:t>
            </a:r>
            <a:endParaRPr lang="en-US" sz="9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</a:t>
            </a: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these </a:t>
            </a:r>
            <a:r>
              <a:rPr lang="en-US" sz="9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command sees them — the command just gets the list of matching filenames.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47192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471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901696"/>
            <a:ext cx="8046720" cy="1338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974848"/>
            <a:ext cx="7772400" cy="1192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~/workshop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a.txt b.txt c.log readme.md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*.txt        # a.txt  b.txt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*.log        # c.log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?.txt        # a.txt  b.txt   (one char + .txt)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*            # everything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*.txt      # see what the shell expands * into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4285996"/>
            <a:ext cx="804672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</a:t>
            </a: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… most filename-taking commands.</a:t>
            </a:r>
            <a:endParaRPr lang="en-US" sz="10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*.tmp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deletes every </a:t>
            </a: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.tmp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in this directory — pairs with the </a:t>
            </a: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 before you press Enter"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rule.</a:t>
            </a:r>
            <a:endParaRPr lang="en-US" sz="10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nothing matches, you'll get an error or the literal </a:t>
            </a: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passed through. </a:t>
            </a: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`ls &lt;pattern&gt;` first</a:t>
            </a: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unsure.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Hands-on: a small file workout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64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your home directory.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directory called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make three directories: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morning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afternoon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evening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morning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create a file called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breakfast.txt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breakfast.txt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afternoon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renaming it 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lunch.txt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lunch.txt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afternoon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evening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renaming it 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dinner.txt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recursively: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-R lab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whole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directory.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5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Getting help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will not remember all of this. Nobody does.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Linux is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about memorizing commands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about knowing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look things up fast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tools, in order of usefulness for beginners:</a:t>
            </a:r>
            <a:endParaRPr lang="en-US" sz="16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apropos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--help  —  the quickest answer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--help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--help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commands accept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print a short usage summary.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this is all you need.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  —  the full manual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4305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28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man 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91185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full manual page. Uses the same pager as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6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next page   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/word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search   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quit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2465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72465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154426"/>
            <a:ext cx="804672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pages are dense and written for people who mostly understand the command already.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reach for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you need the full detail.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check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5461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399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-la /etc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2027428"/>
            <a:ext cx="804672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Verb: ____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Flags: ____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Nouns: ____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20090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(Wait for the room: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.) Every command today follows this shape.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6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Editing files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edit, and why you need both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70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a GUI editor on your VM: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It's lovely. Use it when you can.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also need to know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terminal editor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SSH into a server later in this workshop, there is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VSCode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Only a terminal.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because it's the friendliest.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(Vim and Emacs exist; the "how do I exit Vim?" jokes are why we use nano.)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First: edit with VSCode (GUI)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~/workshop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code notes/day1.md       # opens VSCode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something. Save with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Close.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the terminal: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notes/day1.md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you'll see what you typed.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file. Two surfaces.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Now: edit the same file with nano (terminal)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4305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28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nano notes/day1.md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911858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text is in the middle. The bottom shows shortcuts.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So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^X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Ctrl-X.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Ctrl-O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write Out (save). Press Enter to confirm filename.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Ctrl-X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eXit.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edit a file two 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~/workshop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create a file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aboutme.txt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add three lines: your name, your major, one thing you hope to learn.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add a fourth line: your favorite food.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aboutme.txt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confirm all four lines are there.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write a real shell script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script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just a text file with shell commands in it.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extension is a convention — Linux doesn't </a:t>
            </a: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it, but humans use it to know what the file 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42620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4262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55976"/>
            <a:ext cx="8046720" cy="168529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929128"/>
            <a:ext cx="7772400" cy="1538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~/workshop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nano hello.sh         # type the two lines below, save, exit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#!/bin/bash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"Hello, World!"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hello.sh          # confirm it's saved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</a:t>
            </a:r>
            <a:r>
              <a:rPr lang="en-US" sz="28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  —  the shebang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Pronounced "</a:t>
            </a: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shuh-bang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(or "hash-bang").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be the </a:t>
            </a: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two characters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line 1.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kernel: "hand this file to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/bin/bash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someone runs it."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shebang, the system has to </a:t>
            </a: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interpreter — and may refuse to run the script.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shebangs you'll see in the wild:</a:t>
            </a:r>
            <a:endParaRPr lang="en-US" sz="12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#!/bin/sh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minimal POSIX shell</a:t>
            </a:r>
            <a:endParaRPr lang="en-US" sz="12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#!/usr/bin/env python3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Python (the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trick finds python3 in PATH)</a:t>
            </a:r>
            <a:endParaRPr lang="en-US" sz="12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#!/usr/bin/perl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Perl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76732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7673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1970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comment, even though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bash comment character. The kernel reads the first two bytes of the file specially.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executable, then run 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2560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./hello.sh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bash: ./hello.sh: Permission denied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hello.sh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-rw-r--r-- 1 exouser exouser 32 ... hello.sh     ← no 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chmod +x hello.sh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hello.sh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-rwxr-xr-x 1 exouser exouser 32 ... hello.sh     ← x added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./hello.sh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Hello, World!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41648"/>
            <a:ext cx="80467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the </a:t>
            </a: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bit. (Block 8 goes deeper into permissions.)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./hello.sh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The current directory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for security.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"the file right here." (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Block 10.)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your own script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~/workshop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use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create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greet.sh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this content: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34388"/>
            <a:ext cx="8046720" cy="6121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907540"/>
            <a:ext cx="7772400" cy="465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"Hello from $USER on $(hostname) — today is $(date)"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492248"/>
            <a:ext cx="8046720" cy="1275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to run it: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./greet.sh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should fail with "Permission denied."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executable: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greet.sh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again. You should see your username, hostname, and the current date.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(Bonus) Remove the shebang line and re-run. What changes?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mention: vim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vim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mentioned everywhere. Powerful. Beloved by some. Infuriating to most beginners.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accidentally end up in vim: press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type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`:q!`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hit Enter to escape without saving.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all you need to know about vim today.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7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Glue: redirection and pipes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block matters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far, each command has been standalone.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power of the shell is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ideas: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(output → file) and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(output → another command).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 get these, you can solve problems by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composing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small tools.</a:t>
            </a:r>
            <a:endParaRPr lang="en-US" sz="16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Redirection: send output to a file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4211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27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"first line" &gt; log.txt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log.txt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"second line" &gt;&gt; log.txt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"third line" &gt;&gt; log.txt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log.txt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902458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send output INTO this file. If it exists,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overwritten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file instead of overwriting.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64413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64413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073906"/>
            <a:ext cx="804672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silently overwrites. If you meant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typed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your file is gone.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before you press Enter.</a:t>
            </a:r>
            <a:endParaRPr lang="en-US" sz="14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Pipes: send output to another command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9258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/etc              # lots of output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/etc | less       # pipe into a pager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/etc | wc -l      # count lines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407158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(pipe) takes the output of the left command and feeds it to the right command.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 -l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counts lines → answers "how many things in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?"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example: searching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root /etc/passwd            # find lines mentioning root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/etc/passwd | grep root      # same idea, via pipe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/etc/passwd | wc -l          # how many users?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/usr/bin | grep python        # every python program in /usr/bin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searches for a pattern in text.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mental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is 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factory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an input and an output.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belt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factories.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file.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as many as you like. This is how short shell commands solve big problems.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compose a one-liner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how many lines are 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/etc/services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(hint: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 -l /etc/services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lines 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/etc/services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mention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(hint: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 http /etc/services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how many lines 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/etc/services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mention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(combine grep and wc with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lines into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~/http-lines.txt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(combine grep and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8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Permissions and processes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block is short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going to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vocabulary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master it.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you can read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roughly know what's going on, and you know how to see what's running.</a:t>
            </a:r>
            <a:endParaRPr lang="en-US" sz="16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ls -l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/etc/hostname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-rw-r--r-- 1 root root 8 May 10 09:00 /etc/hostname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in order:  permissions, links, owner, group, size, modified, name.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the permission string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078992"/>
            <a:ext cx="7772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    rw-     r--     r--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 owner   group   others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046720" cy="167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char: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regular file,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directory.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three: what the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do.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three: what the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do.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three: what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else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do.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is three slots: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ead,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rite, e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54584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regular file, owner can read+write, everyone else can only read.</a:t>
            </a:r>
            <a:endParaRPr lang="en-US" sz="13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Trying it  —  chmod +x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6687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52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script.sh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script.sh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...                     # not executable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chmod +x script.sh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script.sh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-rwxr-xr-x ...                     # executable 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150108"/>
            <a:ext cx="804672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added the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bit. This is how you make a script runnable.</a:t>
            </a:r>
            <a:endParaRPr lang="en-US" sz="14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running?  —  processes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running program. Every command you run starts one.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browser tab, every background service — all processes.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7728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177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07056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680208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                   # processes in this terminal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aux | head -n 20   # all processes, first 20 lines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330956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row: a </a:t>
            </a: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(process ID), owner, CPU/memory, command.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Watching live: top  /  htop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top      # live, updating view  (q to quit)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htop     # nicer version with colors, if installed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Activity Monitor / Task Manager, but in the terminal.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CPU usage by default.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Stopping a process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1234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politely ask process 1234 to stop.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-9 1234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force it to stop. Use sparingly.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stop the currently running command. One of the most useful keys to know.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89356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8935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23336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3396488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sleep 60          # shell hangs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^C                  # press Ctrl-C — you're back</a:t>
            </a:r>
            <a:endParaRPr lang="en-US" sz="15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9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Users, root, and sudo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 is a multi-user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Linux machine has the concept of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user has a username, a numeric ID, and a home directory.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already: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printed your username, and </a:t>
            </a: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file owners.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and processes always belong to *some* user.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Permissions decide who else can touch them.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kinds of users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281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users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(like you) — can read/write/run their own files plus anything permissions allow. Cannot change the system itself.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`root` user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administrator. Unique. Numeric ID 0. Bypasses almost all permission checks:</a:t>
            </a:r>
            <a:endParaRPr lang="en-US" sz="14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read any file.</a:t>
            </a:r>
            <a:endParaRPr lang="en-US" sz="14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modify any file.</a:t>
            </a:r>
            <a:endParaRPr lang="en-US" sz="14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kill any process.</a:t>
            </a:r>
            <a:endParaRPr lang="en-US" sz="14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install or remove software for the whole machine.</a:t>
            </a:r>
            <a:endParaRPr lang="en-US" sz="1400" dirty="0"/>
          </a:p>
          <a:p>
            <a:pPr marL="457200" lvl="1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also wreck the system in one command.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87096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exactly </a:t>
            </a: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root account per Linux machine. That's a feature, not a limitation.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split exists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62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time you should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 able to break the system — even by accident.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"the user doing work" from "the user with system-wide power" means a typo, a buggy program, or malware running as you can damage </a:t>
            </a: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stuff</a:t>
            </a: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 not the OS.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logic protects other users on shared systems — your mistakes don't affect them.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one of the reasons Linux servers stay up for years.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 can't install packages as a normal user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a package puts files into directories like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/usr/bin/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/usr/lib/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directories are owned by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Look: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172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141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571496"/>
            <a:ext cx="8046720" cy="1569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644648"/>
            <a:ext cx="7772400" cy="1423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-ld /usr/bin /usr/lib /etc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... root root ...   /usr/bin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... root root ...   /usr/lib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... root root ...   /etc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apt install cowsay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E: Could not open lock file ... Permission denied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4186936"/>
            <a:ext cx="8046720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being unfriendly — the filesystem doing its job. To install system-wide, you need to act as </a:t>
            </a: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sudo 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ubstitute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ser,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— run a single command as another user, defaulting to root.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authenticate with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password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root's password.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(You usually don't even know root's password, and you don't need to.)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you're </a:t>
            </a: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use sudo is configured by a sysadmin 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/etc/sudoers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workshop VM: your account has sudo. On a random server: likely not.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sudo behaves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8008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654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whoami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exouser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whoami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[sudo] password for exouser: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install cowsay      # now it works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282188"/>
            <a:ext cx="8046720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shell is still </a:t>
            </a: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only the one command was elevated.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sudo asks for your password. </a:t>
            </a: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shows up as you type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that's intentional.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 caches your authentication for ~15 minutes.</a:t>
            </a:r>
            <a:endParaRPr lang="en-US" sz="13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a root shell: sudo -i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6687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52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-i              # drop into an interactive root shell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whoami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pwd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exit                 # back to your normal shell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150108"/>
            <a:ext cx="804672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typically changes: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a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admin commands.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sparingly.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longer you stay root, the more damage a typo can do.</a:t>
            </a:r>
            <a:endParaRPr lang="en-US" sz="14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09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habitually `sudo` everything.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as yourself; sudo only when you need to.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rm -rf /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really does try to wipe the system.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before you press Enter when sudo is on the line.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security,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strips most environment variables — including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reset to a safe default. (Next block.)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!!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re-runs your last command with sudo — useful when you forgot it the first time.</a:t>
            </a:r>
            <a:endParaRPr lang="en-US" sz="14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Note your username.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whoami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Note the output.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id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Compare. The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uid=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gid=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change.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update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 sudo) — fails.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update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works.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-i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10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variables, PATH, LD_LIBRARY_PATH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environment variables?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shell carries a bag of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settings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called environment variables.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how programs discover things about their environment: who you are, your home, your language, where to look for things.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program you launch inherits a copy of this bag.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75132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7513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181096"/>
            <a:ext cx="8046720" cy="1107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3254248"/>
            <a:ext cx="7772400" cy="96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env | head -n 20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$HOME       # /home/exouser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$USER       # exouser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$SHELL      # /bin/bash</a:t>
            </a:r>
            <a:endParaRPr lang="en-US" sz="14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 —  how the shell finds commands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type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how does the shell know that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program 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in the directories listed in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`PATH`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order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runs the first match.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7728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177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07056"/>
            <a:ext cx="8046720" cy="12560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680208"/>
            <a:ext cx="7772400" cy="1109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$PATH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/home/exouser/.local/bin:/usr/local/bin:/usr/bin:/bin:/usr/games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which ls           # which PATH entry won?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/usr/bin/ls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908806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Colon-separated list. The shell tries each left to right. </a:t>
            </a: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wins.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PATH matters in this workshop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activating a venv works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activate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prepends the venv's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bin/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 into the venv.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write your own script in some random directory, the shell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find it by name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you'd call it by full path.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directory 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how you make your own programs callable by name.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00024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0002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430016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3503168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export PATH=$HOME/scripts:$PATH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$PATH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4153916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lasts only for </a:t>
            </a: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shell session.</a:t>
            </a:r>
            <a:endParaRPr lang="en-US" sz="13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PATH foot-gun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typo PATH — e.g.,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PATH=$HOME/scripts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(forgetting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:$PATH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end) — you can suddenly lose access 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almost everything.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programs still exist on disk. The shell just can't find them.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a new terminal (the bad change doesn't persist), or restore manually: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51328"/>
            <a:ext cx="8046720" cy="4305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824480"/>
            <a:ext cx="7772400" cy="28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export PATH=/usr/bin:/bin:$PATH</a:t>
            </a:r>
            <a:endParaRPr lang="en-US" sz="15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LD_LIBRARY_PATH  —  how programs find shared libraries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programs don't carry all their code with them.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depend on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libraries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files ending 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.so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loaded at run time.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has standard places it looks (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/usr/lib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...).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lets you add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places to look.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82752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8275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257296"/>
            <a:ext cx="8046720" cy="82677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3330448"/>
            <a:ext cx="7772400" cy="680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ldd $(which ls)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libc.so.6 =&gt; /lib/x86_64-linux-gnu/libc.so.6 ...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you'll touch LD_LIBRARY_PATH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run a program whose libraries live in a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non-standard place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custom-built software, scientific tools, bundled commercial software.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108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1010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530856"/>
            <a:ext cx="8046720" cy="4305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604008"/>
            <a:ext cx="7772400" cy="28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LD_LIBRARY_PATH=/opt/mytool/lib ./mytool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007106"/>
            <a:ext cx="8046720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variable </a:t>
            </a: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this one command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Symptom you'll hit: </a:t>
            </a: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while loading shared libraries: libfoo.so.3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reach for this.</a:t>
            </a:r>
            <a:endParaRPr lang="en-US" sz="13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security flavor for later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442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(and a sibling,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LD_PRELOAD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change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code gets loaded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program, they're a classic vector for both legitimate library overrides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library-injection attacks.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safety, Linux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you run a program with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any setuid binary.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Intentional.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cybersecurity session will revisit why.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2404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92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353816"/>
            <a:ext cx="804672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set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globally (e.g., in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.bashrc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Set it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just for the command that needs it.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changes stick: .bashrc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terminal is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gone when the terminal closes.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it permanent, add the line 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~/.bashrc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file runs every time you open a new bash shell.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42620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4262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55976"/>
            <a:ext cx="8046720" cy="16687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929128"/>
            <a:ext cx="7772400" cy="152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nano ~/.bashrc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at the bottom, add: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export PATH=$HOME/scripts:$PATH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Ctrl-O save, Ctrl-X exit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source ~/.bashrc       # apply to the current terminal</a:t>
            </a:r>
            <a:endParaRPr lang="en-US" sz="15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PATH in practice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your current PATH: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$PATH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lives: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python3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shared libraries python3 needs: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ldd $(which python3) | head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tiny script: 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~/scripts &amp;&amp; echo 'echo "hi from my script"' &gt; ~/scripts/greet &amp;&amp; chmod +x ~/scripts/greet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running it by name: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fails, not in PATH.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by full path: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~/scripts/greet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works.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~/scripts to PATH: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PATH=$HOME/scripts:$PATH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</a:t>
            </a: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works by name.</a:t>
            </a:r>
            <a:endParaRPr lang="en-US" sz="1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11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Python virtual environments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block matters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418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Python you'll write needs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installed with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install libraries system-wide, two projects with different version needs collide.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Worse: on Ubuntu,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Python is used by the OS itself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Random installs can break system tools.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environment ("venv")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 isolated Python setup that lives in a folder, per project.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way Python is used on Linux.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You'll use venvs constantly.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install: get the venv module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update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install python3-venv python3-pip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do this as the administrator. Needed for installing system packages.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be prompted for your password.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shows up as you type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that's normal.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update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refreshes the package list;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install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installs.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venv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~/workshop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python3 -m venv myenv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myenv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   include   lib   pyvenv.cfg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"Run the Python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venv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tool, make a venv in a new directory called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myenv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normal directory holding an isolated Python plus a place for installed libraries.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delete the venv, delete the folder.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system cleanup needed.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 the venv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source myenv/bin/activate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25856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 now starts with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That's the venv telling you it's active.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the activation script in your current shell. It changes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 inside the venv.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install now goes into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myenv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system.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 package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8763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729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 pip install requests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 python3 -c "import requests; print(requests.__version__)"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2.31.0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357628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popular library for making HTTP requests.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is installed — but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inside this venv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what's in the venv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9164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1770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 pip list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      Version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  -------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certifi      ...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charset-...  ...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     2.31.0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urllib3      ...</a:t>
            </a:r>
            <a:endParaRPr lang="en-US" sz="15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Leaving the venv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07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7772400" cy="96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 deactivate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python3 -c "import requests"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ModuleNotFoundError: No module named 'requests'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8876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point — the venv kept it contained.</a:t>
            </a:r>
            <a:endParaRPr lang="en-US" sz="13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workflow you'll use forever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folder for the project.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venv inside: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env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it: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env/bin/activate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whatever libraries the project needs.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the project.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done.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47776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back later → just re-activate. You don't need to recreate the venv.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venv on Ubuntu often fails with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externally-managed-environment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That's Ubuntu protecting you. Fix: make and activate a venv first.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clone someone else's Python project, they'll usually have a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After making your own venv: </a:t>
            </a: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put the venv folder in git.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It's a local thing per machine.</a:t>
            </a:r>
            <a:endParaRPr lang="en-US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a venv from scratch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42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~/python-lab &amp;&amp; cd ~/python-lab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venv called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env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it. Confirm your prompt shows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(env)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 fun package: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cowsay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cowsay -t "hello from my venv"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cowsay -t hi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again. It says "command not found" — because cowsay only lived in the venv.</a:t>
            </a:r>
            <a:endParaRPr lang="en-US" sz="13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F308D0-E16C-4CC5-260F-E28847C8B2B2}"/>
              </a:ext>
            </a:extLst>
          </p:cNvPr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BLOCK 12</a:t>
            </a:r>
            <a:endParaRPr lang="en-US" sz="1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AB9CA9-4368-8FE5-AD42-55EA850B62AF}"/>
              </a:ext>
            </a:extLst>
          </p:cNvPr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Wrap up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95695170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now 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1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 and read the prompt.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the filesystem with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paths.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read, copy, move, delete files and directories.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files in both VSCode and nano.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help with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output to files (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chain commands with pipes (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roughly understand permissions; see what's running; stop it.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regular user from root, and use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individual commands.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environment variables.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use Python virtual environments.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417068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entire foundation for every later session. </a:t>
            </a: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done.</a:t>
            </a:r>
            <a:endParaRPr lang="en-US" sz="13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12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Navigation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pwd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working directory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 /  ls -l  /  ls -la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files (long, all)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&lt;path&gt;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directory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~   /   cd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home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..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one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-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to previous directory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13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Files &amp; directories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mkdir &lt;name&gt;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directory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touch &lt;name&gt;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an empty 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Dump a file to screen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less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through a file (q to quit)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head / tail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/ last 10 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cp &lt;src&gt; &lt;dst&gt;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mv &lt;src&gt; &lt;dst&gt;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/ rename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rm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(no undo!)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rm -r &lt;dir&gt;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directory and contents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Help, Editing, Glue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&lt;cmd&gt; --help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usage summary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 &lt;cmd&gt;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manual (q to quit)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which &lt;cmd&gt;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program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apropos &lt;word&gt;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commands by keyword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code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in VSCode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nano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in nano (Ctrl-O save, Ctrl-X exit)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  /   &gt;&gt;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/ append output to 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|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 output to next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&lt;pat&gt; &lt;file&gt;  /  wc -l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/ count 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15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Permissions &amp; processes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-l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permissions, owner,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chmod +x &lt;file&gt;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file executable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ps aux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processes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top  /  htop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process view (q to quit)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kill &lt;PID&gt;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a process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Ctrl-C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current 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Auto-complete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↑   /   Ctrl-R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command  /  search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Picture 116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Users &amp; root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whoami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username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numeric IDs and group memberships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&lt;cmd&gt;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one command as root (your own password)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-i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an interactive root shell (exit to leave)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!!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Re-run the previous command with sudo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apt update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package list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apt install &lt;pkg&gt;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a package system-wide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Picture 117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Environment &amp; paths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environment variables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echo $VAR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one variable's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echo $PATH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command search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which &lt;cmd&gt;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PATH entry wins for a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export VAR=value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a variable for this shell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export PATH=$HOME/scripts:$PATH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Prepend a directory to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ldd &lt;program&gt;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shared libraries a program needs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LD_LIBRARY_PATH=/path ./prog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library dir, just for this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source ~/.bashrc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Re-read shell config in current terminal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Python virtual environments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apt install python3-venv python3-pip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 install per 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python3 -m venv &lt;name&gt;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 venv in directory &lt;name&gt;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source &lt;name&gt;/bin/activate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pip install &lt;pkg&gt;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into the active venv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pip list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what's installed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pip install -r requirements.txt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from a requirements file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deactivate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 the venv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Resources to keep going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Carpentry — The Unix Shell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swcarpentry.github.io/shell-novice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— The Missing Semester of Your CS Education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missing.csail.mit.edu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command-line tutorial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ubuntu.com/tutorials/command-line-for-beginners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explainshell.com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paste any command, see it annotated</a:t>
            </a:r>
            <a:endParaRPr lang="en-US" sz="14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ccess-foo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ACCESS - AL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FDF50074-E96F-584D-A4C1-B7C358C7C5C1}" vid="{E294992B-F794-594E-8829-C972ED2B54C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7709</Words>
  <Application>Microsoft Macintosh PowerPoint</Application>
  <PresentationFormat>On-screen Show (16:9)</PresentationFormat>
  <Paragraphs>1041</Paragraphs>
  <Slides>119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119</vt:i4>
      </vt:variant>
    </vt:vector>
  </HeadingPairs>
  <TitlesOfParts>
    <vt:vector size="126" baseType="lpstr">
      <vt:lpstr>Arial</vt:lpstr>
      <vt:lpstr>Calibri</vt:lpstr>
      <vt:lpstr>Cambria</vt:lpstr>
      <vt:lpstr>Consolas</vt:lpstr>
      <vt:lpstr>Helvetica</vt:lpstr>
      <vt:lpstr>Office Theme</vt:lpstr>
      <vt:lpstr>ACCESS - ALL</vt:lpstr>
      <vt:lpstr>Linux, the Shell, and Filesystems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Linux, the Shell, and Filesystems</dc:title>
  <dc:subject>PptxGenJS Presentation</dc:subject>
  <dc:creator>Henschel</dc:creator>
  <cp:lastModifiedBy>Henschel, Robert</cp:lastModifiedBy>
  <cp:revision>3</cp:revision>
  <dcterms:created xsi:type="dcterms:W3CDTF">2026-05-21T14:51:41Z</dcterms:created>
  <dcterms:modified xsi:type="dcterms:W3CDTF">2026-05-25T10:17:19Z</dcterms:modified>
</cp:coreProperties>
</file>