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</p:sldIdLst>
  <p:notesMasterIdLst>
    <p:notesMasterId r:id="rId1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notesMaster" Target="notesMasters/notesMaster1.xml"/><Relationship Id="rId121" Type="http://schemas.openxmlformats.org/officeDocument/2006/relationships/presProps" Target="presProps.xml"/><Relationship Id="rId122" Type="http://schemas.openxmlformats.org/officeDocument/2006/relationships/viewProps" Target="viewProps.xml"/><Relationship Id="rId123" Type="http://schemas.openxmlformats.org/officeDocument/2006/relationships/theme" Target="theme/theme1.xml"/><Relationship Id="rId1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0"/>
            <a:ext cx="8412480" cy="514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Linux, the Shell, and Filesystems</a:t>
            </a:r>
            <a:endParaRPr lang="en-US" sz="5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0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17830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Welcome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731520" cy="4572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we're doing this session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05840"/>
            <a:ext cx="8046720" cy="234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session is a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whole workshop.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by the end: you can sit down at a Linux machine and </a:t>
            </a:r>
            <a:pPr indent="0" marL="0">
              <a:buNone/>
            </a:pPr>
            <a:r>
              <a:rPr lang="en-US" sz="16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Open a terminal, find your way around, edit a file, run a program, read help.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not aiming for expertise. We're aiming for fluency at the level of someone who can follow along in the rest of the workshop.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make this interactive.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05840"/>
            <a:ext cx="80467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each have your own Ubuntu VM with a remote desktop.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use the GUI for some things; we will spend most of our time in the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hands-on. When I demo something, you should follow along in your VM.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me with questions. If you get lost, raise your hand.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 today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9601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session at a glance — keep this in mind as we go.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78638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722376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Welcome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Orientation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contact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Navigating the filesystem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Working with files and directories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Getting help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Editing files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Glue: redirection and pipes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Permissions and processes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Users, root, and sudo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 variables, PATH, LD_LIBRARY_PATH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virtual environments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1 outline — Orientation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05840"/>
            <a:ext cx="8046720" cy="148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actually is, and why every server we'll touch is Linux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and what a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use the terminal even though the GUI exists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mental models we'll come back to all day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2 outline — First contact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05840"/>
            <a:ext cx="8046720" cy="148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terminal; read the prompt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commands: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whoami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hostname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completion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your new best friend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history (↑ / ↓, Ctrl-R)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3 outline — Navigating the filesystem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05840"/>
            <a:ext cx="8046720" cy="148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filesystem as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big tree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under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pwd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(and its flags),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vs. relative paths;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which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commands are just files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4 outline — Working with files and directories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05840"/>
            <a:ext cx="8046720" cy="184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touch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making things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less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reading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copy, move, rename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 Trash, no undo"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talk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file workout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5 outline — Getting help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05840"/>
            <a:ext cx="8046720" cy="112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mindset: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it up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don't memorize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--help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usually all you need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full manual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6 outline — Editing files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05840"/>
            <a:ext cx="8046720" cy="148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you need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GUI editor and a terminal editor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VSCode (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 &lt;file&gt;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(Ctrl-O save, Ctrl-X exit)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escape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vim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if you land in it accidentally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7 outline — Glue: redirection and pipes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05840"/>
            <a:ext cx="8046720" cy="148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command as a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"little factory"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input and output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sending output to a file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piping output into another command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grep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wc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glue partners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8 outline — Permissions and processes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05840"/>
            <a:ext cx="8046720" cy="148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-l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the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rwx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permission string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chmod +x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make a script runnable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what's running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kill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Ctrl-C — stopping things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9 outline — Users, root, and sudo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05840"/>
            <a:ext cx="8046720" cy="148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is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multi-user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everything belongs to someone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users vs.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(UID 0)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you can't install packages as a regular user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what it is, how it behaves, what it strips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10 outline — Environment variables, PATH, LD_LIBRARY_PATH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05840"/>
            <a:ext cx="8046720" cy="148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environment variables are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how the shell finds commands (and why venvs work)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foot-gun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avoid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LD_LIBRARY_PATH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shared libraries, with a security angle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11 outline — Python virtual environments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05840"/>
            <a:ext cx="8046720" cy="148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venvs exist (and why Ubuntu makes them practically mandatory)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install: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python3-venv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python3-pip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Create, activate, install, deactivate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 you'll use forever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12 outline — Wrap up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05840"/>
            <a:ext cx="8046720" cy="148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can now do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coming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workshop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cheat sheet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17830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Orientation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731520" cy="4572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Linux?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277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is the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system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runs most of the servers, cloud VMs, supercomputers, and embedded devices on the planet.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is Linux underneath. Most websites you visit run on Linux. Your VM is Linux.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is a real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success story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lvl="1" marL="4572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created because maintaining the Linux source was hard.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is free;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distributions may cost money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few people run Linux on the desktop/laptop.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Linux comes from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4" name="Image 0" descr="/Users/henschel/Dropbox/Documents/Publications/2026/2026_05_Step1Teaching/LinuxCurriculum/images/unix-hi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8240" y="960120"/>
            <a:ext cx="6827520" cy="3840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86460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"Unix history (simplified)" — Wikimedia Commons, CC BY-SA 3.0 / GFDL.  Linux is on the left; macOS sits in the BSD/Darwin branch.  Windows, DOS, OS/2 are not in this family.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Many distributions, one Linux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4" name="Image 0" descr="/Users/henschel/Dropbox/Documents/Publications/2026/2026_05_Step1Teaching/LinuxCurriculum/images/linux-distro-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60120"/>
            <a:ext cx="1019861" cy="3840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842821" y="1051560"/>
            <a:ext cx="6935419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"Linux" is technically just the </a:t>
            </a:r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core of the OS.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("distro") bundles the kernel with a package manager, default tools, and an installer.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distros exist. Most descend from a few ancestors:</a:t>
            </a:r>
            <a:endParaRPr lang="en-US" sz="1500" dirty="0"/>
          </a:p>
          <a:p>
            <a:pPr lvl="1" marL="457200" indent="-228600">
              <a:spcAft>
                <a:spcPts val="600"/>
              </a:spcAft>
              <a:buSzPct val="100000"/>
              <a:buChar char="■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Debian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Ubuntu, Mint</a:t>
            </a:r>
            <a:endParaRPr lang="en-US" sz="1500" dirty="0"/>
          </a:p>
          <a:p>
            <a:pPr lvl="1" marL="457200" indent="-228600">
              <a:spcAft>
                <a:spcPts val="600"/>
              </a:spcAft>
              <a:buSzPct val="100000"/>
              <a:buChar char="■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Hat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Fedora, CentOS, Rocky</a:t>
            </a:r>
            <a:endParaRPr lang="en-US" sz="1500" dirty="0"/>
          </a:p>
          <a:p>
            <a:pPr lvl="1" marL="457200" indent="-228600">
              <a:spcAft>
                <a:spcPts val="600"/>
              </a:spcAft>
              <a:buSzPct val="100000"/>
              <a:buChar char="■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Slackware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SuSE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others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VM runs </a:t>
            </a:r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(Debian family). What you learn today works on basically every distro.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365760" y="486460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"2023 Linux Distributions Timeline" — GioComitini via GNUclad, building on Lundqvist &amp; Rodic.  Wikimedia Commons, CC BY-SA 4.0.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shell?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234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program that reads what you type, runs it, and shows you the result.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shell we're using is called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There are others (zsh, fish) — same idea, slight differences.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window the shell runs in.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say "terminal" and "shell" loosely; they're not the same thing, but you'll be fine treating them as the same for now.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are we using the terminal? We have a GUI.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2702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GUI is a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layer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over the same files and programs. Everything you can do in the GUI, you can do in the terminal — and a lot more.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servers don't </a:t>
            </a:r>
            <a:pPr indent="0" marL="0">
              <a:buNone/>
            </a:pPr>
            <a:r>
              <a:rPr lang="en-US" sz="16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GUI. When you SSH into a cloud machine, all you get is a shell.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terminal is how professionals actually drive these systems: faster, scriptable, reproducible.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anything you can type, you can script.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looks good in movies.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ideas to hold in your head all day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05840"/>
            <a:ext cx="8046720" cy="169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filesystem is a tree.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Everything lives under one root,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shell is a conversation.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 say a command, it responds. One turn at a time.</a:t>
            </a:r>
            <a:endParaRPr lang="en-US" sz="16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is: `verb [flags] [nouns]`.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Verb = the command, flags = how, nouns = what to act on.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885440"/>
            <a:ext cx="8046720" cy="276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</a:t>
            </a:r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-l /home</a:t>
            </a:r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verb </a:t>
            </a:r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</a:t>
            </a:r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flag </a:t>
            </a:r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-l</a:t>
            </a:r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noun </a:t>
            </a:r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/home</a:t>
            </a:r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We'll come back to this all day.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17830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contact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731520" cy="4572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a terminal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76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your VM desktop, open the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application.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Or: right-click the desktop → "Open Terminal".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431288"/>
            <a:ext cx="1005840" cy="29260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43128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2861056"/>
            <a:ext cx="804672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terminal on your VM. Make it bigger so you can read it.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you're looking at — the prompt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005840"/>
            <a:ext cx="8046720" cy="5461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078992"/>
            <a:ext cx="7772400" cy="399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exouser@vm-42:~$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1734820"/>
            <a:ext cx="8046720" cy="148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exouser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your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username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vm-42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hostname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(this machine's name)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your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directory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(shorthand for your home)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shell is ready for a command.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268980"/>
            <a:ext cx="8046720" cy="276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telling you who you are, where you are, and that it's listening.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first commands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11734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7772400" cy="1027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whoami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hostname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date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echo "hello world"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654808"/>
            <a:ext cx="8046720" cy="1844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whoami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your username. Useful on a server when you forget who you logged in as.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hostname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name of this machine.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current date and time.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prints whatever you give it. Boring on its own. We'll see why it matters later.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completion — your new best friend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412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shell will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words for you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Type a few letters, press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it's unique → it completes. If not → press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twice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see options.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this constantly.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Prevents typos. Makes you faster.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893568"/>
            <a:ext cx="1005840" cy="2926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89356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3323336"/>
            <a:ext cx="804672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completion is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case-sensitive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Desktop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desktop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different.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Command history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77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shell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remembers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you typed. You don't have to retype.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/ ↓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walk through previous commands.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Ctrl-R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search your history. Start typing a few letters of an old command.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history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print everything you've typed in this session.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254248"/>
            <a:ext cx="1005840" cy="29260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2542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3684016"/>
            <a:ext cx="8046720" cy="690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↑ a few times. Find the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whoami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 ran a minute ago and re-run it.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17830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Navigating the filesystem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731520" cy="4572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filesystem is a tree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005840"/>
            <a:ext cx="8046720" cy="18999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078992"/>
            <a:ext cx="7772400" cy="1753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                  ← the "root" — everything lives under this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home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exouser    ← your home directory (this is what ~ means)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etc            ← system configuration files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tmp            ← scratch space, wiped on reboot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usr            ← installed programs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var            ← logs and variable data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bin            ← essential commands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2951480"/>
            <a:ext cx="8046720" cy="69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tree. One root.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drive letters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like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C:\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file has a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describes where it sits in the tree.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am I right now?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6781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7772400" cy="531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pwd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/home/exouser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159508"/>
            <a:ext cx="8046720" cy="1412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pwd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working directory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</a:t>
            </a:r>
            <a:pPr indent="0" marL="0">
              <a:buNone/>
            </a:pPr>
            <a:r>
              <a:rPr lang="en-US" sz="16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somewhere in the filesystem.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 usually act on your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location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unless you tell them otherwise.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here?  —  ls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11734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7772400" cy="1027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         # files &amp; dirs here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-l       # long format: sizes, dates, permissions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-a       # all files, including hidden (.foo)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-la      # long AND all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654808"/>
            <a:ext cx="8046720" cy="276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 / flags / nouns pattern: </a:t>
            </a:r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</a:t>
            </a:r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(verb), </a:t>
            </a:r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-l -a</a:t>
            </a:r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(flags), no noun → defaults to "here".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Moving around: cd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142113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7772400" cy="1274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/          # go to the root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/etc       # go into /etc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~          # go home  (~ means your home dir)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           # no args → also goes home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-          # go back to the previous directory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Absolute vs relative paths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234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path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starts with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Full address from the root. Always works.</a:t>
            </a:r>
            <a:endParaRPr lang="en-US" sz="1600" dirty="0"/>
          </a:p>
          <a:p>
            <a:pPr lvl="1" marL="4572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/home/exouser/Documents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path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does NOT start with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Relative to where you currently are.</a:t>
            </a:r>
            <a:endParaRPr lang="en-US" sz="1600" dirty="0"/>
          </a:p>
          <a:p>
            <a:pPr lvl="1" marL="4572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from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/home/exouser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Documents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means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/home/exouser/Documents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823208"/>
            <a:ext cx="8046720" cy="76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"here" (the current directory)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"one level up" (the parent directory)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moving around — both kinds of paths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241173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7772400" cy="22654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~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mkdir practice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practice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pwd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..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pwd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practice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../..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pwd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893058"/>
            <a:ext cx="8046720" cy="276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through what happened at each step. Did each </a:t>
            </a:r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pwd</a:t>
            </a:r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match what you expected?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do programs live?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11734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7772400" cy="1027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which ls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/usr/bin/ls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which python3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which bash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654808"/>
            <a:ext cx="8046720" cy="1412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which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tells you where a command's program file actually lives on disk.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 are just files.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real file at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/usr/bin/ls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type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shell looks it up and runs it.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17830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with files and directories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731520" cy="4572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Making things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191643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7772400" cy="17701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~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mkdir workshop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workshop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mkdir notes scripts data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touch hello.txt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touch notes/day1.md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397758"/>
            <a:ext cx="8046720" cy="76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directory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You can make several at once.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touch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creates an empty file (or updates its timestamp if it exists).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file contents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142113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7772400" cy="1274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cat /etc/os-release      # dump file to screen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less /etc/services       # pager — q to quit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head /etc/services       # first 10 lines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tail /etc/services       # last 10 lines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head -n 3 /etc/services  # first 3 lines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02458"/>
            <a:ext cx="1005840" cy="2926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90245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332226"/>
            <a:ext cx="8046720" cy="69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less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looks like it took over your terminal. It did.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`q` to get out.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less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next page,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back,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/word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search.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Copy, move, rename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92583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777240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cp hello.txt hello-copy.txt          # cp source dest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mv hello-copy.txt notes/             # move into notes/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mv notes/hello-copy.txt notes/greeting.txt   # rename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407158"/>
            <a:ext cx="8046720" cy="76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There's no separate rename command.</a:t>
            </a:r>
            <a:endParaRPr lang="en-US" sz="1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Deleting  —  read this before you type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2369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deletes files. </a:t>
            </a:r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Permanently.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There is no Trash. There is no undo.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 -r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deletes a directory and everything in it. </a:t>
            </a:r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Recursively.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 -rf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deletes recursively and forcefully (no prompts).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infamous typo in computing: </a:t>
            </a:r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 -rf /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tries to delete the entire system.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second: </a:t>
            </a:r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 -rf ~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wipes your home directory.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look at what you typed before pressing Enter. Especially with `rm`.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Deleting  —  carefully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11734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7772400" cy="1027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rm hello.txt          # gone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mkdir junk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touch junk/a junk/b junk/c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rm -r junk            # gone with everything inside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654808"/>
            <a:ext cx="1005840" cy="2926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65480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084576"/>
            <a:ext cx="8046720" cy="69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you're unsure, run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first to see what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buNone/>
            </a:pPr>
            <a:r>
              <a:rPr lang="en-US" sz="14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affect.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use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 -i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which asks before each delete.</a:t>
            </a:r>
            <a:endParaRPr lang="en-US" sz="1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Wildcards: matching many files at once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</a:t>
            </a:r>
            <a:pPr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wildcards</a:t>
            </a:r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matching filenames:</a:t>
            </a:r>
            <a:endParaRPr lang="en-US" sz="900" dirty="0"/>
          </a:p>
          <a:p>
            <a:pPr lvl="1" marL="457200" indent="-228600">
              <a:spcAft>
                <a:spcPts val="600"/>
              </a:spcAft>
              <a:buSzPct val="100000"/>
              <a:buChar char="■"/>
            </a:pPr>
            <a:r>
              <a:rPr lang="en-US" sz="9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matches </a:t>
            </a:r>
            <a:pPr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sequence</a:t>
            </a:r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characters (including nothing)</a:t>
            </a:r>
            <a:endParaRPr lang="en-US" sz="900" dirty="0"/>
          </a:p>
          <a:p>
            <a:pPr lvl="1" marL="457200" indent="-228600">
              <a:spcAft>
                <a:spcPts val="600"/>
              </a:spcAft>
              <a:buSzPct val="100000"/>
              <a:buChar char="■"/>
            </a:pPr>
            <a:r>
              <a:rPr lang="en-US" sz="9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</a:t>
            </a:r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matches </a:t>
            </a:r>
            <a:pPr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one</a:t>
            </a:r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character</a:t>
            </a:r>
            <a:endParaRPr lang="en-US" sz="9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shell </a:t>
            </a:r>
            <a:pPr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expands</a:t>
            </a:r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these </a:t>
            </a:r>
            <a:pPr indent="0" marL="0">
              <a:buNone/>
            </a:pPr>
            <a:r>
              <a:rPr lang="en-US" sz="9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command sees them — the command just gets the list of matching filenames.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471928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47192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901696"/>
            <a:ext cx="8046720" cy="1338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974848"/>
            <a:ext cx="7772400" cy="1192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~/workshop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touch a.txt b.txt c.log readme.md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*.txt        # a.txt  b.txt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*.log        # c.log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?.txt        # a.txt  b.txt   (one char + .txt)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*            # everything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echo *.txt      # see what the shell expands * into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4285996"/>
            <a:ext cx="804672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</a:t>
            </a:r>
            <a:pPr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</a:t>
            </a:r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</a:t>
            </a:r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</a:t>
            </a:r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</a:t>
            </a:r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</a:t>
            </a:r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grep</a:t>
            </a:r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… most filename-taking commands.</a:t>
            </a:r>
            <a:endParaRPr lang="en-US" sz="10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0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 *.tmp</a:t>
            </a:r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deletes every </a:t>
            </a:r>
            <a:pPr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.tmp</a:t>
            </a:r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file in this directory — pairs with the </a:t>
            </a:r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"look before you press Enter"</a:t>
            </a:r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rule.</a:t>
            </a:r>
            <a:endParaRPr lang="en-US" sz="10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nothing matches, you'll get an error or the literal </a:t>
            </a:r>
            <a:pPr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passed through. </a:t>
            </a:r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`ls &lt;pattern&gt;` first</a:t>
            </a:r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if unsure.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Hands-on: a small file workout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2646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your home directory.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directory called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make three directories: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morning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afternoon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evening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morning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create a file called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breakfast.txt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breakfast.txt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afternoon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renaming it to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lunch.txt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lunch.txt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afternoon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evening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renaming it to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dinner.txt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recursively: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-R lab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the whole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directory.</a:t>
            </a:r>
            <a:endParaRPr lang="en-US" sz="1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5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17830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help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731520" cy="4572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will not remember all of this. Nobody does.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48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in Linux is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about memorizing commands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about knowing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look things up fast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tools, in order of usefulness for beginners:</a:t>
            </a:r>
            <a:endParaRPr lang="en-US" sz="1600" dirty="0"/>
          </a:p>
          <a:p>
            <a:pPr lvl="1" marL="4572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--help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which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apropos</a:t>
            </a:r>
            <a:endParaRPr lang="en-US" sz="16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--help  —  the quickest answer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6781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7772400" cy="531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--help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mkdir --help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159508"/>
            <a:ext cx="8046720" cy="76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commands accept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--help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print a short usage summary.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this is all you need.</a:t>
            </a:r>
            <a:endParaRPr lang="en-US" sz="16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  —  the full manual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43053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7772400" cy="284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man ls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1911858"/>
            <a:ext cx="8046720" cy="76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the full manual page. Uses the same pager as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less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600" dirty="0"/>
          </a:p>
          <a:p>
            <a:pPr lvl="1" marL="457200" indent="-2286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next page   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/word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search   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quit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724658"/>
            <a:ext cx="1005840" cy="2926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72465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3154426"/>
            <a:ext cx="804672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pages are dense and written for people who mostly understand the command already.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--help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reach for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you need the full detail.</a:t>
            </a:r>
            <a:endParaRPr lang="en-US" sz="14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Pattern check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5461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7772400" cy="399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-la /etc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8640" y="2027428"/>
            <a:ext cx="8046720" cy="112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Verb: ____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Flags: ____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Nouns: ____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3200908"/>
            <a:ext cx="8046720" cy="276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(Wait for the room: </a:t>
            </a:r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</a:t>
            </a:r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-l</a:t>
            </a:r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-a</a:t>
            </a:r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/etc</a:t>
            </a:r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.) Every command today follows this shape.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6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17830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Editing files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731520" cy="4572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ways to edit, and why you need both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2702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a GUI editor on your VM: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VSCode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It's lovely. Use it when you can.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also need to know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terminal editor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SSH into a server later in this workshop, there is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VSCode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Only a terminal.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use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because it's the friendliest.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(Vim and Emacs exist; the "how do I exit Vim?" jokes are why we use nano.)</a:t>
            </a:r>
            <a:endParaRPr lang="en-US" sz="16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First: edit with VSCode (GUI)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6781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7772400" cy="531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~/workshop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code notes/day1.md       # opens VSCode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159508"/>
            <a:ext cx="8046720" cy="112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something. Save with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Ctrl-S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Close.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in the terminal: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notes/day1.md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you'll see what you typed.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file. Two surfaces.</a:t>
            </a:r>
            <a:endParaRPr lang="en-US" sz="16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Now: edit the same file with nano (terminal)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43053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7772400" cy="284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nano notes/day1.md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1911858"/>
            <a:ext cx="8046720" cy="148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text is in the middle. The bottom shows shortcuts.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^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means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So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^X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Ctrl-X.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Ctrl-O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write Out (save). Press Enter to confirm filename.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Ctrl-X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eXit.</a:t>
            </a:r>
            <a:endParaRPr lang="en-US" sz="16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Exercise: edit a file two ways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77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~/workshop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create a file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aboutme.txt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VSCode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add three lines: your name, your major, one thing you hope to learn.</a:t>
            </a:r>
            <a:endParaRPr lang="en-US" sz="16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add a fourth line: your favorite food.</a:t>
            </a:r>
            <a:endParaRPr lang="en-US" sz="16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aboutme.txt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confirm all four lines are there.</a:t>
            </a:r>
            <a:endParaRPr lang="en-US" sz="16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write a real shell script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script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just a text file with shell commands in it.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.sh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extension is a convention — Linux doesn't </a:t>
            </a:r>
            <a:pPr indent="0" marL="0">
              <a:buNone/>
            </a:pPr>
            <a:r>
              <a:rPr lang="en-US" sz="14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it, but humans use it to know what the file is.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426208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42620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855976"/>
            <a:ext cx="8046720" cy="168529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929128"/>
            <a:ext cx="7772400" cy="1538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~/workshop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nano hello.sh         # type the two lines below, save, exit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#!/bin/bash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echo "Hello, World!"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cat hello.sh          # confirm it's saved</a:t>
            </a:r>
            <a:endParaRPr lang="en-US" sz="13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</a:t>
            </a:r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#!/bin/bash</a:t>
            </a:r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  —  the shebang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Pronounced "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shuh-bang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 (or "hash-bang").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#!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must be the 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two characters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line 1.</a:t>
            </a:r>
            <a:endParaRPr lang="en-US" sz="12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the kernel: "hand this file to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/bin/bash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someone runs it."</a:t>
            </a:r>
            <a:endParaRPr lang="en-US" sz="12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shebang, the system has to 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interpreter — and may refuse to run the script.</a:t>
            </a:r>
            <a:endParaRPr lang="en-US" sz="12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shebangs you'll see in the wild:</a:t>
            </a:r>
            <a:endParaRPr lang="en-US" sz="1200" dirty="0"/>
          </a:p>
          <a:p>
            <a:pPr lvl="1" marL="457200" indent="-2286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#!/bin/sh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minimal POSIX shell</a:t>
            </a:r>
            <a:endParaRPr lang="en-US" sz="1200" dirty="0"/>
          </a:p>
          <a:p>
            <a:pPr lvl="1" marL="457200" indent="-2286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#!/usr/bin/env python3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Python (the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trick finds python3 in PATH)</a:t>
            </a:r>
            <a:endParaRPr lang="en-US" sz="1200" dirty="0"/>
          </a:p>
          <a:p>
            <a:pPr lvl="1" marL="457200" indent="-2286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#!/usr/bin/perl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Perl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767328"/>
            <a:ext cx="1005840" cy="2926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76732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4197096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#!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comment, even though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bash comment character. The kernel reads the first two bytes of the file specially.</a:t>
            </a:r>
            <a:endParaRPr lang="en-US" sz="1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it executable, then run it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2560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7772400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./hello.sh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bash: ./hello.sh: Permission denied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-l hello.sh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-rw-r--r-- 1 exouser exouser 32 ... hello.sh     ← no 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chmod +x hello.sh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-l hello.sh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-rwxr-xr-x 1 exouser exouser 32 ... hello.sh     ← x added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./hello.sh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Hello, World!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041648"/>
            <a:ext cx="804672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chmod +x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adds the 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bit. (Block 8 goes deeper into permissions.)</a:t>
            </a:r>
            <a:endParaRPr lang="en-US" sz="12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./hello.sh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The current directory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your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for security.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means "the file right here." (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Block 10.)</a:t>
            </a:r>
            <a:endParaRPr lang="en-US" sz="12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Exercise: your own script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353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~/workshop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use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nano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create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greet.sh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this content: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834388"/>
            <a:ext cx="8046720" cy="6121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907540"/>
            <a:ext cx="7772400" cy="465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#!/bin/bash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"Hello from $USER on $(hostname) — today is $(date)"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492248"/>
            <a:ext cx="8046720" cy="1275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to run it: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./greet.sh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should fail with "Permission denied."</a:t>
            </a:r>
            <a:endParaRPr lang="en-US" sz="13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it executable: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chmod +x greet.sh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again. You should see your username, hostname, and the current date.</a:t>
            </a:r>
            <a:endParaRPr lang="en-US" sz="13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(Bonus) Remove the shebang line and re-run. What changes?</a:t>
            </a:r>
            <a:endParaRPr lang="en-US" sz="13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mention: vim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69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see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vim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mentioned everywhere. Powerful. Beloved by some. Infuriating to most beginners.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accidentally end up in vim: press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type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`:q!`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hit Enter to escape without saving.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all you need to know about vim today.</a:t>
            </a:r>
            <a:endParaRPr lang="en-US" sz="16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7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17830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Glue: redirection and pipes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731520" cy="4572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block matters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77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far, each command has been standalone.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power of the shell is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commands.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ideas: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redirection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(output → file) and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pipes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(output → another command).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you get these, you can solve problems by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composing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small tools.</a:t>
            </a:r>
            <a:endParaRPr lang="en-US" sz="16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Redirection: send output to a file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142113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7772400" cy="1274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echo "first line" &gt; log.txt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cat log.txt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echo "second line" &gt;&gt; log.txt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echo "third line" &gt;&gt; log.txt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cat log.txt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902458"/>
            <a:ext cx="8046720" cy="69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send output INTO this file. If it exists,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overwritten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file instead of overwriting.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644138"/>
            <a:ext cx="1005840" cy="2926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64413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4073906"/>
            <a:ext cx="804672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silently overwrites. If you meant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typed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your file is gone.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before you press Enter.</a:t>
            </a:r>
            <a:endParaRPr lang="en-US" sz="14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Pipes: send output to another command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92583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777240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/etc              # lots of output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/etc | less       # pipe into a pager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/etc | wc -l      # count lines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407158"/>
            <a:ext cx="8046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(pipe) takes the output of the left command and feeds it to the right command.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wc -l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counts lines → answers "how many things in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/etc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?"</a:t>
            </a:r>
            <a:endParaRPr lang="en-US" sz="16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example: searching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11734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7772400" cy="1027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grep root /etc/passwd            # find lines mentioning root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cat /etc/passwd | grep root      # same idea, via pipe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cat /etc/passwd | wc -l          # how many users?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/usr/bin | grep python        # every python program in /usr/bin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654808"/>
            <a:ext cx="804672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grep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searches for a pattern in text.</a:t>
            </a:r>
            <a:endParaRPr lang="en-US" sz="14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mental model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77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command is a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 factory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an input and an output.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conveyor belt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between factories.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drains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a file.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as many as you like. This is how short shell commands solve big problems.</a:t>
            </a:r>
            <a:endParaRPr lang="en-US" sz="16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Exercise: compose a one-liner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844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how many lines are in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/etc/services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 (hint: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wc -l /etc/services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lines in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/etc/services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mention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 (hint: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grep http /etc/services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how many lines in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/etc/services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mention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 (combine grep and wc with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the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lines into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~/http-lines.txt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 (combine grep and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4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8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17830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Permissions and processes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731520" cy="4572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block is short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going to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 vocabulary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master it.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you can read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-l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roughly know what's going on, and you know how to see what's running.</a:t>
            </a:r>
            <a:endParaRPr lang="en-US" sz="16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ls -l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6781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7772400" cy="531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-l /etc/hostname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-rw-r--r-- 1 root root 8 May 10 09:00 /etc/hostname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159508"/>
            <a:ext cx="804672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Columns, in order:  permissions, links, owner, group, size, modified, name.</a:t>
            </a:r>
            <a:endParaRPr lang="en-US" sz="14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Decoding the permission string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005840"/>
            <a:ext cx="8046720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078992"/>
            <a:ext cx="77724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    rw-     r--     r--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  owner   group   others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8046720" cy="167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char: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regular file,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directory.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three: what the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 do.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three: what the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 do.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three: what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else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 do.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group is three slots: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ead,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rite, e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ecute.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545840"/>
            <a:ext cx="8046720" cy="276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-rw-r--r--</a:t>
            </a:r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regular file, owner can read+write, everyone else can only read.</a:t>
            </a:r>
            <a:endParaRPr lang="en-US" sz="13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Trying it  —  chmod +x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16687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7772400" cy="152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touch script.sh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-l script.sh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-rw-r--r-- ...                     # not executable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chmod +x script.sh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-l script.sh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-rwxr-xr-x ...                     # executable now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150108"/>
            <a:ext cx="804672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added the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executable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bit. This is how you make a script runnable.</a:t>
            </a:r>
            <a:endParaRPr lang="en-US" sz="14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running?  —  processes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69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running program. Every command you run starts one.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browser tab, every background service — all processes.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77288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17728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607056"/>
            <a:ext cx="8046720" cy="6781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680208"/>
            <a:ext cx="7772400" cy="531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ps                    # processes in this terminal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ps aux | head -n 20   # all processes, first 20 lines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3330956"/>
            <a:ext cx="8046720" cy="276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row: a </a:t>
            </a:r>
            <a:pPr indent="0" marL="0">
              <a:buNone/>
            </a:pPr>
            <a:r>
              <a:rPr lang="en-US" sz="1300" b="1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</a:t>
            </a:r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(process ID), owner, CPU/memory, command.</a:t>
            </a:r>
            <a:endParaRPr lang="en-US" sz="13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Watching live: top  /  htop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6781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7772400" cy="531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top      # live, updating view  (q to quit)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htop     # nicer version with colors, if installed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159508"/>
            <a:ext cx="8046720" cy="76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Activity Monitor / Task Manager, but in the terminal.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by CPU usage by default.</a:t>
            </a:r>
            <a:endParaRPr lang="en-US" sz="16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Stopping a process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412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kill 1234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politely ask process 1234 to stop.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kill -9 1234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force it to stop. Use sparingly.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Ctrl-C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stop the currently running command. One of the most useful keys to know.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893568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89356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323336"/>
            <a:ext cx="8046720" cy="6781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3396488"/>
            <a:ext cx="7772400" cy="531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sleep 60          # shell hangs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^C                  # press Ctrl-C — you're back</a:t>
            </a:r>
            <a:endParaRPr lang="en-US" sz="15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9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17830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Users, root, and sudo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731520" cy="4572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Linux is a multi-user system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Linux machine has the concept of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user has a username, a numeric ID, and a home directory.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saw this already: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whoami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printed your username, and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-l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showed file owners.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and processes always belong to *some* user.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Permissions decide who else can touch them.</a:t>
            </a:r>
            <a:endParaRPr lang="en-US" sz="16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kinds of users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05840"/>
            <a:ext cx="8046720" cy="281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users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(like you) — can read/write/run their own files plus anything permissions allow. Cannot change the system itself.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`root` user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administrator. Unique. Numeric ID 0. Bypasses almost all permission checks:</a:t>
            </a:r>
            <a:endParaRPr lang="en-US" sz="1400" dirty="0"/>
          </a:p>
          <a:p>
            <a:pPr lvl="1" marL="4572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read any file.</a:t>
            </a:r>
            <a:endParaRPr lang="en-US" sz="1400" dirty="0"/>
          </a:p>
          <a:p>
            <a:pPr lvl="1" marL="4572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modify any file.</a:t>
            </a:r>
            <a:endParaRPr lang="en-US" sz="1400" dirty="0"/>
          </a:p>
          <a:p>
            <a:pPr lvl="1" marL="4572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kill any process.</a:t>
            </a:r>
            <a:endParaRPr lang="en-US" sz="1400" dirty="0"/>
          </a:p>
          <a:p>
            <a:pPr lvl="1" marL="4572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install or remove software for the whole machine.</a:t>
            </a:r>
            <a:endParaRPr lang="en-US" sz="1400" dirty="0"/>
          </a:p>
          <a:p>
            <a:pPr lvl="1" marL="4572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also wreck the system in one command.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3870960"/>
            <a:ext cx="8046720" cy="276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exactly </a:t>
            </a:r>
            <a:pPr indent="0" marL="0">
              <a:buNone/>
            </a:pPr>
            <a:r>
              <a:rPr lang="en-US" sz="1300" b="1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root account per Linux machine. That's a feature, not a limitation.</a:t>
            </a:r>
            <a:endParaRPr lang="en-US" sz="13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split exists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262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time you should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 able to break the system — even by accident.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Separating "the user doing work" from "the user with system-wide power" means a typo, a buggy program, or malware running as you can damage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stuff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but not the OS.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logic protects other users on shared systems — your mistakes don't affect them.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one of the reasons Linux servers stay up for years.</a:t>
            </a:r>
            <a:endParaRPr lang="en-US" sz="16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you can't install packages as a normal user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Installing a package puts files into directories like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/usr/bin/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/usr/lib/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/etc/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directories are owned by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Look: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141728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14172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571496"/>
            <a:ext cx="8046720" cy="15697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644648"/>
            <a:ext cx="7772400" cy="1423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-ld /usr/bin /usr/lib /etc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drwxr-xr-x ... root root ...   /usr/bin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drwxr-xr-x ... root root ...   /usr/lib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drwxr-xr-x ... root root ...   /etc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apt install cowsay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E: Could not open lock file ... Permission denied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4186936"/>
            <a:ext cx="8046720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</a:t>
            </a:r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apt</a:t>
            </a:r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being unfriendly — the filesystem doing its job. To install system-wide, you need to act as </a:t>
            </a:r>
            <a:pPr indent="0" marL="0">
              <a:buNone/>
            </a:pPr>
            <a:r>
              <a:rPr lang="en-US" sz="1300" b="1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</a:t>
            </a:r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sudo 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"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ubstitute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ser,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 — run a single command as another user, defaulting to root.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authenticate with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password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root's password.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(You usually don't even know root's password, and you don't need to.)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you're </a:t>
            </a:r>
            <a:pPr indent="0" marL="0">
              <a:buNone/>
            </a:pPr>
            <a:r>
              <a:rPr lang="en-US" sz="14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use sudo is configured by a sysadmin in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/etc/sudoers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your workshop VM: your account has sudo. On a random server: likely not.</a:t>
            </a:r>
            <a:endParaRPr lang="en-US" sz="14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sudo behaves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180086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7772400" cy="16545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whoami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exouser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sudo whoami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[sudo] password for exouser: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sudo apt install cowsay      # now it works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282188"/>
            <a:ext cx="8046720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shell is still </a:t>
            </a:r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only the one command was elevated.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sudo asks for your password. </a:t>
            </a:r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shows up as you type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that's intentional.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Sudo caches your authentication for ~15 minutes.</a:t>
            </a:r>
            <a:endParaRPr lang="en-US" sz="13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a root shell: sudo -i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16687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7772400" cy="152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sudo -i              # drop into an interactive root shell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whoami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pwd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/root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exit                 # back to your normal shell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150108"/>
            <a:ext cx="8046720" cy="1021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typically changes: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 a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admin commands.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sparingly.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longer you stay root, the more damage a typo can do.</a:t>
            </a:r>
            <a:endParaRPr lang="en-US" sz="14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out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209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habitually `sudo` everything.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 as yourself; sudo only when you need to.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 rm -rf /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really does try to wipe the system.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before you press Enter when sudo is on the line.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security,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strips most environment variables — including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LD_LIBRARY_PATH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reset to a safe default. (Next block.)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 !!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re-runs your last command with sudo — useful when you forgot it the first time.</a:t>
            </a:r>
            <a:endParaRPr lang="en-US" sz="14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996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whoami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Note your username.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 whoami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Note the output.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 id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Compare. The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uid=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gid=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change.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apt update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(no sudo) — fails.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 apt update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works.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(Optional)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 -i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whoami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exit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10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17830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 variables, PATH, LD_LIBRARY_PATH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731520" cy="4572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are environment variables?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shell carries a bag of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settings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called environment variables.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They're how programs discover things about their environment: who you are, your home, your language, where to look for things.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program you launch inherits a copy of this bag.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751328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75132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181096"/>
            <a:ext cx="8046720" cy="11074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3254248"/>
            <a:ext cx="7772400" cy="96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env | head -n 20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echo $HOME       # /home/exouser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echo $USER       # exouser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echo $SHELL      # /bin/bash</a:t>
            </a:r>
            <a:endParaRPr lang="en-US" sz="14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 —  how the shell finds commands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69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type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how does the shell know that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program in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/usr/bin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looks in the directories listed in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`PATH`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order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runs the first match.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77288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17728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607056"/>
            <a:ext cx="8046720" cy="125603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680208"/>
            <a:ext cx="7772400" cy="1109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echo $PATH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/home/exouser/.local/bin:/usr/local/bin:/usr/bin:/bin:/usr/games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which ls           # which PATH entry won?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/usr/bin/ls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3908806"/>
            <a:ext cx="8046720" cy="276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Colon-separated list. The shell tries each left to right. </a:t>
            </a:r>
            <a:pPr indent="0" marL="0">
              <a:buNone/>
            </a:pPr>
            <a:r>
              <a:rPr lang="en-US" sz="1300" b="1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wins.</a:t>
            </a:r>
            <a:endParaRPr lang="en-US" sz="13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PATH matters in this workshop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exactly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activating a venv works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activate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prepends the venv's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bin/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point into the venv.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write your own script in some random directory, the shell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won't find it by name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you'd call it by full path.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directory to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how you make your own programs callable by name.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3000248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0002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430016"/>
            <a:ext cx="8046720" cy="6781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3503168"/>
            <a:ext cx="7772400" cy="531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export PATH=$HOME/scripts:$PATH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echo $PATH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4153916"/>
            <a:ext cx="8046720" cy="276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lasts only for </a:t>
            </a:r>
            <a:pPr indent="0" marL="0">
              <a:buNone/>
            </a:pPr>
            <a:r>
              <a:rPr lang="en-US" sz="1300" b="1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</a:t>
            </a:r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shell session.</a:t>
            </a:r>
            <a:endParaRPr lang="en-US" sz="13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small PATH foot-gun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typo PATH — e.g.,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PATH=$HOME/scripts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(forgetting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:$PATH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end) — you can suddenly lose access to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almost everything.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programs still exist on disk. The shell just can't find them.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open a new terminal (the bad change doesn't persist), or restore manually: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751328"/>
            <a:ext cx="8046720" cy="43053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824480"/>
            <a:ext cx="7772400" cy="284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export PATH=/usr/bin:/bin:$PATH</a:t>
            </a:r>
            <a:endParaRPr lang="en-US" sz="15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LD_LIBRARY_PATH  —  how programs find shared libraries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34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programs don't carry all their code with them.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depend on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libraries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files ending in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.so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loaded at run time.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has standard places it looks (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/usr/lib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/lib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...).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LD_LIBRARY_PATH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lets you add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places to look.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827528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82752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257296"/>
            <a:ext cx="8046720" cy="82677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3330448"/>
            <a:ext cx="7772400" cy="680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ldd $(which ls)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libc.so.6 =&gt; /lib/x86_64-linux-gnu/libc.so.6 ...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you'll touch LD_LIBRARY_PATH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run a program whose libraries live in a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non-standard place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custom-built software, scientific tools, bundled commercial software.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1088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10108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530856"/>
            <a:ext cx="8046720" cy="43053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604008"/>
            <a:ext cx="7772400" cy="284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LD_LIBRARY_PATH=/opt/mytool/lib ./mytool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3007106"/>
            <a:ext cx="8046720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the variable </a:t>
            </a:r>
            <a:pPr indent="0" marL="0">
              <a:buNone/>
            </a:pPr>
            <a:r>
              <a:rPr lang="en-US" sz="1300" b="1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for this one command</a:t>
            </a:r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Symptom you'll hit: </a:t>
            </a:r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 while loading shared libraries: libfoo.so.3</a:t>
            </a:r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reach for this.</a:t>
            </a:r>
            <a:endParaRPr lang="en-US" sz="13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security flavor for later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442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LD_LIBRARY_PATH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(and a sibling,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LD_PRELOAD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change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code gets loaded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a program, they're a classic vector for both legitimate library overrides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library-injection attacks.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safety, Linux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strips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LD_LIBRARY_PATH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you run a program with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any setuid binary.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Intentional.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cybersecurity session will revisit why.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924048"/>
            <a:ext cx="1005840" cy="2926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92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3353816"/>
            <a:ext cx="804672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set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LD_LIBRARY_PATH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globally (e.g., in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.bashrc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Set it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just for the command that needs it.</a:t>
            </a:r>
            <a:endParaRPr lang="en-US" sz="14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Making changes stick: .bashrc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your terminal is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temporary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gone when the terminal closes.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it permanent, add the line to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~/.bashrc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That file runs every time you open a new bash shell.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426208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42620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855976"/>
            <a:ext cx="8046720" cy="16687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929128"/>
            <a:ext cx="7772400" cy="152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nano ~/.bashrc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at the bottom, add: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export PATH=$HOME/scripts:$PATH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Ctrl-O save, Ctrl-X exit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source ~/.bashrc       # apply to the current terminal</a:t>
            </a:r>
            <a:endParaRPr lang="en-US" sz="15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Exercise: PATH in practice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257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your current PATH: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$PATH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where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lives: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which python3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shared libraries python3 needs: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ldd $(which python3) | head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tiny script: 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-p ~/scripts &amp;&amp; echo 'echo "hi from my script"' &gt; ~/scripts/greet &amp;&amp; chmod +x ~/scripts/greet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running it by name: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greet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fails, not in PATH.</a:t>
            </a:r>
            <a:endParaRPr lang="en-US" sz="12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by full path: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~/scripts/greet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works.</a:t>
            </a:r>
            <a:endParaRPr lang="en-US" sz="12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~/scripts to PATH: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PATH=$HOME/scripts:$PATH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greet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works by name.</a:t>
            </a:r>
            <a:endParaRPr lang="en-US" sz="12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17830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 virtual environments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731520" cy="4572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block matters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2418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Python you'll write needs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libraries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installed with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install libraries system-wide, two projects with different version needs collide.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Worse: on Ubuntu,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Python is used by the OS itself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Random installs can break system tools.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environment ("venv")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an isolated Python setup that lives in a folder, per project.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way Python is used on Linux.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You'll use venvs constantly.</a:t>
            </a:r>
            <a:endParaRPr lang="en-US" sz="14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One-time install: get the venv module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6781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7772400" cy="531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sudo apt update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sudo apt install python3-venv python3-pip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159508"/>
            <a:ext cx="804672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do this as the administrator. Needed for installing system packages.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be prompted for your password.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shows up as you type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that's normal.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apt update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refreshes the package list;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apt install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installs.</a:t>
            </a:r>
            <a:endParaRPr lang="en-US" sz="14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a venv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11734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7772400" cy="1027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~/workshop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python3 -m venv myenv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myenv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   include   lib   pyvenv.cfg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654808"/>
            <a:ext cx="804672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"Run the Python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venv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tool, make a venv in a new directory called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myenv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."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 normal directory holding an isolated Python plus a place for installed libraries.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delete the venv, delete the folder.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system cleanup needed.</a:t>
            </a:r>
            <a:endParaRPr lang="en-US" sz="14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Activate the venv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77724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source myenv/bin/activate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(myenv) $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258568"/>
            <a:ext cx="804672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 now starts with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(myenv)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That's the venv telling you it's active.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runs the activation script in your current shell. It changes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point inside the venv.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you install now goes into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myenv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system.</a:t>
            </a:r>
            <a:endParaRPr lang="en-US" sz="14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 a package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8763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7772400" cy="7299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(myenv) $ pip install requests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(myenv) $ python3 -c "import requests; print(requests.__version__)"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2.31.0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357628"/>
            <a:ext cx="8046720" cy="69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requests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popular library for making HTTP requests.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 is installed — but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inside this venv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what's in the venv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191643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7772400" cy="17701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(myenv) $ pip list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      Version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  -------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certifi      ...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charset-...  ...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requests     2.31.0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urllib3      ...</a:t>
            </a:r>
            <a:endParaRPr lang="en-US" sz="15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Leaving the venv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8046720" cy="11074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7772400" cy="96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(myenv) $ deactivate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python3 -c "import requests"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ModuleNotFoundError: No module named 'requests'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588768"/>
            <a:ext cx="8046720" cy="276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the point — the venv kept it contained.</a:t>
            </a:r>
            <a:endParaRPr lang="en-US" sz="13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workflow you'll use forever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996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folder for the project.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venv inside: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python3 -m venv env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it: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env/bin/activate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whatever libraries the project needs.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on the project.</a:t>
            </a:r>
            <a:endParaRPr lang="en-US" sz="14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deactivate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done.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477768"/>
            <a:ext cx="8046720" cy="276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back later → just re-activate. You don't need to recreate the venv.</a:t>
            </a:r>
            <a:endParaRPr lang="en-US" sz="13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out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venv on Ubuntu often fails with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externally-managed-environment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That's Ubuntu protecting you. Fix: make and activate a venv first.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clone someone else's Python project, they'll usually have a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requirements.txt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After making your own venv: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put the venv folder in git.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It's a local thing per machine.</a:t>
            </a:r>
            <a:endParaRPr lang="en-US" sz="14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Exercise: a venv from scratch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35608"/>
            <a:ext cx="8046720" cy="242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~/python-lab &amp;&amp; cd ~/python-lab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venv called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python3 -m venv env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it. Confirm your prompt shows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(env)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a fun package: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cowsay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it: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cowsay -t "hello from my venv"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deactivate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279400" indent="-2794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cowsay -t hi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again. It says "command not found" — because cowsay only lived in the venv.</a:t>
            </a:r>
            <a:endParaRPr lang="en-US" sz="13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17830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Wrap up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731520" cy="4572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now do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05840"/>
            <a:ext cx="8046720" cy="311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terminal and read the prompt.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the filesystem with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pwd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paths.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Create, read, copy, move, delete files and directories.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files in both VSCode and nano.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up help with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--help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output to files (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and chain commands with pipes (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-l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roughly understand permissions; see what's running; stop it.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regular user from root, and use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individual commands.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LD_LIBRARY_PATH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environment variables.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and use Python virtual environments.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4170680"/>
            <a:ext cx="8046720" cy="276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the entire foundation for every later session. </a:t>
            </a:r>
            <a:pPr indent="0" marL="0">
              <a:buNone/>
            </a:pPr>
            <a:r>
              <a:rPr lang="en-US" sz="1300" b="1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 done.</a:t>
            </a:r>
            <a:endParaRPr lang="en-US" sz="13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Cheat sheet — Navigation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graphicFrame>
        <p:nvGraphicFramePr>
          <p:cNvPr id="1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1206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pwd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Print working directory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ls  /  ls -l  /  ls -la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files (long, all)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cd &lt;path&gt;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directory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cd ~   /   cd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 home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cd ..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one level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cd -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 to previous directory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Cheat sheet — Files &amp; directories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graphicFrame>
        <p:nvGraphicFramePr>
          <p:cNvPr id="1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1206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mkdir &lt;name&gt;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 a directory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touch &lt;name&gt;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 an empty file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cat &lt;file&gt;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Dump a file to screen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less &lt;file&gt;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 through a file (q to quit)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head / tail &lt;file&gt;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/ last 10 lines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cp &lt;src&gt; &lt;dst&gt;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mv &lt;src&gt; &lt;dst&gt;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 / rename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rm &lt;file&gt;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 (no undo!)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rm -r &lt;dir&gt;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 a directory and contents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Cheat sheet — Help, Editing, Glue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graphicFrame>
        <p:nvGraphicFramePr>
          <p:cNvPr id="1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1206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&lt;cmd&gt; --help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Quick usage summary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man &lt;cmd&gt;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manual (q to quit)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which &lt;cmd&gt;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the program lives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apropos &lt;word&gt;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commands by keyword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code &lt;file&gt;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in VSCode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nano &lt;file&gt;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in nano (Ctrl-O save, Ctrl-X exit)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&gt;   /   &gt;&gt;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/ append output to file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|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 output to next command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grep &lt;pat&gt; &lt;file&gt;  /  wc -l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/ count lines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Cheat sheet — Permissions &amp; processes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graphicFrame>
        <p:nvGraphicFramePr>
          <p:cNvPr id="1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1206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ls -l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permissions, owner, size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chmod +x &lt;file&gt;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 a file executable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ps aux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processes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top  /  htop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process view (q to quit)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kill &lt;PID&gt;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a process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Ctrl-C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the current command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Tab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Auto-complete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↑   /   Ctrl-R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Previous command  /  search history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Cheat sheet — Users &amp; root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graphicFrame>
        <p:nvGraphicFramePr>
          <p:cNvPr id="1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1206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whoami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username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id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numeric IDs and group memberships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sudo &lt;cmd&gt;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one command as root (your own password)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sudo -i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an interactive root shell (exit to leave)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sudo !!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Re-run the previous command with sudo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sudo apt update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Refresh package list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sudo apt install &lt;pkg&gt;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 a package system-wide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Cheat sheet — Environment &amp; paths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graphicFrame>
        <p:nvGraphicFramePr>
          <p:cNvPr id="1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1206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env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all environment variables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echo $VAR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Print one variable's 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echo $PATH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command search path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which &lt;cmd&gt;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PATH entry wins for a command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export VAR=value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 a variable for this shell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export PATH=$HOME/scripts:$PATH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Prepend a directory to PATH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ldd &lt;program&gt;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shared libraries a program needs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LD_LIBRARY_PATH=/path ./prog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a library dir, just for this run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source ~/.bashrc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Re-read shell config in current terminal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Cheat sheet — Python virtual environments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graphicFrame>
        <p:nvGraphicFramePr>
          <p:cNvPr id="1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1206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sudo apt install python3-venv python3-pip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One-time install per VM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python3 -m venv &lt;name&gt;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 a venv in directory &lt;name&gt;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source &lt;name&gt;/bin/activate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Activate 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pip install &lt;pkg&gt;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 into the active venv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pip list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what's installed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pip install -r requirements.txt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 from a requirements file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deactivate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Leave the venv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Resources to keep going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05840"/>
            <a:ext cx="8046720" cy="134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Carpentry — The Unix Shell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swcarpentry.github.io/shell-novice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— The Missing Semester of Your CS Education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missing.csail.mit.edu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command-line tutorial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ubuntu.com/tutorials/command-line-for-beginners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■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explainshell.com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paste any command, see it annotated</a:t>
            </a:r>
            <a:endParaRPr lang="en-US" sz="14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48640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118</Slides>
  <Notes>118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118</vt:i4>
      </vt:variant>
    </vt:vector>
  </HeadingPairs>
  <TitlesOfParts>
    <vt:vector size="1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Linux, the Shell, and Filesystems</dc:title>
  <dc:subject>PptxGenJS Presentation</dc:subject>
  <dc:creator>Henschel</dc:creator>
  <cp:lastModifiedBy>Henschel</cp:lastModifiedBy>
  <cp:revision>1</cp:revision>
  <dcterms:created xsi:type="dcterms:W3CDTF">2026-05-20T15:50:09Z</dcterms:created>
  <dcterms:modified xsi:type="dcterms:W3CDTF">2026-05-20T15:50:09Z</dcterms:modified>
</cp:coreProperties>
</file>